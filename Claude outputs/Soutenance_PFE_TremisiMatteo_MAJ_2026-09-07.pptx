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rts/chart1.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1" r:id="rId2"/>
  </p:sldMasterIdLst>
  <p:notesMasterIdLst>
    <p:notesMasterId r:id="rId72"/>
  </p:notesMasterIdLst>
  <p:sldIdLst>
    <p:sldId id="256" r:id="rId3"/>
    <p:sldId id="322" r:id="rId4"/>
    <p:sldId id="323" r:id="rId5"/>
    <p:sldId id="259" r:id="rId6"/>
    <p:sldId id="260" r:id="rId7"/>
    <p:sldId id="261" r:id="rId8"/>
    <p:sldId id="262" r:id="rId9"/>
    <p:sldId id="263" r:id="rId10"/>
    <p:sldId id="264" r:id="rId11"/>
    <p:sldId id="265" r:id="rId12"/>
    <p:sldId id="331" r:id="rId79"/>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28" r:id="rId52"/>
    <p:sldId id="305" r:id="rId53"/>
    <p:sldId id="306" r:id="rId54"/>
    <p:sldId id="307" r:id="rId55"/>
    <p:sldId id="308" r:id="rId56"/>
    <p:sldId id="325" r:id="rId57"/>
    <p:sldId id="326" r:id="rId58"/>
    <p:sldId id="310" r:id="rId59"/>
    <p:sldId id="309" r:id="rId60"/>
    <p:sldId id="330" r:id="rId61"/>
    <p:sldId id="311" r:id="rId62"/>
    <p:sldId id="313" r:id="rId63"/>
    <p:sldId id="314" r:id="rId64"/>
    <p:sldId id="315" r:id="rId65"/>
    <p:sldId id="316" r:id="rId66"/>
    <p:sldId id="317" r:id="rId67"/>
    <p:sldId id="318" r:id="rId68"/>
    <p:sldId id="319" r:id="rId69"/>
    <p:sldId id="324" r:id="rId70"/>
    <p:sldId id="321" r:id="rId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A55A"/>
    <a:srgbClr val="F8E212"/>
    <a:srgbClr val="FBF9F5"/>
    <a:srgbClr val="FFFFFF"/>
    <a:srgbClr val="E0CF9E"/>
    <a:srgbClr val="AAA189"/>
    <a:srgbClr val="A9A088"/>
    <a:srgbClr val="A2543C"/>
    <a:srgbClr val="4E7A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E285E-B121-4515-9C18-FABA0E58104D}" v="4" dt="2026-09-07T10:02:51.3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8" autoAdjust="0"/>
    <p:restoredTop sz="66105" autoAdjust="0"/>
  </p:normalViewPr>
  <p:slideViewPr>
    <p:cSldViewPr snapToGrid="0" snapToObjects="1">
      <p:cViewPr>
        <p:scale>
          <a:sx n="71" d="100"/>
          <a:sy n="71" d="100"/>
        </p:scale>
        <p:origin x="1133" y="10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  <Relationship Id="rId79" Type="http://schemas.openxmlformats.org/officeDocument/2006/relationships/slide" Target="slides/slide70.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éo TREMISI" userId="e344fc52-7e33-4822-85ed-50fd192645c1" providerId="ADAL" clId="{921FD83F-E93C-4172-927C-39516FB4C889}"/>
    <pc:docChg chg="undo custSel addSld delSld modSld sldOrd modMainMaster">
      <pc:chgData name="Mattéo TREMISI" userId="e344fc52-7e33-4822-85ed-50fd192645c1" providerId="ADAL" clId="{921FD83F-E93C-4172-927C-39516FB4C889}" dt="2026-09-07T10:22:55.784" v="2404" actId="20577"/>
      <pc:docMkLst>
        <pc:docMk/>
      </pc:docMkLst>
      <pc:sldChg chg="modSp mod">
        <pc:chgData name="Mattéo TREMISI" userId="e344fc52-7e33-4822-85ed-50fd192645c1" providerId="ADAL" clId="{921FD83F-E93C-4172-927C-39516FB4C889}" dt="2026-09-03T22:59:41.973" v="810"/>
        <pc:sldMkLst>
          <pc:docMk/>
          <pc:sldMk cId="0" sldId="259"/>
        </pc:sldMkLst>
        <pc:spChg chg="mod ord">
          <ac:chgData name="Mattéo TREMISI" userId="e344fc52-7e33-4822-85ed-50fd192645c1" providerId="ADAL" clId="{921FD83F-E93C-4172-927C-39516FB4C889}" dt="2026-09-03T22:59:41.973" v="810"/>
          <ac:spMkLst>
            <pc:docMk/>
            <pc:sldMk cId="0" sldId="259"/>
            <ac:spMk id="900" creationId="{00000000-0000-0000-0000-000000000000}"/>
          </ac:spMkLst>
        </pc:spChg>
      </pc:sldChg>
      <pc:sldChg chg="modSp mod">
        <pc:chgData name="Mattéo TREMISI" userId="e344fc52-7e33-4822-85ed-50fd192645c1" providerId="ADAL" clId="{921FD83F-E93C-4172-927C-39516FB4C889}" dt="2026-09-03T22:59:41.979" v="811"/>
        <pc:sldMkLst>
          <pc:docMk/>
          <pc:sldMk cId="0" sldId="260"/>
        </pc:sldMkLst>
        <pc:spChg chg="mod ord">
          <ac:chgData name="Mattéo TREMISI" userId="e344fc52-7e33-4822-85ed-50fd192645c1" providerId="ADAL" clId="{921FD83F-E93C-4172-927C-39516FB4C889}" dt="2026-09-03T22:59:41.979" v="811"/>
          <ac:spMkLst>
            <pc:docMk/>
            <pc:sldMk cId="0" sldId="260"/>
            <ac:spMk id="900" creationId="{00000000-0000-0000-0000-000000000000}"/>
          </ac:spMkLst>
        </pc:spChg>
      </pc:sldChg>
      <pc:sldChg chg="addSp delSp modSp mod">
        <pc:chgData name="Mattéo TREMISI" userId="e344fc52-7e33-4822-85ed-50fd192645c1" providerId="ADAL" clId="{921FD83F-E93C-4172-927C-39516FB4C889}" dt="2026-09-03T22:59:41.987" v="812"/>
        <pc:sldMkLst>
          <pc:docMk/>
          <pc:sldMk cId="0" sldId="261"/>
        </pc:sldMkLst>
        <pc:spChg chg="mod ord">
          <ac:chgData name="Mattéo TREMISI" userId="e344fc52-7e33-4822-85ed-50fd192645c1" providerId="ADAL" clId="{921FD83F-E93C-4172-927C-39516FB4C889}" dt="2026-09-03T22:59:41.987" v="812"/>
          <ac:spMkLst>
            <pc:docMk/>
            <pc:sldMk cId="0" sldId="261"/>
            <ac:spMk id="900" creationId="{00000000-0000-0000-0000-000000000000}"/>
          </ac:spMkLst>
        </pc:spChg>
        <pc:spChg chg="mod">
          <ac:chgData name="Mattéo TREMISI" userId="e344fc52-7e33-4822-85ed-50fd192645c1" providerId="ADAL" clId="{921FD83F-E93C-4172-927C-39516FB4C889}" dt="2026-09-03T22:42:04.881" v="17" actId="1076"/>
          <ac:spMkLst>
            <pc:docMk/>
            <pc:sldMk cId="0" sldId="261"/>
            <ac:spMk id="909" creationId="{00000000-0000-0000-0000-000000000000}"/>
          </ac:spMkLst>
        </pc:spChg>
        <pc:spChg chg="mod">
          <ac:chgData name="Mattéo TREMISI" userId="e344fc52-7e33-4822-85ed-50fd192645c1" providerId="ADAL" clId="{921FD83F-E93C-4172-927C-39516FB4C889}" dt="2026-09-03T22:41:56.989" v="14" actId="1076"/>
          <ac:spMkLst>
            <pc:docMk/>
            <pc:sldMk cId="0" sldId="261"/>
            <ac:spMk id="911" creationId="{00000000-0000-0000-0000-000000000000}"/>
          </ac:spMkLst>
        </pc:spChg>
        <pc:spChg chg="mod">
          <ac:chgData name="Mattéo TREMISI" userId="e344fc52-7e33-4822-85ed-50fd192645c1" providerId="ADAL" clId="{921FD83F-E93C-4172-927C-39516FB4C889}" dt="2026-09-03T22:41:53.929" v="12" actId="114"/>
          <ac:spMkLst>
            <pc:docMk/>
            <pc:sldMk cId="0" sldId="261"/>
            <ac:spMk id="926" creationId="{00000000-0000-0000-0000-000000000000}"/>
          </ac:spMkLst>
        </pc:spChg>
        <pc:spChg chg="mod">
          <ac:chgData name="Mattéo TREMISI" userId="e344fc52-7e33-4822-85ed-50fd192645c1" providerId="ADAL" clId="{921FD83F-E93C-4172-927C-39516FB4C889}" dt="2026-09-03T22:42:15.684" v="22" actId="20577"/>
          <ac:spMkLst>
            <pc:docMk/>
            <pc:sldMk cId="0" sldId="261"/>
            <ac:spMk id="929"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3" creationId="{00000000-0000-0000-0000-000000000000}"/>
          </ac:spMkLst>
        </pc:spChg>
        <pc:spChg chg="add del mod">
          <ac:chgData name="Mattéo TREMISI" userId="e344fc52-7e33-4822-85ed-50fd192645c1" providerId="ADAL" clId="{921FD83F-E93C-4172-927C-39516FB4C889}" dt="2026-09-03T22:43:04.083" v="54" actId="207"/>
          <ac:spMkLst>
            <pc:docMk/>
            <pc:sldMk cId="0" sldId="261"/>
            <ac:spMk id="934" creationId="{00000000-0000-0000-0000-000000000000}"/>
          </ac:spMkLst>
        </pc:spChg>
        <pc:picChg chg="add mod">
          <ac:chgData name="Mattéo TREMISI" userId="e344fc52-7e33-4822-85ed-50fd192645c1" providerId="ADAL" clId="{921FD83F-E93C-4172-927C-39516FB4C889}" dt="2026-09-03T22:42:28.424" v="25" actId="14100"/>
          <ac:picMkLst>
            <pc:docMk/>
            <pc:sldMk cId="0" sldId="261"/>
            <ac:picMk id="5" creationId="{1CA7F634-FE8B-50A7-502C-CCBC6CAD6A0C}"/>
          </ac:picMkLst>
        </pc:picChg>
        <pc:picChg chg="add mod">
          <ac:chgData name="Mattéo TREMISI" userId="e344fc52-7e33-4822-85ed-50fd192645c1" providerId="ADAL" clId="{921FD83F-E93C-4172-927C-39516FB4C889}" dt="2026-09-03T22:42:28.424" v="25" actId="14100"/>
          <ac:picMkLst>
            <pc:docMk/>
            <pc:sldMk cId="0" sldId="261"/>
            <ac:picMk id="7" creationId="{A242CBB6-EF5A-7D9D-C8C7-361E5DBE06B3}"/>
          </ac:picMkLst>
        </pc:picChg>
      </pc:sldChg>
      <pc:sldChg chg="delSp modSp mod">
        <pc:chgData name="Mattéo TREMISI" userId="e344fc52-7e33-4822-85ed-50fd192645c1" providerId="ADAL" clId="{921FD83F-E93C-4172-927C-39516FB4C889}" dt="2026-09-03T22:59:41.993" v="813"/>
        <pc:sldMkLst>
          <pc:docMk/>
          <pc:sldMk cId="0" sldId="262"/>
        </pc:sldMkLst>
        <pc:spChg chg="mod">
          <ac:chgData name="Mattéo TREMISI" userId="e344fc52-7e33-4822-85ed-50fd192645c1" providerId="ADAL" clId="{921FD83F-E93C-4172-927C-39516FB4C889}" dt="2026-09-03T22:43:27.471" v="95" actId="20577"/>
          <ac:spMkLst>
            <pc:docMk/>
            <pc:sldMk cId="0" sldId="262"/>
            <ac:spMk id="3" creationId="{00000000-0000-0000-0000-000000000000}"/>
          </ac:spMkLst>
        </pc:spChg>
        <pc:spChg chg="mod ord">
          <ac:chgData name="Mattéo TREMISI" userId="e344fc52-7e33-4822-85ed-50fd192645c1" providerId="ADAL" clId="{921FD83F-E93C-4172-927C-39516FB4C889}" dt="2026-09-03T22:59:41.993" v="813"/>
          <ac:spMkLst>
            <pc:docMk/>
            <pc:sldMk cId="0" sldId="262"/>
            <ac:spMk id="900" creationId="{00000000-0000-0000-0000-000000000000}"/>
          </ac:spMkLst>
        </pc:spChg>
        <pc:spChg chg="mod">
          <ac:chgData name="Mattéo TREMISI" userId="e344fc52-7e33-4822-85ed-50fd192645c1" providerId="ADAL" clId="{921FD83F-E93C-4172-927C-39516FB4C889}" dt="2026-09-03T22:43:55.565" v="145" actId="122"/>
          <ac:spMkLst>
            <pc:docMk/>
            <pc:sldMk cId="0" sldId="262"/>
            <ac:spMk id="931" creationId="{00000000-0000-0000-0000-000000000000}"/>
          </ac:spMkLst>
        </pc:spChg>
        <pc:spChg chg="mod">
          <ac:chgData name="Mattéo TREMISI" userId="e344fc52-7e33-4822-85ed-50fd192645c1" providerId="ADAL" clId="{921FD83F-E93C-4172-927C-39516FB4C889}" dt="2026-09-03T22:43:52.621" v="144" actId="113"/>
          <ac:spMkLst>
            <pc:docMk/>
            <pc:sldMk cId="0" sldId="262"/>
            <ac:spMk id="932" creationId="{00000000-0000-0000-0000-000000000000}"/>
          </ac:spMkLst>
        </pc:spChg>
      </pc:sldChg>
      <pc:sldChg chg="delSp modSp mod">
        <pc:chgData name="Mattéo TREMISI" userId="e344fc52-7e33-4822-85ed-50fd192645c1" providerId="ADAL" clId="{921FD83F-E93C-4172-927C-39516FB4C889}" dt="2026-09-05T23:16:08.644" v="1073" actId="478"/>
        <pc:sldMkLst>
          <pc:docMk/>
          <pc:sldMk cId="0" sldId="263"/>
        </pc:sldMkLst>
        <pc:spChg chg="mod">
          <ac:chgData name="Mattéo TREMISI" userId="e344fc52-7e33-4822-85ed-50fd192645c1" providerId="ADAL" clId="{921FD83F-E93C-4172-927C-39516FB4C889}" dt="2026-09-03T22:43:41.082" v="140" actId="20577"/>
          <ac:spMkLst>
            <pc:docMk/>
            <pc:sldMk cId="0" sldId="263"/>
            <ac:spMk id="3" creationId="{00000000-0000-0000-0000-000000000000}"/>
          </ac:spMkLst>
        </pc:spChg>
        <pc:spChg chg="mod ord">
          <ac:chgData name="Mattéo TREMISI" userId="e344fc52-7e33-4822-85ed-50fd192645c1" providerId="ADAL" clId="{921FD83F-E93C-4172-927C-39516FB4C889}" dt="2026-09-03T22:59:41.999" v="814"/>
          <ac:spMkLst>
            <pc:docMk/>
            <pc:sldMk cId="0" sldId="263"/>
            <ac:spMk id="900"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2" creationId="{00000000-0000-0000-0000-000000000000}"/>
          </ac:spMkLst>
        </pc:spChg>
        <pc:spChg chg="del">
          <ac:chgData name="Mattéo TREMISI" userId="e344fc52-7e33-4822-85ed-50fd192645c1" providerId="ADAL" clId="{921FD83F-E93C-4172-927C-39516FB4C889}" dt="2026-09-05T23:16:08.644" v="1073" actId="478"/>
          <ac:spMkLst>
            <pc:docMk/>
            <pc:sldMk cId="0" sldId="263"/>
            <ac:spMk id="943" creationId="{00000000-0000-0000-0000-000000000000}"/>
          </ac:spMkLst>
        </pc:spChg>
      </pc:sldChg>
      <pc:sldChg chg="delSp modSp mod">
        <pc:chgData name="Mattéo TREMISI" userId="e344fc52-7e33-4822-85ed-50fd192645c1" providerId="ADAL" clId="{921FD83F-E93C-4172-927C-39516FB4C889}" dt="2026-09-06T09:04:21.341" v="1207" actId="478"/>
        <pc:sldMkLst>
          <pc:docMk/>
          <pc:sldMk cId="0" sldId="264"/>
        </pc:sldMkLst>
        <pc:spChg chg="del">
          <ac:chgData name="Mattéo TREMISI" userId="e344fc52-7e33-4822-85ed-50fd192645c1" providerId="ADAL" clId="{921FD83F-E93C-4172-927C-39516FB4C889}" dt="2026-09-06T09:04:21.341" v="1207" actId="478"/>
          <ac:spMkLst>
            <pc:docMk/>
            <pc:sldMk cId="0" sldId="264"/>
            <ac:spMk id="5" creationId="{00000000-0000-0000-0000-000000000000}"/>
          </ac:spMkLst>
        </pc:spChg>
        <pc:spChg chg="mod ord">
          <ac:chgData name="Mattéo TREMISI" userId="e344fc52-7e33-4822-85ed-50fd192645c1" providerId="ADAL" clId="{921FD83F-E93C-4172-927C-39516FB4C889}" dt="2026-09-03T23:01:37.135" v="889"/>
          <ac:spMkLst>
            <pc:docMk/>
            <pc:sldMk cId="0" sldId="264"/>
            <ac:spMk id="900" creationId="{00000000-0000-0000-0000-000000000000}"/>
          </ac:spMkLst>
        </pc:spChg>
      </pc:sldChg>
      <pc:sldChg chg="modSp mod">
        <pc:chgData name="Mattéo TREMISI" userId="e344fc52-7e33-4822-85ed-50fd192645c1" providerId="ADAL" clId="{921FD83F-E93C-4172-927C-39516FB4C889}" dt="2026-09-03T22:59:42.013" v="816"/>
        <pc:sldMkLst>
          <pc:docMk/>
          <pc:sldMk cId="1646539252" sldId="265"/>
        </pc:sldMkLst>
        <pc:spChg chg="mod">
          <ac:chgData name="Mattéo TREMISI" userId="e344fc52-7e33-4822-85ed-50fd192645c1" providerId="ADAL" clId="{921FD83F-E93C-4172-927C-39516FB4C889}" dt="2026-09-03T22:44:30.050" v="149" actId="20577"/>
          <ac:spMkLst>
            <pc:docMk/>
            <pc:sldMk cId="1646539252" sldId="265"/>
            <ac:spMk id="2" creationId="{00000000-0000-0000-0000-000000000000}"/>
          </ac:spMkLst>
        </pc:spChg>
        <pc:spChg chg="mod">
          <ac:chgData name="Mattéo TREMISI" userId="e344fc52-7e33-4822-85ed-50fd192645c1" providerId="ADAL" clId="{921FD83F-E93C-4172-927C-39516FB4C889}" dt="2026-09-03T22:44:42.332" v="157" actId="20577"/>
          <ac:spMkLst>
            <pc:docMk/>
            <pc:sldMk cId="1646539252" sldId="265"/>
            <ac:spMk id="10" creationId="{00000000-0000-0000-0000-000000000000}"/>
          </ac:spMkLst>
        </pc:spChg>
        <pc:spChg chg="mod">
          <ac:chgData name="Mattéo TREMISI" userId="e344fc52-7e33-4822-85ed-50fd192645c1" providerId="ADAL" clId="{921FD83F-E93C-4172-927C-39516FB4C889}" dt="2026-09-03T22:45:24.907" v="331" actId="20577"/>
          <ac:spMkLst>
            <pc:docMk/>
            <pc:sldMk cId="1646539252" sldId="265"/>
            <ac:spMk id="14" creationId="{00000000-0000-0000-0000-000000000000}"/>
          </ac:spMkLst>
        </pc:spChg>
        <pc:spChg chg="mod ord">
          <ac:chgData name="Mattéo TREMISI" userId="e344fc52-7e33-4822-85ed-50fd192645c1" providerId="ADAL" clId="{921FD83F-E93C-4172-927C-39516FB4C889}" dt="2026-09-03T22:59:42.013" v="816"/>
          <ac:spMkLst>
            <pc:docMk/>
            <pc:sldMk cId="1646539252" sldId="265"/>
            <ac:spMk id="900" creationId="{00000000-0000-0000-0000-000000000000}"/>
          </ac:spMkLst>
        </pc:spChg>
      </pc:sldChg>
      <pc:sldChg chg="modSp mod">
        <pc:chgData name="Mattéo TREMISI" userId="e344fc52-7e33-4822-85ed-50fd192645c1" providerId="ADAL" clId="{921FD83F-E93C-4172-927C-39516FB4C889}" dt="2026-09-05T23:17:49.107" v="1085" actId="20577"/>
        <pc:sldMkLst>
          <pc:docMk/>
          <pc:sldMk cId="0" sldId="266"/>
        </pc:sldMkLst>
        <pc:spChg chg="mod">
          <ac:chgData name="Mattéo TREMISI" userId="e344fc52-7e33-4822-85ed-50fd192645c1" providerId="ADAL" clId="{921FD83F-E93C-4172-927C-39516FB4C889}" dt="2026-09-05T23:17:49.107" v="1085" actId="20577"/>
          <ac:spMkLst>
            <pc:docMk/>
            <pc:sldMk cId="0" sldId="266"/>
            <ac:spMk id="11" creationId="{00000000-0000-0000-0000-000000000000}"/>
          </ac:spMkLst>
        </pc:spChg>
        <pc:spChg chg="mod ord">
          <ac:chgData name="Mattéo TREMISI" userId="e344fc52-7e33-4822-85ed-50fd192645c1" providerId="ADAL" clId="{921FD83F-E93C-4172-927C-39516FB4C889}" dt="2026-09-03T23:01:37.151" v="890"/>
          <ac:spMkLst>
            <pc:docMk/>
            <pc:sldMk cId="0" sldId="266"/>
            <ac:spMk id="900" creationId="{00000000-0000-0000-0000-000000000000}"/>
          </ac:spMkLst>
        </pc:spChg>
      </pc:sldChg>
      <pc:sldChg chg="modSp mod">
        <pc:chgData name="Mattéo TREMISI" userId="e344fc52-7e33-4822-85ed-50fd192645c1" providerId="ADAL" clId="{921FD83F-E93C-4172-927C-39516FB4C889}" dt="2026-09-03T23:01:37.163" v="891"/>
        <pc:sldMkLst>
          <pc:docMk/>
          <pc:sldMk cId="0" sldId="267"/>
        </pc:sldMkLst>
        <pc:spChg chg="mod ord">
          <ac:chgData name="Mattéo TREMISI" userId="e344fc52-7e33-4822-85ed-50fd192645c1" providerId="ADAL" clId="{921FD83F-E93C-4172-927C-39516FB4C889}" dt="2026-09-03T23:01:37.163" v="891"/>
          <ac:spMkLst>
            <pc:docMk/>
            <pc:sldMk cId="0" sldId="267"/>
            <ac:spMk id="900" creationId="{00000000-0000-0000-0000-000000000000}"/>
          </ac:spMkLst>
        </pc:spChg>
      </pc:sldChg>
      <pc:sldChg chg="modSp mod">
        <pc:chgData name="Mattéo TREMISI" userId="e344fc52-7e33-4822-85ed-50fd192645c1" providerId="ADAL" clId="{921FD83F-E93C-4172-927C-39516FB4C889}" dt="2026-09-03T22:59:42.031" v="819"/>
        <pc:sldMkLst>
          <pc:docMk/>
          <pc:sldMk cId="0" sldId="268"/>
        </pc:sldMkLst>
        <pc:spChg chg="mod">
          <ac:chgData name="Mattéo TREMISI" userId="e344fc52-7e33-4822-85ed-50fd192645c1" providerId="ADAL" clId="{921FD83F-E93C-4172-927C-39516FB4C889}" dt="2026-09-03T22:45:55.018" v="332" actId="207"/>
          <ac:spMkLst>
            <pc:docMk/>
            <pc:sldMk cId="0" sldId="268"/>
            <ac:spMk id="20" creationId="{00000000-0000-0000-0000-000000000000}"/>
          </ac:spMkLst>
        </pc:spChg>
        <pc:spChg chg="mod">
          <ac:chgData name="Mattéo TREMISI" userId="e344fc52-7e33-4822-85ed-50fd192645c1" providerId="ADAL" clId="{921FD83F-E93C-4172-927C-39516FB4C889}" dt="2026-09-03T22:46:00.615" v="333" actId="114"/>
          <ac:spMkLst>
            <pc:docMk/>
            <pc:sldMk cId="0" sldId="268"/>
            <ac:spMk id="21" creationId="{00000000-0000-0000-0000-000000000000}"/>
          </ac:spMkLst>
        </pc:spChg>
        <pc:spChg chg="mod ord">
          <ac:chgData name="Mattéo TREMISI" userId="e344fc52-7e33-4822-85ed-50fd192645c1" providerId="ADAL" clId="{921FD83F-E93C-4172-927C-39516FB4C889}" dt="2026-09-03T22:59:42.031" v="819"/>
          <ac:spMkLst>
            <pc:docMk/>
            <pc:sldMk cId="0" sldId="268"/>
            <ac:spMk id="900" creationId="{00000000-0000-0000-0000-000000000000}"/>
          </ac:spMkLst>
        </pc:spChg>
      </pc:sldChg>
      <pc:sldChg chg="delSp modSp mod modNotesTx">
        <pc:chgData name="Mattéo TREMISI" userId="e344fc52-7e33-4822-85ed-50fd192645c1" providerId="ADAL" clId="{921FD83F-E93C-4172-927C-39516FB4C889}" dt="2026-09-03T22:59:42.038" v="820"/>
        <pc:sldMkLst>
          <pc:docMk/>
          <pc:sldMk cId="0" sldId="269"/>
        </pc:sldMkLst>
        <pc:spChg chg="mod">
          <ac:chgData name="Mattéo TREMISI" userId="e344fc52-7e33-4822-85ed-50fd192645c1" providerId="ADAL" clId="{921FD83F-E93C-4172-927C-39516FB4C889}" dt="2026-09-03T22:57:09.781" v="714" actId="20577"/>
          <ac:spMkLst>
            <pc:docMk/>
            <pc:sldMk cId="0" sldId="269"/>
            <ac:spMk id="6" creationId="{00000000-0000-0000-0000-000000000000}"/>
          </ac:spMkLst>
        </pc:spChg>
        <pc:spChg chg="mod ord">
          <ac:chgData name="Mattéo TREMISI" userId="e344fc52-7e33-4822-85ed-50fd192645c1" providerId="ADAL" clId="{921FD83F-E93C-4172-927C-39516FB4C889}" dt="2026-09-03T22:59:42.038" v="820"/>
          <ac:spMkLst>
            <pc:docMk/>
            <pc:sldMk cId="0" sldId="269"/>
            <ac:spMk id="900" creationId="{00000000-0000-0000-0000-000000000000}"/>
          </ac:spMkLst>
        </pc:spChg>
        <pc:graphicFrameChg chg="modGraphic">
          <ac:chgData name="Mattéo TREMISI" userId="e344fc52-7e33-4822-85ed-50fd192645c1" providerId="ADAL" clId="{921FD83F-E93C-4172-927C-39516FB4C889}" dt="2026-09-03T22:55:40.344" v="691" actId="20577"/>
          <ac:graphicFrameMkLst>
            <pc:docMk/>
            <pc:sldMk cId="0" sldId="269"/>
            <ac:graphicFrameMk id="11" creationId="{00000000-0000-0000-0000-000000000000}"/>
          </ac:graphicFrameMkLst>
        </pc:graphicFrameChg>
      </pc:sldChg>
      <pc:sldChg chg="modSp mod">
        <pc:chgData name="Mattéo TREMISI" userId="e344fc52-7e33-4822-85ed-50fd192645c1" providerId="ADAL" clId="{921FD83F-E93C-4172-927C-39516FB4C889}" dt="2026-09-03T23:01:37.175" v="892"/>
        <pc:sldMkLst>
          <pc:docMk/>
          <pc:sldMk cId="491136747" sldId="270"/>
        </pc:sldMkLst>
        <pc:spChg chg="mod ord">
          <ac:chgData name="Mattéo TREMISI" userId="e344fc52-7e33-4822-85ed-50fd192645c1" providerId="ADAL" clId="{921FD83F-E93C-4172-927C-39516FB4C889}" dt="2026-09-03T23:01:37.175" v="892"/>
          <ac:spMkLst>
            <pc:docMk/>
            <pc:sldMk cId="491136747" sldId="270"/>
            <ac:spMk id="900" creationId="{00000000-0000-0000-0000-000000000000}"/>
          </ac:spMkLst>
        </pc:spChg>
      </pc:sldChg>
      <pc:sldChg chg="delSp modSp mod">
        <pc:chgData name="Mattéo TREMISI" userId="e344fc52-7e33-4822-85ed-50fd192645c1" providerId="ADAL" clId="{921FD83F-E93C-4172-927C-39516FB4C889}" dt="2026-09-07T10:03:35.482" v="2391" actId="478"/>
        <pc:sldMkLst>
          <pc:docMk/>
          <pc:sldMk cId="0" sldId="271"/>
        </pc:sldMkLst>
        <pc:spChg chg="mod ord">
          <ac:chgData name="Mattéo TREMISI" userId="e344fc52-7e33-4822-85ed-50fd192645c1" providerId="ADAL" clId="{921FD83F-E93C-4172-927C-39516FB4C889}" dt="2026-09-03T22:59:42.049" v="822"/>
          <ac:spMkLst>
            <pc:docMk/>
            <pc:sldMk cId="0" sldId="271"/>
            <ac:spMk id="900" creationId="{00000000-0000-0000-0000-000000000000}"/>
          </ac:spMkLst>
        </pc:spChg>
        <pc:spChg chg="mod">
          <ac:chgData name="Mattéo TREMISI" userId="e344fc52-7e33-4822-85ed-50fd192645c1" providerId="ADAL" clId="{921FD83F-E93C-4172-927C-39516FB4C889}" dt="2026-09-07T10:03:02.947" v="2390" actId="6549"/>
          <ac:spMkLst>
            <pc:docMk/>
            <pc:sldMk cId="0" sldId="271"/>
            <ac:spMk id="937" creationId="{00000000-0000-0000-0000-000000000000}"/>
          </ac:spMkLst>
        </pc:spChg>
        <pc:spChg chg="mod">
          <ac:chgData name="Mattéo TREMISI" userId="e344fc52-7e33-4822-85ed-50fd192645c1" providerId="ADAL" clId="{921FD83F-E93C-4172-927C-39516FB4C889}" dt="2026-09-05T23:36:25.132" v="1172" actId="313"/>
          <ac:spMkLst>
            <pc:docMk/>
            <pc:sldMk cId="0" sldId="271"/>
            <ac:spMk id="938"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39"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0"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1"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2" creationId="{00000000-0000-0000-0000-000000000000}"/>
          </ac:spMkLst>
        </pc:spChg>
        <pc:spChg chg="del">
          <ac:chgData name="Mattéo TREMISI" userId="e344fc52-7e33-4822-85ed-50fd192645c1" providerId="ADAL" clId="{921FD83F-E93C-4172-927C-39516FB4C889}" dt="2026-09-07T10:03:35.482" v="2391" actId="478"/>
          <ac:spMkLst>
            <pc:docMk/>
            <pc:sldMk cId="0" sldId="271"/>
            <ac:spMk id="943" creationId="{00000000-0000-0000-0000-000000000000}"/>
          </ac:spMkLst>
        </pc:spChg>
      </pc:sldChg>
      <pc:sldChg chg="addSp delSp modSp mod">
        <pc:chgData name="Mattéo TREMISI" userId="e344fc52-7e33-4822-85ed-50fd192645c1" providerId="ADAL" clId="{921FD83F-E93C-4172-927C-39516FB4C889}" dt="2026-09-07T10:02:52.333" v="2382"/>
        <pc:sldMkLst>
          <pc:docMk/>
          <pc:sldMk cId="0" sldId="272"/>
        </pc:sldMkLst>
        <pc:spChg chg="mod">
          <ac:chgData name="Mattéo TREMISI" userId="e344fc52-7e33-4822-85ed-50fd192645c1" providerId="ADAL" clId="{921FD83F-E93C-4172-927C-39516FB4C889}" dt="2026-09-07T10:01:56.179" v="2379" actId="1076"/>
          <ac:spMkLst>
            <pc:docMk/>
            <pc:sldMk cId="0" sldId="272"/>
            <ac:spMk id="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0" creationId="{00000000-0000-0000-0000-000000000000}"/>
          </ac:spMkLst>
        </pc:spChg>
        <pc:spChg chg="mod">
          <ac:chgData name="Mattéo TREMISI" userId="e344fc52-7e33-4822-85ed-50fd192645c1" providerId="ADAL" clId="{921FD83F-E93C-4172-927C-39516FB4C889}" dt="2026-09-05T23:30:46.865" v="1122" actId="1076"/>
          <ac:spMkLst>
            <pc:docMk/>
            <pc:sldMk cId="0" sldId="272"/>
            <ac:spMk id="1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3"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4"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7"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18" creationId="{00000000-0000-0000-0000-000000000000}"/>
          </ac:spMkLst>
        </pc:spChg>
        <pc:spChg chg="mod">
          <ac:chgData name="Mattéo TREMISI" userId="e344fc52-7e33-4822-85ed-50fd192645c1" providerId="ADAL" clId="{921FD83F-E93C-4172-927C-39516FB4C889}" dt="2026-09-07T10:01:45.584" v="2378" actId="1076"/>
          <ac:spMkLst>
            <pc:docMk/>
            <pc:sldMk cId="0" sldId="272"/>
            <ac:spMk id="21"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2"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5" creationId="{00000000-0000-0000-0000-000000000000}"/>
          </ac:spMkLst>
        </pc:spChg>
        <pc:spChg chg="mod">
          <ac:chgData name="Mattéo TREMISI" userId="e344fc52-7e33-4822-85ed-50fd192645c1" providerId="ADAL" clId="{921FD83F-E93C-4172-927C-39516FB4C889}" dt="2026-09-05T23:31:42.122" v="1129" actId="403"/>
          <ac:spMkLst>
            <pc:docMk/>
            <pc:sldMk cId="0" sldId="272"/>
            <ac:spMk id="26"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29" creationId="{00000000-0000-0000-0000-000000000000}"/>
          </ac:spMkLst>
        </pc:spChg>
        <pc:spChg chg="mod">
          <ac:chgData name="Mattéo TREMISI" userId="e344fc52-7e33-4822-85ed-50fd192645c1" providerId="ADAL" clId="{921FD83F-E93C-4172-927C-39516FB4C889}" dt="2026-09-07T10:01:56.179" v="2379" actId="1076"/>
          <ac:spMkLst>
            <pc:docMk/>
            <pc:sldMk cId="0" sldId="272"/>
            <ac:spMk id="30"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4"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6" creationId="{00000000-0000-0000-0000-000000000000}"/>
          </ac:spMkLst>
        </pc:spChg>
        <pc:spChg chg="mod">
          <ac:chgData name="Mattéo TREMISI" userId="e344fc52-7e33-4822-85ed-50fd192645c1" providerId="ADAL" clId="{921FD83F-E93C-4172-927C-39516FB4C889}" dt="2026-09-05T23:31:32.761" v="1128" actId="403"/>
          <ac:spMkLst>
            <pc:docMk/>
            <pc:sldMk cId="0" sldId="272"/>
            <ac:spMk id="38" creationId="{00000000-0000-0000-0000-000000000000}"/>
          </ac:spMkLst>
        </pc:spChg>
        <pc:spChg chg="add del mod">
          <ac:chgData name="Mattéo TREMISI" userId="e344fc52-7e33-4822-85ed-50fd192645c1" providerId="ADAL" clId="{921FD83F-E93C-4172-927C-39516FB4C889}" dt="2026-09-07T10:02:52.333" v="2382"/>
          <ac:spMkLst>
            <pc:docMk/>
            <pc:sldMk cId="0" sldId="272"/>
            <ac:spMk id="41" creationId="{C161ADDE-2DFD-9832-FE2F-1E7015F08BA7}"/>
          </ac:spMkLst>
        </pc:spChg>
        <pc:spChg chg="mod ord">
          <ac:chgData name="Mattéo TREMISI" userId="e344fc52-7e33-4822-85ed-50fd192645c1" providerId="ADAL" clId="{921FD83F-E93C-4172-927C-39516FB4C889}" dt="2026-09-03T22:59:42.055" v="823"/>
          <ac:spMkLst>
            <pc:docMk/>
            <pc:sldMk cId="0" sldId="272"/>
            <ac:spMk id="900" creationId="{00000000-0000-0000-0000-000000000000}"/>
          </ac:spMkLst>
        </pc:spChg>
      </pc:sldChg>
      <pc:sldChg chg="delSp modSp mod">
        <pc:chgData name="Mattéo TREMISI" userId="e344fc52-7e33-4822-85ed-50fd192645c1" providerId="ADAL" clId="{921FD83F-E93C-4172-927C-39516FB4C889}" dt="2026-09-06T09:04:29.294" v="1208" actId="478"/>
        <pc:sldMkLst>
          <pc:docMk/>
          <pc:sldMk cId="0" sldId="273"/>
        </pc:sldMkLst>
        <pc:spChg chg="del">
          <ac:chgData name="Mattéo TREMISI" userId="e344fc52-7e33-4822-85ed-50fd192645c1" providerId="ADAL" clId="{921FD83F-E93C-4172-927C-39516FB4C889}" dt="2026-09-06T09:04:29.294" v="1208" actId="478"/>
          <ac:spMkLst>
            <pc:docMk/>
            <pc:sldMk cId="0" sldId="273"/>
            <ac:spMk id="5" creationId="{00000000-0000-0000-0000-000000000000}"/>
          </ac:spMkLst>
        </pc:spChg>
        <pc:spChg chg="mod ord">
          <ac:chgData name="Mattéo TREMISI" userId="e344fc52-7e33-4822-85ed-50fd192645c1" providerId="ADAL" clId="{921FD83F-E93C-4172-927C-39516FB4C889}" dt="2026-09-03T23:01:37.183" v="893"/>
          <ac:spMkLst>
            <pc:docMk/>
            <pc:sldMk cId="0" sldId="273"/>
            <ac:spMk id="900" creationId="{00000000-0000-0000-0000-000000000000}"/>
          </ac:spMkLst>
        </pc:spChg>
      </pc:sldChg>
      <pc:sldChg chg="modSp mod">
        <pc:chgData name="Mattéo TREMISI" userId="e344fc52-7e33-4822-85ed-50fd192645c1" providerId="ADAL" clId="{921FD83F-E93C-4172-927C-39516FB4C889}" dt="2026-09-03T22:59:42.071" v="825"/>
        <pc:sldMkLst>
          <pc:docMk/>
          <pc:sldMk cId="0" sldId="274"/>
        </pc:sldMkLst>
        <pc:spChg chg="mod ord">
          <ac:chgData name="Mattéo TREMISI" userId="e344fc52-7e33-4822-85ed-50fd192645c1" providerId="ADAL" clId="{921FD83F-E93C-4172-927C-39516FB4C889}" dt="2026-09-03T22:59:42.071" v="825"/>
          <ac:spMkLst>
            <pc:docMk/>
            <pc:sldMk cId="0" sldId="274"/>
            <ac:spMk id="900" creationId="{00000000-0000-0000-0000-000000000000}"/>
          </ac:spMkLst>
        </pc:spChg>
      </pc:sldChg>
      <pc:sldChg chg="modSp mod">
        <pc:chgData name="Mattéo TREMISI" userId="e344fc52-7e33-4822-85ed-50fd192645c1" providerId="ADAL" clId="{921FD83F-E93C-4172-927C-39516FB4C889}" dt="2026-09-03T23:00:47.919" v="887" actId="14100"/>
        <pc:sldMkLst>
          <pc:docMk/>
          <pc:sldMk cId="0" sldId="275"/>
        </pc:sldMkLst>
        <pc:spChg chg="mod">
          <ac:chgData name="Mattéo TREMISI" userId="e344fc52-7e33-4822-85ed-50fd192645c1" providerId="ADAL" clId="{921FD83F-E93C-4172-927C-39516FB4C889}" dt="2026-09-03T23:00:47.919" v="887" actId="14100"/>
          <ac:spMkLst>
            <pc:docMk/>
            <pc:sldMk cId="0" sldId="275"/>
            <ac:spMk id="18" creationId="{C0CB03E1-D7D5-83A2-0D9F-2EE6818C0F43}"/>
          </ac:spMkLst>
        </pc:spChg>
        <pc:spChg chg="mod ord">
          <ac:chgData name="Mattéo TREMISI" userId="e344fc52-7e33-4822-85ed-50fd192645c1" providerId="ADAL" clId="{921FD83F-E93C-4172-927C-39516FB4C889}" dt="2026-09-03T22:59:42.077" v="826"/>
          <ac:spMkLst>
            <pc:docMk/>
            <pc:sldMk cId="0" sldId="275"/>
            <ac:spMk id="900" creationId="{00000000-0000-0000-0000-000000000000}"/>
          </ac:spMkLst>
        </pc:spChg>
        <pc:graphicFrameChg chg="modGraphic">
          <ac:chgData name="Mattéo TREMISI" userId="e344fc52-7e33-4822-85ed-50fd192645c1" providerId="ADAL" clId="{921FD83F-E93C-4172-927C-39516FB4C889}" dt="2026-09-03T22:59:33.525" v="807" actId="20577"/>
          <ac:graphicFrameMkLst>
            <pc:docMk/>
            <pc:sldMk cId="0" sldId="275"/>
            <ac:graphicFrameMk id="15" creationId="{00000000-0000-0000-0000-000000000000}"/>
          </ac:graphicFrameMkLst>
        </pc:graphicFrameChg>
      </pc:sldChg>
      <pc:sldChg chg="modSp mod">
        <pc:chgData name="Mattéo TREMISI" userId="e344fc52-7e33-4822-85ed-50fd192645c1" providerId="ADAL" clId="{921FD83F-E93C-4172-927C-39516FB4C889}" dt="2026-09-05T23:28:18.967" v="1092" actId="20577"/>
        <pc:sldMkLst>
          <pc:docMk/>
          <pc:sldMk cId="0" sldId="276"/>
        </pc:sldMkLst>
        <pc:spChg chg="mod">
          <ac:chgData name="Mattéo TREMISI" userId="e344fc52-7e33-4822-85ed-50fd192645c1" providerId="ADAL" clId="{921FD83F-E93C-4172-927C-39516FB4C889}" dt="2026-09-05T23:28:18.967" v="1092" actId="20577"/>
          <ac:spMkLst>
            <pc:docMk/>
            <pc:sldMk cId="0" sldId="276"/>
            <ac:spMk id="24" creationId="{00000000-0000-0000-0000-000000000000}"/>
          </ac:spMkLst>
        </pc:spChg>
        <pc:spChg chg="mod ord">
          <ac:chgData name="Mattéo TREMISI" userId="e344fc52-7e33-4822-85ed-50fd192645c1" providerId="ADAL" clId="{921FD83F-E93C-4172-927C-39516FB4C889}" dt="2026-09-03T22:59:42.089" v="827"/>
          <ac:spMkLst>
            <pc:docMk/>
            <pc:sldMk cId="0" sldId="276"/>
            <ac:spMk id="900" creationId="{00000000-0000-0000-0000-000000000000}"/>
          </ac:spMkLst>
        </pc:spChg>
      </pc:sldChg>
      <pc:sldChg chg="modSp mod">
        <pc:chgData name="Mattéo TREMISI" userId="e344fc52-7e33-4822-85ed-50fd192645c1" providerId="ADAL" clId="{921FD83F-E93C-4172-927C-39516FB4C889}" dt="2026-09-03T22:59:42.096" v="828"/>
        <pc:sldMkLst>
          <pc:docMk/>
          <pc:sldMk cId="0" sldId="277"/>
        </pc:sldMkLst>
        <pc:spChg chg="mod ord">
          <ac:chgData name="Mattéo TREMISI" userId="e344fc52-7e33-4822-85ed-50fd192645c1" providerId="ADAL" clId="{921FD83F-E93C-4172-927C-39516FB4C889}" dt="2026-09-03T22:59:42.096" v="828"/>
          <ac:spMkLst>
            <pc:docMk/>
            <pc:sldMk cId="0" sldId="277"/>
            <ac:spMk id="900" creationId="{00000000-0000-0000-0000-000000000000}"/>
          </ac:spMkLst>
        </pc:spChg>
      </pc:sldChg>
      <pc:sldChg chg="modSp mod">
        <pc:chgData name="Mattéo TREMISI" userId="e344fc52-7e33-4822-85ed-50fd192645c1" providerId="ADAL" clId="{921FD83F-E93C-4172-927C-39516FB4C889}" dt="2026-09-05T23:28:59.263" v="1119" actId="20577"/>
        <pc:sldMkLst>
          <pc:docMk/>
          <pc:sldMk cId="0" sldId="278"/>
        </pc:sldMkLst>
        <pc:spChg chg="mod">
          <ac:chgData name="Mattéo TREMISI" userId="e344fc52-7e33-4822-85ed-50fd192645c1" providerId="ADAL" clId="{921FD83F-E93C-4172-927C-39516FB4C889}" dt="2026-09-05T23:28:59.263" v="1119" actId="20577"/>
          <ac:spMkLst>
            <pc:docMk/>
            <pc:sldMk cId="0" sldId="278"/>
            <ac:spMk id="40" creationId="{00000000-0000-0000-0000-000000000000}"/>
          </ac:spMkLst>
        </pc:spChg>
        <pc:spChg chg="mod ord">
          <ac:chgData name="Mattéo TREMISI" userId="e344fc52-7e33-4822-85ed-50fd192645c1" providerId="ADAL" clId="{921FD83F-E93C-4172-927C-39516FB4C889}" dt="2026-09-03T22:59:42.101" v="829"/>
          <ac:spMkLst>
            <pc:docMk/>
            <pc:sldMk cId="0" sldId="278"/>
            <ac:spMk id="900" creationId="{00000000-0000-0000-0000-000000000000}"/>
          </ac:spMkLst>
        </pc:spChg>
      </pc:sldChg>
      <pc:sldChg chg="modSp mod">
        <pc:chgData name="Mattéo TREMISI" userId="e344fc52-7e33-4822-85ed-50fd192645c1" providerId="ADAL" clId="{921FD83F-E93C-4172-927C-39516FB4C889}" dt="2026-09-06T09:18:18.311" v="1267" actId="20577"/>
        <pc:sldMkLst>
          <pc:docMk/>
          <pc:sldMk cId="0" sldId="279"/>
        </pc:sldMkLst>
        <pc:spChg chg="mod ord">
          <ac:chgData name="Mattéo TREMISI" userId="e344fc52-7e33-4822-85ed-50fd192645c1" providerId="ADAL" clId="{921FD83F-E93C-4172-927C-39516FB4C889}" dt="2026-09-03T22:59:42.119" v="830"/>
          <ac:spMkLst>
            <pc:docMk/>
            <pc:sldMk cId="0" sldId="279"/>
            <ac:spMk id="900" creationId="{00000000-0000-0000-0000-000000000000}"/>
          </ac:spMkLst>
        </pc:spChg>
        <pc:graphicFrameChg chg="mod modGraphic">
          <ac:chgData name="Mattéo TREMISI" userId="e344fc52-7e33-4822-85ed-50fd192645c1" providerId="ADAL" clId="{921FD83F-E93C-4172-927C-39516FB4C889}" dt="2026-09-06T09:18:18.311" v="1267" actId="20577"/>
          <ac:graphicFrameMkLst>
            <pc:docMk/>
            <pc:sldMk cId="0" sldId="279"/>
            <ac:graphicFrameMk id="4" creationId="{00000000-0000-0000-0000-000000000000}"/>
          </ac:graphicFrameMkLst>
        </pc:graphicFrameChg>
      </pc:sldChg>
      <pc:sldChg chg="delSp modSp mod">
        <pc:chgData name="Mattéo TREMISI" userId="e344fc52-7e33-4822-85ed-50fd192645c1" providerId="ADAL" clId="{921FD83F-E93C-4172-927C-39516FB4C889}" dt="2026-09-06T09:04:31.900" v="1209" actId="478"/>
        <pc:sldMkLst>
          <pc:docMk/>
          <pc:sldMk cId="0" sldId="280"/>
        </pc:sldMkLst>
        <pc:spChg chg="del">
          <ac:chgData name="Mattéo TREMISI" userId="e344fc52-7e33-4822-85ed-50fd192645c1" providerId="ADAL" clId="{921FD83F-E93C-4172-927C-39516FB4C889}" dt="2026-09-06T09:04:31.900" v="1209" actId="478"/>
          <ac:spMkLst>
            <pc:docMk/>
            <pc:sldMk cId="0" sldId="280"/>
            <ac:spMk id="5" creationId="{00000000-0000-0000-0000-000000000000}"/>
          </ac:spMkLst>
        </pc:spChg>
        <pc:spChg chg="mod ord">
          <ac:chgData name="Mattéo TREMISI" userId="e344fc52-7e33-4822-85ed-50fd192645c1" providerId="ADAL" clId="{921FD83F-E93C-4172-927C-39516FB4C889}" dt="2026-09-03T23:01:37.194" v="894"/>
          <ac:spMkLst>
            <pc:docMk/>
            <pc:sldMk cId="0" sldId="280"/>
            <ac:spMk id="900" creationId="{00000000-0000-0000-0000-000000000000}"/>
          </ac:spMkLst>
        </pc:spChg>
      </pc:sldChg>
      <pc:sldChg chg="modSp mod">
        <pc:chgData name="Mattéo TREMISI" userId="e344fc52-7e33-4822-85ed-50fd192645c1" providerId="ADAL" clId="{921FD83F-E93C-4172-927C-39516FB4C889}" dt="2026-09-03T22:59:42.135" v="832"/>
        <pc:sldMkLst>
          <pc:docMk/>
          <pc:sldMk cId="0" sldId="281"/>
        </pc:sldMkLst>
        <pc:spChg chg="mod ord">
          <ac:chgData name="Mattéo TREMISI" userId="e344fc52-7e33-4822-85ed-50fd192645c1" providerId="ADAL" clId="{921FD83F-E93C-4172-927C-39516FB4C889}" dt="2026-09-03T22:59:42.135" v="832"/>
          <ac:spMkLst>
            <pc:docMk/>
            <pc:sldMk cId="0" sldId="281"/>
            <ac:spMk id="900" creationId="{00000000-0000-0000-0000-000000000000}"/>
          </ac:spMkLst>
        </pc:spChg>
      </pc:sldChg>
      <pc:sldChg chg="modSp mod">
        <pc:chgData name="Mattéo TREMISI" userId="e344fc52-7e33-4822-85ed-50fd192645c1" providerId="ADAL" clId="{921FD83F-E93C-4172-927C-39516FB4C889}" dt="2026-09-03T22:59:42.142" v="833"/>
        <pc:sldMkLst>
          <pc:docMk/>
          <pc:sldMk cId="0" sldId="282"/>
        </pc:sldMkLst>
        <pc:spChg chg="mod ord">
          <ac:chgData name="Mattéo TREMISI" userId="e344fc52-7e33-4822-85ed-50fd192645c1" providerId="ADAL" clId="{921FD83F-E93C-4172-927C-39516FB4C889}" dt="2026-09-03T22:59:42.142" v="833"/>
          <ac:spMkLst>
            <pc:docMk/>
            <pc:sldMk cId="0" sldId="282"/>
            <ac:spMk id="900" creationId="{00000000-0000-0000-0000-000000000000}"/>
          </ac:spMkLst>
        </pc:spChg>
      </pc:sldChg>
      <pc:sldChg chg="modSp mod">
        <pc:chgData name="Mattéo TREMISI" userId="e344fc52-7e33-4822-85ed-50fd192645c1" providerId="ADAL" clId="{921FD83F-E93C-4172-927C-39516FB4C889}" dt="2026-09-03T22:59:42.147" v="834"/>
        <pc:sldMkLst>
          <pc:docMk/>
          <pc:sldMk cId="0" sldId="283"/>
        </pc:sldMkLst>
        <pc:spChg chg="mod ord">
          <ac:chgData name="Mattéo TREMISI" userId="e344fc52-7e33-4822-85ed-50fd192645c1" providerId="ADAL" clId="{921FD83F-E93C-4172-927C-39516FB4C889}" dt="2026-09-03T22:59:42.147" v="834"/>
          <ac:spMkLst>
            <pc:docMk/>
            <pc:sldMk cId="0" sldId="283"/>
            <ac:spMk id="900" creationId="{00000000-0000-0000-0000-000000000000}"/>
          </ac:spMkLst>
        </pc:spChg>
      </pc:sldChg>
      <pc:sldChg chg="modSp mod">
        <pc:chgData name="Mattéo TREMISI" userId="e344fc52-7e33-4822-85ed-50fd192645c1" providerId="ADAL" clId="{921FD83F-E93C-4172-927C-39516FB4C889}" dt="2026-09-03T22:59:42.155" v="835"/>
        <pc:sldMkLst>
          <pc:docMk/>
          <pc:sldMk cId="0" sldId="284"/>
        </pc:sldMkLst>
        <pc:spChg chg="mod ord">
          <ac:chgData name="Mattéo TREMISI" userId="e344fc52-7e33-4822-85ed-50fd192645c1" providerId="ADAL" clId="{921FD83F-E93C-4172-927C-39516FB4C889}" dt="2026-09-03T22:59:42.155" v="835"/>
          <ac:spMkLst>
            <pc:docMk/>
            <pc:sldMk cId="0" sldId="284"/>
            <ac:spMk id="900" creationId="{00000000-0000-0000-0000-000000000000}"/>
          </ac:spMkLst>
        </pc:spChg>
      </pc:sldChg>
      <pc:sldChg chg="modSp mod">
        <pc:chgData name="Mattéo TREMISI" userId="e344fc52-7e33-4822-85ed-50fd192645c1" providerId="ADAL" clId="{921FD83F-E93C-4172-927C-39516FB4C889}" dt="2026-09-03T22:59:42.161" v="836"/>
        <pc:sldMkLst>
          <pc:docMk/>
          <pc:sldMk cId="0" sldId="285"/>
        </pc:sldMkLst>
        <pc:spChg chg="mod ord">
          <ac:chgData name="Mattéo TREMISI" userId="e344fc52-7e33-4822-85ed-50fd192645c1" providerId="ADAL" clId="{921FD83F-E93C-4172-927C-39516FB4C889}" dt="2026-09-03T22:59:42.161" v="836"/>
          <ac:spMkLst>
            <pc:docMk/>
            <pc:sldMk cId="0" sldId="285"/>
            <ac:spMk id="900" creationId="{00000000-0000-0000-0000-000000000000}"/>
          </ac:spMkLst>
        </pc:spChg>
      </pc:sldChg>
      <pc:sldChg chg="modSp mod">
        <pc:chgData name="Mattéo TREMISI" userId="e344fc52-7e33-4822-85ed-50fd192645c1" providerId="ADAL" clId="{921FD83F-E93C-4172-927C-39516FB4C889}" dt="2026-09-03T22:59:42.166" v="837"/>
        <pc:sldMkLst>
          <pc:docMk/>
          <pc:sldMk cId="0" sldId="286"/>
        </pc:sldMkLst>
        <pc:spChg chg="mod ord">
          <ac:chgData name="Mattéo TREMISI" userId="e344fc52-7e33-4822-85ed-50fd192645c1" providerId="ADAL" clId="{921FD83F-E93C-4172-927C-39516FB4C889}" dt="2026-09-03T22:59:42.166" v="837"/>
          <ac:spMkLst>
            <pc:docMk/>
            <pc:sldMk cId="0" sldId="286"/>
            <ac:spMk id="900" creationId="{00000000-0000-0000-0000-000000000000}"/>
          </ac:spMkLst>
        </pc:spChg>
      </pc:sldChg>
      <pc:sldChg chg="modSp mod">
        <pc:chgData name="Mattéo TREMISI" userId="e344fc52-7e33-4822-85ed-50fd192645c1" providerId="ADAL" clId="{921FD83F-E93C-4172-927C-39516FB4C889}" dt="2026-09-03T22:59:42.173" v="838"/>
        <pc:sldMkLst>
          <pc:docMk/>
          <pc:sldMk cId="0" sldId="287"/>
        </pc:sldMkLst>
        <pc:spChg chg="mod ord">
          <ac:chgData name="Mattéo TREMISI" userId="e344fc52-7e33-4822-85ed-50fd192645c1" providerId="ADAL" clId="{921FD83F-E93C-4172-927C-39516FB4C889}" dt="2026-09-03T22:59:42.173" v="838"/>
          <ac:spMkLst>
            <pc:docMk/>
            <pc:sldMk cId="0" sldId="287"/>
            <ac:spMk id="900" creationId="{00000000-0000-0000-0000-000000000000}"/>
          </ac:spMkLst>
        </pc:spChg>
      </pc:sldChg>
      <pc:sldChg chg="modSp mod">
        <pc:chgData name="Mattéo TREMISI" userId="e344fc52-7e33-4822-85ed-50fd192645c1" providerId="ADAL" clId="{921FD83F-E93C-4172-927C-39516FB4C889}" dt="2026-09-03T22:59:42.180" v="839"/>
        <pc:sldMkLst>
          <pc:docMk/>
          <pc:sldMk cId="0" sldId="288"/>
        </pc:sldMkLst>
        <pc:spChg chg="mod ord">
          <ac:chgData name="Mattéo TREMISI" userId="e344fc52-7e33-4822-85ed-50fd192645c1" providerId="ADAL" clId="{921FD83F-E93C-4172-927C-39516FB4C889}" dt="2026-09-03T22:59:42.180" v="839"/>
          <ac:spMkLst>
            <pc:docMk/>
            <pc:sldMk cId="0" sldId="288"/>
            <ac:spMk id="900" creationId="{00000000-0000-0000-0000-000000000000}"/>
          </ac:spMkLst>
        </pc:spChg>
      </pc:sldChg>
      <pc:sldChg chg="modSp mod">
        <pc:chgData name="Mattéo TREMISI" userId="e344fc52-7e33-4822-85ed-50fd192645c1" providerId="ADAL" clId="{921FD83F-E93C-4172-927C-39516FB4C889}" dt="2026-09-03T22:59:42.186" v="840"/>
        <pc:sldMkLst>
          <pc:docMk/>
          <pc:sldMk cId="0" sldId="289"/>
        </pc:sldMkLst>
        <pc:spChg chg="mod ord">
          <ac:chgData name="Mattéo TREMISI" userId="e344fc52-7e33-4822-85ed-50fd192645c1" providerId="ADAL" clId="{921FD83F-E93C-4172-927C-39516FB4C889}" dt="2026-09-03T22:59:42.186" v="840"/>
          <ac:spMkLst>
            <pc:docMk/>
            <pc:sldMk cId="0" sldId="289"/>
            <ac:spMk id="900" creationId="{00000000-0000-0000-0000-000000000000}"/>
          </ac:spMkLst>
        </pc:spChg>
      </pc:sldChg>
      <pc:sldChg chg="modSp mod">
        <pc:chgData name="Mattéo TREMISI" userId="e344fc52-7e33-4822-85ed-50fd192645c1" providerId="ADAL" clId="{921FD83F-E93C-4172-927C-39516FB4C889}" dt="2026-09-03T23:04:54.617" v="1055" actId="20577"/>
        <pc:sldMkLst>
          <pc:docMk/>
          <pc:sldMk cId="0" sldId="290"/>
        </pc:sldMkLst>
        <pc:spChg chg="mod ord">
          <ac:chgData name="Mattéo TREMISI" userId="e344fc52-7e33-4822-85ed-50fd192645c1" providerId="ADAL" clId="{921FD83F-E93C-4172-927C-39516FB4C889}" dt="2026-09-03T22:59:42.193" v="841"/>
          <ac:spMkLst>
            <pc:docMk/>
            <pc:sldMk cId="0" sldId="290"/>
            <ac:spMk id="900" creationId="{00000000-0000-0000-0000-000000000000}"/>
          </ac:spMkLst>
        </pc:spChg>
        <pc:spChg chg="mod">
          <ac:chgData name="Mattéo TREMISI" userId="e344fc52-7e33-4822-85ed-50fd192645c1" providerId="ADAL" clId="{921FD83F-E93C-4172-927C-39516FB4C889}" dt="2026-09-03T23:04:54.617" v="1055" actId="20577"/>
          <ac:spMkLst>
            <pc:docMk/>
            <pc:sldMk cId="0" sldId="290"/>
            <ac:spMk id="912" creationId="{00000000-0000-0000-0000-000000000000}"/>
          </ac:spMkLst>
        </pc:spChg>
      </pc:sldChg>
      <pc:sldChg chg="delSp modSp mod">
        <pc:chgData name="Mattéo TREMISI" userId="e344fc52-7e33-4822-85ed-50fd192645c1" providerId="ADAL" clId="{921FD83F-E93C-4172-927C-39516FB4C889}" dt="2026-09-06T09:04:35.869" v="1210" actId="478"/>
        <pc:sldMkLst>
          <pc:docMk/>
          <pc:sldMk cId="0" sldId="291"/>
        </pc:sldMkLst>
        <pc:spChg chg="del">
          <ac:chgData name="Mattéo TREMISI" userId="e344fc52-7e33-4822-85ed-50fd192645c1" providerId="ADAL" clId="{921FD83F-E93C-4172-927C-39516FB4C889}" dt="2026-09-06T09:04:35.869" v="1210" actId="478"/>
          <ac:spMkLst>
            <pc:docMk/>
            <pc:sldMk cId="0" sldId="291"/>
            <ac:spMk id="5" creationId="{00000000-0000-0000-0000-000000000000}"/>
          </ac:spMkLst>
        </pc:spChg>
        <pc:spChg chg="mod ord">
          <ac:chgData name="Mattéo TREMISI" userId="e344fc52-7e33-4822-85ed-50fd192645c1" providerId="ADAL" clId="{921FD83F-E93C-4172-927C-39516FB4C889}" dt="2026-09-03T23:01:37.208" v="895"/>
          <ac:spMkLst>
            <pc:docMk/>
            <pc:sldMk cId="0" sldId="291"/>
            <ac:spMk id="900" creationId="{00000000-0000-0000-0000-000000000000}"/>
          </ac:spMkLst>
        </pc:spChg>
      </pc:sldChg>
      <pc:sldChg chg="modSp mod">
        <pc:chgData name="Mattéo TREMISI" userId="e344fc52-7e33-4822-85ed-50fd192645c1" providerId="ADAL" clId="{921FD83F-E93C-4172-927C-39516FB4C889}" dt="2026-09-07T10:22:55.784" v="2404" actId="20577"/>
        <pc:sldMkLst>
          <pc:docMk/>
          <pc:sldMk cId="0" sldId="292"/>
        </pc:sldMkLst>
        <pc:spChg chg="mod">
          <ac:chgData name="Mattéo TREMISI" userId="e344fc52-7e33-4822-85ed-50fd192645c1" providerId="ADAL" clId="{921FD83F-E93C-4172-927C-39516FB4C889}" dt="2026-09-07T10:22:55.784" v="2404" actId="20577"/>
          <ac:spMkLst>
            <pc:docMk/>
            <pc:sldMk cId="0" sldId="292"/>
            <ac:spMk id="4" creationId="{00000000-0000-0000-0000-000000000000}"/>
          </ac:spMkLst>
        </pc:spChg>
        <pc:spChg chg="mod">
          <ac:chgData name="Mattéo TREMISI" userId="e344fc52-7e33-4822-85ed-50fd192645c1" providerId="ADAL" clId="{921FD83F-E93C-4172-927C-39516FB4C889}" dt="2026-09-07T10:14:09.358" v="2401" actId="1076"/>
          <ac:spMkLst>
            <pc:docMk/>
            <pc:sldMk cId="0" sldId="292"/>
            <ac:spMk id="5"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7"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8" creationId="{00000000-0000-0000-0000-000000000000}"/>
          </ac:spMkLst>
        </pc:spChg>
        <pc:spChg chg="mod">
          <ac:chgData name="Mattéo TREMISI" userId="e344fc52-7e33-4822-85ed-50fd192645c1" providerId="ADAL" clId="{921FD83F-E93C-4172-927C-39516FB4C889}" dt="2026-09-07T10:13:59.562" v="2398" actId="1076"/>
          <ac:spMkLst>
            <pc:docMk/>
            <pc:sldMk cId="0" sldId="292"/>
            <ac:spMk id="9" creationId="{00000000-0000-0000-0000-000000000000}"/>
          </ac:spMkLst>
        </pc:spChg>
        <pc:spChg chg="mod">
          <ac:chgData name="Mattéo TREMISI" userId="e344fc52-7e33-4822-85ed-50fd192645c1" providerId="ADAL" clId="{921FD83F-E93C-4172-927C-39516FB4C889}" dt="2026-09-07T10:14:03.471" v="2399" actId="1076"/>
          <ac:spMkLst>
            <pc:docMk/>
            <pc:sldMk cId="0" sldId="292"/>
            <ac:spMk id="11" creationId="{00000000-0000-0000-0000-000000000000}"/>
          </ac:spMkLst>
        </pc:spChg>
        <pc:spChg chg="mod">
          <ac:chgData name="Mattéo TREMISI" userId="e344fc52-7e33-4822-85ed-50fd192645c1" providerId="ADAL" clId="{921FD83F-E93C-4172-927C-39516FB4C889}" dt="2026-09-07T10:14:13.340" v="2402" actId="1076"/>
          <ac:spMkLst>
            <pc:docMk/>
            <pc:sldMk cId="0" sldId="292"/>
            <ac:spMk id="12" creationId="{00000000-0000-0000-0000-000000000000}"/>
          </ac:spMkLst>
        </pc:spChg>
        <pc:spChg chg="mod ord">
          <ac:chgData name="Mattéo TREMISI" userId="e344fc52-7e33-4822-85ed-50fd192645c1" providerId="ADAL" clId="{921FD83F-E93C-4172-927C-39516FB4C889}" dt="2026-09-03T23:01:37.221" v="896"/>
          <ac:spMkLst>
            <pc:docMk/>
            <pc:sldMk cId="0" sldId="292"/>
            <ac:spMk id="900" creationId="{00000000-0000-0000-0000-000000000000}"/>
          </ac:spMkLst>
        </pc:spChg>
      </pc:sldChg>
      <pc:sldChg chg="delSp modSp mod">
        <pc:chgData name="Mattéo TREMISI" userId="e344fc52-7e33-4822-85ed-50fd192645c1" providerId="ADAL" clId="{921FD83F-E93C-4172-927C-39516FB4C889}" dt="2026-09-06T09:24:27.924" v="1272" actId="478"/>
        <pc:sldMkLst>
          <pc:docMk/>
          <pc:sldMk cId="0" sldId="293"/>
        </pc:sldMkLst>
        <pc:spChg chg="mod">
          <ac:chgData name="Mattéo TREMISI" userId="e344fc52-7e33-4822-85ed-50fd192645c1" providerId="ADAL" clId="{921FD83F-E93C-4172-927C-39516FB4C889}" dt="2026-09-06T09:24:12.209" v="1268" actId="20577"/>
          <ac:spMkLst>
            <pc:docMk/>
            <pc:sldMk cId="0" sldId="293"/>
            <ac:spMk id="25" creationId="{00000000-0000-0000-0000-000000000000}"/>
          </ac:spMkLst>
        </pc:spChg>
        <pc:spChg chg="mod">
          <ac:chgData name="Mattéo TREMISI" userId="e344fc52-7e33-4822-85ed-50fd192645c1" providerId="ADAL" clId="{921FD83F-E93C-4172-927C-39516FB4C889}" dt="2026-09-06T09:24:19.390" v="1271" actId="20577"/>
          <ac:spMkLst>
            <pc:docMk/>
            <pc:sldMk cId="0" sldId="293"/>
            <ac:spMk id="28"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29" creationId="{00000000-0000-0000-0000-000000000000}"/>
          </ac:spMkLst>
        </pc:spChg>
        <pc:spChg chg="del">
          <ac:chgData name="Mattéo TREMISI" userId="e344fc52-7e33-4822-85ed-50fd192645c1" providerId="ADAL" clId="{921FD83F-E93C-4172-927C-39516FB4C889}" dt="2026-09-06T09:24:27.924" v="1272" actId="478"/>
          <ac:spMkLst>
            <pc:docMk/>
            <pc:sldMk cId="0" sldId="293"/>
            <ac:spMk id="30" creationId="{00000000-0000-0000-0000-000000000000}"/>
          </ac:spMkLst>
        </pc:spChg>
        <pc:spChg chg="mod ord">
          <ac:chgData name="Mattéo TREMISI" userId="e344fc52-7e33-4822-85ed-50fd192645c1" providerId="ADAL" clId="{921FD83F-E93C-4172-927C-39516FB4C889}" dt="2026-09-03T22:59:42.211" v="844"/>
          <ac:spMkLst>
            <pc:docMk/>
            <pc:sldMk cId="0" sldId="293"/>
            <ac:spMk id="900" creationId="{00000000-0000-0000-0000-000000000000}"/>
          </ac:spMkLst>
        </pc:spChg>
      </pc:sldChg>
      <pc:sldChg chg="modSp mod">
        <pc:chgData name="Mattéo TREMISI" userId="e344fc52-7e33-4822-85ed-50fd192645c1" providerId="ADAL" clId="{921FD83F-E93C-4172-927C-39516FB4C889}" dt="2026-09-03T22:59:42.232" v="845"/>
        <pc:sldMkLst>
          <pc:docMk/>
          <pc:sldMk cId="0" sldId="294"/>
        </pc:sldMkLst>
        <pc:spChg chg="mod ord">
          <ac:chgData name="Mattéo TREMISI" userId="e344fc52-7e33-4822-85ed-50fd192645c1" providerId="ADAL" clId="{921FD83F-E93C-4172-927C-39516FB4C889}" dt="2026-09-03T22:59:42.232" v="845"/>
          <ac:spMkLst>
            <pc:docMk/>
            <pc:sldMk cId="0" sldId="294"/>
            <ac:spMk id="900" creationId="{00000000-0000-0000-0000-000000000000}"/>
          </ac:spMkLst>
        </pc:spChg>
      </pc:sldChg>
      <pc:sldChg chg="modSp mod">
        <pc:chgData name="Mattéo TREMISI" userId="e344fc52-7e33-4822-85ed-50fd192645c1" providerId="ADAL" clId="{921FD83F-E93C-4172-927C-39516FB4C889}" dt="2026-09-03T22:59:42.239" v="846"/>
        <pc:sldMkLst>
          <pc:docMk/>
          <pc:sldMk cId="0" sldId="295"/>
        </pc:sldMkLst>
        <pc:spChg chg="mod ord">
          <ac:chgData name="Mattéo TREMISI" userId="e344fc52-7e33-4822-85ed-50fd192645c1" providerId="ADAL" clId="{921FD83F-E93C-4172-927C-39516FB4C889}" dt="2026-09-03T22:59:42.239" v="846"/>
          <ac:spMkLst>
            <pc:docMk/>
            <pc:sldMk cId="0" sldId="295"/>
            <ac:spMk id="900" creationId="{00000000-0000-0000-0000-000000000000}"/>
          </ac:spMkLst>
        </pc:spChg>
      </pc:sldChg>
      <pc:sldChg chg="modSp mod">
        <pc:chgData name="Mattéo TREMISI" userId="e344fc52-7e33-4822-85ed-50fd192645c1" providerId="ADAL" clId="{921FD83F-E93C-4172-927C-39516FB4C889}" dt="2026-09-06T09:25:44.225" v="1287" actId="20577"/>
        <pc:sldMkLst>
          <pc:docMk/>
          <pc:sldMk cId="0" sldId="296"/>
        </pc:sldMkLst>
        <pc:spChg chg="mod">
          <ac:chgData name="Mattéo TREMISI" userId="e344fc52-7e33-4822-85ed-50fd192645c1" providerId="ADAL" clId="{921FD83F-E93C-4172-927C-39516FB4C889}" dt="2026-09-06T09:25:44.225" v="1287" actId="20577"/>
          <ac:spMkLst>
            <pc:docMk/>
            <pc:sldMk cId="0" sldId="296"/>
            <ac:spMk id="78" creationId="{00000000-0000-0000-0000-000000000000}"/>
          </ac:spMkLst>
        </pc:spChg>
        <pc:spChg chg="mod ord">
          <ac:chgData name="Mattéo TREMISI" userId="e344fc52-7e33-4822-85ed-50fd192645c1" providerId="ADAL" clId="{921FD83F-E93C-4172-927C-39516FB4C889}" dt="2026-09-03T22:59:42.245" v="847"/>
          <ac:spMkLst>
            <pc:docMk/>
            <pc:sldMk cId="0" sldId="296"/>
            <ac:spMk id="900" creationId="{00000000-0000-0000-0000-000000000000}"/>
          </ac:spMkLst>
        </pc:spChg>
      </pc:sldChg>
      <pc:sldChg chg="modSp mod">
        <pc:chgData name="Mattéo TREMISI" userId="e344fc52-7e33-4822-85ed-50fd192645c1" providerId="ADAL" clId="{921FD83F-E93C-4172-927C-39516FB4C889}" dt="2026-09-03T23:01:37.234" v="897"/>
        <pc:sldMkLst>
          <pc:docMk/>
          <pc:sldMk cId="0" sldId="297"/>
        </pc:sldMkLst>
        <pc:spChg chg="mod ord">
          <ac:chgData name="Mattéo TREMISI" userId="e344fc52-7e33-4822-85ed-50fd192645c1" providerId="ADAL" clId="{921FD83F-E93C-4172-927C-39516FB4C889}" dt="2026-09-03T23:01:37.234" v="897"/>
          <ac:spMkLst>
            <pc:docMk/>
            <pc:sldMk cId="0" sldId="297"/>
            <ac:spMk id="900" creationId="{00000000-0000-0000-0000-000000000000}"/>
          </ac:spMkLst>
        </pc:spChg>
      </pc:sldChg>
      <pc:sldChg chg="delSp modSp mod">
        <pc:chgData name="Mattéo TREMISI" userId="e344fc52-7e33-4822-85ed-50fd192645c1" providerId="ADAL" clId="{921FD83F-E93C-4172-927C-39516FB4C889}" dt="2026-09-06T09:28:14.434" v="1288" actId="478"/>
        <pc:sldMkLst>
          <pc:docMk/>
          <pc:sldMk cId="0" sldId="298"/>
        </pc:sldMkLst>
        <pc:spChg chg="del">
          <ac:chgData name="Mattéo TREMISI" userId="e344fc52-7e33-4822-85ed-50fd192645c1" providerId="ADAL" clId="{921FD83F-E93C-4172-927C-39516FB4C889}" dt="2026-09-06T09:28:14.434" v="1288" actId="478"/>
          <ac:spMkLst>
            <pc:docMk/>
            <pc:sldMk cId="0" sldId="298"/>
            <ac:spMk id="19" creationId="{00000000-0000-0000-0000-000000000000}"/>
          </ac:spMkLst>
        </pc:spChg>
        <pc:spChg chg="del">
          <ac:chgData name="Mattéo TREMISI" userId="e344fc52-7e33-4822-85ed-50fd192645c1" providerId="ADAL" clId="{921FD83F-E93C-4172-927C-39516FB4C889}" dt="2026-09-06T09:28:14.434" v="1288" actId="478"/>
          <ac:spMkLst>
            <pc:docMk/>
            <pc:sldMk cId="0" sldId="298"/>
            <ac:spMk id="20" creationId="{00000000-0000-0000-0000-000000000000}"/>
          </ac:spMkLst>
        </pc:spChg>
        <pc:spChg chg="mod ord">
          <ac:chgData name="Mattéo TREMISI" userId="e344fc52-7e33-4822-85ed-50fd192645c1" providerId="ADAL" clId="{921FD83F-E93C-4172-927C-39516FB4C889}" dt="2026-09-03T22:59:42.259" v="849"/>
          <ac:spMkLst>
            <pc:docMk/>
            <pc:sldMk cId="0" sldId="298"/>
            <ac:spMk id="900" creationId="{00000000-0000-0000-0000-000000000000}"/>
          </ac:spMkLst>
        </pc:spChg>
      </pc:sldChg>
      <pc:sldChg chg="delSp modSp mod">
        <pc:chgData name="Mattéo TREMISI" userId="e344fc52-7e33-4822-85ed-50fd192645c1" providerId="ADAL" clId="{921FD83F-E93C-4172-927C-39516FB4C889}" dt="2026-09-06T09:46:50.232" v="1289" actId="478"/>
        <pc:sldMkLst>
          <pc:docMk/>
          <pc:sldMk cId="0" sldId="299"/>
        </pc:sldMkLst>
        <pc:spChg chg="del">
          <ac:chgData name="Mattéo TREMISI" userId="e344fc52-7e33-4822-85ed-50fd192645c1" providerId="ADAL" clId="{921FD83F-E93C-4172-927C-39516FB4C889}" dt="2026-09-06T09:46:50.232" v="1289" actId="478"/>
          <ac:spMkLst>
            <pc:docMk/>
            <pc:sldMk cId="0" sldId="299"/>
            <ac:spMk id="21" creationId="{00000000-0000-0000-0000-000000000000}"/>
          </ac:spMkLst>
        </pc:spChg>
        <pc:spChg chg="mod ord">
          <ac:chgData name="Mattéo TREMISI" userId="e344fc52-7e33-4822-85ed-50fd192645c1" providerId="ADAL" clId="{921FD83F-E93C-4172-927C-39516FB4C889}" dt="2026-09-03T22:59:42.266" v="850"/>
          <ac:spMkLst>
            <pc:docMk/>
            <pc:sldMk cId="0" sldId="299"/>
            <ac:spMk id="900" creationId="{00000000-0000-0000-0000-000000000000}"/>
          </ac:spMkLst>
        </pc:spChg>
      </pc:sldChg>
      <pc:sldChg chg="delSp modSp mod">
        <pc:chgData name="Mattéo TREMISI" userId="e344fc52-7e33-4822-85ed-50fd192645c1" providerId="ADAL" clId="{921FD83F-E93C-4172-927C-39516FB4C889}" dt="2026-09-06T09:50:55.994" v="1290" actId="478"/>
        <pc:sldMkLst>
          <pc:docMk/>
          <pc:sldMk cId="0" sldId="300"/>
        </pc:sldMkLst>
        <pc:spChg chg="del mod">
          <ac:chgData name="Mattéo TREMISI" userId="e344fc52-7e33-4822-85ed-50fd192645c1" providerId="ADAL" clId="{921FD83F-E93C-4172-927C-39516FB4C889}" dt="2026-09-06T09:04:39.764" v="1212" actId="478"/>
          <ac:spMkLst>
            <pc:docMk/>
            <pc:sldMk cId="0" sldId="300"/>
            <ac:spMk id="5" creationId="{00000000-0000-0000-0000-000000000000}"/>
          </ac:spMkLst>
        </pc:spChg>
        <pc:spChg chg="mod ord">
          <ac:chgData name="Mattéo TREMISI" userId="e344fc52-7e33-4822-85ed-50fd192645c1" providerId="ADAL" clId="{921FD83F-E93C-4172-927C-39516FB4C889}" dt="2026-09-03T23:01:37.247" v="898"/>
          <ac:spMkLst>
            <pc:docMk/>
            <pc:sldMk cId="0" sldId="300"/>
            <ac:spMk id="900" creationId="{00000000-0000-0000-0000-000000000000}"/>
          </ac:spMkLst>
        </pc:spChg>
        <pc:spChg chg="del">
          <ac:chgData name="Mattéo TREMISI" userId="e344fc52-7e33-4822-85ed-50fd192645c1" providerId="ADAL" clId="{921FD83F-E93C-4172-927C-39516FB4C889}" dt="2026-09-06T09:50:55.994" v="1290" actId="478"/>
          <ac:spMkLst>
            <pc:docMk/>
            <pc:sldMk cId="0" sldId="300"/>
            <ac:spMk id="954" creationId="{00000000-0000-0000-0000-000000000000}"/>
          </ac:spMkLst>
        </pc:spChg>
      </pc:sldChg>
      <pc:sldChg chg="modSp mod">
        <pc:chgData name="Mattéo TREMISI" userId="e344fc52-7e33-4822-85ed-50fd192645c1" providerId="ADAL" clId="{921FD83F-E93C-4172-927C-39516FB4C889}" dt="2026-09-03T22:59:42.279" v="852"/>
        <pc:sldMkLst>
          <pc:docMk/>
          <pc:sldMk cId="0" sldId="301"/>
        </pc:sldMkLst>
        <pc:spChg chg="mod ord">
          <ac:chgData name="Mattéo TREMISI" userId="e344fc52-7e33-4822-85ed-50fd192645c1" providerId="ADAL" clId="{921FD83F-E93C-4172-927C-39516FB4C889}" dt="2026-09-03T22:59:42.279" v="852"/>
          <ac:spMkLst>
            <pc:docMk/>
            <pc:sldMk cId="0" sldId="301"/>
            <ac:spMk id="900" creationId="{00000000-0000-0000-0000-000000000000}"/>
          </ac:spMkLst>
        </pc:spChg>
      </pc:sldChg>
      <pc:sldChg chg="delSp modSp mod">
        <pc:chgData name="Mattéo TREMISI" userId="e344fc52-7e33-4822-85ed-50fd192645c1" providerId="ADAL" clId="{921FD83F-E93C-4172-927C-39516FB4C889}" dt="2026-09-06T10:01:37.683" v="1307" actId="478"/>
        <pc:sldMkLst>
          <pc:docMk/>
          <pc:sldMk cId="0" sldId="302"/>
        </pc:sldMkLst>
        <pc:spChg chg="del">
          <ac:chgData name="Mattéo TREMISI" userId="e344fc52-7e33-4822-85ed-50fd192645c1" providerId="ADAL" clId="{921FD83F-E93C-4172-927C-39516FB4C889}" dt="2026-09-06T10:01:34.388" v="1305" actId="478"/>
          <ac:spMkLst>
            <pc:docMk/>
            <pc:sldMk cId="0" sldId="302"/>
            <ac:spMk id="22"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3" creationId="{00000000-0000-0000-0000-000000000000}"/>
          </ac:spMkLst>
        </pc:spChg>
        <pc:spChg chg="del">
          <ac:chgData name="Mattéo TREMISI" userId="e344fc52-7e33-4822-85ed-50fd192645c1" providerId="ADAL" clId="{921FD83F-E93C-4172-927C-39516FB4C889}" dt="2026-09-06T10:01:34.388" v="1305" actId="478"/>
          <ac:spMkLst>
            <pc:docMk/>
            <pc:sldMk cId="0" sldId="302"/>
            <ac:spMk id="24" creationId="{00000000-0000-0000-0000-000000000000}"/>
          </ac:spMkLst>
        </pc:spChg>
        <pc:spChg chg="del">
          <ac:chgData name="Mattéo TREMISI" userId="e344fc52-7e33-4822-85ed-50fd192645c1" providerId="ADAL" clId="{921FD83F-E93C-4172-927C-39516FB4C889}" dt="2026-09-06T10:01:37.683" v="1307" actId="478"/>
          <ac:spMkLst>
            <pc:docMk/>
            <pc:sldMk cId="0" sldId="302"/>
            <ac:spMk id="25" creationId="{00000000-0000-0000-0000-000000000000}"/>
          </ac:spMkLst>
        </pc:spChg>
        <pc:spChg chg="del">
          <ac:chgData name="Mattéo TREMISI" userId="e344fc52-7e33-4822-85ed-50fd192645c1" providerId="ADAL" clId="{921FD83F-E93C-4172-927C-39516FB4C889}" dt="2026-09-06T10:01:35.774" v="1306" actId="478"/>
          <ac:spMkLst>
            <pc:docMk/>
            <pc:sldMk cId="0" sldId="302"/>
            <ac:spMk id="26" creationId="{00000000-0000-0000-0000-000000000000}"/>
          </ac:spMkLst>
        </pc:spChg>
        <pc:spChg chg="mod ord">
          <ac:chgData name="Mattéo TREMISI" userId="e344fc52-7e33-4822-85ed-50fd192645c1" providerId="ADAL" clId="{921FD83F-E93C-4172-927C-39516FB4C889}" dt="2026-09-03T22:59:42.285" v="853"/>
          <ac:spMkLst>
            <pc:docMk/>
            <pc:sldMk cId="0" sldId="302"/>
            <ac:spMk id="900" creationId="{00000000-0000-0000-0000-000000000000}"/>
          </ac:spMkLst>
        </pc:spChg>
      </pc:sldChg>
      <pc:sldChg chg="delSp modSp mod">
        <pc:chgData name="Mattéo TREMISI" userId="e344fc52-7e33-4822-85ed-50fd192645c1" providerId="ADAL" clId="{921FD83F-E93C-4172-927C-39516FB4C889}" dt="2026-09-06T09:04:41.764" v="1213" actId="478"/>
        <pc:sldMkLst>
          <pc:docMk/>
          <pc:sldMk cId="0" sldId="303"/>
        </pc:sldMkLst>
        <pc:spChg chg="del">
          <ac:chgData name="Mattéo TREMISI" userId="e344fc52-7e33-4822-85ed-50fd192645c1" providerId="ADAL" clId="{921FD83F-E93C-4172-927C-39516FB4C889}" dt="2026-09-06T09:04:41.764" v="1213" actId="478"/>
          <ac:spMkLst>
            <pc:docMk/>
            <pc:sldMk cId="0" sldId="303"/>
            <ac:spMk id="5" creationId="{00000000-0000-0000-0000-000000000000}"/>
          </ac:spMkLst>
        </pc:spChg>
        <pc:spChg chg="mod ord">
          <ac:chgData name="Mattéo TREMISI" userId="e344fc52-7e33-4822-85ed-50fd192645c1" providerId="ADAL" clId="{921FD83F-E93C-4172-927C-39516FB4C889}" dt="2026-09-03T23:01:37.259" v="899"/>
          <ac:spMkLst>
            <pc:docMk/>
            <pc:sldMk cId="0" sldId="303"/>
            <ac:spMk id="900" creationId="{00000000-0000-0000-0000-000000000000}"/>
          </ac:spMkLst>
        </pc:spChg>
      </pc:sldChg>
      <pc:sldChg chg="modSp mod">
        <pc:chgData name="Mattéo TREMISI" userId="e344fc52-7e33-4822-85ed-50fd192645c1" providerId="ADAL" clId="{921FD83F-E93C-4172-927C-39516FB4C889}" dt="2026-09-03T22:59:42.296" v="855"/>
        <pc:sldMkLst>
          <pc:docMk/>
          <pc:sldMk cId="0" sldId="304"/>
        </pc:sldMkLst>
        <pc:spChg chg="mod ord">
          <ac:chgData name="Mattéo TREMISI" userId="e344fc52-7e33-4822-85ed-50fd192645c1" providerId="ADAL" clId="{921FD83F-E93C-4172-927C-39516FB4C889}" dt="2026-09-03T22:59:42.296" v="855"/>
          <ac:spMkLst>
            <pc:docMk/>
            <pc:sldMk cId="0" sldId="304"/>
            <ac:spMk id="900" creationId="{00000000-0000-0000-0000-000000000000}"/>
          </ac:spMkLst>
        </pc:spChg>
      </pc:sldChg>
      <pc:sldChg chg="modSp mod modNotesTx">
        <pc:chgData name="Mattéo TREMISI" userId="e344fc52-7e33-4822-85ed-50fd192645c1" providerId="ADAL" clId="{921FD83F-E93C-4172-927C-39516FB4C889}" dt="2026-09-06T10:10:36.392" v="1312" actId="20577"/>
        <pc:sldMkLst>
          <pc:docMk/>
          <pc:sldMk cId="0" sldId="305"/>
        </pc:sldMkLst>
        <pc:spChg chg="mod">
          <ac:chgData name="Mattéo TREMISI" userId="e344fc52-7e33-4822-85ed-50fd192645c1" providerId="ADAL" clId="{921FD83F-E93C-4172-927C-39516FB4C889}" dt="2026-09-06T10:00:40.681" v="1304" actId="20577"/>
          <ac:spMkLst>
            <pc:docMk/>
            <pc:sldMk cId="0" sldId="305"/>
            <ac:spMk id="3" creationId="{00000000-0000-0000-0000-000000000000}"/>
          </ac:spMkLst>
        </pc:spChg>
        <pc:spChg chg="mod ord">
          <ac:chgData name="Mattéo TREMISI" userId="e344fc52-7e33-4822-85ed-50fd192645c1" providerId="ADAL" clId="{921FD83F-E93C-4172-927C-39516FB4C889}" dt="2026-09-03T23:01:37.274" v="900"/>
          <ac:spMkLst>
            <pc:docMk/>
            <pc:sldMk cId="0" sldId="305"/>
            <ac:spMk id="900" creationId="{00000000-0000-0000-0000-000000000000}"/>
          </ac:spMkLst>
        </pc:spChg>
      </pc:sldChg>
      <pc:sldChg chg="modSp mod">
        <pc:chgData name="Mattéo TREMISI" userId="e344fc52-7e33-4822-85ed-50fd192645c1" providerId="ADAL" clId="{921FD83F-E93C-4172-927C-39516FB4C889}" dt="2026-09-03T22:59:42.311" v="857"/>
        <pc:sldMkLst>
          <pc:docMk/>
          <pc:sldMk cId="0" sldId="306"/>
        </pc:sldMkLst>
        <pc:spChg chg="mod ord">
          <ac:chgData name="Mattéo TREMISI" userId="e344fc52-7e33-4822-85ed-50fd192645c1" providerId="ADAL" clId="{921FD83F-E93C-4172-927C-39516FB4C889}" dt="2026-09-03T22:59:42.311" v="857"/>
          <ac:spMkLst>
            <pc:docMk/>
            <pc:sldMk cId="0" sldId="306"/>
            <ac:spMk id="900" creationId="{00000000-0000-0000-0000-000000000000}"/>
          </ac:spMkLst>
        </pc:spChg>
      </pc:sldChg>
      <pc:sldChg chg="addSp modSp mod">
        <pc:chgData name="Mattéo TREMISI" userId="e344fc52-7e33-4822-85ed-50fd192645c1" providerId="ADAL" clId="{921FD83F-E93C-4172-927C-39516FB4C889}" dt="2026-09-06T10:11:21.145" v="1427" actId="1037"/>
        <pc:sldMkLst>
          <pc:docMk/>
          <pc:sldMk cId="0" sldId="307"/>
        </pc:sldMkLst>
        <pc:spChg chg="mod">
          <ac:chgData name="Mattéo TREMISI" userId="e344fc52-7e33-4822-85ed-50fd192645c1" providerId="ADAL" clId="{921FD83F-E93C-4172-927C-39516FB4C889}" dt="2026-09-06T10:11:12.905" v="1383" actId="1076"/>
          <ac:spMkLst>
            <pc:docMk/>
            <pc:sldMk cId="0" sldId="307"/>
            <ac:spMk id="3"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4"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5"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6"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7"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8" creationId="{00000000-0000-0000-0000-000000000000}"/>
          </ac:spMkLst>
        </pc:spChg>
        <pc:spChg chg="mod">
          <ac:chgData name="Mattéo TREMISI" userId="e344fc52-7e33-4822-85ed-50fd192645c1" providerId="ADAL" clId="{921FD83F-E93C-4172-927C-39516FB4C889}" dt="2026-09-06T10:11:09.728" v="1381" actId="1038"/>
          <ac:spMkLst>
            <pc:docMk/>
            <pc:sldMk cId="0" sldId="307"/>
            <ac:spMk id="9" creationId="{00000000-0000-0000-0000-000000000000}"/>
          </ac:spMkLst>
        </pc:spChg>
        <pc:spChg chg="mod ord">
          <ac:chgData name="Mattéo TREMISI" userId="e344fc52-7e33-4822-85ed-50fd192645c1" providerId="ADAL" clId="{921FD83F-E93C-4172-927C-39516FB4C889}" dt="2026-09-03T22:59:42.317" v="858"/>
          <ac:spMkLst>
            <pc:docMk/>
            <pc:sldMk cId="0" sldId="307"/>
            <ac:spMk id="900"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1"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2"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3"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4" creationId="{00000000-0000-0000-0000-000000000000}"/>
          </ac:spMkLst>
        </pc:spChg>
        <pc:spChg chg="mod">
          <ac:chgData name="Mattéo TREMISI" userId="e344fc52-7e33-4822-85ed-50fd192645c1" providerId="ADAL" clId="{921FD83F-E93C-4172-927C-39516FB4C889}" dt="2026-09-06T10:11:21.145" v="1427" actId="1037"/>
          <ac:spMkLst>
            <pc:docMk/>
            <pc:sldMk cId="0" sldId="307"/>
            <ac:spMk id="906" creationId="{00000000-0000-0000-0000-000000000000}"/>
          </ac:spMkLst>
        </pc:spChg>
        <pc:picChg chg="add mod">
          <ac:chgData name="Mattéo TREMISI" userId="e344fc52-7e33-4822-85ed-50fd192645c1" providerId="ADAL" clId="{921FD83F-E93C-4172-927C-39516FB4C889}" dt="2026-09-06T10:11:21.145" v="1427" actId="1037"/>
          <ac:picMkLst>
            <pc:docMk/>
            <pc:sldMk cId="0" sldId="307"/>
            <ac:picMk id="11" creationId="{812CAB32-6D8C-2FD3-1850-1EE14E19C099}"/>
          </ac:picMkLst>
        </pc:picChg>
        <pc:picChg chg="add mod">
          <ac:chgData name="Mattéo TREMISI" userId="e344fc52-7e33-4822-85ed-50fd192645c1" providerId="ADAL" clId="{921FD83F-E93C-4172-927C-39516FB4C889}" dt="2026-09-06T10:11:21.145" v="1427" actId="1037"/>
          <ac:picMkLst>
            <pc:docMk/>
            <pc:sldMk cId="0" sldId="307"/>
            <ac:picMk id="33" creationId="{CC4DE4F7-6A46-D082-8D86-201B2BFB2995}"/>
          </ac:picMkLst>
        </pc:picChg>
      </pc:sldChg>
      <pc:sldChg chg="addSp delSp modSp del mod">
        <pc:chgData name="Mattéo TREMISI" userId="e344fc52-7e33-4822-85ed-50fd192645c1" providerId="ADAL" clId="{921FD83F-E93C-4172-927C-39516FB4C889}" dt="2026-09-06T13:54:27.391" v="1591" actId="478"/>
        <pc:sldMkLst>
          <pc:docMk/>
          <pc:sldMk cId="0" sldId="308"/>
        </pc:sldMkLst>
        <pc:spChg chg="del">
          <ac:chgData name="Mattéo TREMISI" userId="e344fc52-7e33-4822-85ed-50fd192645c1" providerId="ADAL" clId="{921FD83F-E93C-4172-927C-39516FB4C889}" dt="2026-09-06T13:54:27.391" v="1591" actId="478"/>
          <ac:spMkLst>
            <pc:docMk/>
            <pc:sldMk cId="0" sldId="308"/>
            <ac:spMk id="954" creationId="{00000000-0000-0000-0000-000000000000}"/>
          </ac:spMkLst>
        </pc:spChg>
      </pc:sldChg>
      <pc:sldChg chg="addSp delSp modSp del mod">
        <pc:chgData name="Mattéo TREMISI" userId="e344fc52-7e33-4822-85ed-50fd192645c1" providerId="ADAL" clId="{921FD83F-E93C-4172-927C-39516FB4C889}" dt="2026-09-06T17:40:37.073" v="2155" actId="20577"/>
        <pc:sldMkLst>
          <pc:docMk/>
          <pc:sldMk cId="0" sldId="309"/>
        </pc:sldMkLst>
        <pc:spChg chg="mod">
          <ac:chgData name="Mattéo TREMISI" userId="e344fc52-7e33-4822-85ed-50fd192645c1" providerId="ADAL" clId="{921FD83F-E93C-4172-927C-39516FB4C889}" dt="2026-09-06T17:40:04.494" v="2133" actId="14100"/>
          <ac:spMkLst>
            <pc:docMk/>
            <pc:sldMk cId="0" sldId="309"/>
            <ac:spMk id="4"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5"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6" creationId="{00000000-0000-0000-0000-000000000000}"/>
          </ac:spMkLst>
        </pc:spChg>
        <pc:spChg chg="mod">
          <ac:chgData name="Mattéo TREMISI" userId="e344fc52-7e33-4822-85ed-50fd192645c1" providerId="ADAL" clId="{921FD83F-E93C-4172-927C-39516FB4C889}" dt="2026-09-06T17:40:32.192" v="2149" actId="20577"/>
          <ac:spMkLst>
            <pc:docMk/>
            <pc:sldMk cId="0" sldId="309"/>
            <ac:spMk id="7"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8"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0" creationId="{00000000-0000-0000-0000-000000000000}"/>
          </ac:spMkLst>
        </pc:spChg>
        <pc:spChg chg="mod">
          <ac:chgData name="Mattéo TREMISI" userId="e344fc52-7e33-4822-85ed-50fd192645c1" providerId="ADAL" clId="{921FD83F-E93C-4172-927C-39516FB4C889}" dt="2026-09-06T17:40:37.073" v="2155" actId="20577"/>
          <ac:spMkLst>
            <pc:docMk/>
            <pc:sldMk cId="0" sldId="309"/>
            <ac:spMk id="11"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2" creationId="{00000000-0000-0000-0000-000000000000}"/>
          </ac:spMkLst>
        </pc:spChg>
        <pc:spChg chg="mod">
          <ac:chgData name="Mattéo TREMISI" userId="e344fc52-7e33-4822-85ed-50fd192645c1" providerId="ADAL" clId="{921FD83F-E93C-4172-927C-39516FB4C889}" dt="2026-09-06T17:39:53.756" v="2130" actId="1076"/>
          <ac:spMkLst>
            <pc:docMk/>
            <pc:sldMk cId="0" sldId="309"/>
            <ac:spMk id="13" creationId="{00000000-0000-0000-0000-000000000000}"/>
          </ac:spMkLst>
        </pc:spChg>
        <pc:spChg chg="mod">
          <ac:chgData name="Mattéo TREMISI" userId="e344fc52-7e33-4822-85ed-50fd192645c1" providerId="ADAL" clId="{921FD83F-E93C-4172-927C-39516FB4C889}" dt="2026-09-06T17:39:35.389" v="2125" actId="1037"/>
          <ac:spMkLst>
            <pc:docMk/>
            <pc:sldMk cId="0" sldId="309"/>
            <ac:spMk id="14" creationId="{00000000-0000-0000-0000-000000000000}"/>
          </ac:spMkLst>
        </pc:spChg>
        <pc:spChg chg="mod">
          <ac:chgData name="Mattéo TREMISI" userId="e344fc52-7e33-4822-85ed-50fd192645c1" providerId="ADAL" clId="{921FD83F-E93C-4172-927C-39516FB4C889}" dt="2026-09-06T17:40:23.417" v="2137" actId="6549"/>
          <ac:spMkLst>
            <pc:docMk/>
            <pc:sldMk cId="0" sldId="309"/>
            <ac:spMk id="15" creationId="{00000000-0000-0000-0000-000000000000}"/>
          </ac:spMkLst>
        </pc:spChg>
        <pc:spChg chg="del">
          <ac:chgData name="Mattéo TREMISI" userId="e344fc52-7e33-4822-85ed-50fd192645c1" providerId="ADAL" clId="{921FD83F-E93C-4172-927C-39516FB4C889}" dt="2026-09-06T17:35:23.157" v="1993" actId="478"/>
          <ac:spMkLst>
            <pc:docMk/>
            <pc:sldMk cId="0" sldId="309"/>
            <ac:spMk id="16" creationId="{00000000-0000-0000-0000-000000000000}"/>
          </ac:spMkLst>
        </pc:spChg>
        <pc:spChg chg="mod">
          <ac:chgData name="Mattéo TREMISI" userId="e344fc52-7e33-4822-85ed-50fd192645c1" providerId="ADAL" clId="{921FD83F-E93C-4172-927C-39516FB4C889}" dt="2026-09-06T17:35:36.017" v="2004" actId="20577"/>
          <ac:spMkLst>
            <pc:docMk/>
            <pc:sldMk cId="0" sldId="309"/>
            <ac:spMk id="20"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1" creationId="{00000000-0000-0000-0000-000000000000}"/>
          </ac:spMkLst>
        </pc:spChg>
        <pc:spChg chg="del">
          <ac:chgData name="Mattéo TREMISI" userId="e344fc52-7e33-4822-85ed-50fd192645c1" providerId="ADAL" clId="{921FD83F-E93C-4172-927C-39516FB4C889}" dt="2026-09-06T17:35:41.283" v="2005" actId="478"/>
          <ac:spMkLst>
            <pc:docMk/>
            <pc:sldMk cId="0" sldId="309"/>
            <ac:spMk id="22" creationId="{00000000-0000-0000-0000-000000000000}"/>
          </ac:spMkLst>
        </pc:spChg>
        <pc:spChg chg="add mod">
          <ac:chgData name="Mattéo TREMISI" userId="e344fc52-7e33-4822-85ed-50fd192645c1" providerId="ADAL" clId="{921FD83F-E93C-4172-927C-39516FB4C889}" dt="2026-09-06T17:40:08.158" v="2134" actId="1076"/>
          <ac:spMkLst>
            <pc:docMk/>
            <pc:sldMk cId="0" sldId="309"/>
            <ac:spMk id="24" creationId="{73C0C625-8BB1-0682-D91D-33E1AB229876}"/>
          </ac:spMkLst>
        </pc:spChg>
        <pc:spChg chg="add mod">
          <ac:chgData name="Mattéo TREMISI" userId="e344fc52-7e33-4822-85ed-50fd192645c1" providerId="ADAL" clId="{921FD83F-E93C-4172-927C-39516FB4C889}" dt="2026-09-06T17:40:15.221" v="2135" actId="1076"/>
          <ac:spMkLst>
            <pc:docMk/>
            <pc:sldMk cId="0" sldId="309"/>
            <ac:spMk id="26" creationId="{473B1FBD-E076-DB45-A5BD-9E230351B3E8}"/>
          </ac:spMkLst>
        </pc:spChg>
        <pc:spChg chg="add mod">
          <ac:chgData name="Mattéo TREMISI" userId="e344fc52-7e33-4822-85ed-50fd192645c1" providerId="ADAL" clId="{921FD83F-E93C-4172-927C-39516FB4C889}" dt="2026-09-06T17:39:35.389" v="2125" actId="1037"/>
          <ac:spMkLst>
            <pc:docMk/>
            <pc:sldMk cId="0" sldId="309"/>
            <ac:spMk id="28" creationId="{2EE36396-AAFE-CDE4-3AF3-9251C6D58336}"/>
          </ac:spMkLst>
        </pc:spChg>
        <pc:spChg chg="del">
          <ac:chgData name="Mattéo TREMISI" userId="e344fc52-7e33-4822-85ed-50fd192645c1" providerId="ADAL" clId="{921FD83F-E93C-4172-927C-39516FB4C889}" dt="2026-09-06T17:35:41.283" v="2005" actId="478"/>
          <ac:spMkLst>
            <pc:docMk/>
            <pc:sldMk cId="0" sldId="309"/>
            <ac:spMk id="900" creationId="{00000000-0000-0000-0000-000000000000}"/>
          </ac:spMkLst>
        </pc:spChg>
      </pc:sldChg>
      <pc:sldChg chg="delSp modSp del mod ord setBg">
        <pc:chgData name="Mattéo TREMISI" userId="e344fc52-7e33-4822-85ed-50fd192645c1" providerId="ADAL" clId="{921FD83F-E93C-4172-927C-39516FB4C889}" dt="2026-09-06T17:42:09.130" v="2167" actId="14100"/>
        <pc:sldMkLst>
          <pc:docMk/>
          <pc:sldMk cId="0" sldId="310"/>
        </pc:sldMkLst>
        <pc:spChg chg="mod">
          <ac:chgData name="Mattéo TREMISI" userId="e344fc52-7e33-4822-85ed-50fd192645c1" providerId="ADAL" clId="{921FD83F-E93C-4172-927C-39516FB4C889}" dt="2026-09-06T17:41:40.292" v="2159" actId="14100"/>
          <ac:spMkLst>
            <pc:docMk/>
            <pc:sldMk cId="0" sldId="310"/>
            <ac:spMk id="10" creationId="{00000000-0000-0000-0000-000000000000}"/>
          </ac:spMkLst>
        </pc:spChg>
        <pc:spChg chg="mod">
          <ac:chgData name="Mattéo TREMISI" userId="e344fc52-7e33-4822-85ed-50fd192645c1" providerId="ADAL" clId="{921FD83F-E93C-4172-927C-39516FB4C889}" dt="2026-09-06T17:42:00.241" v="2165" actId="403"/>
          <ac:spMkLst>
            <pc:docMk/>
            <pc:sldMk cId="0" sldId="310"/>
            <ac:spMk id="11" creationId="{00000000-0000-0000-0000-000000000000}"/>
          </ac:spMkLst>
        </pc:spChg>
        <pc:spChg chg="del">
          <ac:chgData name="Mattéo TREMISI" userId="e344fc52-7e33-4822-85ed-50fd192645c1" providerId="ADAL" clId="{921FD83F-E93C-4172-927C-39516FB4C889}" dt="2026-09-06T17:41:35.320" v="2158" actId="478"/>
          <ac:spMkLst>
            <pc:docMk/>
            <pc:sldMk cId="0" sldId="310"/>
            <ac:spMk id="14" creationId="{00000000-0000-0000-0000-000000000000}"/>
          </ac:spMkLst>
        </pc:spChg>
        <pc:spChg chg="mod">
          <ac:chgData name="Mattéo TREMISI" userId="e344fc52-7e33-4822-85ed-50fd192645c1" providerId="ADAL" clId="{921FD83F-E93C-4172-927C-39516FB4C889}" dt="2026-09-06T17:42:09.130" v="2167" actId="14100"/>
          <ac:spMkLst>
            <pc:docMk/>
            <pc:sldMk cId="0" sldId="310"/>
            <ac:spMk id="15" creationId="{00000000-0000-0000-0000-000000000000}"/>
          </ac:spMkLst>
        </pc:spChg>
        <pc:spChg chg="del">
          <ac:chgData name="Mattéo TREMISI" userId="e344fc52-7e33-4822-85ed-50fd192645c1" providerId="ADAL" clId="{921FD83F-E93C-4172-927C-39516FB4C889}" dt="2026-09-06T17:42:05.929" v="2166" actId="478"/>
          <ac:spMkLst>
            <pc:docMk/>
            <pc:sldMk cId="0" sldId="310"/>
            <ac:spMk id="18" creationId="{00000000-0000-0000-0000-000000000000}"/>
          </ac:spMkLst>
        </pc:spChg>
      </pc:sldChg>
      <pc:sldChg chg="modSp del mod setBg">
        <pc:chgData name="Mattéo TREMISI" userId="e344fc52-7e33-4822-85ed-50fd192645c1" providerId="ADAL" clId="{921FD83F-E93C-4172-927C-39516FB4C889}" dt="2026-09-05T23:40:33.723" v="1187"/>
        <pc:sldMkLst>
          <pc:docMk/>
          <pc:sldMk cId="0" sldId="311"/>
        </pc:sldMkLst>
      </pc:sldChg>
      <pc:sldChg chg="addSp delSp modSp add del mod">
        <pc:chgData name="Mattéo TREMISI" userId="e344fc52-7e33-4822-85ed-50fd192645c1" providerId="ADAL" clId="{921FD83F-E93C-4172-927C-39516FB4C889}" dt="2026-09-06T13:34:40.046" v="1499" actId="47"/>
        <pc:sldMkLst>
          <pc:docMk/>
          <pc:sldMk cId="2427109584" sldId="312"/>
        </pc:sldMkLst>
        <pc:spChg chg="del">
          <ac:chgData name="Mattéo TREMISI" userId="e344fc52-7e33-4822-85ed-50fd192645c1" providerId="ADAL" clId="{921FD83F-E93C-4172-927C-39516FB4C889}" dt="2026-09-06T13:34:15.236" v="1487" actId="21"/>
          <ac:spMkLst>
            <pc:docMk/>
            <pc:sldMk cId="2427109584" sldId="312"/>
            <ac:spMk id="18" creationId="{EC1669D2-41BF-AAE0-BBA4-B081B1FFFC75}"/>
          </ac:spMkLst>
        </pc:spChg>
        <pc:spChg chg="del">
          <ac:chgData name="Mattéo TREMISI" userId="e344fc52-7e33-4822-85ed-50fd192645c1" providerId="ADAL" clId="{921FD83F-E93C-4172-927C-39516FB4C889}" dt="2026-09-06T13:34:15.236" v="1487" actId="21"/>
          <ac:spMkLst>
            <pc:docMk/>
            <pc:sldMk cId="2427109584" sldId="312"/>
            <ac:spMk id="19" creationId="{8CA164F0-AC00-F5F8-5011-CF9B7D7335BD}"/>
          </ac:spMkLst>
        </pc:spChg>
        <pc:picChg chg="add del">
          <ac:chgData name="Mattéo TREMISI" userId="e344fc52-7e33-4822-85ed-50fd192645c1" providerId="ADAL" clId="{921FD83F-E93C-4172-927C-39516FB4C889}" dt="2026-09-06T10:15:39.170" v="1459" actId="478"/>
          <ac:picMkLst>
            <pc:docMk/>
            <pc:sldMk cId="2427109584" sldId="312"/>
            <ac:picMk id="4" creationId="{B7825C34-CFE8-54B2-C55F-92BE892B3A5C}"/>
          </ac:picMkLst>
        </pc:picChg>
      </pc:sldChg>
      <pc:sldChg chg="addSp delSp modSp mod">
        <pc:chgData name="Mattéo TREMISI" userId="e344fc52-7e33-4822-85ed-50fd192645c1" providerId="ADAL" clId="{921FD83F-E93C-4172-927C-39516FB4C889}" dt="2026-09-06T13:34:37.603" v="1498" actId="1076"/>
        <pc:sldMkLst>
          <pc:docMk/>
          <pc:sldMk cId="0" sldId="313"/>
        </pc:sldMkLst>
        <pc:spChg chg="del">
          <ac:chgData name="Mattéo TREMISI" userId="e344fc52-7e33-4822-85ed-50fd192645c1" providerId="ADAL" clId="{921FD83F-E93C-4172-927C-39516FB4C889}" dt="2026-09-06T13:34:26.495" v="1490" actId="478"/>
          <ac:spMkLst>
            <pc:docMk/>
            <pc:sldMk cId="0" sldId="313"/>
            <ac:spMk id="3" creationId="{00000000-0000-0000-0000-000000000000}"/>
          </ac:spMkLst>
        </pc:spChg>
        <pc:spChg chg="mod">
          <ac:chgData name="Mattéo TREMISI" userId="e344fc52-7e33-4822-85ed-50fd192645c1" providerId="ADAL" clId="{921FD83F-E93C-4172-927C-39516FB4C889}" dt="2026-09-06T13:34:30.258" v="1496" actId="20577"/>
          <ac:spMkLst>
            <pc:docMk/>
            <pc:sldMk cId="0" sldId="313"/>
            <ac:spMk id="4" creationId="{00000000-0000-0000-0000-000000000000}"/>
          </ac:spMkLst>
        </pc:spChg>
        <pc:spChg chg="del">
          <ac:chgData name="Mattéo TREMISI" userId="e344fc52-7e33-4822-85ed-50fd192645c1" providerId="ADAL" clId="{921FD83F-E93C-4172-927C-39516FB4C889}" dt="2026-09-06T13:34:28.209" v="1491" actId="478"/>
          <ac:spMkLst>
            <pc:docMk/>
            <pc:sldMk cId="0" sldId="313"/>
            <ac:spMk id="5" creationId="{00000000-0000-0000-0000-000000000000}"/>
          </ac:spMkLst>
        </pc:spChg>
        <pc:spChg chg="add mod">
          <ac:chgData name="Mattéo TREMISI" userId="e344fc52-7e33-4822-85ed-50fd192645c1" providerId="ADAL" clId="{921FD83F-E93C-4172-927C-39516FB4C889}" dt="2026-09-06T13:34:33.922" v="1497" actId="1076"/>
          <ac:spMkLst>
            <pc:docMk/>
            <pc:sldMk cId="0" sldId="313"/>
            <ac:spMk id="7" creationId="{8F3EB75A-05C3-76C7-5183-EC33B4868DC6}"/>
          </ac:spMkLst>
        </pc:spChg>
        <pc:spChg chg="add mod">
          <ac:chgData name="Mattéo TREMISI" userId="e344fc52-7e33-4822-85ed-50fd192645c1" providerId="ADAL" clId="{921FD83F-E93C-4172-927C-39516FB4C889}" dt="2026-09-06T13:34:37.603" v="1498" actId="1076"/>
          <ac:spMkLst>
            <pc:docMk/>
            <pc:sldMk cId="0" sldId="313"/>
            <ac:spMk id="9" creationId="{C9B65CB4-A25B-76C5-1947-CA798B413FFF}"/>
          </ac:spMkLst>
        </pc:spChg>
        <pc:spChg chg="mod ord">
          <ac:chgData name="Mattéo TREMISI" userId="e344fc52-7e33-4822-85ed-50fd192645c1" providerId="ADAL" clId="{921FD83F-E93C-4172-927C-39516FB4C889}" dt="2026-09-03T23:01:37.314" v="903"/>
          <ac:spMkLst>
            <pc:docMk/>
            <pc:sldMk cId="0" sldId="313"/>
            <ac:spMk id="900" creationId="{00000000-0000-0000-0000-000000000000}"/>
          </ac:spMkLst>
        </pc:spChg>
      </pc:sldChg>
      <pc:sldChg chg="modSp mod">
        <pc:chgData name="Mattéo TREMISI" userId="e344fc52-7e33-4822-85ed-50fd192645c1" providerId="ADAL" clId="{921FD83F-E93C-4172-927C-39516FB4C889}" dt="2026-09-03T22:59:42.359" v="865"/>
        <pc:sldMkLst>
          <pc:docMk/>
          <pc:sldMk cId="0" sldId="314"/>
        </pc:sldMkLst>
        <pc:spChg chg="mod ord">
          <ac:chgData name="Mattéo TREMISI" userId="e344fc52-7e33-4822-85ed-50fd192645c1" providerId="ADAL" clId="{921FD83F-E93C-4172-927C-39516FB4C889}" dt="2026-09-03T22:59:42.359" v="865"/>
          <ac:spMkLst>
            <pc:docMk/>
            <pc:sldMk cId="0" sldId="314"/>
            <ac:spMk id="900" creationId="{00000000-0000-0000-0000-000000000000}"/>
          </ac:spMkLst>
        </pc:spChg>
      </pc:sldChg>
      <pc:sldChg chg="modSp mod">
        <pc:chgData name="Mattéo TREMISI" userId="e344fc52-7e33-4822-85ed-50fd192645c1" providerId="ADAL" clId="{921FD83F-E93C-4172-927C-39516FB4C889}" dt="2026-09-03T22:59:42.366" v="866"/>
        <pc:sldMkLst>
          <pc:docMk/>
          <pc:sldMk cId="0" sldId="315"/>
        </pc:sldMkLst>
        <pc:spChg chg="mod ord">
          <ac:chgData name="Mattéo TREMISI" userId="e344fc52-7e33-4822-85ed-50fd192645c1" providerId="ADAL" clId="{921FD83F-E93C-4172-927C-39516FB4C889}" dt="2026-09-03T22:59:42.366" v="866"/>
          <ac:spMkLst>
            <pc:docMk/>
            <pc:sldMk cId="0" sldId="315"/>
            <ac:spMk id="900" creationId="{00000000-0000-0000-0000-000000000000}"/>
          </ac:spMkLst>
        </pc:spChg>
      </pc:sldChg>
      <pc:sldChg chg="modSp mod">
        <pc:chgData name="Mattéo TREMISI" userId="e344fc52-7e33-4822-85ed-50fd192645c1" providerId="ADAL" clId="{921FD83F-E93C-4172-927C-39516FB4C889}" dt="2026-09-03T22:59:42.371" v="867"/>
        <pc:sldMkLst>
          <pc:docMk/>
          <pc:sldMk cId="0" sldId="316"/>
        </pc:sldMkLst>
        <pc:spChg chg="mod ord">
          <ac:chgData name="Mattéo TREMISI" userId="e344fc52-7e33-4822-85ed-50fd192645c1" providerId="ADAL" clId="{921FD83F-E93C-4172-927C-39516FB4C889}" dt="2026-09-03T22:59:42.371" v="867"/>
          <ac:spMkLst>
            <pc:docMk/>
            <pc:sldMk cId="0" sldId="316"/>
            <ac:spMk id="900" creationId="{00000000-0000-0000-0000-000000000000}"/>
          </ac:spMkLst>
        </pc:spChg>
      </pc:sldChg>
      <pc:sldChg chg="modSp mod">
        <pc:chgData name="Mattéo TREMISI" userId="e344fc52-7e33-4822-85ed-50fd192645c1" providerId="ADAL" clId="{921FD83F-E93C-4172-927C-39516FB4C889}" dt="2026-09-03T22:59:42.376" v="868"/>
        <pc:sldMkLst>
          <pc:docMk/>
          <pc:sldMk cId="0" sldId="317"/>
        </pc:sldMkLst>
        <pc:spChg chg="mod ord">
          <ac:chgData name="Mattéo TREMISI" userId="e344fc52-7e33-4822-85ed-50fd192645c1" providerId="ADAL" clId="{921FD83F-E93C-4172-927C-39516FB4C889}" dt="2026-09-03T22:59:42.376" v="868"/>
          <ac:spMkLst>
            <pc:docMk/>
            <pc:sldMk cId="0" sldId="317"/>
            <ac:spMk id="900" creationId="{00000000-0000-0000-0000-000000000000}"/>
          </ac:spMkLst>
        </pc:spChg>
      </pc:sldChg>
      <pc:sldChg chg="modSp mod">
        <pc:chgData name="Mattéo TREMISI" userId="e344fc52-7e33-4822-85ed-50fd192645c1" providerId="ADAL" clId="{921FD83F-E93C-4172-927C-39516FB4C889}" dt="2026-09-03T22:59:42.383" v="869"/>
        <pc:sldMkLst>
          <pc:docMk/>
          <pc:sldMk cId="0" sldId="318"/>
        </pc:sldMkLst>
        <pc:spChg chg="mod ord">
          <ac:chgData name="Mattéo TREMISI" userId="e344fc52-7e33-4822-85ed-50fd192645c1" providerId="ADAL" clId="{921FD83F-E93C-4172-927C-39516FB4C889}" dt="2026-09-03T22:59:42.383" v="869"/>
          <ac:spMkLst>
            <pc:docMk/>
            <pc:sldMk cId="0" sldId="318"/>
            <ac:spMk id="900" creationId="{00000000-0000-0000-0000-000000000000}"/>
          </ac:spMkLst>
        </pc:spChg>
      </pc:sldChg>
      <pc:sldChg chg="modSp mod">
        <pc:chgData name="Mattéo TREMISI" userId="e344fc52-7e33-4822-85ed-50fd192645c1" providerId="ADAL" clId="{921FD83F-E93C-4172-927C-39516FB4C889}" dt="2026-09-03T22:59:42.389" v="870"/>
        <pc:sldMkLst>
          <pc:docMk/>
          <pc:sldMk cId="3222269704" sldId="319"/>
        </pc:sldMkLst>
        <pc:spChg chg="mod ord">
          <ac:chgData name="Mattéo TREMISI" userId="e344fc52-7e33-4822-85ed-50fd192645c1" providerId="ADAL" clId="{921FD83F-E93C-4172-927C-39516FB4C889}" dt="2026-09-03T22:59:42.389" v="870"/>
          <ac:spMkLst>
            <pc:docMk/>
            <pc:sldMk cId="3222269704" sldId="319"/>
            <ac:spMk id="900" creationId="{00000000-0000-0000-0000-000000000000}"/>
          </ac:spMkLst>
        </pc:spChg>
      </pc:sldChg>
      <pc:sldChg chg="modSp mod">
        <pc:chgData name="Mattéo TREMISI" userId="e344fc52-7e33-4822-85ed-50fd192645c1" providerId="ADAL" clId="{921FD83F-E93C-4172-927C-39516FB4C889}" dt="2026-09-03T22:59:42.400" v="872"/>
        <pc:sldMkLst>
          <pc:docMk/>
          <pc:sldMk cId="0" sldId="321"/>
        </pc:sldMkLst>
        <pc:spChg chg="mod ord">
          <ac:chgData name="Mattéo TREMISI" userId="e344fc52-7e33-4822-85ed-50fd192645c1" providerId="ADAL" clId="{921FD83F-E93C-4172-927C-39516FB4C889}" dt="2026-09-03T22:59:42.400" v="872"/>
          <ac:spMkLst>
            <pc:docMk/>
            <pc:sldMk cId="0" sldId="321"/>
            <ac:spMk id="900" creationId="{00000000-0000-0000-0000-000000000000}"/>
          </ac:spMkLst>
        </pc:spChg>
      </pc:sldChg>
      <pc:sldChg chg="delSp modSp add mod">
        <pc:chgData name="Mattéo TREMISI" userId="e344fc52-7e33-4822-85ed-50fd192645c1" providerId="ADAL" clId="{921FD83F-E93C-4172-927C-39516FB4C889}" dt="2026-09-06T09:03:33.756" v="1204" actId="478"/>
        <pc:sldMkLst>
          <pc:docMk/>
          <pc:sldMk cId="505261516" sldId="322"/>
        </pc:sldMkLst>
        <pc:spChg chg="mod ord">
          <ac:chgData name="Mattéo TREMISI" userId="e344fc52-7e33-4822-85ed-50fd192645c1" providerId="ADAL" clId="{921FD83F-E93C-4172-927C-39516FB4C889}" dt="2026-09-03T22:59:41.942" v="808"/>
          <ac:spMkLst>
            <pc:docMk/>
            <pc:sldMk cId="505261516" sldId="322"/>
            <ac:spMk id="900"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5" creationId="{00000000-0000-0000-0000-000000000000}"/>
          </ac:spMkLst>
        </pc:spChg>
        <pc:spChg chg="del">
          <ac:chgData name="Mattéo TREMISI" userId="e344fc52-7e33-4822-85ed-50fd192645c1" providerId="ADAL" clId="{921FD83F-E93C-4172-927C-39516FB4C889}" dt="2026-09-06T09:03:33.756" v="1204" actId="478"/>
          <ac:spMkLst>
            <pc:docMk/>
            <pc:sldMk cId="505261516" sldId="322"/>
            <ac:spMk id="936" creationId="{00000000-0000-0000-0000-000000000000}"/>
          </ac:spMkLst>
        </pc:spChg>
      </pc:sldChg>
      <pc:sldChg chg="delSp modSp add mod">
        <pc:chgData name="Mattéo TREMISI" userId="e344fc52-7e33-4822-85ed-50fd192645c1" providerId="ADAL" clId="{921FD83F-E93C-4172-927C-39516FB4C889}" dt="2026-09-06T09:04:19.030" v="1206" actId="478"/>
        <pc:sldMkLst>
          <pc:docMk/>
          <pc:sldMk cId="1954908361" sldId="323"/>
        </pc:sldMkLst>
        <pc:spChg chg="del mod">
          <ac:chgData name="Mattéo TREMISI" userId="e344fc52-7e33-4822-85ed-50fd192645c1" providerId="ADAL" clId="{921FD83F-E93C-4172-927C-39516FB4C889}" dt="2026-09-06T09:04:19.030" v="1206" actId="478"/>
          <ac:spMkLst>
            <pc:docMk/>
            <pc:sldMk cId="1954908361" sldId="323"/>
            <ac:spMk id="5" creationId="{00000000-0000-0000-0000-000000000000}"/>
          </ac:spMkLst>
        </pc:spChg>
        <pc:spChg chg="mod ord">
          <ac:chgData name="Mattéo TREMISI" userId="e344fc52-7e33-4822-85ed-50fd192645c1" providerId="ADAL" clId="{921FD83F-E93C-4172-927C-39516FB4C889}" dt="2026-09-03T23:01:37.093" v="888"/>
          <ac:spMkLst>
            <pc:docMk/>
            <pc:sldMk cId="1954908361" sldId="323"/>
            <ac:spMk id="900" creationId="{00000000-0000-0000-0000-000000000000}"/>
          </ac:spMkLst>
        </pc:spChg>
      </pc:sldChg>
      <pc:sldChg chg="modSp add mod">
        <pc:chgData name="Mattéo TREMISI" userId="e344fc52-7e33-4822-85ed-50fd192645c1" providerId="ADAL" clId="{921FD83F-E93C-4172-927C-39516FB4C889}" dt="2026-09-03T22:59:42.394" v="871"/>
        <pc:sldMkLst>
          <pc:docMk/>
          <pc:sldMk cId="2675985660" sldId="324"/>
        </pc:sldMkLst>
        <pc:spChg chg="mod ord">
          <ac:chgData name="Mattéo TREMISI" userId="e344fc52-7e33-4822-85ed-50fd192645c1" providerId="ADAL" clId="{921FD83F-E93C-4172-927C-39516FB4C889}" dt="2026-09-03T22:59:42.394" v="871"/>
          <ac:spMkLst>
            <pc:docMk/>
            <pc:sldMk cId="2675985660" sldId="324"/>
            <ac:spMk id="900" creationId="{00000000-0000-0000-0000-000000000000}"/>
          </ac:spMkLst>
        </pc:spChg>
      </pc:sldChg>
      <pc:sldChg chg="addSp delSp modSp del mod">
        <pc:chgData name="Mattéo TREMISI" userId="e344fc52-7e33-4822-85ed-50fd192645c1" providerId="ADAL" clId="{921FD83F-E93C-4172-927C-39516FB4C889}" dt="2026-09-06T17:33:44.281" v="1992" actId="20577"/>
        <pc:sldMkLst>
          <pc:docMk/>
          <pc:sldMk cId="0" sldId="325"/>
        </pc:sldMkLst>
        <pc:spChg chg="mod">
          <ac:chgData name="Mattéo TREMISI" userId="e344fc52-7e33-4822-85ed-50fd192645c1" providerId="ADAL" clId="{921FD83F-E93C-4172-927C-39516FB4C889}" dt="2026-09-06T13:51:20.493" v="1587" actId="790"/>
          <ac:spMkLst>
            <pc:docMk/>
            <pc:sldMk cId="0" sldId="325"/>
            <ac:spMk id="2" creationId="{00000000-0000-0000-0000-000000000000}"/>
          </ac:spMkLst>
        </pc:spChg>
        <pc:spChg chg="mod">
          <ac:chgData name="Mattéo TREMISI" userId="e344fc52-7e33-4822-85ed-50fd192645c1" providerId="ADAL" clId="{921FD83F-E93C-4172-927C-39516FB4C889}" dt="2026-09-06T17:33:27.596" v="1977" actId="20577"/>
          <ac:spMkLst>
            <pc:docMk/>
            <pc:sldMk cId="0" sldId="325"/>
            <ac:spMk id="4" creationId="{00000000-0000-0000-0000-000000000000}"/>
          </ac:spMkLst>
        </pc:spChg>
        <pc:spChg chg="mod">
          <ac:chgData name="Mattéo TREMISI" userId="e344fc52-7e33-4822-85ed-50fd192645c1" providerId="ADAL" clId="{921FD83F-E93C-4172-927C-39516FB4C889}" dt="2026-09-06T17:33:36.197" v="1986" actId="20577"/>
          <ac:spMkLst>
            <pc:docMk/>
            <pc:sldMk cId="0" sldId="325"/>
            <ac:spMk id="13" creationId="{00000000-0000-0000-0000-000000000000}"/>
          </ac:spMkLst>
        </pc:spChg>
        <pc:spChg chg="mod">
          <ac:chgData name="Mattéo TREMISI" userId="e344fc52-7e33-4822-85ed-50fd192645c1" providerId="ADAL" clId="{921FD83F-E93C-4172-927C-39516FB4C889}" dt="2026-09-06T14:00:27.077" v="1962" actId="20577"/>
          <ac:spMkLst>
            <pc:docMk/>
            <pc:sldMk cId="0" sldId="325"/>
            <ac:spMk id="14" creationId="{00000000-0000-0000-0000-000000000000}"/>
          </ac:spMkLst>
        </pc:spChg>
        <pc:spChg chg="mod">
          <ac:chgData name="Mattéo TREMISI" userId="e344fc52-7e33-4822-85ed-50fd192645c1" providerId="ADAL" clId="{921FD83F-E93C-4172-927C-39516FB4C889}" dt="2026-09-06T13:35:22.702" v="1503" actId="207"/>
          <ac:spMkLst>
            <pc:docMk/>
            <pc:sldMk cId="0" sldId="325"/>
            <ac:spMk id="21"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2"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3"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4"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5" creationId="{00000000-0000-0000-0000-000000000000}"/>
          </ac:spMkLst>
        </pc:spChg>
        <pc:spChg chg="del">
          <ac:chgData name="Mattéo TREMISI" userId="e344fc52-7e33-4822-85ed-50fd192645c1" providerId="ADAL" clId="{921FD83F-E93C-4172-927C-39516FB4C889}" dt="2026-09-06T13:35:33.451" v="1504" actId="478"/>
          <ac:spMkLst>
            <pc:docMk/>
            <pc:sldMk cId="0" sldId="325"/>
            <ac:spMk id="26" creationId="{00000000-0000-0000-0000-000000000000}"/>
          </ac:spMkLst>
        </pc:spChg>
        <pc:spChg chg="add mod">
          <ac:chgData name="Mattéo TREMISI" userId="e344fc52-7e33-4822-85ed-50fd192645c1" providerId="ADAL" clId="{921FD83F-E93C-4172-927C-39516FB4C889}" dt="2026-09-06T13:51:52.484" v="1590" actId="207"/>
          <ac:spMkLst>
            <pc:docMk/>
            <pc:sldMk cId="0" sldId="325"/>
            <ac:spMk id="28" creationId="{5023216A-5968-7CB5-1DF8-752DA09196E8}"/>
          </ac:spMkLst>
        </pc:spChg>
        <pc:spChg chg="add mod">
          <ac:chgData name="Mattéo TREMISI" userId="e344fc52-7e33-4822-85ed-50fd192645c1" providerId="ADAL" clId="{921FD83F-E93C-4172-927C-39516FB4C889}" dt="2026-09-06T17:33:44.281" v="1992" actId="20577"/>
          <ac:spMkLst>
            <pc:docMk/>
            <pc:sldMk cId="0" sldId="325"/>
            <ac:spMk id="30" creationId="{D9C9926E-0F61-7FA5-CB69-4F5353CDD0F2}"/>
          </ac:spMkLst>
        </pc:spChg>
        <pc:spChg chg="add mod">
          <ac:chgData name="Mattéo TREMISI" userId="e344fc52-7e33-4822-85ed-50fd192645c1" providerId="ADAL" clId="{921FD83F-E93C-4172-927C-39516FB4C889}" dt="2026-09-06T13:56:55.002" v="1707" actId="313"/>
          <ac:spMkLst>
            <pc:docMk/>
            <pc:sldMk cId="0" sldId="325"/>
            <ac:spMk id="32" creationId="{392D9AFE-A7B2-EE95-2B45-5534435EEF16}"/>
          </ac:spMkLst>
        </pc:spChg>
        <pc:spChg chg="add mod">
          <ac:chgData name="Mattéo TREMISI" userId="e344fc52-7e33-4822-85ed-50fd192645c1" providerId="ADAL" clId="{921FD83F-E93C-4172-927C-39516FB4C889}" dt="2026-09-06T13:51:46.660" v="1589" actId="1076"/>
          <ac:spMkLst>
            <pc:docMk/>
            <pc:sldMk cId="0" sldId="325"/>
            <ac:spMk id="34" creationId="{2B87E4B0-20E1-B927-9F6D-5FEC5D650C87}"/>
          </ac:spMkLst>
        </pc:spChg>
        <pc:spChg chg="add mod">
          <ac:chgData name="Mattéo TREMISI" userId="e344fc52-7e33-4822-85ed-50fd192645c1" providerId="ADAL" clId="{921FD83F-E93C-4172-927C-39516FB4C889}" dt="2026-09-06T13:57:40.101" v="1841" actId="790"/>
          <ac:spMkLst>
            <pc:docMk/>
            <pc:sldMk cId="0" sldId="325"/>
            <ac:spMk id="36" creationId="{0EC00CE6-7F79-244C-4AF0-03F78C1F3B69}"/>
          </ac:spMkLst>
        </pc:spChg>
        <pc:spChg chg="add mod">
          <ac:chgData name="Mattéo TREMISI" userId="e344fc52-7e33-4822-85ed-50fd192645c1" providerId="ADAL" clId="{921FD83F-E93C-4172-927C-39516FB4C889}" dt="2026-09-06T13:51:46.660" v="1589" actId="1076"/>
          <ac:spMkLst>
            <pc:docMk/>
            <pc:sldMk cId="0" sldId="325"/>
            <ac:spMk id="38" creationId="{C113E52C-1491-778F-17EF-B4ED7239492B}"/>
          </ac:spMkLst>
        </pc:spChg>
        <pc:spChg chg="add mod">
          <ac:chgData name="Mattéo TREMISI" userId="e344fc52-7e33-4822-85ed-50fd192645c1" providerId="ADAL" clId="{921FD83F-E93C-4172-927C-39516FB4C889}" dt="2026-09-06T13:57:42.610" v="1842" actId="313"/>
          <ac:spMkLst>
            <pc:docMk/>
            <pc:sldMk cId="0" sldId="325"/>
            <ac:spMk id="40" creationId="{280760EA-DB89-019D-5E17-5DC1E658F353}"/>
          </ac:spMkLst>
        </pc:spChg>
        <pc:spChg chg="add mod">
          <ac:chgData name="Mattéo TREMISI" userId="e344fc52-7e33-4822-85ed-50fd192645c1" providerId="ADAL" clId="{921FD83F-E93C-4172-927C-39516FB4C889}" dt="2026-09-06T13:51:46.660" v="1589" actId="1076"/>
          <ac:spMkLst>
            <pc:docMk/>
            <pc:sldMk cId="0" sldId="325"/>
            <ac:spMk id="42" creationId="{7441FF8F-1536-0A50-EF64-BFB871EB7B60}"/>
          </ac:spMkLst>
        </pc:spChg>
        <pc:spChg chg="add mod">
          <ac:chgData name="Mattéo TREMISI" userId="e344fc52-7e33-4822-85ed-50fd192645c1" providerId="ADAL" clId="{921FD83F-E93C-4172-927C-39516FB4C889}" dt="2026-09-06T13:57:40.101" v="1841" actId="790"/>
          <ac:spMkLst>
            <pc:docMk/>
            <pc:sldMk cId="0" sldId="325"/>
            <ac:spMk id="44" creationId="{A980BBF9-B697-942D-19CA-5AFA1C1309B6}"/>
          </ac:spMkLst>
        </pc:spChg>
        <pc:spChg chg="add mod">
          <ac:chgData name="Mattéo TREMISI" userId="e344fc52-7e33-4822-85ed-50fd192645c1" providerId="ADAL" clId="{921FD83F-E93C-4172-927C-39516FB4C889}" dt="2026-09-06T13:56:51.117" v="1706" actId="1076"/>
          <ac:spMkLst>
            <pc:docMk/>
            <pc:sldMk cId="0" sldId="325"/>
            <ac:spMk id="46" creationId="{7C491A4D-6D5E-A067-1034-7816AD1EDDA7}"/>
          </ac:spMkLst>
        </pc:spChg>
        <pc:spChg chg="add mod">
          <ac:chgData name="Mattéo TREMISI" userId="e344fc52-7e33-4822-85ed-50fd192645c1" providerId="ADAL" clId="{921FD83F-E93C-4172-927C-39516FB4C889}" dt="2026-09-06T13:56:51.117" v="1706" actId="1076"/>
          <ac:spMkLst>
            <pc:docMk/>
            <pc:sldMk cId="0" sldId="325"/>
            <ac:spMk id="48" creationId="{2394A336-4E40-C934-2E79-9BF64A73A7E4}"/>
          </ac:spMkLst>
        </pc:spChg>
        <pc:spChg chg="add mod">
          <ac:chgData name="Mattéo TREMISI" userId="e344fc52-7e33-4822-85ed-50fd192645c1" providerId="ADAL" clId="{921FD83F-E93C-4172-927C-39516FB4C889}" dt="2026-09-06T13:56:51.117" v="1706" actId="1076"/>
          <ac:spMkLst>
            <pc:docMk/>
            <pc:sldMk cId="0" sldId="325"/>
            <ac:spMk id="50" creationId="{3E39E0A0-3289-9138-5F54-C9A6BBC3FD73}"/>
          </ac:spMkLst>
        </pc:spChg>
        <pc:spChg chg="del">
          <ac:chgData name="Mattéo TREMISI" userId="e344fc52-7e33-4822-85ed-50fd192645c1" providerId="ADAL" clId="{921FD83F-E93C-4172-927C-39516FB4C889}" dt="2026-09-06T13:35:33.451" v="1504" actId="478"/>
          <ac:spMkLst>
            <pc:docMk/>
            <pc:sldMk cId="0" sldId="325"/>
            <ac:spMk id="900" creationId="{00000000-0000-0000-0000-000000000000}"/>
          </ac:spMkLst>
        </pc:spChg>
      </pc:sldChg>
      <pc:sldChg chg="delSp modSp del mod">
        <pc:chgData name="Mattéo TREMISI" userId="e344fc52-7e33-4822-85ed-50fd192645c1" providerId="ADAL" clId="{921FD83F-E93C-4172-927C-39516FB4C889}" dt="2026-09-06T13:59:52.261" v="1937" actId="478"/>
        <pc:sldMkLst>
          <pc:docMk/>
          <pc:sldMk cId="0" sldId="326"/>
        </pc:sldMkLst>
        <pc:spChg chg="mod">
          <ac:chgData name="Mattéo TREMISI" userId="e344fc52-7e33-4822-85ed-50fd192645c1" providerId="ADAL" clId="{921FD83F-E93C-4172-927C-39516FB4C889}" dt="2026-09-06T13:57:49.287" v="1844" actId="20577"/>
          <ac:spMkLst>
            <pc:docMk/>
            <pc:sldMk cId="0" sldId="326"/>
            <ac:spMk id="2" creationId="{00000000-0000-0000-0000-000000000000}"/>
          </ac:spMkLst>
        </pc:spChg>
        <pc:spChg chg="del">
          <ac:chgData name="Mattéo TREMISI" userId="e344fc52-7e33-4822-85ed-50fd192645c1" providerId="ADAL" clId="{921FD83F-E93C-4172-927C-39516FB4C889}" dt="2026-09-06T13:59:52.261" v="1937" actId="478"/>
          <ac:spMkLst>
            <pc:docMk/>
            <pc:sldMk cId="0" sldId="326"/>
            <ac:spMk id="18" creationId="{C0CB03E1-D7D5-83A2-0D9F-2EE6818C0F43}"/>
          </ac:spMkLst>
        </pc:spChg>
        <pc:graphicFrameChg chg="modGraphic">
          <ac:chgData name="Mattéo TREMISI" userId="e344fc52-7e33-4822-85ed-50fd192645c1" providerId="ADAL" clId="{921FD83F-E93C-4172-927C-39516FB4C889}" dt="2026-09-06T13:59:46.883" v="1936" actId="20577"/>
          <ac:graphicFrameMkLst>
            <pc:docMk/>
            <pc:sldMk cId="0" sldId="326"/>
            <ac:graphicFrameMk id="15" creationId="{00000000-0000-0000-0000-000000000000}"/>
          </ac:graphicFrameMkLst>
        </pc:graphicFrameChg>
      </pc:sldChg>
      <pc:sldChg chg="addSp delSp modSp add del mod setBg">
        <pc:chgData name="Mattéo TREMISI" userId="e344fc52-7e33-4822-85ed-50fd192645c1" providerId="ADAL" clId="{921FD83F-E93C-4172-927C-39516FB4C889}" dt="2026-09-06T23:00:57.128" v="2272"/>
        <pc:sldMkLst>
          <pc:docMk/>
          <pc:sldMk cId="0" sldId="327"/>
        </pc:sldMkLst>
        <pc:spChg chg="add mod">
          <ac:chgData name="Mattéo TREMISI" userId="e344fc52-7e33-4822-85ed-50fd192645c1" providerId="ADAL" clId="{921FD83F-E93C-4172-927C-39516FB4C889}" dt="2026-09-06T23:00:43.280" v="2181"/>
          <ac:spMkLst>
            <pc:docMk/>
            <pc:sldMk cId="0" sldId="327"/>
            <ac:spMk id="4" creationId="{CC1717A1-ECE0-4BF4-B33F-AE5A805B6964}"/>
          </ac:spMkLst>
        </pc:spChg>
        <pc:spChg chg="add mod">
          <ac:chgData name="Mattéo TREMISI" userId="e344fc52-7e33-4822-85ed-50fd192645c1" providerId="ADAL" clId="{921FD83F-E93C-4172-927C-39516FB4C889}" dt="2026-09-06T23:00:43.280" v="2184"/>
          <ac:spMkLst>
            <pc:docMk/>
            <pc:sldMk cId="0" sldId="327"/>
            <ac:spMk id="5" creationId="{B80089F3-255B-45F1-8C65-4A9AC7962EDC}"/>
          </ac:spMkLst>
        </pc:spChg>
        <pc:spChg chg="add mod">
          <ac:chgData name="Mattéo TREMISI" userId="e344fc52-7e33-4822-85ed-50fd192645c1" providerId="ADAL" clId="{921FD83F-E93C-4172-927C-39516FB4C889}" dt="2026-09-06T23:00:43.280" v="2187"/>
          <ac:spMkLst>
            <pc:docMk/>
            <pc:sldMk cId="0" sldId="327"/>
            <ac:spMk id="6" creationId="{E58713B9-06F2-4EA9-9C91-4943795E4CEB}"/>
          </ac:spMkLst>
        </pc:spChg>
        <pc:spChg chg="add mod">
          <ac:chgData name="Mattéo TREMISI" userId="e344fc52-7e33-4822-85ed-50fd192645c1" providerId="ADAL" clId="{921FD83F-E93C-4172-927C-39516FB4C889}" dt="2026-09-06T23:00:43.289" v="2194"/>
          <ac:spMkLst>
            <pc:docMk/>
            <pc:sldMk cId="0" sldId="327"/>
            <ac:spMk id="7" creationId="{C230631E-8AA7-4D26-AF63-6AFD1A872B68}"/>
          </ac:spMkLst>
        </pc:spChg>
        <pc:spChg chg="add mod">
          <ac:chgData name="Mattéo TREMISI" userId="e344fc52-7e33-4822-85ed-50fd192645c1" providerId="ADAL" clId="{921FD83F-E93C-4172-927C-39516FB4C889}" dt="2026-09-06T23:00:43.299" v="2200"/>
          <ac:spMkLst>
            <pc:docMk/>
            <pc:sldMk cId="0" sldId="327"/>
            <ac:spMk id="8" creationId="{EFA6B6A6-8E72-4993-80A3-3E423A0136BE}"/>
          </ac:spMkLst>
        </pc:spChg>
        <pc:spChg chg="add mod">
          <ac:chgData name="Mattéo TREMISI" userId="e344fc52-7e33-4822-85ed-50fd192645c1" providerId="ADAL" clId="{921FD83F-E93C-4172-927C-39516FB4C889}" dt="2026-09-06T23:00:43.301" v="2203"/>
          <ac:spMkLst>
            <pc:docMk/>
            <pc:sldMk cId="0" sldId="327"/>
            <ac:spMk id="9" creationId="{1C1CD2D6-9072-45B7-9496-EC8CE1E1AB62}"/>
          </ac:spMkLst>
        </pc:spChg>
        <pc:spChg chg="del">
          <ac:chgData name="Mattéo TREMISI" userId="e344fc52-7e33-4822-85ed-50fd192645c1" providerId="ADAL" clId="{921FD83F-E93C-4172-927C-39516FB4C889}" dt="2026-09-06T23:00:43.230" v="2170"/>
          <ac:spMkLst>
            <pc:docMk/>
            <pc:sldMk cId="0" sldId="327"/>
            <ac:spMk id="10" creationId="{00000000-0000-0000-0000-000000000000}"/>
          </ac:spMkLst>
        </pc:spChg>
        <pc:spChg chg="del">
          <ac:chgData name="Mattéo TREMISI" userId="e344fc52-7e33-4822-85ed-50fd192645c1" providerId="ADAL" clId="{921FD83F-E93C-4172-927C-39516FB4C889}" dt="2026-09-06T23:00:43.231" v="2171"/>
          <ac:spMkLst>
            <pc:docMk/>
            <pc:sldMk cId="0" sldId="327"/>
            <ac:spMk id="11" creationId="{00000000-0000-0000-0000-000000000000}"/>
          </ac:spMkLst>
        </pc:spChg>
        <pc:spChg chg="del">
          <ac:chgData name="Mattéo TREMISI" userId="e344fc52-7e33-4822-85ed-50fd192645c1" providerId="ADAL" clId="{921FD83F-E93C-4172-927C-39516FB4C889}" dt="2026-09-06T23:00:43.233" v="2172"/>
          <ac:spMkLst>
            <pc:docMk/>
            <pc:sldMk cId="0" sldId="327"/>
            <ac:spMk id="12" creationId="{00000000-0000-0000-0000-000000000000}"/>
          </ac:spMkLst>
        </pc:spChg>
        <pc:spChg chg="del">
          <ac:chgData name="Mattéo TREMISI" userId="e344fc52-7e33-4822-85ed-50fd192645c1" providerId="ADAL" clId="{921FD83F-E93C-4172-927C-39516FB4C889}" dt="2026-09-06T23:00:43.234" v="2173"/>
          <ac:spMkLst>
            <pc:docMk/>
            <pc:sldMk cId="0" sldId="327"/>
            <ac:spMk id="13" creationId="{00000000-0000-0000-0000-000000000000}"/>
          </ac:spMkLst>
        </pc:spChg>
        <pc:spChg chg="add del">
          <ac:chgData name="Mattéo TREMISI" userId="e344fc52-7e33-4822-85ed-50fd192645c1" providerId="ADAL" clId="{921FD83F-E93C-4172-927C-39516FB4C889}" dt="2026-09-06T23:00:43.234" v="2174"/>
          <ac:spMkLst>
            <pc:docMk/>
            <pc:sldMk cId="0" sldId="327"/>
            <ac:spMk id="14" creationId="{00000000-0000-0000-0000-000000000000}"/>
          </ac:spMkLst>
        </pc:spChg>
        <pc:spChg chg="del">
          <ac:chgData name="Mattéo TREMISI" userId="e344fc52-7e33-4822-85ed-50fd192645c1" providerId="ADAL" clId="{921FD83F-E93C-4172-927C-39516FB4C889}" dt="2026-09-06T23:00:43.235" v="2175"/>
          <ac:spMkLst>
            <pc:docMk/>
            <pc:sldMk cId="0" sldId="327"/>
            <ac:spMk id="15" creationId="{00000000-0000-0000-0000-000000000000}"/>
          </ac:spMkLst>
        </pc:spChg>
        <pc:spChg chg="del">
          <ac:chgData name="Mattéo TREMISI" userId="e344fc52-7e33-4822-85ed-50fd192645c1" providerId="ADAL" clId="{921FD83F-E93C-4172-927C-39516FB4C889}" dt="2026-09-06T23:00:43.235" v="2176"/>
          <ac:spMkLst>
            <pc:docMk/>
            <pc:sldMk cId="0" sldId="327"/>
            <ac:spMk id="16" creationId="{00000000-0000-0000-0000-000000000000}"/>
          </ac:spMkLst>
        </pc:spChg>
        <pc:spChg chg="del">
          <ac:chgData name="Mattéo TREMISI" userId="e344fc52-7e33-4822-85ed-50fd192645c1" providerId="ADAL" clId="{921FD83F-E93C-4172-927C-39516FB4C889}" dt="2026-09-06T23:00:43.236" v="2177"/>
          <ac:spMkLst>
            <pc:docMk/>
            <pc:sldMk cId="0" sldId="327"/>
            <ac:spMk id="17" creationId="{00000000-0000-0000-0000-000000000000}"/>
          </ac:spMkLst>
        </pc:spChg>
        <pc:spChg chg="del">
          <ac:chgData name="Mattéo TREMISI" userId="e344fc52-7e33-4822-85ed-50fd192645c1" providerId="ADAL" clId="{921FD83F-E93C-4172-927C-39516FB4C889}" dt="2026-09-06T23:00:43.236" v="2178"/>
          <ac:spMkLst>
            <pc:docMk/>
            <pc:sldMk cId="0" sldId="327"/>
            <ac:spMk id="18" creationId="{00000000-0000-0000-0000-000000000000}"/>
          </ac:spMkLst>
        </pc:spChg>
        <pc:spChg chg="add mod">
          <ac:chgData name="Mattéo TREMISI" userId="e344fc52-7e33-4822-85ed-50fd192645c1" providerId="ADAL" clId="{921FD83F-E93C-4172-927C-39516FB4C889}" dt="2026-09-06T23:00:43.305" v="2208"/>
          <ac:spMkLst>
            <pc:docMk/>
            <pc:sldMk cId="0" sldId="327"/>
            <ac:spMk id="19" creationId="{E7F0AEC8-E43D-4CB2-B821-8696837F7B95}"/>
          </ac:spMkLst>
        </pc:spChg>
        <pc:spChg chg="add mod">
          <ac:chgData name="Mattéo TREMISI" userId="e344fc52-7e33-4822-85ed-50fd192645c1" providerId="ADAL" clId="{921FD83F-E93C-4172-927C-39516FB4C889}" dt="2026-09-06T23:00:43.305" v="2211"/>
          <ac:spMkLst>
            <pc:docMk/>
            <pc:sldMk cId="0" sldId="327"/>
            <ac:spMk id="20" creationId="{6F53A3AB-0D9A-4678-8CD4-952C2962E25A}"/>
          </ac:spMkLst>
        </pc:spChg>
        <pc:spChg chg="add mod">
          <ac:chgData name="Mattéo TREMISI" userId="e344fc52-7e33-4822-85ed-50fd192645c1" providerId="ADAL" clId="{921FD83F-E93C-4172-927C-39516FB4C889}" dt="2026-09-06T23:00:43.307" v="2216"/>
          <ac:spMkLst>
            <pc:docMk/>
            <pc:sldMk cId="0" sldId="327"/>
            <ac:spMk id="21" creationId="{08DB5526-72A6-4305-93EA-8B02031D87B9}"/>
          </ac:spMkLst>
        </pc:spChg>
        <pc:spChg chg="add mod">
          <ac:chgData name="Mattéo TREMISI" userId="e344fc52-7e33-4822-85ed-50fd192645c1" providerId="ADAL" clId="{921FD83F-E93C-4172-927C-39516FB4C889}" dt="2026-09-06T23:00:43.309" v="2219"/>
          <ac:spMkLst>
            <pc:docMk/>
            <pc:sldMk cId="0" sldId="327"/>
            <ac:spMk id="22" creationId="{6D469496-33A3-47E3-91D8-0D96F7568AF3}"/>
          </ac:spMkLst>
        </pc:spChg>
        <pc:spChg chg="add mod">
          <ac:chgData name="Mattéo TREMISI" userId="e344fc52-7e33-4822-85ed-50fd192645c1" providerId="ADAL" clId="{921FD83F-E93C-4172-927C-39516FB4C889}" dt="2026-09-06T23:00:43.313" v="2224"/>
          <ac:spMkLst>
            <pc:docMk/>
            <pc:sldMk cId="0" sldId="327"/>
            <ac:spMk id="23" creationId="{3855EF10-A441-48F7-968C-2755A47188A0}"/>
          </ac:spMkLst>
        </pc:spChg>
        <pc:spChg chg="add mod">
          <ac:chgData name="Mattéo TREMISI" userId="e344fc52-7e33-4822-85ed-50fd192645c1" providerId="ADAL" clId="{921FD83F-E93C-4172-927C-39516FB4C889}" dt="2026-09-06T23:00:43.314" v="2227"/>
          <ac:spMkLst>
            <pc:docMk/>
            <pc:sldMk cId="0" sldId="327"/>
            <ac:spMk id="24" creationId="{484BEDAE-49F5-4EA5-B16F-1F076D2E4EC8}"/>
          </ac:spMkLst>
        </pc:spChg>
        <pc:spChg chg="add mod">
          <ac:chgData name="Mattéo TREMISI" userId="e344fc52-7e33-4822-85ed-50fd192645c1" providerId="ADAL" clId="{921FD83F-E93C-4172-927C-39516FB4C889}" dt="2026-09-06T23:00:43.316" v="2230"/>
          <ac:spMkLst>
            <pc:docMk/>
            <pc:sldMk cId="0" sldId="327"/>
            <ac:spMk id="25" creationId="{BA3B3027-B9FD-4DC5-B704-000E50049865}"/>
          </ac:spMkLst>
        </pc:spChg>
        <pc:spChg chg="add mod">
          <ac:chgData name="Mattéo TREMISI" userId="e344fc52-7e33-4822-85ed-50fd192645c1" providerId="ADAL" clId="{921FD83F-E93C-4172-927C-39516FB4C889}" dt="2026-09-06T23:00:43.316" v="2233"/>
          <ac:spMkLst>
            <pc:docMk/>
            <pc:sldMk cId="0" sldId="327"/>
            <ac:spMk id="26" creationId="{DC326B61-D037-4624-91C7-DB0F5171F1E5}"/>
          </ac:spMkLst>
        </pc:spChg>
        <pc:spChg chg="add mod">
          <ac:chgData name="Mattéo TREMISI" userId="e344fc52-7e33-4822-85ed-50fd192645c1" providerId="ADAL" clId="{921FD83F-E93C-4172-927C-39516FB4C889}" dt="2026-09-06T23:00:43.320" v="2240"/>
          <ac:spMkLst>
            <pc:docMk/>
            <pc:sldMk cId="0" sldId="327"/>
            <ac:spMk id="27" creationId="{80CC4D69-7AC1-4F8A-946E-4DC820817138}"/>
          </ac:spMkLst>
        </pc:spChg>
        <pc:spChg chg="add mod">
          <ac:chgData name="Mattéo TREMISI" userId="e344fc52-7e33-4822-85ed-50fd192645c1" providerId="ADAL" clId="{921FD83F-E93C-4172-927C-39516FB4C889}" dt="2026-09-06T23:00:43.322" v="2246"/>
          <ac:spMkLst>
            <pc:docMk/>
            <pc:sldMk cId="0" sldId="327"/>
            <ac:spMk id="28" creationId="{BABC8CBA-0A57-4A00-9916-21D203165777}"/>
          </ac:spMkLst>
        </pc:spChg>
        <pc:spChg chg="add mod">
          <ac:chgData name="Mattéo TREMISI" userId="e344fc52-7e33-4822-85ed-50fd192645c1" providerId="ADAL" clId="{921FD83F-E93C-4172-927C-39516FB4C889}" dt="2026-09-06T23:00:43.324" v="2249"/>
          <ac:spMkLst>
            <pc:docMk/>
            <pc:sldMk cId="0" sldId="327"/>
            <ac:spMk id="29" creationId="{5555BDDA-9EE8-4F5A-B65A-EAA3C136B613}"/>
          </ac:spMkLst>
        </pc:spChg>
        <pc:spChg chg="add mod">
          <ac:chgData name="Mattéo TREMISI" userId="e344fc52-7e33-4822-85ed-50fd192645c1" providerId="ADAL" clId="{921FD83F-E93C-4172-927C-39516FB4C889}" dt="2026-09-06T23:00:43.327" v="2254"/>
          <ac:spMkLst>
            <pc:docMk/>
            <pc:sldMk cId="0" sldId="327"/>
            <ac:spMk id="30" creationId="{86F9F5D2-AC40-471E-A753-20BA63DC3139}"/>
          </ac:spMkLst>
        </pc:spChg>
        <pc:spChg chg="add mod">
          <ac:chgData name="Mattéo TREMISI" userId="e344fc52-7e33-4822-85ed-50fd192645c1" providerId="ADAL" clId="{921FD83F-E93C-4172-927C-39516FB4C889}" dt="2026-09-06T23:00:43.327" v="2257"/>
          <ac:spMkLst>
            <pc:docMk/>
            <pc:sldMk cId="0" sldId="327"/>
            <ac:spMk id="31" creationId="{ABA314C3-4752-400A-A593-B84B35C8F4E6}"/>
          </ac:spMkLst>
        </pc:spChg>
        <pc:spChg chg="add mod">
          <ac:chgData name="Mattéo TREMISI" userId="e344fc52-7e33-4822-85ed-50fd192645c1" providerId="ADAL" clId="{921FD83F-E93C-4172-927C-39516FB4C889}" dt="2026-09-06T23:00:43.329" v="2262"/>
          <ac:spMkLst>
            <pc:docMk/>
            <pc:sldMk cId="0" sldId="327"/>
            <ac:spMk id="32" creationId="{04E113B3-B849-4785-8F95-9A8AFAEAB4A2}"/>
          </ac:spMkLst>
        </pc:spChg>
        <pc:spChg chg="add mod">
          <ac:chgData name="Mattéo TREMISI" userId="e344fc52-7e33-4822-85ed-50fd192645c1" providerId="ADAL" clId="{921FD83F-E93C-4172-927C-39516FB4C889}" dt="2026-09-06T23:00:43.329" v="2265"/>
          <ac:spMkLst>
            <pc:docMk/>
            <pc:sldMk cId="0" sldId="327"/>
            <ac:spMk id="33" creationId="{896B8A45-59B5-4242-AAE1-59DB1029E328}"/>
          </ac:spMkLst>
        </pc:spChg>
        <pc:spChg chg="add mod">
          <ac:chgData name="Mattéo TREMISI" userId="e344fc52-7e33-4822-85ed-50fd192645c1" providerId="ADAL" clId="{921FD83F-E93C-4172-927C-39516FB4C889}" dt="2026-09-06T23:00:43.333" v="2270"/>
          <ac:spMkLst>
            <pc:docMk/>
            <pc:sldMk cId="0" sldId="327"/>
            <ac:spMk id="34" creationId="{BCA8566F-DCE4-4208-83A4-CEA95FDB6101}"/>
          </ac:spMkLst>
        </pc:spChg>
      </pc:sldChg>
      <pc:sldChg chg="add del">
        <pc:chgData name="Mattéo TREMISI" userId="e344fc52-7e33-4822-85ed-50fd192645c1" providerId="ADAL" clId="{921FD83F-E93C-4172-927C-39516FB4C889}" dt="2026-09-06T23:00:57.867" v="2274"/>
        <pc:sldMkLst>
          <pc:docMk/>
          <pc:sldMk cId="2307282341" sldId="329"/>
        </pc:sldMkLst>
      </pc:sldChg>
      <pc:sldChg chg="modSp add mod">
        <pc:chgData name="Mattéo TREMISI" userId="e344fc52-7e33-4822-85ed-50fd192645c1" providerId="ADAL" clId="{921FD83F-E93C-4172-927C-39516FB4C889}" dt="2026-09-07T08:22:00.006" v="2376" actId="20577"/>
        <pc:sldMkLst>
          <pc:docMk/>
          <pc:sldMk cId="321569418" sldId="330"/>
        </pc:sldMkLst>
        <pc:spChg chg="mod">
          <ac:chgData name="Mattéo TREMISI" userId="e344fc52-7e33-4822-85ed-50fd192645c1" providerId="ADAL" clId="{921FD83F-E93C-4172-927C-39516FB4C889}" dt="2026-09-06T23:07:51.570" v="2304" actId="790"/>
          <ac:spMkLst>
            <pc:docMk/>
            <pc:sldMk cId="321569418" sldId="330"/>
            <ac:spMk id="3" creationId="{00000000-0000-0000-0000-000000000000}"/>
          </ac:spMkLst>
        </pc:spChg>
        <pc:spChg chg="mod">
          <ac:chgData name="Mattéo TREMISI" userId="e344fc52-7e33-4822-85ed-50fd192645c1" providerId="ADAL" clId="{921FD83F-E93C-4172-927C-39516FB4C889}" dt="2026-09-06T23:02:49.246" v="2278" actId="20577"/>
          <ac:spMkLst>
            <pc:docMk/>
            <pc:sldMk cId="321569418" sldId="330"/>
            <ac:spMk id="19" creationId="{E7F0AEC8-E43D-4CB2-B821-8696837F7B95}"/>
          </ac:spMkLst>
        </pc:spChg>
        <pc:spChg chg="mod">
          <ac:chgData name="Mattéo TREMISI" userId="e344fc52-7e33-4822-85ed-50fd192645c1" providerId="ADAL" clId="{921FD83F-E93C-4172-927C-39516FB4C889}" dt="2026-09-06T23:16:47.929" v="2355" actId="20577"/>
          <ac:spMkLst>
            <pc:docMk/>
            <pc:sldMk cId="321569418" sldId="330"/>
            <ac:spMk id="30" creationId="{86F9F5D2-AC40-471E-A753-20BA63DC3139}"/>
          </ac:spMkLst>
        </pc:spChg>
        <pc:spChg chg="mod">
          <ac:chgData name="Mattéo TREMISI" userId="e344fc52-7e33-4822-85ed-50fd192645c1" providerId="ADAL" clId="{921FD83F-E93C-4172-927C-39516FB4C889}" dt="2026-09-06T23:16:59.047" v="2375" actId="20577"/>
          <ac:spMkLst>
            <pc:docMk/>
            <pc:sldMk cId="321569418" sldId="330"/>
            <ac:spMk id="32" creationId="{04E113B3-B849-4785-8F95-9A8AFAEAB4A2}"/>
          </ac:spMkLst>
        </pc:spChg>
        <pc:spChg chg="mod">
          <ac:chgData name="Mattéo TREMISI" userId="e344fc52-7e33-4822-85ed-50fd192645c1" providerId="ADAL" clId="{921FD83F-E93C-4172-927C-39516FB4C889}" dt="2026-09-07T08:22:00.006" v="2376" actId="20577"/>
          <ac:spMkLst>
            <pc:docMk/>
            <pc:sldMk cId="321569418" sldId="330"/>
            <ac:spMk id="34" creationId="{BCA8566F-DCE4-4208-83A4-CEA95FDB6101}"/>
          </ac:spMkLst>
        </pc:spChg>
      </pc:sldChg>
      <pc:sldChg chg="modSp add del mod setBg">
        <pc:chgData name="Mattéo TREMISI" userId="e344fc52-7e33-4822-85ed-50fd192645c1" providerId="ADAL" clId="{921FD83F-E93C-4172-927C-39516FB4C889}" dt="2026-09-06T10:18:01.302" v="1465"/>
        <pc:sldMkLst>
          <pc:docMk/>
          <pc:sldMk cId="4276453192" sldId="331"/>
        </pc:sldMkLst>
        <pc:spChg chg="mod">
          <ac:chgData name="Mattéo TREMISI" userId="e344fc52-7e33-4822-85ed-50fd192645c1" providerId="ADAL" clId="{921FD83F-E93C-4172-927C-39516FB4C889}" dt="2026-09-06T10:15:10.211" v="1457" actId="207"/>
          <ac:spMkLst>
            <pc:docMk/>
            <pc:sldMk cId="4276453192" sldId="331"/>
            <ac:spMk id="2" creationId="{00000000-0000-0000-0000-000000000000}"/>
          </ac:spMkLst>
        </pc:spChg>
        <pc:spChg chg="mod">
          <ac:chgData name="Mattéo TREMISI" userId="e344fc52-7e33-4822-85ed-50fd192645c1" providerId="ADAL" clId="{921FD83F-E93C-4172-927C-39516FB4C889}" dt="2026-09-06T10:15:10.211" v="1457" actId="207"/>
          <ac:spMkLst>
            <pc:docMk/>
            <pc:sldMk cId="4276453192" sldId="331"/>
            <ac:spMk id="18" creationId="{C0CB03E1-D7D5-83A2-0D9F-2EE6818C0F43}"/>
          </ac:spMkLst>
        </pc:spChg>
        <pc:spChg chg="mod">
          <ac:chgData name="Mattéo TREMISI" userId="e344fc52-7e33-4822-85ed-50fd192645c1" providerId="ADAL" clId="{921FD83F-E93C-4172-927C-39516FB4C889}" dt="2026-09-06T10:15:10.211" v="1457" actId="207"/>
          <ac:spMkLst>
            <pc:docMk/>
            <pc:sldMk cId="4276453192" sldId="331"/>
            <ac:spMk id="900" creationId="{00000000-0000-0000-0000-000000000000}"/>
          </ac:spMkLst>
        </pc:spChg>
        <pc:graphicFrameChg chg="modGraphic">
          <ac:chgData name="Mattéo TREMISI" userId="e344fc52-7e33-4822-85ed-50fd192645c1" providerId="ADAL" clId="{921FD83F-E93C-4172-927C-39516FB4C889}" dt="2026-09-06T10:15:09.670" v="1456" actId="207"/>
          <ac:graphicFrameMkLst>
            <pc:docMk/>
            <pc:sldMk cId="4276453192" sldId="331"/>
            <ac:graphicFrameMk id="15" creationId="{00000000-0000-0000-0000-000000000000}"/>
          </ac:graphicFrameMkLst>
        </pc:graphicFrameChg>
      </pc:sldChg>
      <pc:sldChg chg="add del">
        <pc:chgData name="Mattéo TREMISI" userId="e344fc52-7e33-4822-85ed-50fd192645c1" providerId="ADAL" clId="{921FD83F-E93C-4172-927C-39516FB4C889}" dt="2026-09-06T10:17:54.015" v="1461"/>
        <pc:sldMkLst>
          <pc:docMk/>
          <pc:sldMk cId="648172547" sldId="336"/>
        </pc:sldMkLst>
      </pc:sldChg>
      <pc:sldChg chg="add del">
        <pc:chgData name="Mattéo TREMISI" userId="e344fc52-7e33-4822-85ed-50fd192645c1" providerId="ADAL" clId="{921FD83F-E93C-4172-927C-39516FB4C889}" dt="2026-09-06T10:18:05.063" v="1467"/>
        <pc:sldMkLst>
          <pc:docMk/>
          <pc:sldMk cId="1884548264" sldId="337"/>
        </pc:sldMkLst>
      </pc:sldChg>
      <pc:sldChg chg="delSp modSp add del mod">
        <pc:chgData name="Mattéo TREMISI" userId="e344fc52-7e33-4822-85ed-50fd192645c1" providerId="ADAL" clId="{921FD83F-E93C-4172-927C-39516FB4C889}" dt="2026-09-06T10:17:57.555" v="1463"/>
        <pc:sldMkLst>
          <pc:docMk/>
          <pc:sldMk cId="501419895" sldId="340"/>
        </pc:sldMkLst>
        <pc:spChg chg="mod">
          <ac:chgData name="Mattéo TREMISI" userId="e344fc52-7e33-4822-85ed-50fd192645c1" providerId="ADAL" clId="{921FD83F-E93C-4172-927C-39516FB4C889}" dt="2026-09-06T10:13:26.082" v="1446" actId="1076"/>
          <ac:spMkLst>
            <pc:docMk/>
            <pc:sldMk cId="501419895" sldId="340"/>
            <ac:spMk id="7"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9" creationId="{00000000-0000-0000-0000-000000000000}"/>
          </ac:spMkLst>
        </pc:spChg>
        <pc:spChg chg="mod">
          <ac:chgData name="Mattéo TREMISI" userId="e344fc52-7e33-4822-85ed-50fd192645c1" providerId="ADAL" clId="{921FD83F-E93C-4172-927C-39516FB4C889}" dt="2026-09-06T10:13:26.082" v="1446" actId="1076"/>
          <ac:spMkLst>
            <pc:docMk/>
            <pc:sldMk cId="501419895" sldId="340"/>
            <ac:spMk id="11" creationId="{00000000-0000-0000-0000-000000000000}"/>
          </ac:spMkLst>
        </pc:spChg>
        <pc:spChg chg="mod">
          <ac:chgData name="Mattéo TREMISI" userId="e344fc52-7e33-4822-85ed-50fd192645c1" providerId="ADAL" clId="{921FD83F-E93C-4172-927C-39516FB4C889}" dt="2026-09-06T10:12:53.382" v="1441" actId="20577"/>
          <ac:spMkLst>
            <pc:docMk/>
            <pc:sldMk cId="501419895" sldId="340"/>
            <ac:spMk id="23" creationId="{00000000-0000-0000-0000-000000000000}"/>
          </ac:spMkLst>
        </pc:spChg>
        <pc:spChg chg="del">
          <ac:chgData name="Mattéo TREMISI" userId="e344fc52-7e33-4822-85ed-50fd192645c1" providerId="ADAL" clId="{921FD83F-E93C-4172-927C-39516FB4C889}" dt="2026-09-06T10:12:58.672" v="1442" actId="478"/>
          <ac:spMkLst>
            <pc:docMk/>
            <pc:sldMk cId="501419895" sldId="340"/>
            <ac:spMk id="24" creationId="{00000000-0000-0000-0000-000000000000}"/>
          </ac:spMkLst>
        </pc:spChg>
        <pc:spChg chg="del mod">
          <ac:chgData name="Mattéo TREMISI" userId="e344fc52-7e33-4822-85ed-50fd192645c1" providerId="ADAL" clId="{921FD83F-E93C-4172-927C-39516FB4C889}" dt="2026-09-06T10:13:01.508" v="1444" actId="478"/>
          <ac:spMkLst>
            <pc:docMk/>
            <pc:sldMk cId="501419895" sldId="340"/>
            <ac:spMk id="25" creationId="{00000000-0000-0000-0000-000000000000}"/>
          </ac:spMkLst>
        </pc:spChg>
        <pc:spChg chg="del">
          <ac:chgData name="Mattéo TREMISI" userId="e344fc52-7e33-4822-85ed-50fd192645c1" providerId="ADAL" clId="{921FD83F-E93C-4172-927C-39516FB4C889}" dt="2026-09-06T10:13:02.433" v="1445" actId="478"/>
          <ac:spMkLst>
            <pc:docMk/>
            <pc:sldMk cId="501419895" sldId="340"/>
            <ac:spMk id="26" creationId="{00000000-0000-0000-0000-000000000000}"/>
          </ac:spMkLst>
        </pc:spChg>
      </pc:sldChg>
      <pc:sldChg chg="add del">
        <pc:chgData name="Mattéo TREMISI" userId="e344fc52-7e33-4822-85ed-50fd192645c1" providerId="ADAL" clId="{921FD83F-E93C-4172-927C-39516FB4C889}" dt="2026-09-06T10:18:08.950" v="1469"/>
        <pc:sldMkLst>
          <pc:docMk/>
          <pc:sldMk cId="3331689419" sldId="341"/>
        </pc:sldMkLst>
      </pc:sldChg>
      <pc:sldChg chg="add del">
        <pc:chgData name="Mattéo TREMISI" userId="e344fc52-7e33-4822-85ed-50fd192645c1" providerId="ADAL" clId="{921FD83F-E93C-4172-927C-39516FB4C889}" dt="2026-09-06T10:18:12.184" v="1471"/>
        <pc:sldMkLst>
          <pc:docMk/>
          <pc:sldMk cId="2207000464" sldId="342"/>
        </pc:sldMkLst>
      </pc:sldChg>
      <pc:sldChg chg="add del">
        <pc:chgData name="Mattéo TREMISI" userId="e344fc52-7e33-4822-85ed-50fd192645c1" providerId="ADAL" clId="{921FD83F-E93C-4172-927C-39516FB4C889}" dt="2026-09-06T13:34:08.930" v="1486" actId="47"/>
        <pc:sldMkLst>
          <pc:docMk/>
          <pc:sldMk cId="3367646704" sldId="343"/>
        </pc:sldMkLst>
      </pc:sldChg>
      <pc:sldChg chg="new del">
        <pc:chgData name="Mattéo TREMISI" userId="e344fc52-7e33-4822-85ed-50fd192645c1" providerId="ADAL" clId="{921FD83F-E93C-4172-927C-39516FB4C889}" dt="2026-09-06T09:25:40.880" v="1282" actId="680"/>
        <pc:sldMkLst>
          <pc:docMk/>
          <pc:sldMk cId="858914902" sldId="344"/>
        </pc:sldMkLst>
      </pc:sldChg>
      <pc:sldChg chg="add del">
        <pc:chgData name="Mattéo TREMISI" userId="e344fc52-7e33-4822-85ed-50fd192645c1" providerId="ADAL" clId="{921FD83F-E93C-4172-927C-39516FB4C889}" dt="2026-09-06T10:20:12.859" v="1473"/>
        <pc:sldMkLst>
          <pc:docMk/>
          <pc:sldMk cId="2419364855" sldId="344"/>
        </pc:sldMkLst>
      </pc:sldChg>
      <pc:sldChg chg="add del">
        <pc:chgData name="Mattéo TREMISI" userId="e344fc52-7e33-4822-85ed-50fd192645c1" providerId="ADAL" clId="{921FD83F-E93C-4172-927C-39516FB4C889}" dt="2026-09-06T10:20:14.380" v="1475"/>
        <pc:sldMkLst>
          <pc:docMk/>
          <pc:sldMk cId="2265329616" sldId="345"/>
        </pc:sldMkLst>
      </pc:sldChg>
      <pc:sldChg chg="add del">
        <pc:chgData name="Mattéo TREMISI" userId="e344fc52-7e33-4822-85ed-50fd192645c1" providerId="ADAL" clId="{921FD83F-E93C-4172-927C-39516FB4C889}" dt="2026-09-06T10:20:16.654" v="1477"/>
        <pc:sldMkLst>
          <pc:docMk/>
          <pc:sldMk cId="130208056" sldId="346"/>
        </pc:sldMkLst>
      </pc:sldChg>
      <pc:sldChg chg="add del">
        <pc:chgData name="Mattéo TREMISI" userId="e344fc52-7e33-4822-85ed-50fd192645c1" providerId="ADAL" clId="{921FD83F-E93C-4172-927C-39516FB4C889}" dt="2026-09-06T10:20:18.243" v="1479"/>
        <pc:sldMkLst>
          <pc:docMk/>
          <pc:sldMk cId="3290683813" sldId="347"/>
        </pc:sldMkLst>
      </pc:sldChg>
      <pc:sldChg chg="add del">
        <pc:chgData name="Mattéo TREMISI" userId="e344fc52-7e33-4822-85ed-50fd192645c1" providerId="ADAL" clId="{921FD83F-E93C-4172-927C-39516FB4C889}" dt="2026-09-06T10:20:20.489" v="1481"/>
        <pc:sldMkLst>
          <pc:docMk/>
          <pc:sldMk cId="1794372022" sldId="348"/>
        </pc:sldMkLst>
      </pc:sldChg>
      <pc:sldChg chg="add del">
        <pc:chgData name="Mattéo TREMISI" userId="e344fc52-7e33-4822-85ed-50fd192645c1" providerId="ADAL" clId="{921FD83F-E93C-4172-927C-39516FB4C889}" dt="2026-09-06T10:20:21.765" v="1483"/>
        <pc:sldMkLst>
          <pc:docMk/>
          <pc:sldMk cId="358952211" sldId="349"/>
        </pc:sldMkLst>
      </pc:sldChg>
      <pc:sldChg chg="add del">
        <pc:chgData name="Mattéo TREMISI" userId="e344fc52-7e33-4822-85ed-50fd192645c1" providerId="ADAL" clId="{921FD83F-E93C-4172-927C-39516FB4C889}" dt="2026-09-06T13:34:08.930" v="1486" actId="47"/>
        <pc:sldMkLst>
          <pc:docMk/>
          <pc:sldMk cId="2423748632" sldId="350"/>
        </pc:sldMkLst>
      </pc:sldChg>
      <pc:sldChg chg="add del">
        <pc:chgData name="Mattéo TREMISI" userId="e344fc52-7e33-4822-85ed-50fd192645c1" providerId="ADAL" clId="{921FD83F-E93C-4172-927C-39516FB4C889}" dt="2026-09-06T13:34:08.930" v="1486" actId="47"/>
        <pc:sldMkLst>
          <pc:docMk/>
          <pc:sldMk cId="3975198330" sldId="351"/>
        </pc:sldMkLst>
      </pc:sldChg>
      <pc:sldChg chg="add del">
        <pc:chgData name="Mattéo TREMISI" userId="e344fc52-7e33-4822-85ed-50fd192645c1" providerId="ADAL" clId="{921FD83F-E93C-4172-927C-39516FB4C889}" dt="2026-09-06T13:34:08.930" v="1486" actId="47"/>
        <pc:sldMkLst>
          <pc:docMk/>
          <pc:sldMk cId="2353337516" sldId="352"/>
        </pc:sldMkLst>
      </pc:sldChg>
      <pc:sldChg chg="add del">
        <pc:chgData name="Mattéo TREMISI" userId="e344fc52-7e33-4822-85ed-50fd192645c1" providerId="ADAL" clId="{921FD83F-E93C-4172-927C-39516FB4C889}" dt="2026-09-06T13:34:08.930" v="1486" actId="47"/>
        <pc:sldMkLst>
          <pc:docMk/>
          <pc:sldMk cId="783072570" sldId="353"/>
        </pc:sldMkLst>
      </pc:sldChg>
      <pc:sldChg chg="add del">
        <pc:chgData name="Mattéo TREMISI" userId="e344fc52-7e33-4822-85ed-50fd192645c1" providerId="ADAL" clId="{921FD83F-E93C-4172-927C-39516FB4C889}" dt="2026-09-06T13:34:08.930" v="1486" actId="47"/>
        <pc:sldMkLst>
          <pc:docMk/>
          <pc:sldMk cId="1223963604" sldId="354"/>
        </pc:sldMkLst>
      </pc:sldChg>
      <pc:sldChg chg="add del">
        <pc:chgData name="Mattéo TREMISI" userId="e344fc52-7e33-4822-85ed-50fd192645c1" providerId="ADAL" clId="{921FD83F-E93C-4172-927C-39516FB4C889}" dt="2026-09-06T13:34:08.930" v="1486" actId="47"/>
        <pc:sldMkLst>
          <pc:docMk/>
          <pc:sldMk cId="711196351" sldId="355"/>
        </pc:sldMkLst>
      </pc:sldChg>
      <pc:sldMasterChg chg="addSldLayout delSldLayout modSldLayout">
        <pc:chgData name="Mattéo TREMISI" userId="e344fc52-7e33-4822-85ed-50fd192645c1" providerId="ADAL" clId="{921FD83F-E93C-4172-927C-39516FB4C889}" dt="2026-09-06T13:34:08.930" v="1486" actId="47"/>
        <pc:sldMasterMkLst>
          <pc:docMk/>
          <pc:sldMasterMk cId="0" sldId="2147483648"/>
        </pc:sldMasterMkLst>
        <pc:sldLayoutChg chg="delSp add mod">
          <pc:chgData name="Mattéo TREMISI" userId="e344fc52-7e33-4822-85ed-50fd192645c1" providerId="ADAL" clId="{921FD83F-E93C-4172-927C-39516FB4C889}" dt="2026-09-03T22:49:35.625" v="339"/>
          <pc:sldLayoutMkLst>
            <pc:docMk/>
            <pc:sldMasterMk cId="0" sldId="2147483648"/>
            <pc:sldLayoutMk cId="0" sldId="2147483655"/>
          </pc:sldLayoutMkLst>
        </pc:sldLayoutChg>
        <pc:sldLayoutChg chg="add del">
          <pc:chgData name="Mattéo TREMISI" userId="e344fc52-7e33-4822-85ed-50fd192645c1" providerId="ADAL" clId="{921FD83F-E93C-4172-927C-39516FB4C889}" dt="2026-09-06T13:34:08.930" v="1486" actId="47"/>
          <pc:sldLayoutMkLst>
            <pc:docMk/>
            <pc:sldMasterMk cId="0" sldId="2147483648"/>
            <pc:sldLayoutMk cId="0" sldId="214748365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Vulnérabilités</c:v>
                </c:pt>
              </c:strCache>
            </c:strRef>
          </c:tx>
          <c:spPr>
            <a:solidFill>
              <a:srgbClr val="1B2A4A"/>
            </a:solidFill>
            <a:effectLst/>
          </c:spPr>
          <c:invertIfNegative val="0"/>
          <c:dLbls>
            <c:numFmt formatCode="#,##0" sourceLinked="0"/>
            <c:spPr>
              <a:noFill/>
              <a:ln>
                <a:noFill/>
              </a:ln>
              <a:effectLst/>
            </c:spPr>
            <c:txPr>
              <a:bodyPr/>
              <a:lstStyle/>
              <a:p>
                <a:pPr>
                  <a:defRPr sz="1200" b="0" i="0" u="none" strike="noStrike">
                    <a:solidFill>
                      <a:srgbClr val="1B2A4A"/>
                    </a:solidFill>
                    <a:latin typeface="Lato"/>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Niveau abaissé</c:v>
                </c:pt>
                <c:pt idx="1">
                  <c:v>Niveau inchangé</c:v>
                </c:pt>
                <c:pt idx="2">
                  <c:v>Niveau relevé</c:v>
                </c:pt>
              </c:strCache>
            </c:strRef>
          </c:cat>
          <c:val>
            <c:numRef>
              <c:f>Sheet1!$B$2:$B$4</c:f>
              <c:numCache>
                <c:formatCode>General</c:formatCode>
                <c:ptCount val="3"/>
                <c:pt idx="0">
                  <c:v>4539</c:v>
                </c:pt>
                <c:pt idx="1">
                  <c:v>5113</c:v>
                </c:pt>
                <c:pt idx="2">
                  <c:v>1864</c:v>
                </c:pt>
              </c:numCache>
            </c:numRef>
          </c:val>
          <c:extLst>
            <c:ext xmlns:c16="http://schemas.microsoft.com/office/drawing/2014/chart" uri="{C3380CC4-5D6E-409C-BE32-E72D297353CC}">
              <c16:uniqueId val="{00000000-2709-4B4E-B725-EBA5CEEFC105}"/>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A3A"/>
                </a:solidFill>
                <a:latin typeface="Lato"/>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89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Je vous annonce d'abord comment cette présentation est construite, parce que ce n'est pas le résumé du rapport. Trois mouvements. Le premier pose le problème : ce que fait le cabinet, et pourquoi la façon dont on travaille aujourd'hui laisse une question sans réponse. Le deuxième montre ce que j'ai construit, brique par brique. Le troisième donne ce que la mesure a révélé, et c'est là que je passerai le plus de temps, parce que c'est mon apport depuis la remise du rapport.</a:t>
            </a:r>
          </a:p>
          <a:p>
            <a:r>
              <a:rPr lang="fr-FR" dirty="0"/>
              <a:t>[PAUSE] Le fil rouge tient en une phrase : j'ai livré une notation, je l'ai mise à l'épreuve, et ce que la mesure a montré, c'est que le verrou n'était pas dans ma formule mais dans la donnée qui l'alimente.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du chapitre 1 : Contexte et enjeux.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 cabinet </a:t>
            </a:r>
            <a:r>
              <a:rPr dirty="0" err="1"/>
              <a:t>intervient</a:t>
            </a:r>
            <a:r>
              <a:rPr dirty="0"/>
              <a:t> sur la </a:t>
            </a:r>
            <a:r>
              <a:rPr dirty="0" err="1"/>
              <a:t>cybersécurité</a:t>
            </a:r>
            <a:r>
              <a:rPr dirty="0"/>
              <a:t>, </a:t>
            </a:r>
            <a:r>
              <a:rPr dirty="0" err="1"/>
              <a:t>l'intelligence</a:t>
            </a:r>
            <a:r>
              <a:rPr dirty="0"/>
              <a:t> </a:t>
            </a:r>
            <a:r>
              <a:rPr dirty="0" err="1"/>
              <a:t>artificielle</a:t>
            </a:r>
            <a:r>
              <a:rPr dirty="0"/>
              <a:t> et la </a:t>
            </a:r>
            <a:r>
              <a:rPr dirty="0" err="1"/>
              <a:t>stratégie</a:t>
            </a:r>
            <a:r>
              <a:rPr dirty="0"/>
              <a:t> des </a:t>
            </a:r>
            <a:r>
              <a:rPr dirty="0" err="1"/>
              <a:t>systèmes</a:t>
            </a:r>
            <a:r>
              <a:rPr dirty="0"/>
              <a:t> </a:t>
            </a:r>
            <a:r>
              <a:rPr dirty="0" err="1"/>
              <a:t>d'information</a:t>
            </a:r>
            <a:r>
              <a:rPr dirty="0"/>
              <a:t>. Mon </a:t>
            </a:r>
            <a:r>
              <a:rPr dirty="0" err="1"/>
              <a:t>projet</a:t>
            </a:r>
            <a:r>
              <a:rPr dirty="0"/>
              <a:t> </a:t>
            </a:r>
            <a:r>
              <a:rPr dirty="0" err="1"/>
              <a:t>portait</a:t>
            </a:r>
            <a:r>
              <a:rPr dirty="0"/>
              <a:t> sur son infrastructure interne, </a:t>
            </a:r>
            <a:r>
              <a:rPr dirty="0" err="1"/>
              <a:t>ce</a:t>
            </a:r>
            <a:r>
              <a:rPr dirty="0"/>
              <a:t> qui </a:t>
            </a:r>
            <a:r>
              <a:rPr dirty="0" err="1"/>
              <a:t>présente</a:t>
            </a:r>
            <a:r>
              <a:rPr dirty="0"/>
              <a:t> un double </a:t>
            </a:r>
            <a:r>
              <a:rPr dirty="0" err="1"/>
              <a:t>intérêt</a:t>
            </a:r>
            <a:r>
              <a:rPr dirty="0"/>
              <a:t> : le cabinet est son propre client, et la solution est </a:t>
            </a:r>
            <a:r>
              <a:rPr dirty="0" err="1"/>
              <a:t>destinée</a:t>
            </a:r>
            <a:r>
              <a:rPr dirty="0"/>
              <a:t> à </a:t>
            </a:r>
            <a:r>
              <a:rPr dirty="0" err="1"/>
              <a:t>devenir</a:t>
            </a:r>
            <a:r>
              <a:rPr dirty="0"/>
              <a:t> </a:t>
            </a:r>
            <a:r>
              <a:rPr dirty="0" err="1"/>
              <a:t>une</a:t>
            </a:r>
            <a:r>
              <a:rPr dirty="0"/>
              <a:t> </a:t>
            </a:r>
            <a:r>
              <a:rPr dirty="0" err="1"/>
              <a:t>offre</a:t>
            </a:r>
            <a:r>
              <a:rPr dirty="0"/>
              <a:t> de service. Trois </a:t>
            </a:r>
            <a:r>
              <a:rPr dirty="0" err="1"/>
              <a:t>personnes</a:t>
            </a:r>
            <a:r>
              <a:rPr dirty="0"/>
              <a:t> </a:t>
            </a:r>
            <a:r>
              <a:rPr dirty="0" err="1"/>
              <a:t>ont</a:t>
            </a:r>
            <a:r>
              <a:rPr dirty="0"/>
              <a:t> </a:t>
            </a:r>
            <a:r>
              <a:rPr dirty="0" err="1"/>
              <a:t>encadré</a:t>
            </a:r>
            <a:r>
              <a:rPr dirty="0"/>
              <a:t> le </a:t>
            </a:r>
            <a:r>
              <a:rPr dirty="0" err="1"/>
              <a:t>projet</a:t>
            </a:r>
            <a:r>
              <a:rPr dirty="0"/>
              <a:t>, </a:t>
            </a:r>
            <a:r>
              <a:rPr dirty="0" err="1"/>
              <a:t>dont</a:t>
            </a:r>
            <a:r>
              <a:rPr dirty="0"/>
              <a:t> </a:t>
            </a:r>
            <a:r>
              <a:rPr dirty="0" err="1"/>
              <a:t>mon</a:t>
            </a:r>
            <a:r>
              <a:rPr dirty="0"/>
              <a:t> maître </a:t>
            </a:r>
            <a:r>
              <a:rPr dirty="0" err="1"/>
              <a:t>d'apprentissage</a:t>
            </a:r>
            <a:r>
              <a:rPr dirty="0"/>
              <a:t> qui a </a:t>
            </a:r>
            <a:r>
              <a:rPr dirty="0" err="1"/>
              <a:t>tenu</a:t>
            </a:r>
            <a:r>
              <a:rPr dirty="0"/>
              <a:t> le </a:t>
            </a:r>
            <a:r>
              <a:rPr dirty="0" err="1"/>
              <a:t>rôle</a:t>
            </a:r>
            <a:r>
              <a:rPr dirty="0"/>
              <a:t> de </a:t>
            </a:r>
            <a:r>
              <a:rPr dirty="0" err="1"/>
              <a:t>valideur</a:t>
            </a:r>
            <a:r>
              <a:rPr dirty="0"/>
              <a:t> métier.</a:t>
            </a:r>
          </a:p>
          <a:p>
            <a:endParaRPr dirty="0"/>
          </a:p>
          <a:p>
            <a:r>
              <a:rPr dirty="0"/>
              <a:t>PARTIE PRENANTE À CITER : le CODIR (</a:t>
            </a:r>
            <a:r>
              <a:rPr dirty="0" err="1"/>
              <a:t>comité</a:t>
            </a:r>
            <a:r>
              <a:rPr dirty="0"/>
              <a:t> de direction) — sponsor du </a:t>
            </a:r>
            <a:r>
              <a:rPr dirty="0" err="1"/>
              <a:t>projet</a:t>
            </a:r>
            <a:r>
              <a:rPr dirty="0"/>
              <a:t>, validation </a:t>
            </a:r>
            <a:r>
              <a:rPr dirty="0" err="1"/>
              <a:t>stratégique</a:t>
            </a:r>
            <a:r>
              <a:rPr dirty="0"/>
              <a:t> aux </a:t>
            </a:r>
            <a:r>
              <a:rPr dirty="0" err="1"/>
              <a:t>jalons</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ne part pas de zéro : le cabinet travaille cette question depuis 2018, et une première notation contextualisée a été produite en 2023. Elle fonctionnait, mais à la main et à un instant donné. Trois enjeux rendent le sujet actuel : la directive NIS 2, les exigences des assureurs cyber, et la volonté du cabinet d'en faire une offre de service.</a:t>
            </a:r>
          </a:p>
          <a:p>
            <a:r>
              <a:rPr dirty="0"/>
              <a:t>— AJOUT (01/09, après-midi) —</a:t>
            </a:r>
          </a:p>
          <a:p>
            <a:r>
              <a:rPr dirty="0"/>
              <a:t>SI ON ME DEMANDE « CARTOGRAPHIER QUOI ? » : le </a:t>
            </a:r>
            <a:r>
              <a:rPr dirty="0" err="1"/>
              <a:t>système</a:t>
            </a:r>
            <a:r>
              <a:rPr dirty="0"/>
              <a:t> </a:t>
            </a:r>
            <a:r>
              <a:rPr dirty="0" err="1"/>
              <a:t>d'information</a:t>
            </a:r>
            <a:r>
              <a:rPr dirty="0"/>
              <a:t>, pas </a:t>
            </a:r>
            <a:r>
              <a:rPr dirty="0" err="1"/>
              <a:t>seulement</a:t>
            </a:r>
            <a:r>
              <a:rPr dirty="0"/>
              <a:t> </a:t>
            </a:r>
            <a:r>
              <a:rPr dirty="0" err="1"/>
              <a:t>l'infrastructure</a:t>
            </a:r>
            <a:r>
              <a:rPr dirty="0"/>
              <a:t>. La démarche part des </a:t>
            </a:r>
            <a:r>
              <a:rPr dirty="0" err="1"/>
              <a:t>valeurs</a:t>
            </a:r>
            <a:r>
              <a:rPr dirty="0"/>
              <a:t> métier </a:t>
            </a:r>
            <a:r>
              <a:rPr dirty="0" err="1"/>
              <a:t>repérées</a:t>
            </a:r>
            <a:r>
              <a:rPr dirty="0"/>
              <a:t> par </a:t>
            </a:r>
            <a:r>
              <a:rPr dirty="0" err="1"/>
              <a:t>l'analyse</a:t>
            </a:r>
            <a:r>
              <a:rPr dirty="0"/>
              <a:t> de </a:t>
            </a:r>
            <a:r>
              <a:rPr dirty="0" err="1"/>
              <a:t>risques</a:t>
            </a:r>
            <a:r>
              <a:rPr dirty="0"/>
              <a:t> (EBIOS RM, ISO 27005), </a:t>
            </a:r>
            <a:r>
              <a:rPr dirty="0" err="1"/>
              <a:t>cartographie</a:t>
            </a:r>
            <a:r>
              <a:rPr dirty="0"/>
              <a:t>, </a:t>
            </a:r>
            <a:r>
              <a:rPr dirty="0" err="1"/>
              <a:t>puis</a:t>
            </a:r>
            <a:r>
              <a:rPr dirty="0"/>
              <a:t> ne </a:t>
            </a:r>
            <a:r>
              <a:rPr dirty="0" err="1"/>
              <a:t>formalise</a:t>
            </a:r>
            <a:r>
              <a:rPr dirty="0"/>
              <a:t> </a:t>
            </a:r>
            <a:r>
              <a:rPr dirty="0" err="1"/>
              <a:t>finement</a:t>
            </a:r>
            <a:r>
              <a:rPr dirty="0"/>
              <a:t> </a:t>
            </a:r>
            <a:r>
              <a:rPr dirty="0" err="1"/>
              <a:t>que</a:t>
            </a:r>
            <a:r>
              <a:rPr dirty="0"/>
              <a:t> les zones à </a:t>
            </a:r>
            <a:r>
              <a:rPr dirty="0" err="1"/>
              <a:t>risque</a:t>
            </a:r>
            <a:r>
              <a:rPr dirty="0"/>
              <a:t>. Au </a:t>
            </a:r>
            <a:r>
              <a:rPr dirty="0" err="1"/>
              <a:t>sens</a:t>
            </a:r>
            <a:r>
              <a:rPr dirty="0"/>
              <a:t> du guide ANSSI, </a:t>
            </a:r>
            <a:r>
              <a:rPr dirty="0" err="1"/>
              <a:t>cela</a:t>
            </a:r>
            <a:r>
              <a:rPr dirty="0"/>
              <a:t> traverse les trois visions — métier, applicative, infrastructure — </a:t>
            </a:r>
            <a:r>
              <a:rPr dirty="0" err="1"/>
              <a:t>là</a:t>
            </a:r>
            <a:r>
              <a:rPr dirty="0"/>
              <a:t> </a:t>
            </a:r>
            <a:r>
              <a:rPr dirty="0" err="1"/>
              <a:t>où</a:t>
            </a:r>
            <a:r>
              <a:rPr dirty="0"/>
              <a:t> </a:t>
            </a:r>
            <a:r>
              <a:rPr dirty="0" err="1"/>
              <a:t>une</a:t>
            </a:r>
            <a:r>
              <a:rPr dirty="0"/>
              <a:t> </a:t>
            </a:r>
            <a:r>
              <a:rPr dirty="0" err="1"/>
              <a:t>cartographie</a:t>
            </a:r>
            <a:r>
              <a:rPr dirty="0"/>
              <a:t> </a:t>
            </a:r>
            <a:r>
              <a:rPr dirty="0" err="1"/>
              <a:t>d'infrastructure</a:t>
            </a:r>
            <a:r>
              <a:rPr dirty="0"/>
              <a:t> </a:t>
            </a:r>
            <a:r>
              <a:rPr dirty="0" err="1"/>
              <a:t>n'en</a:t>
            </a:r>
            <a:r>
              <a:rPr dirty="0"/>
              <a:t> </a:t>
            </a:r>
            <a:r>
              <a:rPr dirty="0" err="1"/>
              <a:t>couvre</a:t>
            </a:r>
            <a:r>
              <a:rPr dirty="0"/>
              <a:t> </a:t>
            </a:r>
            <a:r>
              <a:rPr dirty="0" err="1"/>
              <a:t>qu'une</a:t>
            </a:r>
            <a:r>
              <a:rPr dirty="0"/>
              <a:t>.</a:t>
            </a:r>
          </a:p>
          <a:p>
            <a:endParaRPr dirty="0"/>
          </a:p>
          <a:p>
            <a:r>
              <a:rPr dirty="0"/>
              <a:t>L'ÉTAPE 2021-2022 EN UNE PHRASE, SI JE VEUX ACCROCHER : un client </a:t>
            </a:r>
            <a:r>
              <a:rPr dirty="0" err="1"/>
              <a:t>avait</a:t>
            </a:r>
            <a:r>
              <a:rPr dirty="0"/>
              <a:t> </a:t>
            </a:r>
            <a:r>
              <a:rPr dirty="0" err="1"/>
              <a:t>acheté</a:t>
            </a:r>
            <a:r>
              <a:rPr dirty="0"/>
              <a:t> Nessus, un </a:t>
            </a:r>
            <a:r>
              <a:rPr dirty="0" err="1"/>
              <a:t>outil</a:t>
            </a:r>
            <a:r>
              <a:rPr dirty="0"/>
              <a:t> de gestion des </a:t>
            </a:r>
            <a:r>
              <a:rPr dirty="0" err="1"/>
              <a:t>vulnérabilités</a:t>
            </a:r>
            <a:r>
              <a:rPr dirty="0"/>
              <a:t>. Des </a:t>
            </a:r>
            <a:r>
              <a:rPr dirty="0" err="1"/>
              <a:t>dizaines</a:t>
            </a:r>
            <a:r>
              <a:rPr dirty="0"/>
              <a:t> de </a:t>
            </a:r>
            <a:r>
              <a:rPr dirty="0" err="1"/>
              <a:t>milliers</a:t>
            </a:r>
            <a:r>
              <a:rPr dirty="0"/>
              <a:t> de </a:t>
            </a:r>
            <a:r>
              <a:rPr dirty="0" err="1"/>
              <a:t>failles</a:t>
            </a:r>
            <a:r>
              <a:rPr dirty="0"/>
              <a:t> </a:t>
            </a:r>
            <a:r>
              <a:rPr dirty="0" err="1"/>
              <a:t>remontées</a:t>
            </a:r>
            <a:r>
              <a:rPr dirty="0"/>
              <a:t>. Le tri </a:t>
            </a:r>
            <a:r>
              <a:rPr dirty="0" err="1"/>
              <a:t>manuel</a:t>
            </a:r>
            <a:r>
              <a:rPr dirty="0"/>
              <a:t> par </a:t>
            </a:r>
            <a:r>
              <a:rPr dirty="0" err="1"/>
              <a:t>entretiens</a:t>
            </a:r>
            <a:r>
              <a:rPr dirty="0"/>
              <a:t> a </a:t>
            </a:r>
            <a:r>
              <a:rPr dirty="0" err="1"/>
              <a:t>fonctionné</a:t>
            </a:r>
            <a:r>
              <a:rPr dirty="0"/>
              <a:t>, </a:t>
            </a:r>
            <a:r>
              <a:rPr dirty="0" err="1"/>
              <a:t>mais</a:t>
            </a:r>
            <a:r>
              <a:rPr dirty="0"/>
              <a:t> il a </a:t>
            </a:r>
            <a:r>
              <a:rPr dirty="0" err="1"/>
              <a:t>coûté</a:t>
            </a:r>
            <a:r>
              <a:rPr dirty="0"/>
              <a:t> des </a:t>
            </a:r>
            <a:r>
              <a:rPr dirty="0" err="1"/>
              <a:t>semaines</a:t>
            </a:r>
            <a:r>
              <a:rPr dirty="0"/>
              <a:t> et </a:t>
            </a:r>
            <a:r>
              <a:rPr dirty="0" err="1"/>
              <a:t>n'était</a:t>
            </a:r>
            <a:r>
              <a:rPr dirty="0"/>
              <a:t> </a:t>
            </a:r>
            <a:r>
              <a:rPr dirty="0" err="1"/>
              <a:t>valable</a:t>
            </a:r>
            <a:r>
              <a:rPr dirty="0"/>
              <a:t> </a:t>
            </a:r>
            <a:r>
              <a:rPr dirty="0" err="1"/>
              <a:t>qu'à</a:t>
            </a:r>
            <a:r>
              <a:rPr dirty="0"/>
              <a:t> </a:t>
            </a:r>
            <a:r>
              <a:rPr dirty="0" err="1"/>
              <a:t>l'instant</a:t>
            </a:r>
            <a:r>
              <a:rPr dirty="0"/>
              <a:t> de </a:t>
            </a:r>
            <a:r>
              <a:rPr dirty="0" err="1"/>
              <a:t>l'audit</a:t>
            </a:r>
            <a:r>
              <a:rPr dirty="0"/>
              <a:t>. </a:t>
            </a:r>
            <a:r>
              <a:rPr dirty="0" err="1"/>
              <a:t>C'est</a:t>
            </a:r>
            <a:r>
              <a:rPr dirty="0"/>
              <a:t> le </a:t>
            </a:r>
            <a:r>
              <a:rPr dirty="0" err="1"/>
              <a:t>cas</a:t>
            </a:r>
            <a:r>
              <a:rPr dirty="0"/>
              <a:t> qui </a:t>
            </a:r>
            <a:r>
              <a:rPr dirty="0" err="1"/>
              <a:t>ouvre</a:t>
            </a:r>
            <a:r>
              <a:rPr dirty="0"/>
              <a:t> </a:t>
            </a:r>
            <a:r>
              <a:rPr dirty="0" err="1"/>
              <a:t>l'introduction</a:t>
            </a:r>
            <a:r>
              <a:rPr dirty="0"/>
              <a:t> de </a:t>
            </a:r>
            <a:r>
              <a:rPr dirty="0" err="1"/>
              <a:t>mon</a:t>
            </a:r>
            <a:r>
              <a:rPr dirty="0"/>
              <a:t> </a:t>
            </a:r>
            <a:r>
              <a:rPr dirty="0" err="1"/>
              <a:t>mémoire</a:t>
            </a:r>
            <a:r>
              <a:rPr dirty="0"/>
              <a:t>, et </a:t>
            </a:r>
            <a:r>
              <a:rPr dirty="0" err="1"/>
              <a:t>c'est</a:t>
            </a:r>
            <a:r>
              <a:rPr dirty="0"/>
              <a:t> </a:t>
            </a:r>
            <a:r>
              <a:rPr dirty="0" err="1"/>
              <a:t>exactement</a:t>
            </a:r>
            <a:r>
              <a:rPr dirty="0"/>
              <a:t> </a:t>
            </a:r>
            <a:r>
              <a:rPr dirty="0" err="1"/>
              <a:t>ce</a:t>
            </a:r>
            <a:r>
              <a:rPr dirty="0"/>
              <a:t> </a:t>
            </a:r>
            <a:r>
              <a:rPr dirty="0" err="1"/>
              <a:t>que</a:t>
            </a:r>
            <a:r>
              <a:rPr dirty="0"/>
              <a:t> le </a:t>
            </a:r>
            <a:r>
              <a:rPr dirty="0" err="1"/>
              <a:t>démonstrateur</a:t>
            </a:r>
            <a:r>
              <a:rPr dirty="0"/>
              <a:t> </a:t>
            </a:r>
            <a:r>
              <a:rPr dirty="0" err="1"/>
              <a:t>automatise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Avant de parler de mon projet, le métier dans lequel il s'inscrit. Je ne lis pas les cinq cases.</a:t>
            </a:r>
          </a:p>
          <a:p>
            <a:endParaRPr/>
          </a:p>
          <a:p>
            <a:r>
              <a:t>Le cabinet vend ce cycle : on audite, on en tire un plan d'action, ce plan alimente la politique de sécurité, la PSSI se décline en politiques et procédures, un plan de contrôle vérifie qu'elles sont appliquées, et ce contrôle alimente l'audit suivant. C'est une boucle PDCA, et l'analyse de risque tourne en parallèle du plan d'action.</a:t>
            </a:r>
          </a:p>
          <a:p>
            <a:endParaRPr/>
          </a:p>
          <a:p>
            <a:r>
              <a:t>Le point que je veux poser dès maintenant : ce cycle dit quoi faire, il ne dit pas dans quel ordre. Mon projet porte exactement là-dessus.</a:t>
            </a:r>
          </a:p>
          <a:p>
            <a:endParaRPr/>
          </a:p>
          <a:p>
            <a:r>
              <a:t>[PAUSE]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Voici comment le travail se fait réellement aujourd'hui, chez nous comme chez nos clients : en silo.</a:t>
            </a:r>
          </a:p>
          <a:p>
            <a:endParaRPr/>
          </a:p>
          <a:p>
            <a:r>
              <a:t>Trois chaînes. L'audit de conformité produit un plan d'action, priorisé par l'écart au référentiel. Le scan de vulnérabilités produit un plan correctif, priorisé par la note CVSS. L'analyse de risque produit un plan de traitement, priorisé par la cotation du scénario.</a:t>
            </a:r>
          </a:p>
          <a:p>
            <a:endParaRPr/>
          </a:p>
          <a:p>
            <a:r>
              <a:t>Trois plans, trois échelles. Quand les trois arrivent sur le bureau du même responsable, rien ne dit lequel traiter d'abord. Et le point aveugle est commun aux trois : aucune ne sait ce que la machine fait tourner pour l'entreprise.</a:t>
            </a:r>
          </a:p>
          <a:p>
            <a:endParaRPr/>
          </a:p>
          <a:p>
            <a:r>
              <a:t>C'est mon problème de départ, et il est métier avant d'être technique.</a:t>
            </a:r>
          </a:p>
          <a:p>
            <a:endParaRPr/>
          </a:p>
          <a:p>
            <a:r>
              <a:t>[PAUSE]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Voilà le vrai problème, et il n'est pas technique. Un audit complet, avec son plan d'action, se rejoue tous les trois à quatre ans. Un scan de vulnérabilités, selon la criticité de l'infrastructure, tous les six mois à un an. Une analyse de risques, à fréquence variable, au gré des ateliers.</a:t>
            </a:r>
          </a:p>
          <a:p>
            <a:r>
              <a:rPr lang="fr-FR" dirty="0"/>
              <a:t>[PAUSE] Pendant ce temps, en bas de l'écran, le terrain ne s'arrête jamais : le parc change, les applications changent, les métiers changent, et des vulnérabilités sont publiées tous les jours.</a:t>
            </a:r>
          </a:p>
          <a:p>
            <a:r>
              <a:rPr lang="fr-FR" dirty="0"/>
              <a:t>Conséquence : une cartographie juste le jour de l'audit est déjà fausse un an plus tard. Ce n'est pas qu'elle a été mal faite, c'est qu'elle a vieilli. Et c'est exactement là que le scan et la veille, qui tournent beaucoup plus vite, peuvent prendre le relais et maintenir la cartographie juste entre deux audits. C'est de cet écart de rythme que naît mon projet.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du chapitre 2 : Problématique et objectifs.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Trois mots </a:t>
            </a:r>
            <a:r>
              <a:rPr dirty="0" err="1"/>
              <a:t>que</a:t>
            </a:r>
            <a:r>
              <a:rPr dirty="0"/>
              <a:t> </a:t>
            </a:r>
            <a:r>
              <a:rPr dirty="0" err="1"/>
              <a:t>j'emploierai</a:t>
            </a:r>
            <a:r>
              <a:rPr dirty="0"/>
              <a:t> pendant toute la </a:t>
            </a:r>
            <a:r>
              <a:rPr dirty="0" err="1"/>
              <a:t>présentation</a:t>
            </a:r>
            <a:r>
              <a:rPr dirty="0"/>
              <a:t>, </a:t>
            </a:r>
            <a:r>
              <a:rPr dirty="0" err="1"/>
              <a:t>posés</a:t>
            </a:r>
            <a:r>
              <a:rPr dirty="0"/>
              <a:t> </a:t>
            </a:r>
            <a:r>
              <a:rPr dirty="0" err="1"/>
              <a:t>maintenant</a:t>
            </a:r>
            <a:r>
              <a:rPr dirty="0"/>
              <a:t> pour ne plus y </a:t>
            </a:r>
            <a:r>
              <a:rPr dirty="0" err="1"/>
              <a:t>revenir</a:t>
            </a:r>
            <a:r>
              <a:rPr dirty="0"/>
              <a:t>.</a:t>
            </a:r>
          </a:p>
          <a:p>
            <a:endParaRPr dirty="0"/>
          </a:p>
          <a:p>
            <a:r>
              <a:rPr dirty="0" err="1"/>
              <a:t>L'actif</a:t>
            </a:r>
            <a:r>
              <a:rPr dirty="0"/>
              <a:t> : </a:t>
            </a:r>
            <a:r>
              <a:rPr dirty="0" err="1"/>
              <a:t>ce</a:t>
            </a:r>
            <a:r>
              <a:rPr dirty="0"/>
              <a:t> </a:t>
            </a:r>
            <a:r>
              <a:rPr dirty="0" err="1"/>
              <a:t>qu'on</a:t>
            </a:r>
            <a:r>
              <a:rPr dirty="0"/>
              <a:t> </a:t>
            </a:r>
            <a:r>
              <a:rPr dirty="0" err="1"/>
              <a:t>protège</a:t>
            </a:r>
            <a:r>
              <a:rPr dirty="0"/>
              <a:t>. </a:t>
            </a:r>
            <a:r>
              <a:rPr dirty="0" err="1"/>
              <a:t>Ici</a:t>
            </a:r>
            <a:r>
              <a:rPr dirty="0"/>
              <a:t>, les machines </a:t>
            </a:r>
            <a:r>
              <a:rPr dirty="0" err="1"/>
              <a:t>virtuelles</a:t>
            </a:r>
            <a:r>
              <a:rPr dirty="0"/>
              <a:t> du parc.</a:t>
            </a:r>
          </a:p>
          <a:p>
            <a:r>
              <a:rPr dirty="0"/>
              <a:t>La </a:t>
            </a:r>
            <a:r>
              <a:rPr dirty="0" err="1"/>
              <a:t>vulnérabilité</a:t>
            </a:r>
            <a:r>
              <a:rPr dirty="0"/>
              <a:t> : </a:t>
            </a:r>
            <a:r>
              <a:rPr dirty="0" err="1"/>
              <a:t>une</a:t>
            </a:r>
            <a:r>
              <a:rPr dirty="0"/>
              <a:t> faiblesse </a:t>
            </a:r>
            <a:r>
              <a:rPr dirty="0" err="1"/>
              <a:t>publiée</a:t>
            </a:r>
            <a:r>
              <a:rPr dirty="0"/>
              <a:t>, </a:t>
            </a:r>
            <a:r>
              <a:rPr dirty="0" err="1"/>
              <a:t>référencée</a:t>
            </a:r>
            <a:r>
              <a:rPr dirty="0"/>
              <a:t> par </a:t>
            </a:r>
            <a:r>
              <a:rPr dirty="0" err="1"/>
              <a:t>une</a:t>
            </a:r>
            <a:r>
              <a:rPr dirty="0"/>
              <a:t> CVE, </a:t>
            </a:r>
            <a:r>
              <a:rPr dirty="0" err="1"/>
              <a:t>notée</a:t>
            </a:r>
            <a:r>
              <a:rPr dirty="0"/>
              <a:t> de 0 à 10 par le CVSS.</a:t>
            </a:r>
          </a:p>
          <a:p>
            <a:r>
              <a:rPr dirty="0"/>
              <a:t>La </a:t>
            </a:r>
            <a:r>
              <a:rPr dirty="0" err="1"/>
              <a:t>valeur</a:t>
            </a:r>
            <a:r>
              <a:rPr dirty="0"/>
              <a:t> métier : la </a:t>
            </a:r>
            <a:r>
              <a:rPr dirty="0" err="1"/>
              <a:t>criticité</a:t>
            </a:r>
            <a:r>
              <a:rPr dirty="0"/>
              <a:t> de </a:t>
            </a:r>
            <a:r>
              <a:rPr dirty="0" err="1"/>
              <a:t>l'activité</a:t>
            </a:r>
            <a:r>
              <a:rPr dirty="0"/>
              <a:t> </a:t>
            </a:r>
            <a:r>
              <a:rPr dirty="0" err="1"/>
              <a:t>que</a:t>
            </a:r>
            <a:r>
              <a:rPr dirty="0"/>
              <a:t> la machine fait </a:t>
            </a:r>
            <a:r>
              <a:rPr dirty="0" err="1"/>
              <a:t>tourner</a:t>
            </a:r>
            <a:r>
              <a:rPr dirty="0"/>
              <a:t>. </a:t>
            </a:r>
            <a:r>
              <a:rPr dirty="0" err="1"/>
              <a:t>C'est</a:t>
            </a:r>
            <a:r>
              <a:rPr dirty="0"/>
              <a:t> le </a:t>
            </a:r>
            <a:r>
              <a:rPr dirty="0" err="1"/>
              <a:t>terme</a:t>
            </a:r>
            <a:r>
              <a:rPr dirty="0"/>
              <a:t> </a:t>
            </a:r>
            <a:r>
              <a:rPr dirty="0" err="1"/>
              <a:t>que</a:t>
            </a:r>
            <a:r>
              <a:rPr dirty="0"/>
              <a:t> </a:t>
            </a:r>
            <a:r>
              <a:rPr dirty="0" err="1"/>
              <a:t>ce</a:t>
            </a:r>
            <a:r>
              <a:rPr dirty="0"/>
              <a:t> </a:t>
            </a:r>
            <a:r>
              <a:rPr dirty="0" err="1"/>
              <a:t>projet</a:t>
            </a:r>
            <a:r>
              <a:rPr dirty="0"/>
              <a:t> </a:t>
            </a:r>
            <a:r>
              <a:rPr dirty="0" err="1"/>
              <a:t>ajoute</a:t>
            </a:r>
            <a:r>
              <a:rPr dirty="0"/>
              <a:t>.</a:t>
            </a:r>
          </a:p>
          <a:p>
            <a:endParaRPr dirty="0"/>
          </a:p>
          <a:p>
            <a:r>
              <a:rPr dirty="0"/>
              <a:t>Et </a:t>
            </a:r>
            <a:r>
              <a:rPr dirty="0" err="1"/>
              <a:t>l'outil</a:t>
            </a:r>
            <a:r>
              <a:rPr dirty="0"/>
              <a:t> de </a:t>
            </a:r>
            <a:r>
              <a:rPr dirty="0" err="1"/>
              <a:t>gouvernance</a:t>
            </a:r>
            <a:r>
              <a:rPr dirty="0"/>
              <a:t> : CISO Assistant, </a:t>
            </a:r>
            <a:r>
              <a:rPr dirty="0" err="1"/>
              <a:t>plateforme</a:t>
            </a:r>
            <a:r>
              <a:rPr dirty="0"/>
              <a:t> open source de GRC — </a:t>
            </a:r>
            <a:r>
              <a:rPr dirty="0" err="1"/>
              <a:t>gouvernance</a:t>
            </a:r>
            <a:r>
              <a:rPr dirty="0"/>
              <a:t>, </a:t>
            </a:r>
            <a:r>
              <a:rPr dirty="0" err="1"/>
              <a:t>risques</a:t>
            </a:r>
            <a:r>
              <a:rPr dirty="0"/>
              <a:t>, </a:t>
            </a:r>
            <a:r>
              <a:rPr dirty="0" err="1"/>
              <a:t>conformité</a:t>
            </a:r>
            <a:r>
              <a:rPr dirty="0"/>
              <a:t>. </a:t>
            </a:r>
            <a:r>
              <a:rPr dirty="0" err="1"/>
              <a:t>C'est</a:t>
            </a:r>
            <a:r>
              <a:rPr dirty="0"/>
              <a:t> </a:t>
            </a:r>
            <a:r>
              <a:rPr dirty="0" err="1"/>
              <a:t>là</a:t>
            </a:r>
            <a:r>
              <a:rPr dirty="0"/>
              <a:t> </a:t>
            </a:r>
            <a:r>
              <a:rPr dirty="0" err="1"/>
              <a:t>que</a:t>
            </a:r>
            <a:r>
              <a:rPr dirty="0"/>
              <a:t> les </a:t>
            </a:r>
            <a:r>
              <a:rPr dirty="0" err="1"/>
              <a:t>activités</a:t>
            </a:r>
            <a:r>
              <a:rPr dirty="0"/>
              <a:t> </a:t>
            </a:r>
            <a:r>
              <a:rPr dirty="0" err="1"/>
              <a:t>sont</a:t>
            </a:r>
            <a:r>
              <a:rPr dirty="0"/>
              <a:t> </a:t>
            </a:r>
            <a:r>
              <a:rPr dirty="0" err="1"/>
              <a:t>cotées</a:t>
            </a:r>
            <a:r>
              <a:rPr dirty="0"/>
              <a:t> et </a:t>
            </a:r>
            <a:r>
              <a:rPr dirty="0" err="1"/>
              <a:t>que</a:t>
            </a:r>
            <a:r>
              <a:rPr dirty="0"/>
              <a:t> </a:t>
            </a:r>
            <a:r>
              <a:rPr dirty="0" err="1"/>
              <a:t>vivent</a:t>
            </a:r>
            <a:r>
              <a:rPr dirty="0"/>
              <a:t> les analyses EBIOS RM.</a:t>
            </a:r>
          </a:p>
          <a:p>
            <a:r>
              <a:rPr dirty="0"/>
              <a:t>— AJOUT (01/09, après-midi) —</a:t>
            </a:r>
          </a:p>
          <a:p>
            <a:r>
              <a:rPr dirty="0" err="1"/>
              <a:t>Vocabulaire</a:t>
            </a:r>
            <a:r>
              <a:rPr dirty="0"/>
              <a:t> à assumer, </a:t>
            </a:r>
            <a:r>
              <a:rPr dirty="0" err="1"/>
              <a:t>c'est</a:t>
            </a:r>
            <a:r>
              <a:rPr dirty="0"/>
              <a:t> </a:t>
            </a:r>
            <a:r>
              <a:rPr dirty="0" err="1"/>
              <a:t>celui</a:t>
            </a:r>
            <a:r>
              <a:rPr dirty="0"/>
              <a:t> </a:t>
            </a:r>
            <a:r>
              <a:rPr dirty="0" err="1"/>
              <a:t>d'EBIOS</a:t>
            </a:r>
            <a:r>
              <a:rPr dirty="0"/>
              <a:t> RM : </a:t>
            </a:r>
            <a:r>
              <a:rPr dirty="0" err="1"/>
              <a:t>l'actif</a:t>
            </a:r>
            <a:r>
              <a:rPr dirty="0"/>
              <a:t> support est la machine, la </a:t>
            </a:r>
            <a:r>
              <a:rPr dirty="0" err="1"/>
              <a:t>valeur</a:t>
            </a:r>
            <a:r>
              <a:rPr dirty="0"/>
              <a:t> métier est </a:t>
            </a:r>
            <a:r>
              <a:rPr dirty="0" err="1"/>
              <a:t>l'activité</a:t>
            </a:r>
            <a:r>
              <a:rPr dirty="0"/>
              <a:t> </a:t>
            </a:r>
            <a:r>
              <a:rPr dirty="0" err="1"/>
              <a:t>qu'elle</a:t>
            </a:r>
            <a:r>
              <a:rPr dirty="0"/>
              <a:t> </a:t>
            </a:r>
            <a:r>
              <a:rPr dirty="0" err="1"/>
              <a:t>porte</a:t>
            </a:r>
            <a:r>
              <a:rPr dirty="0"/>
              <a:t>. Dans le guide de </a:t>
            </a:r>
            <a:r>
              <a:rPr dirty="0" err="1"/>
              <a:t>cartographie</a:t>
            </a:r>
            <a:r>
              <a:rPr dirty="0"/>
              <a:t> de </a:t>
            </a:r>
            <a:r>
              <a:rPr dirty="0" err="1"/>
              <a:t>l'ANSSI</a:t>
            </a:r>
            <a:r>
              <a:rPr dirty="0"/>
              <a:t>, </a:t>
            </a:r>
            <a:r>
              <a:rPr dirty="0" err="1"/>
              <a:t>ce</a:t>
            </a:r>
            <a:r>
              <a:rPr dirty="0"/>
              <a:t> </a:t>
            </a:r>
            <a:r>
              <a:rPr dirty="0" err="1"/>
              <a:t>sont</a:t>
            </a:r>
            <a:r>
              <a:rPr dirty="0"/>
              <a:t> deux visions </a:t>
            </a:r>
            <a:r>
              <a:rPr dirty="0" err="1"/>
              <a:t>distinctes</a:t>
            </a:r>
            <a:r>
              <a:rPr dirty="0"/>
              <a:t> du </a:t>
            </a:r>
            <a:r>
              <a:rPr dirty="0" err="1"/>
              <a:t>même</a:t>
            </a:r>
            <a:r>
              <a:rPr dirty="0"/>
              <a:t> </a:t>
            </a:r>
            <a:r>
              <a:rPr dirty="0" err="1"/>
              <a:t>système</a:t>
            </a:r>
            <a:r>
              <a:rPr dirty="0"/>
              <a:t> </a:t>
            </a:r>
            <a:r>
              <a:rPr dirty="0" err="1"/>
              <a:t>d'information</a:t>
            </a:r>
            <a:r>
              <a:rPr dirty="0"/>
              <a:t> — la vision infrastructure et la vision métier.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point de départ, observé sur le parc du cabinet : plus de six mille vulnérabilités sur une seule machine de supervision. Aucune équipe ne traite six mille lignes. Et le CVSS, qui est la référence du domaine, ne permet pas de choisir puisqu'il note la faille sans son contexte. Trier par CVSS conduit donc à des priorités qui ne correspondent pas aux enjeux de l'entreprise.</a:t>
            </a:r>
          </a:p>
          <a:p>
            <a:endParaRPr lang="en-US" dirty="0"/>
          </a:p>
          <a:p>
            <a:r>
              <a:rPr dirty="0"/>
              <a:t>— AJOUT v6 —</a:t>
            </a:r>
          </a:p>
          <a:p>
            <a:r>
              <a:rPr dirty="0"/>
              <a:t>Insister : 6 557, </a:t>
            </a:r>
            <a:r>
              <a:rPr dirty="0" err="1"/>
              <a:t>c'est</a:t>
            </a:r>
            <a:r>
              <a:rPr dirty="0"/>
              <a:t> UNE SEULE machine, pas le parc </a:t>
            </a:r>
            <a:r>
              <a:rPr dirty="0" err="1"/>
              <a:t>entier</a:t>
            </a:r>
            <a:r>
              <a:rPr dirty="0"/>
              <a:t>. [PAUSE]</a:t>
            </a:r>
          </a:p>
          <a:p>
            <a:r>
              <a:rPr dirty="0"/>
              <a:t>Le 80/20 : </a:t>
            </a:r>
            <a:r>
              <a:rPr dirty="0" err="1"/>
              <a:t>ces</a:t>
            </a:r>
            <a:r>
              <a:rPr dirty="0"/>
              <a:t> </a:t>
            </a:r>
            <a:r>
              <a:rPr dirty="0" err="1"/>
              <a:t>milliers</a:t>
            </a:r>
            <a:r>
              <a:rPr dirty="0"/>
              <a:t> de </a:t>
            </a:r>
            <a:r>
              <a:rPr dirty="0" err="1"/>
              <a:t>lignes</a:t>
            </a:r>
            <a:r>
              <a:rPr dirty="0"/>
              <a:t> se </a:t>
            </a:r>
            <a:r>
              <a:rPr dirty="0" err="1"/>
              <a:t>concentrent</a:t>
            </a:r>
            <a:r>
              <a:rPr dirty="0"/>
              <a:t> sur </a:t>
            </a:r>
            <a:r>
              <a:rPr dirty="0" err="1"/>
              <a:t>quelques</a:t>
            </a:r>
            <a:r>
              <a:rPr dirty="0"/>
              <a:t> </a:t>
            </a:r>
            <a:r>
              <a:rPr dirty="0" err="1"/>
              <a:t>paquets</a:t>
            </a:r>
            <a:r>
              <a:rPr dirty="0"/>
              <a:t>. Une montée de version de Tomcat, et des </a:t>
            </a:r>
            <a:r>
              <a:rPr dirty="0" err="1"/>
              <a:t>centaines</a:t>
            </a:r>
            <a:r>
              <a:rPr dirty="0"/>
              <a:t> de </a:t>
            </a:r>
            <a:r>
              <a:rPr dirty="0" err="1"/>
              <a:t>lignes</a:t>
            </a:r>
            <a:r>
              <a:rPr dirty="0"/>
              <a:t> </a:t>
            </a:r>
            <a:r>
              <a:rPr dirty="0" err="1"/>
              <a:t>tombent</a:t>
            </a:r>
            <a:r>
              <a:rPr dirty="0"/>
              <a:t> d'un coup. Le </a:t>
            </a:r>
            <a:r>
              <a:rPr dirty="0" err="1"/>
              <a:t>problème</a:t>
            </a:r>
            <a:r>
              <a:rPr dirty="0"/>
              <a:t> </a:t>
            </a:r>
            <a:r>
              <a:rPr dirty="0" err="1"/>
              <a:t>n'est</a:t>
            </a:r>
            <a:r>
              <a:rPr dirty="0"/>
              <a:t> pas le volume, </a:t>
            </a:r>
            <a:r>
              <a:rPr dirty="0" err="1"/>
              <a:t>c'est</a:t>
            </a:r>
            <a:r>
              <a:rPr dirty="0"/>
              <a:t> </a:t>
            </a:r>
            <a:r>
              <a:rPr dirty="0" err="1"/>
              <a:t>l'ordre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Pourquoi ce sujet coûte de l'argent, sur un cas public et documenté.</a:t>
            </a:r>
          </a:p>
          <a:p>
            <a:endParaRPr/>
          </a:p>
          <a:p>
            <a:r>
              <a:t>Colonial Pipeline, mai 2021 : l'entrée se fait par un compte d'accès distant inutilisé, sans double authentification. Un actif que personne ne considérait comme important. Résultat : 4,4 millions de dollars de rançon payée, six jours d'arrêt, une pénurie de carburant dans dix-sept États.</a:t>
            </a:r>
          </a:p>
          <a:p>
            <a:endParaRPr/>
          </a:p>
          <a:p>
            <a:r>
              <a:t>Le parallèle avec mon parc est direct : le bastion d'administration porte aujourd'hui une faille notée 10 sur 10, activement exploitée dans la nature. Sa criticité d'actif est de 10 sur 12.</a:t>
            </a:r>
          </a:p>
          <a:p>
            <a:endParaRPr/>
          </a:p>
          <a:p>
            <a:r>
              <a:t>C'est exactement ce que la notation contextualisée cherche à capter : la criticité d'un actif, c'est ce qu'il commande, pas ce qu'il est.</a:t>
            </a:r>
          </a:p>
          <a:p>
            <a:endParaRPr/>
          </a:p>
          <a:p>
            <a:r>
              <a:t>SI ON ME DEMANDE UN ORDRE DE GRANDEUR GÉNÉRAL : coût moyen mondial d'une violation de données en 2025, 4,44 millions de dollars ; 4,67 millions quand l'entrée se fait par des identifiants compromis (IBM, Cost of a Data Breach Report 2025).</a:t>
            </a:r>
          </a:p>
          <a:p>
            <a:endParaRPr/>
          </a:p>
          <a:p>
            <a:r>
              <a:t>[PAUSE]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cabinet disposait déjà des trois briques, chacune opérationnelle et isolée : l'inventaire, la détection, la criticité métier. Ce qui manquait n'était pas un outil supplémentaire mais le lien entre les trois. Et ce lien n'existait pas : aucune clé commune, aucun identifiant partagé.</a:t>
            </a:r>
          </a:p>
          <a:p>
            <a:r>
              <a:t>— AJOUT (01/09, après-midi) —</a:t>
            </a:r>
          </a:p>
          <a:p>
            <a:r>
              <a:t>CADRAGE ANSSI, DEUX PHRASES POUR ASSEOIR LE PROPOS : le guide de cartographie du système d'information de l'ANSSI distingue trois visions successives — métier, applicative, infrastructure. iTop et Wazuh décrivent la vision infrastructure : les machines, leurs adresses, leurs vulnérabilités. CISO Assistant porte la vision métier : les activités et leur criticité. Ces deux visions n'avaient jamais été reliées, et c'est ce chaînon que le projet construit.</a:t>
            </a:r>
          </a:p>
          <a:p>
            <a:endParaRPr/>
          </a:p>
          <a:p>
            <a:r>
              <a:t>SI ON ME DEMANDE UNE RÉFÉRENCE EXTERNE SUR LE CONSTAT FINAL : le même guide ANSSI écrit qu'une cartographie n'est utile que si les informations qu'elle contient sont fiables et à jour. Mon constat n'est donc pas un accident de projet, c'est la confirmation d'un principe déjà établi dans la profession — et mon rapport le disait déjà au paragraphe 1.2.1 : la difficulté n'est presque jamais technique, elle tient à la qualité des données et à la rigueur des processus de mise à jour.</a:t>
            </a:r>
          </a:p>
          <a:p>
            <a:endParaRPr/>
          </a:p>
          <a:p>
            <a:r>
              <a:rPr lang="fr-FR" dirty="0"/>
              <a:t>AJOUT (07/09) — SI ON ME DEMANDE L'ORIGINE DES OUTILS : iTop a été choisi avec un autre consultant du cabinet, à l'issue d'un benchmark des solutions ITSM. Wazuh et CISO Assistant préexistaient au projet.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pPr lvl="0"/>
            <a:r>
              <a:rPr lang="fr-FR" dirty="0"/>
              <a:t>Les solutions du marché pondèrent pas par la cotation métier propre au référentiel de gouvernance du </a:t>
            </a:r>
          </a:p>
          <a:p>
            <a:pPr lvl="0"/>
            <a:r>
              <a:rPr lang="fr-FR" dirty="0"/>
              <a:t>Cette cotation métier découle du travail EBIOS RM (valeurs métier, événements redoutés) : un lien natif avec l'outil de notation évite une double saisie et un double référentiel.</a:t>
            </a:r>
          </a:p>
          <a:p>
            <a:pPr lvl="0"/>
            <a:r>
              <a:rPr lang="fr-FR" dirty="0"/>
              <a:t>La formule de croisement technique/métier doit rester auditable et modifiable en interne, pas enfermée dans un algorithme propriétaire d'éditeur.</a:t>
            </a:r>
          </a:p>
          <a:p>
            <a:endParaRPr lang="fr-FR" dirty="0"/>
          </a:p>
        </p:txBody>
      </p:sp>
    </p:spTree>
    <p:extLst>
      <p:ext uri="{BB962C8B-B14F-4D97-AF65-F5344CB8AC3E}">
        <p14:creationId xmlns:p14="http://schemas.microsoft.com/office/powerpoint/2010/main" val="3522672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0FD6-784E-52C9-8BFC-57B60E0D5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EF92B-4A94-2924-46DC-7F5CD044E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4C55F-9BB0-7144-C0CA-E4B91E87AFBA}"/>
              </a:ext>
            </a:extLst>
          </p:cNvPr>
          <p:cNvSpPr>
            <a:spLocks noGrp="1"/>
          </p:cNvSpPr>
          <p:nvPr>
            <p:ph type="body" idx="1"/>
          </p:nvPr>
        </p:nvSpPr>
        <p:spPr/>
        <p:txBody>
          <a:bodyPr/>
          <a:lstStyle/>
          <a:p>
            <a:r>
              <a:rPr lang="en-US" dirty="0"/>
              <a:t>La problématique s'énonce ainsi. Le rapport annonçait trois résultats à démontrer : réconcilier les référentiels sans clé commune, calculer et restituer la notation en continu, et établir que la hiérarchisation obtenue change effectivement les décisions par rapport à un tri par CVSS. Ces trois objectifs structurent le bilan du chapitre 8.</a:t>
            </a:r>
          </a:p>
        </p:txBody>
      </p:sp>
      <p:sp>
        <p:nvSpPr>
          <p:cNvPr id="4" name="Slide Number Placeholder 3">
            <a:extLst>
              <a:ext uri="{FF2B5EF4-FFF2-40B4-BE49-F238E27FC236}">
                <a16:creationId xmlns:a16="http://schemas.microsoft.com/office/drawing/2014/main" id="{8D5362DB-823C-B675-A5AC-83C6F44D6E6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31513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fr-FR" dirty="0"/>
              <a:t>Voilà la cible. Quatre briques. La collecte, en continu : le scan du parc et la veille CVE, à chaque cycle. La réconciliation : reconnaître qu'un même actif porte trois noms différents dans trois outils. La notation contextualisée : la formule, qui croise la gravité technique avec ce que la machine porte pour l'entreprise. Et en sortie, un seul plan d'action priorisé, réactualisé à chaque cycle.</a:t>
            </a:r>
          </a:p>
          <a:p>
            <a:r>
              <a:rPr lang="fr-FR" dirty="0"/>
              <a:t>[PAUSE] La cinquième brique, c'est la boucle, en haut : une correction n'est acquise que si le scan suivant confirme la disparition de la vulnérabilité. L'outil croit le scan, pas le déclaratif.</a:t>
            </a:r>
          </a:p>
          <a:p>
            <a:r>
              <a:rPr lang="fr-FR" dirty="0"/>
              <a:t>Et tout en bas, le socle : la cartographie, applicative et infrastructure, tenue à jour. Sans elle, rien de ce qui est au-dessus n'est juste. Retenez ce point : le chapitre 5 y revient, parce que c'est exactement là que ma mise à l'épreuve a trouvé la faille.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Avant de </a:t>
            </a:r>
            <a:r>
              <a:rPr dirty="0" err="1"/>
              <a:t>parler</a:t>
            </a:r>
            <a:r>
              <a:rPr dirty="0"/>
              <a:t> de </a:t>
            </a:r>
            <a:r>
              <a:rPr dirty="0" err="1"/>
              <a:t>l'outil</a:t>
            </a:r>
            <a:r>
              <a:rPr dirty="0"/>
              <a:t>, le processus </a:t>
            </a:r>
            <a:r>
              <a:rPr dirty="0" err="1"/>
              <a:t>qu'il</a:t>
            </a:r>
            <a:r>
              <a:rPr dirty="0"/>
              <a:t> suppose. Je ne </a:t>
            </a:r>
            <a:r>
              <a:rPr dirty="0" err="1"/>
              <a:t>lis</a:t>
            </a:r>
            <a:r>
              <a:rPr dirty="0"/>
              <a:t> pas les </a:t>
            </a:r>
            <a:r>
              <a:rPr dirty="0" err="1"/>
              <a:t>tuiles</a:t>
            </a:r>
            <a:r>
              <a:rPr dirty="0"/>
              <a:t>.</a:t>
            </a:r>
          </a:p>
          <a:p>
            <a:endParaRPr dirty="0"/>
          </a:p>
          <a:p>
            <a:r>
              <a:rPr dirty="0"/>
              <a:t>Six contributions </a:t>
            </a:r>
            <a:r>
              <a:rPr dirty="0" err="1"/>
              <a:t>distinctes</a:t>
            </a:r>
            <a:r>
              <a:rPr dirty="0"/>
              <a:t> : </a:t>
            </a:r>
            <a:r>
              <a:rPr dirty="0" err="1"/>
              <a:t>l'inventaire</a:t>
            </a:r>
            <a:r>
              <a:rPr dirty="0"/>
              <a:t>, la </a:t>
            </a:r>
            <a:r>
              <a:rPr dirty="0" err="1"/>
              <a:t>détection</a:t>
            </a:r>
            <a:r>
              <a:rPr dirty="0"/>
              <a:t>, la </a:t>
            </a:r>
            <a:r>
              <a:rPr dirty="0" err="1"/>
              <a:t>cotation</a:t>
            </a:r>
            <a:r>
              <a:rPr dirty="0"/>
              <a:t> technique, la </a:t>
            </a:r>
            <a:r>
              <a:rPr dirty="0" err="1"/>
              <a:t>valeur</a:t>
            </a:r>
            <a:r>
              <a:rPr dirty="0"/>
              <a:t> métier, </a:t>
            </a:r>
            <a:r>
              <a:rPr dirty="0" err="1"/>
              <a:t>l'arbitrage</a:t>
            </a:r>
            <a:r>
              <a:rPr dirty="0"/>
              <a:t>, la </a:t>
            </a:r>
            <a:r>
              <a:rPr dirty="0" err="1"/>
              <a:t>remédiation</a:t>
            </a:r>
            <a:r>
              <a:rPr dirty="0"/>
              <a:t>. Dans </a:t>
            </a:r>
            <a:r>
              <a:rPr dirty="0" err="1"/>
              <a:t>une</a:t>
            </a:r>
            <a:r>
              <a:rPr dirty="0"/>
              <a:t> </a:t>
            </a:r>
            <a:r>
              <a:rPr dirty="0" err="1"/>
              <a:t>organisation</a:t>
            </a:r>
            <a:r>
              <a:rPr dirty="0"/>
              <a:t> </a:t>
            </a:r>
            <a:r>
              <a:rPr dirty="0" err="1"/>
              <a:t>dotée</a:t>
            </a:r>
            <a:r>
              <a:rPr dirty="0"/>
              <a:t>, </a:t>
            </a:r>
            <a:r>
              <a:rPr dirty="0" err="1"/>
              <a:t>ce</a:t>
            </a:r>
            <a:r>
              <a:rPr dirty="0"/>
              <a:t> </a:t>
            </a:r>
            <a:r>
              <a:rPr dirty="0" err="1"/>
              <a:t>sont</a:t>
            </a:r>
            <a:r>
              <a:rPr dirty="0"/>
              <a:t> six </a:t>
            </a:r>
            <a:r>
              <a:rPr dirty="0" err="1"/>
              <a:t>rôles</a:t>
            </a:r>
            <a:r>
              <a:rPr dirty="0"/>
              <a:t> </a:t>
            </a:r>
            <a:r>
              <a:rPr dirty="0" err="1"/>
              <a:t>différents</a:t>
            </a:r>
            <a:r>
              <a:rPr dirty="0"/>
              <a:t>.</a:t>
            </a:r>
          </a:p>
          <a:p>
            <a:endParaRPr dirty="0"/>
          </a:p>
          <a:p>
            <a:r>
              <a:rPr dirty="0"/>
              <a:t>Au cabinet, quatre </a:t>
            </a:r>
            <a:r>
              <a:rPr dirty="0" err="1"/>
              <a:t>personnes</a:t>
            </a:r>
            <a:r>
              <a:rPr dirty="0"/>
              <a:t> </a:t>
            </a:r>
            <a:r>
              <a:rPr dirty="0" err="1"/>
              <a:t>tiennent</a:t>
            </a:r>
            <a:r>
              <a:rPr dirty="0"/>
              <a:t> </a:t>
            </a:r>
            <a:r>
              <a:rPr dirty="0" err="1"/>
              <a:t>l'ensemble</a:t>
            </a:r>
            <a:r>
              <a:rPr dirty="0"/>
              <a:t>, </a:t>
            </a:r>
            <a:r>
              <a:rPr dirty="0" err="1"/>
              <a:t>en</a:t>
            </a:r>
            <a:r>
              <a:rPr dirty="0"/>
              <a:t> plus des missions clients. </a:t>
            </a:r>
            <a:r>
              <a:rPr dirty="0" err="1"/>
              <a:t>Aucun</a:t>
            </a:r>
            <a:r>
              <a:rPr dirty="0"/>
              <a:t> poste </a:t>
            </a:r>
            <a:r>
              <a:rPr dirty="0" err="1"/>
              <a:t>n'est</a:t>
            </a:r>
            <a:r>
              <a:rPr dirty="0"/>
              <a:t> </a:t>
            </a:r>
            <a:r>
              <a:rPr dirty="0" err="1"/>
              <a:t>dédié</a:t>
            </a:r>
            <a:r>
              <a:rPr dirty="0"/>
              <a:t> à la tenue des </a:t>
            </a:r>
            <a:r>
              <a:rPr dirty="0" err="1"/>
              <a:t>référentiels</a:t>
            </a:r>
            <a:r>
              <a:rPr dirty="0"/>
              <a:t>.</a:t>
            </a:r>
          </a:p>
          <a:p>
            <a:endParaRPr dirty="0"/>
          </a:p>
          <a:p>
            <a:r>
              <a:rPr dirty="0"/>
              <a:t>Le point à </a:t>
            </a:r>
            <a:r>
              <a:rPr dirty="0" err="1"/>
              <a:t>retenir</a:t>
            </a:r>
            <a:r>
              <a:rPr dirty="0"/>
              <a:t> pour toute la suite : </a:t>
            </a:r>
            <a:r>
              <a:rPr dirty="0" err="1"/>
              <a:t>ce</a:t>
            </a:r>
            <a:r>
              <a:rPr dirty="0"/>
              <a:t> </a:t>
            </a:r>
            <a:r>
              <a:rPr dirty="0" err="1"/>
              <a:t>n'est</a:t>
            </a:r>
            <a:r>
              <a:rPr dirty="0"/>
              <a:t> pas un </a:t>
            </a:r>
            <a:r>
              <a:rPr dirty="0" err="1"/>
              <a:t>défaut</a:t>
            </a:r>
            <a:r>
              <a:rPr dirty="0"/>
              <a:t> </a:t>
            </a:r>
            <a:r>
              <a:rPr dirty="0" err="1"/>
              <a:t>d'organisation</a:t>
            </a:r>
            <a:r>
              <a:rPr dirty="0"/>
              <a:t>, </a:t>
            </a:r>
            <a:r>
              <a:rPr dirty="0" err="1"/>
              <a:t>c'est</a:t>
            </a:r>
            <a:r>
              <a:rPr dirty="0"/>
              <a:t> la </a:t>
            </a:r>
            <a:r>
              <a:rPr dirty="0" err="1"/>
              <a:t>contrainte</a:t>
            </a:r>
            <a:r>
              <a:rPr dirty="0"/>
              <a:t> </a:t>
            </a:r>
            <a:r>
              <a:rPr dirty="0" err="1"/>
              <a:t>réelle</a:t>
            </a:r>
            <a:r>
              <a:rPr dirty="0"/>
              <a:t> </a:t>
            </a:r>
            <a:r>
              <a:rPr dirty="0" err="1"/>
              <a:t>que</a:t>
            </a:r>
            <a:r>
              <a:rPr dirty="0"/>
              <a:t> </a:t>
            </a:r>
            <a:r>
              <a:rPr dirty="0" err="1"/>
              <a:t>l'outil</a:t>
            </a:r>
            <a:r>
              <a:rPr dirty="0"/>
              <a:t> doit absorber. Et </a:t>
            </a:r>
            <a:r>
              <a:rPr dirty="0" err="1"/>
              <a:t>elle</a:t>
            </a:r>
            <a:r>
              <a:rPr dirty="0"/>
              <a:t> se </a:t>
            </a:r>
            <a:r>
              <a:rPr dirty="0" err="1"/>
              <a:t>retrouve</a:t>
            </a:r>
            <a:r>
              <a:rPr dirty="0"/>
              <a:t> chez la </a:t>
            </a:r>
            <a:r>
              <a:rPr dirty="0" err="1"/>
              <a:t>plupart</a:t>
            </a:r>
            <a:r>
              <a:rPr dirty="0"/>
              <a:t> des structures </a:t>
            </a:r>
            <a:r>
              <a:rPr dirty="0" err="1"/>
              <a:t>que</a:t>
            </a:r>
            <a:r>
              <a:rPr dirty="0"/>
              <a:t> le cabinet </a:t>
            </a:r>
            <a:r>
              <a:rPr dirty="0" err="1"/>
              <a:t>accompagne</a:t>
            </a:r>
            <a:r>
              <a:rPr dirty="0"/>
              <a:t>.</a:t>
            </a:r>
          </a:p>
          <a:p>
            <a:endParaRPr dirty="0"/>
          </a:p>
          <a:p>
            <a:r>
              <a:rPr dirty="0"/>
              <a:t>[PAUSE]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TRANSITION — Je viens de vous montrer la cible. Avant de la dérouler brique par brique, une parenthèse que j'assume : comment ce projet a été conduit. C'est court, mais c'est là que s'est joué une partie de ce que j'ai appris, et vous verrez que les deux aléas qui ont le plus pesé n'étaient pas techniques. Je reviens aux briques juste après. [PAUSE]</a:t>
            </a:r>
          </a:p>
          <a:p>
            <a:r>
              <a:rPr lang="en-US" dirty="0"/>
              <a:t>Ouverture du chapitre 3 : Conduite du projet.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méthodologie retenue est un cycle hybride : séquentiel et jalonné pour le cadrage et l'architecture, itératif pour le développement, le projet étant exploratoire. Sur la gouvernance, je retiens deux éléments : un point hebdomadaire avec mon maître d'apprentissage, et un journal de projet quotidien qui m'a servi à identifier une régression que je n'avais pas vue passer.</a:t>
            </a:r>
          </a:p>
          <a:p>
            <a:endParaRPr/>
          </a:p>
          <a:p>
            <a:r>
              <a:t>&gt;&gt;&gt; MOT-CLÉ GRILLE (à placer explicitement à l'oral) : « un plan de management complet et analysé ». Le dire tel quel en présentant le découpage en phases/jalons — ce vocabulaire est celui de la case A du critère "Organiser sa mission".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jalons sur quatre ont été tenus. Le deuxième a pris deux semaines de retard du fait de l'indisponibilité de l'outil de supervision. Le chiffre important est celui de la charge : quarante-deux jours-homme prévus, vingt-et-un effectivement consacrés, parce que des missions clients sont devenues prioritaires. Et la date de fin a été respectée par réduction du périmètre, non par respect du planning.</a:t>
            </a:r>
          </a:p>
          <a:p>
            <a:endParaRPr lang="en-US" dirty="0"/>
          </a:p>
          <a:p>
            <a:r>
              <a:rPr dirty="0"/>
              <a:t>— AJOUT v6 —</a:t>
            </a:r>
          </a:p>
          <a:p>
            <a:r>
              <a:rPr dirty="0"/>
              <a:t>Ton : </a:t>
            </a:r>
            <a:r>
              <a:rPr dirty="0" err="1"/>
              <a:t>décrire</a:t>
            </a:r>
            <a:r>
              <a:rPr dirty="0"/>
              <a:t> des arbitrages de </a:t>
            </a:r>
            <a:r>
              <a:rPr dirty="0" err="1"/>
              <a:t>priorité</a:t>
            </a:r>
            <a:r>
              <a:rPr dirty="0"/>
              <a:t> pris </a:t>
            </a:r>
            <a:r>
              <a:rPr dirty="0" err="1"/>
              <a:t>ailleurs</a:t>
            </a:r>
            <a:r>
              <a:rPr dirty="0"/>
              <a:t>, jamais un manque de bonne </a:t>
            </a:r>
            <a:r>
              <a:rPr dirty="0" err="1"/>
              <a:t>volonté</a:t>
            </a:r>
            <a:r>
              <a:rPr dirty="0"/>
              <a:t>. Ne pas </a:t>
            </a:r>
            <a:r>
              <a:rPr dirty="0" err="1"/>
              <a:t>nommer</a:t>
            </a:r>
            <a:r>
              <a:rPr dirty="0"/>
              <a:t> de </a:t>
            </a:r>
            <a:r>
              <a:rPr dirty="0" err="1"/>
              <a:t>personne</a:t>
            </a:r>
            <a:r>
              <a:rPr dirty="0"/>
              <a:t>.</a:t>
            </a:r>
          </a:p>
          <a:p>
            <a:r>
              <a:rPr dirty="0" err="1"/>
              <a:t>Annoncer</a:t>
            </a:r>
            <a:r>
              <a:rPr dirty="0"/>
              <a:t> </a:t>
            </a:r>
            <a:r>
              <a:rPr dirty="0" err="1"/>
              <a:t>explicitement</a:t>
            </a:r>
            <a:r>
              <a:rPr dirty="0"/>
              <a:t> : « les </a:t>
            </a:r>
            <a:r>
              <a:rPr dirty="0" err="1"/>
              <a:t>aléas</a:t>
            </a:r>
            <a:r>
              <a:rPr dirty="0"/>
              <a:t> </a:t>
            </a:r>
            <a:r>
              <a:rPr dirty="0" err="1"/>
              <a:t>correspondants</a:t>
            </a:r>
            <a:r>
              <a:rPr dirty="0"/>
              <a:t>, je les </a:t>
            </a:r>
            <a:r>
              <a:rPr dirty="0" err="1"/>
              <a:t>détaille</a:t>
            </a:r>
            <a:r>
              <a:rPr dirty="0"/>
              <a:t> dans quatre slides » — et le faire.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 analyse de risques avait correctement anticipé la difficulté technique : le risque coté le plus haut, l'absence de clé commune, s'est produit et constitue la thèse du mémoire. En revanche, les deux événements qui ont réellement décalé le planning ne figuraient pas dans la matrice, et ils sont tous les deux organisationnels. L'analyse portait sur le produit, pas sur l'environnement de départ.</a:t>
            </a:r>
          </a:p>
          <a:p>
            <a:endParaRPr/>
          </a:p>
          <a:p>
            <a:r>
              <a:t>&gt;&gt;&gt; MOT-CLÉ GRILLE (à placer explicitement à l'oral) : « j'ai anticipé, analysé les écarts et réagi de manière appropriée ». Le dire explicitement en conclusion de cette slide (le risque coté le plus haut anticipé = anticipé ; les deux risques absents de la matrice = écarts analysés) — la suite (slide 24) apporte le "réagi de manière appropriée". Vocabulaire quasi verbatim de la grille.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communication a été organisée par public. Point hebdomadaire avec mon maître d'apprentissage, avec des ateliers de validation aux jalons. Sollicitation ponctuelle de la direction technique sur les arbitrages d'architecture. Livrables aux échéances pour le tuteur école. Et un journal de projet quotidien horodaté. La conséquence pratique est importante : chaque chiffre de ce mémoire se rattache à une entrée datée, ce qui rend la démarche vérifiable, et c'est ce journal qui m'a permis d'identifier une régression passée inaperçue.</a:t>
            </a:r>
          </a:p>
          <a:p>
            <a:endParaRPr/>
          </a:p>
          <a:p>
            <a:r>
              <a:t>PARTIE PRENANTE À CITER : le CODIR (comité de direction) — sponsor du projet, validation stratégique aux jalons.</a:t>
            </a:r>
          </a:p>
          <a:p>
            <a:endParaRPr/>
          </a:p>
          <a:p>
            <a:r>
              <a:t>&gt;&gt;&gt; MOT-CLÉ GRILLE (à placer explicitement à l'oral) : « une stratégie de communication élaborée ». Le dire tel quel en introduisant cette slide — c'est le terme de la case A du critère "Organiser sa mission", et le tableau par public/fréquence en est la preuve, mais le mot doit être prononcé.</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idées, pas plus. Je ne lis ni les tuiles ni les chiffres.
Un : le cabinet avait déjà produit un socle en 2023, il est mort parce qu'il n'était ni déployé ni documenté. J'ai donc traité la passation comme un objectif de projet dès le cadrage.
Deux : six documents, un par destinataire. À gauche, ce qui est écrit. À droite, ce qui est vérifié.
SI ON ME DEMANDE LES CINQ INCIDENTS. Ils sont réels, pas supposés. L'indexeur OpenSearch avec 299 fragments d'index non alloués sur 403. Les microcoupures horaires dues au mode de connexion paresseuse de l'overlay. Une mise à jour d'agent qui a écrasé son propre fichier de configuration. Le verrouillage de la base quand le cycle de veille gardait une transaction ouverte pendant ses appels réseau. Et les critères de sécurité illisibles parce que l'API ne renvoie les capacités que dans la fiche détaillée. Chaque fiche suit la même structure : symptôme, cause, geste, vérification.
SI ON ME DEMANDE LES SIX POINTS DE RECETTE. Fidélité de l'inventaire, justesse de la réconciliation, pertinence du classement, lisibilité des tranches, pondération des critères, suivi de remédiation. Six validés, dont deux avec une réserve documentée : pas de seuil numérique figé, et pondération susceptible d'évoluer.
SI ON ME DEMANDE OÙ IL TOURNE. [À PRÉPARER — répondre précisément : sur quelle machine le service tourne aujourd'hui, et depuis quand. Le compteur de cycles a continué d'avancer après la remise du mémoire, c'est la meilleure preuve de continuité disponible.]
LA LIMITE, si on me la demande : le transfert est documenté et validé en recette, il n'a pas encore vécu plusieurs semaines d'exploitation autonome sans moi. C'est le premier point de la feuille de route.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de pilotage. Je ne relis pas le tableau : je l'annonce et j'en prends deux.</a:t>
            </a:r>
          </a:p>
          <a:p>
            <a:endParaRPr/>
          </a:p>
          <a:p>
            <a:r>
              <a:t>Six aléas, six décisions. Je souligne deux points.</a:t>
            </a:r>
          </a:p>
          <a:p>
            <a:endParaRPr/>
          </a:p>
          <a:p>
            <a:r>
              <a:t>Le premier, le resserrement du périmètre. Constater que les référentiels n'étaient pas alimentés m'a mis devant un choix : tenir les vingt machines annoncées et livrer une chaîne qui ne fonctionne nulle part, ou réduire à quatre et livrer une chaîne complète. J'ai proposé le second, mon maître d'apprentissage l'a validé, et c'est ce qui explique le chiffre de quatre machines que vous avez vu.</a:t>
            </a:r>
          </a:p>
          <a:p>
            <a:endParaRPr/>
          </a:p>
          <a:p>
            <a:r>
              <a:t>Le second, l'abandon du plan d'expériences Taguchi. La méthode supposait une équipe et un volume de mesures que je n'avais pas seul. Je l'ai remplacée par une recette métier avec deux valideurs. Le prix de cette décision est assumé : la précision de la notation n'est pas chiffrée, et je le porte comme un indicateur non tenu au chapitre 8 plutôt que comme un détail.</a:t>
            </a:r>
          </a:p>
          <a:p>
            <a:endParaRPr/>
          </a:p>
          <a:p>
            <a:r>
              <a:t>Ce que je retiens : la date de fin a été tenue parce que j'ai arbitré le périmètre, pas parce que le planning initial était bon.</a:t>
            </a:r>
          </a:p>
          <a:p>
            <a:endParaRPr/>
          </a:p>
          <a:p>
            <a:r>
              <a:t>— AJOUT v6 —</a:t>
            </a:r>
          </a:p>
          <a:p>
            <a:r>
              <a:t>Ton : les référentiels non alimentés relèvent d'un besoin de sensibilisation et de rôles non dédiés, pas d'une faute. C'est justement l'illustration que la perception du risque de vulnérabilité n'est pas acquise.</a:t>
            </a:r>
          </a:p>
          <a:p>
            <a:r>
              <a:t>Cause du troisième aléa, à dire à l'oral : les activités avaient été cotées avec les mêmes critères que leurs machines, donc le terme métier ne pouvait rien discriminer.</a:t>
            </a:r>
          </a:p>
          <a:p>
            <a:endParaRPr/>
          </a:p>
          <a:p>
            <a:r>
              <a:t>&gt;&gt;&gt; MOT-CLÉ GRILLE (à placer explicitement à l'oral) : « ...et réagi de manière appropriée » — reprendre ici la fin de la phrase amorcée en slide 21 (anticipé / écarts analysés / réagi de manière appropriée), au moment de conclure sur l'arbitrage du périmètre. Vocabulaire quasi verbatim de la grille pour "Organiser sa mission".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du chapitre 4 : Solution mise en œuvre.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comprend cinq étapes. Le choix que je veux souligner est celui de l'historisation : chaque cycle écrit un état complet en base au lieu de recalculer à l'affichage. C'est ce qui donne l'historique, et c'est aussi ce qui m'a permis de rejouer des calculs après la remise sans reconnecter les outils. Sur les technologies, les trois choix visent la simplicité de démonstration plutôt que la montée en charge.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formule reprend celle de 2023 et lui ajoute un terme : la valeur métier portée par l'actif. Le principe est que deux machines également vulnérables ne méritent pas la même urgence si l'une porte une activité facturée et l'autre un environnement de test. Retenez le bloc du bas, qui deviendra important au chapitre 5 : quand la valeur métier manque, le terme est neutre, et cela se voit.</a:t>
            </a:r>
          </a:p>
          <a:p>
            <a:endParaRPr/>
          </a:p>
          <a:p>
            <a:r>
              <a:t>EXEMPLE ORAL (remplace le PC d'accueil) : deux serveurs, même faille critique CVSS 9. L'un héberge le site vitrine — aucune donnée, aucune activité facturée. L'autre le logiciel de paie — données RH, activité facturée, obligation légale. Le CVSS les note pareil ; le métier, non. C'est exactement ce que le terme VM doit capter.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principale difficulté technique du projet, et les trois cas présentés sont réels. Une machine désignée par sa fonction dans un outil et par son logiciel dans un autre. Une erreur de saisie avec une lettre manquante. Et un actif inventorié deux fois sous deux noms, sur lequel je reviendrai. La méthode apparie sur le recouvrement de mots, avec un fichier d'exceptions, et surtout elle désigne ce qu'elle ne sait pas relier.</a:t>
            </a:r>
          </a:p>
          <a:p>
            <a:endParaRPr lang="en-US" dirty="0"/>
          </a:p>
          <a:p>
            <a:r>
              <a:t>— AJOUT v6 —</a:t>
            </a:r>
          </a:p>
          <a:p>
            <a:r>
              <a:t>SI ON ME DEMANDE COMMENT LPC-VM-SUPERVISION EST RELIÉ À lpb-zabbix ET LPC-VM-ZABBIX : aucun mot commun entre « supervision » (la fonction) et « zabbix » (le logiciel), donc le score lexical ne peut rien faire. Le cas est déclaré à la main dans le fichier de réconciliation, avec un commentaire « exception : aucun lien lexical ». Le score lexical vaut 2 pour une correspondance exacte, 1 pour un préfixe ou une sous-chaîne, 0 sinon.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Voici l'échelle atteinte : soixante-quinze cycles de collecte, plus de cent mille vulnérabilités enregistrées, quatre machines instrumentées.</a:t>
            </a:r>
          </a:p>
          <a:p>
            <a:endParaRPr/>
          </a:p>
          <a:p>
            <a:r>
              <a:t>Je précise le chiffre de quatre : il ne correspond pas au périmètre prévu, il résulte du resserrement décidé après avoir constaté que les référentiels n'étaient pas alimentés au niveau attendu.</a:t>
            </a:r>
          </a:p>
          <a:p>
            <a:endParaRPr/>
          </a:p>
          <a:p>
            <a:r>
              <a:t>À DIRE AVANT LES CAPTURES : les données affichées sont des données de test.</a:t>
            </a:r>
          </a:p>
          <a:p>
            <a:endParaRPr/>
          </a:p>
          <a:p>
            <a:r>
              <a:t>Puis j'enchaîne sur les sept vues du tableau de bord.</a:t>
            </a:r>
          </a:p>
          <a:p>
            <a:endParaRPr/>
          </a:p>
          <a:p>
            <a:r>
              <a:rPr lang="fr-FR" dirty="0"/>
              <a:t>AJOUT (07/09) — L'échantillon de test, le périmètre resserré à 4 machines, a été coordonné avec le maître d'apprentissage, au même titre que le reste des arbitrages de périmètre.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Voilà ce que l'exploitant ouvre le matin. En haut, l'écart depuis la dernière référence figée : ce qui a été résolu, ce qui est apparu. En dessous, l'état du parc — les actifs inventoriés, ceux réellement surveillés par un agent, les vulnérabilités actives, le score maximum et le score moyen. Puis la répartition par criticité, le top 10 et la tendance depuis la première collecte.</a:t>
            </a:r>
          </a:p>
          <a:p>
            <a:r>
              <a:rPr lang="fr-FR" dirty="0"/>
              <a:t>Précision si on me pose la question : les chiffres à l'écran sont ceux du cycle 75, fin août. Le rapport a été déposé au cycle 66, en juillet — le démonstrateur a continué de tourner depuis.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2910695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40ABA-5D1B-5222-449B-7166E059A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3145F-62F4-88EF-E967-98A32029D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CB053-10C6-0283-D92B-6ED45ADE3ED5}"/>
              </a:ext>
            </a:extLst>
          </p:cNvPr>
          <p:cNvSpPr>
            <a:spLocks noGrp="1"/>
          </p:cNvSpPr>
          <p:nvPr>
            <p:ph type="body" idx="1"/>
          </p:nvPr>
        </p:nvSpPr>
        <p:spPr/>
        <p:txBody>
          <a:bodyPr/>
          <a:lstStyle/>
          <a:p>
            <a:r>
              <a:rPr lang="fr-FR" dirty="0"/>
              <a:t>C'est la file de travail. Chaque ligne porte la chaîne complète du calcul : la note CVSS brute, la criticité de l'actif en confidentialité, disponibilité et intégrité, la valeur métier de l'activité portée, le facteur d'exposition réseau, et le score final. Rien n'est masqué : celui qui doit corriger voit pourquoi cette ligne est en tête.</a:t>
            </a:r>
          </a:p>
        </p:txBody>
      </p:sp>
      <p:sp>
        <p:nvSpPr>
          <p:cNvPr id="4" name="Slide Number Placeholder 3">
            <a:extLst>
              <a:ext uri="{FF2B5EF4-FFF2-40B4-BE49-F238E27FC236}">
                <a16:creationId xmlns:a16="http://schemas.microsoft.com/office/drawing/2014/main" id="{3466151B-9541-1EFE-306D-E93AF00B1776}"/>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056376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EFE2-F775-4872-E67D-686D2E119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58C37-C20A-9CE1-A17A-31010B682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AEDA4-AE01-BA83-0A1E-709C899CEF0A}"/>
              </a:ext>
            </a:extLst>
          </p:cNvPr>
          <p:cNvSpPr>
            <a:spLocks noGrp="1"/>
          </p:cNvSpPr>
          <p:nvPr>
            <p:ph type="body" idx="1"/>
          </p:nvPr>
        </p:nvSpPr>
        <p:spPr/>
        <p:txBody>
          <a:bodyPr/>
          <a:lstStyle/>
          <a:p>
            <a:r>
              <a:rPr lang="fr-FR" dirty="0"/>
              <a:t>Si on ouvre un actif, on a le détail du calcul : criticité 4, 4, 4, soit 12 ; valeur métier 4 ; donc le score vaut la note CVSS multipliée par douze. C'est vérifiable ligne à ligne, et c'était une exigence de départ : une notation qu'on ne sait pas expliquer ne sert à rien.</a:t>
            </a:r>
          </a:p>
          <a:p>
            <a:r>
              <a:rPr lang="fr-FR" dirty="0"/>
              <a:t>Les trois onglets — persistantes, résolues, nouvelles — donnent le suivi dans le temps sur cet actif.</a:t>
            </a:r>
          </a:p>
        </p:txBody>
      </p:sp>
      <p:sp>
        <p:nvSpPr>
          <p:cNvPr id="4" name="Slide Number Placeholder 3">
            <a:extLst>
              <a:ext uri="{FF2B5EF4-FFF2-40B4-BE49-F238E27FC236}">
                <a16:creationId xmlns:a16="http://schemas.microsoft.com/office/drawing/2014/main" id="{88B05B14-1271-208A-369A-AC7B0DA64493}"/>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1719183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A2A9-2C88-1B95-7675-A0B29E28D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0D6FC-6313-DC97-DCF2-D6F6EC80F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B88BC-9CCD-F195-1376-14677949E766}"/>
              </a:ext>
            </a:extLst>
          </p:cNvPr>
          <p:cNvSpPr>
            <a:spLocks noGrp="1"/>
          </p:cNvSpPr>
          <p:nvPr>
            <p:ph type="body" idx="1"/>
          </p:nvPr>
        </p:nvSpPr>
        <p:spPr/>
        <p:txBody>
          <a:bodyPr/>
          <a:lstStyle/>
          <a:p>
            <a:r>
              <a:rPr lang="fr-FR" dirty="0"/>
              <a:t>Deuxième brique livrée : la matrice de risques. Ce sont les scénarios EBIOS RM de l'outil de gouvernance, positionnés en vraisemblance et en gravité. Le point plein, c'est la position courante ; le cercle vide, la position d'origine évaluée par l'analyste, que le pipeline n'écrase jamais.</a:t>
            </a:r>
          </a:p>
          <a:p>
            <a:r>
              <a:rPr lang="fr-FR" dirty="0"/>
              <a:t>Regardez R-04, encadré : espionnage industriel via un prestataire. Il est aujourd'hui en vraisemblance 2. [PAUSE]</a:t>
            </a:r>
          </a:p>
        </p:txBody>
      </p:sp>
      <p:sp>
        <p:nvSpPr>
          <p:cNvPr id="4" name="Slide Number Placeholder 3">
            <a:extLst>
              <a:ext uri="{FF2B5EF4-FFF2-40B4-BE49-F238E27FC236}">
                <a16:creationId xmlns:a16="http://schemas.microsoft.com/office/drawing/2014/main" id="{F7C58791-DBB6-E2CF-1A9A-1CFA5892F61B}"/>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5172886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D60BC-3665-6216-F27F-C8CB3AF1C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703B9-13D5-53F8-15C9-C882B9455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812E0F-3299-72D3-704A-65AC8FC6733B}"/>
              </a:ext>
            </a:extLst>
          </p:cNvPr>
          <p:cNvSpPr>
            <a:spLocks noGrp="1"/>
          </p:cNvSpPr>
          <p:nvPr>
            <p:ph type="body" idx="1"/>
          </p:nvPr>
        </p:nvSpPr>
        <p:spPr/>
        <p:txBody>
          <a:bodyPr/>
          <a:lstStyle/>
          <a:p>
            <a:r>
              <a:rPr lang="fr-FR" dirty="0"/>
              <a:t>Maintenant j'injecte une vulnérabilité critique sur un actif support de ce scénario : CVE-2026-70321, CVSS 9,8. Le bandeau rouge apparaît, et R-04 se déplace — la vraisemblance passe de 2 à 3. Sa position d'origine reste en pointillés, pour qu'on voie le mouvement et pas seulement le résultat.</a:t>
            </a:r>
          </a:p>
          <a:p>
            <a:r>
              <a:rPr lang="fr-FR" dirty="0"/>
              <a:t>Et le mouvement est réversible, mais pas sur parole : si je déploie le correctif, le risque ne redescend pas immédiatement. Il redescend quand la collecte suivante constate que la vulnérabilité a disparu. C'est la boucle du schéma cible, et c'est le garde-fou : l'outil croit le scan, pas le déclaratif.</a:t>
            </a:r>
          </a:p>
        </p:txBody>
      </p:sp>
      <p:sp>
        <p:nvSpPr>
          <p:cNvPr id="4" name="Slide Number Placeholder 3">
            <a:extLst>
              <a:ext uri="{FF2B5EF4-FFF2-40B4-BE49-F238E27FC236}">
                <a16:creationId xmlns:a16="http://schemas.microsoft.com/office/drawing/2014/main" id="{B473A0B6-E2AB-8765-B055-8A66872680B9}"/>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118866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7F335-C6CA-E24A-7791-941C89E20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0D4C-1867-A91A-EEED-D1AC270C4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313E2-B9FD-5898-AD7C-9138276C57FB}"/>
              </a:ext>
            </a:extLst>
          </p:cNvPr>
          <p:cNvSpPr>
            <a:spLocks noGrp="1"/>
          </p:cNvSpPr>
          <p:nvPr>
            <p:ph type="body" idx="1"/>
          </p:nvPr>
        </p:nvSpPr>
        <p:spPr/>
        <p:txBody>
          <a:bodyPr/>
          <a:lstStyle/>
          <a:p>
            <a:r>
              <a:rPr lang="fr-FR" dirty="0"/>
              <a:t>Dernier point : tout n'est pas couvert par un agent. Les services en SaaS — la messagerie, la suite collaborative, l'ERP — personne n'y installe de sonde. Pour ceux-là, l'outil interroge directement la base nationale des vulnérabilités, toutes les heures, sur seize actifs déclarés. Ça ne remplace pas un scan, mais ça supprime un angle mort.</a:t>
            </a:r>
          </a:p>
        </p:txBody>
      </p:sp>
      <p:sp>
        <p:nvSpPr>
          <p:cNvPr id="4" name="Slide Number Placeholder 3">
            <a:extLst>
              <a:ext uri="{FF2B5EF4-FFF2-40B4-BE49-F238E27FC236}">
                <a16:creationId xmlns:a16="http://schemas.microsoft.com/office/drawing/2014/main" id="{3E1A0A97-9B30-F732-84C6-8C4804A100C2}"/>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3724619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du chapitre 5 : Mise à l'épreuve et résultats.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ne se contente pas de conclure : il prend un engagement, que je cite ici mot pour mot. Ces deux axes sont issus de la recette conduite avec Fadel Ghamlouche et Alexandre Chauvie. Ils étaient écrits, donc dus avant la soutenance. Les slides qui suivent présentent les mesures obtenues.</a:t>
            </a:r>
          </a:p>
          <a:p>
            <a:endParaRPr lang="en-US" dirty="0"/>
          </a:p>
          <a:p>
            <a:r>
              <a:rPr dirty="0"/>
              <a:t>— AJOUT v6 —</a:t>
            </a:r>
          </a:p>
          <a:p>
            <a:r>
              <a:rPr dirty="0" err="1"/>
              <a:t>Annoncer</a:t>
            </a:r>
            <a:r>
              <a:rPr dirty="0"/>
              <a:t> </a:t>
            </a:r>
            <a:r>
              <a:rPr dirty="0" err="1"/>
              <a:t>explicitement</a:t>
            </a:r>
            <a:r>
              <a:rPr dirty="0"/>
              <a:t> le renvoi : « le second axe, </a:t>
            </a:r>
            <a:r>
              <a:rPr dirty="0" err="1"/>
              <a:t>l'affinage</a:t>
            </a:r>
            <a:r>
              <a:rPr dirty="0"/>
              <a:t> de la </a:t>
            </a:r>
            <a:r>
              <a:rPr dirty="0" err="1"/>
              <a:t>valeur</a:t>
            </a:r>
            <a:r>
              <a:rPr dirty="0"/>
              <a:t> métier, je vous montre dans deux slides </a:t>
            </a:r>
            <a:r>
              <a:rPr dirty="0" err="1"/>
              <a:t>ce</a:t>
            </a:r>
            <a:r>
              <a:rPr dirty="0"/>
              <a:t> </a:t>
            </a:r>
            <a:r>
              <a:rPr dirty="0" err="1"/>
              <a:t>que</a:t>
            </a:r>
            <a:r>
              <a:rPr dirty="0"/>
              <a:t> la </a:t>
            </a:r>
            <a:r>
              <a:rPr dirty="0" err="1"/>
              <a:t>mesure</a:t>
            </a:r>
            <a:r>
              <a:rPr dirty="0"/>
              <a:t> </a:t>
            </a:r>
            <a:r>
              <a:rPr dirty="0" err="1"/>
              <a:t>en</a:t>
            </a:r>
            <a:r>
              <a:rPr dirty="0"/>
              <a:t> a </a:t>
            </a:r>
            <a:r>
              <a:rPr dirty="0" err="1"/>
              <a:t>révélé</a:t>
            </a:r>
            <a:r>
              <a:rPr dirty="0"/>
              <a:t>. » Ne pas dire « on y </a:t>
            </a:r>
            <a:r>
              <a:rPr dirty="0" err="1"/>
              <a:t>reviendra</a:t>
            </a:r>
            <a:r>
              <a:rPr dirty="0"/>
              <a:t> plus tard » sans dire </a:t>
            </a:r>
            <a:r>
              <a:rPr dirty="0" err="1"/>
              <a:t>quand</a:t>
            </a:r>
            <a:r>
              <a:rPr dirty="0"/>
              <a:t>.</a:t>
            </a:r>
          </a:p>
          <a:p>
            <a:r>
              <a:rPr dirty="0"/>
              <a:t>L'ancienne formulation « les sept slides </a:t>
            </a:r>
            <a:r>
              <a:rPr dirty="0" err="1"/>
              <a:t>suivantes</a:t>
            </a:r>
            <a:r>
              <a:rPr dirty="0"/>
              <a:t> » est </a:t>
            </a:r>
            <a:r>
              <a:rPr dirty="0" err="1"/>
              <a:t>fausse</a:t>
            </a:r>
            <a:r>
              <a:rPr dirty="0"/>
              <a:t> </a:t>
            </a:r>
            <a:r>
              <a:rPr dirty="0" err="1"/>
              <a:t>depuis</a:t>
            </a:r>
            <a:r>
              <a:rPr dirty="0"/>
              <a:t> la v6 : le </a:t>
            </a:r>
            <a:r>
              <a:rPr dirty="0" err="1"/>
              <a:t>chapitre</a:t>
            </a:r>
            <a:r>
              <a:rPr dirty="0"/>
              <a:t> </a:t>
            </a:r>
            <a:r>
              <a:rPr dirty="0" err="1"/>
              <a:t>en</a:t>
            </a:r>
            <a:r>
              <a:rPr dirty="0"/>
              <a:t> compte cinq.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est simple : la notation est multipliée par un facteur dépendant de l'emplacement réseau. Deux points de conception. D'abord, un emplacement non renseigné donne un facteur neutre, donc je ne dégrade jamais une notation par manque d'information. Ensuite, les facteurs sont dans un fichier de configuration et non dans le code, parce que leur calibrage relève du métier et non du développeur.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résultat, qui complète le premier. Si le classement des actifs ne bouge pas, plus de la moitié des vulnérabilités changent de niveau de criticité : quatre mille cinq cents redescendent parce qu'elles sont sur le réseau interne protégé, mille huit cents remontent parce qu'elles sont exposées. Et les cent mieux notées restent identiques, ce qui montre que les priorités hautes ne sont pas diluées.</a:t>
            </a:r>
          </a:p>
          <a:p>
            <a:endParaRPr lang="en-US" dirty="0"/>
          </a:p>
          <a:p>
            <a:r>
              <a:rPr dirty="0"/>
              <a:t>— AJOUT v6 —</a:t>
            </a:r>
          </a:p>
          <a:p>
            <a:r>
              <a:rPr dirty="0"/>
              <a:t>Dire </a:t>
            </a:r>
            <a:r>
              <a:rPr dirty="0" err="1"/>
              <a:t>en</a:t>
            </a:r>
            <a:r>
              <a:rPr dirty="0"/>
              <a:t> </a:t>
            </a:r>
            <a:r>
              <a:rPr dirty="0" err="1"/>
              <a:t>une</a:t>
            </a:r>
            <a:r>
              <a:rPr dirty="0"/>
              <a:t> phrase le </a:t>
            </a:r>
            <a:r>
              <a:rPr dirty="0" err="1"/>
              <a:t>résultat</a:t>
            </a:r>
            <a:r>
              <a:rPr dirty="0"/>
              <a:t> passé </a:t>
            </a:r>
            <a:r>
              <a:rPr dirty="0" err="1"/>
              <a:t>en</a:t>
            </a:r>
            <a:r>
              <a:rPr dirty="0"/>
              <a:t> </a:t>
            </a:r>
            <a:r>
              <a:rPr dirty="0" err="1"/>
              <a:t>annexe</a:t>
            </a:r>
            <a:r>
              <a:rPr dirty="0"/>
              <a:t> : le </a:t>
            </a:r>
            <a:r>
              <a:rPr dirty="0" err="1"/>
              <a:t>facteur</a:t>
            </a:r>
            <a:r>
              <a:rPr dirty="0"/>
              <a:t> </a:t>
            </a:r>
            <a:r>
              <a:rPr dirty="0" err="1"/>
              <a:t>d'exposition</a:t>
            </a:r>
            <a:r>
              <a:rPr dirty="0"/>
              <a:t> ne </a:t>
            </a:r>
            <a:r>
              <a:rPr dirty="0" err="1"/>
              <a:t>provoque</a:t>
            </a:r>
            <a:r>
              <a:rPr dirty="0"/>
              <a:t> </a:t>
            </a:r>
            <a:r>
              <a:rPr dirty="0" err="1"/>
              <a:t>aucune</a:t>
            </a:r>
            <a:r>
              <a:rPr dirty="0"/>
              <a:t> inversion dans le </a:t>
            </a:r>
            <a:r>
              <a:rPr dirty="0" err="1"/>
              <a:t>classement</a:t>
            </a:r>
            <a:r>
              <a:rPr dirty="0"/>
              <a:t> des quatre </a:t>
            </a:r>
            <a:r>
              <a:rPr dirty="0" err="1"/>
              <a:t>actifs</a:t>
            </a:r>
            <a:r>
              <a:rPr dirty="0"/>
              <a:t> — </a:t>
            </a:r>
            <a:r>
              <a:rPr dirty="0" err="1"/>
              <a:t>ce</a:t>
            </a:r>
            <a:r>
              <a:rPr dirty="0"/>
              <a:t> qui est exposé est </a:t>
            </a:r>
            <a:r>
              <a:rPr dirty="0" err="1"/>
              <a:t>aussi</a:t>
            </a:r>
            <a:r>
              <a:rPr dirty="0"/>
              <a:t> </a:t>
            </a:r>
            <a:r>
              <a:rPr dirty="0" err="1"/>
              <a:t>ce</a:t>
            </a:r>
            <a:r>
              <a:rPr dirty="0"/>
              <a:t> qui est critique sur </a:t>
            </a:r>
            <a:r>
              <a:rPr dirty="0" err="1"/>
              <a:t>ce</a:t>
            </a:r>
            <a:r>
              <a:rPr dirty="0"/>
              <a:t> parc.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Cette slide n'est plus une réserve : c'est la preuve du chapitre. Trente combinaisons de pondérations testées, aucune ne modifie le classement, et les deux cents vulnérabilités les mieux notées sont identiques dans les trente cas. Ce n'est pas de la robustesse — c'est un symptôme, et la slide suivante en donne la cause. [PAUSE]</a:t>
            </a:r>
          </a:p>
          <a:p>
            <a:r>
              <a:rPr lang="en-US" dirty="0"/>
              <a:t>Le rapport annonçait un recalibrage des pondérations. Je les ai donc fait varier : trente combinaisons. Aucune ne modifie le classement, et les deux cents vulnérabilités les mieux notées sont identiques dans les trente cas. J'ai d'abord cru avoir démontré la robustesse de la formule. En cherchant l'explication, j'ai compris qu'il s'agissait de l'inverse.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Ton : le </a:t>
            </a:r>
            <a:r>
              <a:rPr dirty="0" err="1"/>
              <a:t>terme</a:t>
            </a:r>
            <a:r>
              <a:rPr dirty="0"/>
              <a:t> </a:t>
            </a:r>
            <a:r>
              <a:rPr dirty="0" err="1"/>
              <a:t>n'a</a:t>
            </a:r>
            <a:r>
              <a:rPr dirty="0"/>
              <a:t> pas </a:t>
            </a:r>
            <a:r>
              <a:rPr dirty="0" err="1"/>
              <a:t>fonctionné</a:t>
            </a:r>
            <a:r>
              <a:rPr dirty="0"/>
              <a:t> </a:t>
            </a:r>
            <a:r>
              <a:rPr dirty="0" err="1"/>
              <a:t>parce</a:t>
            </a:r>
            <a:r>
              <a:rPr dirty="0"/>
              <a:t> </a:t>
            </a:r>
            <a:r>
              <a:rPr dirty="0" err="1"/>
              <a:t>que</a:t>
            </a:r>
            <a:r>
              <a:rPr dirty="0"/>
              <a:t> les </a:t>
            </a:r>
            <a:r>
              <a:rPr dirty="0" err="1"/>
              <a:t>activités</a:t>
            </a:r>
            <a:r>
              <a:rPr dirty="0"/>
              <a:t> </a:t>
            </a:r>
            <a:r>
              <a:rPr dirty="0" err="1"/>
              <a:t>ont</a:t>
            </a:r>
            <a:r>
              <a:rPr dirty="0"/>
              <a:t> </a:t>
            </a:r>
            <a:r>
              <a:rPr dirty="0" err="1"/>
              <a:t>été</a:t>
            </a:r>
            <a:r>
              <a:rPr dirty="0"/>
              <a:t> </a:t>
            </a:r>
            <a:r>
              <a:rPr dirty="0" err="1"/>
              <a:t>cotées</a:t>
            </a:r>
            <a:r>
              <a:rPr dirty="0"/>
              <a:t> avec les </a:t>
            </a:r>
            <a:r>
              <a:rPr dirty="0" err="1"/>
              <a:t>mêmes</a:t>
            </a:r>
            <a:r>
              <a:rPr dirty="0"/>
              <a:t> </a:t>
            </a:r>
            <a:r>
              <a:rPr dirty="0" err="1"/>
              <a:t>critères</a:t>
            </a:r>
            <a:r>
              <a:rPr dirty="0"/>
              <a:t> </a:t>
            </a:r>
            <a:r>
              <a:rPr dirty="0" err="1"/>
              <a:t>que</a:t>
            </a:r>
            <a:r>
              <a:rPr dirty="0"/>
              <a:t> </a:t>
            </a:r>
            <a:r>
              <a:rPr dirty="0" err="1"/>
              <a:t>leurs</a:t>
            </a:r>
            <a:r>
              <a:rPr dirty="0"/>
              <a:t> machines. </a:t>
            </a:r>
            <a:r>
              <a:rPr dirty="0" err="1"/>
              <a:t>C'est</a:t>
            </a:r>
            <a:r>
              <a:rPr dirty="0"/>
              <a:t> un </a:t>
            </a:r>
            <a:r>
              <a:rPr dirty="0" err="1"/>
              <a:t>problème</a:t>
            </a:r>
            <a:r>
              <a:rPr dirty="0"/>
              <a:t> de </a:t>
            </a:r>
            <a:r>
              <a:rPr dirty="0" err="1"/>
              <a:t>cotation</a:t>
            </a:r>
            <a:r>
              <a:rPr dirty="0"/>
              <a:t>, à </a:t>
            </a:r>
            <a:r>
              <a:rPr dirty="0" err="1"/>
              <a:t>reprendre</a:t>
            </a:r>
            <a:r>
              <a:rPr dirty="0"/>
              <a:t> — pas </a:t>
            </a:r>
            <a:r>
              <a:rPr dirty="0" err="1"/>
              <a:t>une</a:t>
            </a:r>
            <a:r>
              <a:rPr dirty="0"/>
              <a:t> </a:t>
            </a:r>
            <a:r>
              <a:rPr dirty="0" err="1"/>
              <a:t>erreur</a:t>
            </a:r>
            <a:r>
              <a:rPr dirty="0"/>
              <a:t> de </a:t>
            </a:r>
            <a:r>
              <a:rPr dirty="0" err="1"/>
              <a:t>quelqu'un</a:t>
            </a:r>
            <a:r>
              <a:rPr dirty="0"/>
              <a:t>, et pas </a:t>
            </a:r>
            <a:r>
              <a:rPr dirty="0" err="1"/>
              <a:t>une</a:t>
            </a:r>
            <a:r>
              <a:rPr dirty="0"/>
              <a:t> </a:t>
            </a:r>
            <a:r>
              <a:rPr dirty="0" err="1"/>
              <a:t>formule</a:t>
            </a:r>
            <a:r>
              <a:rPr dirty="0"/>
              <a:t> </a:t>
            </a:r>
            <a:r>
              <a:rPr dirty="0" err="1"/>
              <a:t>fausse</a:t>
            </a:r>
            <a:r>
              <a:rPr dirty="0"/>
              <a: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voulu vérifier si le constat dépassait la seule question du score, donc j'ai audité la seconde brique livrée, la cartographie des risques. Trois chiffres. Un seul scénario sur six est rattaché à des actifs que je sais noter. Aucun des deux scénarios opérationnels n'a de vraisemblance évaluée. Et les huit mesures de sécurité sont déclarées comme prévues, aucune comme effective. Deux briques indépendantes, un même point de blocage.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Et voilà ce que j'en fais concrètement. Le rapport fixait des seuils absolus ; la mesure montre qu'ils saturent sur ce parc, avec 46 % de lignes critiques. Deux lectures sont défendables et le tableau de bord permet de basculer de l'une à l'autre, en affichant en clair laquelle est active. Ce qui ne serait pas défendable, c'est de choisir le profil qui arrange le chiffre du moment.</a:t>
            </a:r>
          </a:p>
          <a:p>
            <a:r>
              <a:rPr lang="en-US" dirty="0"/>
              <a:t>Dernière conséquence de la mesure. La notation classait quarante-six pour cent des lignes en critique, alors que trois pour cent seulement des vulnérabilités sont critiques au sens du CVSS. La médiane tombe à cinquante-neuf pour un seuil fixé à soixante, donc le tri ne discrimine plus. J'ai implémenté deux lectures, absolue et relative, chacune avec sa justification, et le tableau de bord indique laquelle est active.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TRANSITION — Ce que je viens de montrer n'est pas un résultat technique. L'anomalie n'était ni un défaut de code ni une erreur de formule : c'était une cotation métier inexacte, et elle n'était détectable qu'en comprenant ce que la donnée est censée représenter. Un profil strictement technique ne l'aurait pas vue ; un profil strictement fonctionnel n'aurait pas su la mesurer. C'est de ça que parle ce chapitre. [PAUSE]</a:t>
            </a:r>
          </a:p>
          <a:p>
            <a:r>
              <a:rPr lang="en-US" dirty="0"/>
              <a:t>Ouverture du chapitre 6 : Posture professionnelle.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six rôles que j'ai tenus. Je souligne qu'ils l'ont été successivement par la même personne, sans équipe, ce qui change la nature du travail : il fallait arbitrer seul entre corriger un problème et le remonter, et trancher entre ajouter une fonctionnalité et préserver la stabilité de ce qui marchait. C'est le premier projet que je mène de bout en bout dans cette configuration.</a:t>
            </a:r>
          </a:p>
          <a:p>
            <a:endParaRPr lang="en-US" dirty="0"/>
          </a:p>
          <a:p>
            <a:r>
              <a:rPr dirty="0"/>
              <a:t>— AJOUT v6 — CONTENU FUSIONNÉ DEPUIS L'ANCIENNE SLIDE « ADAPTATION DU DISCOURS »</a:t>
            </a:r>
          </a:p>
          <a:p>
            <a:r>
              <a:rPr dirty="0"/>
              <a:t>Pour la direction : </a:t>
            </a:r>
            <a:r>
              <a:rPr dirty="0" err="1"/>
              <a:t>décider</a:t>
            </a:r>
            <a:r>
              <a:rPr dirty="0"/>
              <a:t>. Un </a:t>
            </a:r>
            <a:r>
              <a:rPr dirty="0" err="1"/>
              <a:t>dirigeant</a:t>
            </a:r>
            <a:r>
              <a:rPr dirty="0"/>
              <a:t> a </a:t>
            </a:r>
            <a:r>
              <a:rPr dirty="0" err="1"/>
              <a:t>besoin</a:t>
            </a:r>
            <a:r>
              <a:rPr dirty="0"/>
              <a:t> de savoir </a:t>
            </a:r>
            <a:r>
              <a:rPr dirty="0" err="1"/>
              <a:t>s'il</a:t>
            </a:r>
            <a:r>
              <a:rPr dirty="0"/>
              <a:t> doit </a:t>
            </a:r>
            <a:r>
              <a:rPr dirty="0" err="1"/>
              <a:t>s'inquiéter</a:t>
            </a:r>
            <a:r>
              <a:rPr dirty="0"/>
              <a:t> et </a:t>
            </a:r>
            <a:r>
              <a:rPr dirty="0" err="1"/>
              <a:t>ce</a:t>
            </a:r>
            <a:r>
              <a:rPr dirty="0"/>
              <a:t> </a:t>
            </a:r>
            <a:r>
              <a:rPr dirty="0" err="1"/>
              <a:t>qu'il</a:t>
            </a:r>
            <a:r>
              <a:rPr dirty="0"/>
              <a:t> doit financer ; la notation </a:t>
            </a:r>
            <a:r>
              <a:rPr dirty="0" err="1"/>
              <a:t>lui</a:t>
            </a:r>
            <a:r>
              <a:rPr dirty="0"/>
              <a:t> est </a:t>
            </a:r>
            <a:r>
              <a:rPr dirty="0" err="1"/>
              <a:t>présentée</a:t>
            </a:r>
            <a:r>
              <a:rPr dirty="0"/>
              <a:t> </a:t>
            </a:r>
            <a:r>
              <a:rPr dirty="0" err="1"/>
              <a:t>comme</a:t>
            </a:r>
            <a:r>
              <a:rPr dirty="0"/>
              <a:t> </a:t>
            </a:r>
            <a:r>
              <a:rPr dirty="0" err="1"/>
              <a:t>une</a:t>
            </a:r>
            <a:r>
              <a:rPr dirty="0"/>
              <a:t> </a:t>
            </a:r>
            <a:r>
              <a:rPr dirty="0" err="1"/>
              <a:t>hiérarchie</a:t>
            </a:r>
            <a:r>
              <a:rPr dirty="0"/>
              <a:t> </a:t>
            </a:r>
            <a:r>
              <a:rPr dirty="0" err="1"/>
              <a:t>d'actions</a:t>
            </a:r>
            <a:r>
              <a:rPr dirty="0"/>
              <a:t>, sans </a:t>
            </a:r>
            <a:r>
              <a:rPr dirty="0" err="1"/>
              <a:t>détail</a:t>
            </a:r>
            <a:r>
              <a:rPr dirty="0"/>
              <a:t> de </a:t>
            </a:r>
            <a:r>
              <a:rPr dirty="0" err="1"/>
              <a:t>calcul</a:t>
            </a:r>
            <a:r>
              <a:rPr dirty="0"/>
              <a:t>.</a:t>
            </a:r>
          </a:p>
          <a:p>
            <a:r>
              <a:rPr dirty="0"/>
              <a:t>Pour les équipes techniques : </a:t>
            </a:r>
            <a:r>
              <a:rPr dirty="0" err="1"/>
              <a:t>maintenir</a:t>
            </a:r>
            <a:r>
              <a:rPr dirty="0"/>
              <a:t>. Un </a:t>
            </a:r>
            <a:r>
              <a:rPr dirty="0" err="1"/>
              <a:t>administrateur</a:t>
            </a:r>
            <a:r>
              <a:rPr dirty="0"/>
              <a:t> a </a:t>
            </a:r>
            <a:r>
              <a:rPr dirty="0" err="1"/>
              <a:t>besoin</a:t>
            </a:r>
            <a:r>
              <a:rPr dirty="0"/>
              <a:t> de la configuration </a:t>
            </a:r>
            <a:r>
              <a:rPr dirty="0" err="1"/>
              <a:t>exacte</a:t>
            </a:r>
            <a:r>
              <a:rPr dirty="0"/>
              <a:t>, des </a:t>
            </a:r>
            <a:r>
              <a:rPr dirty="0" err="1"/>
              <a:t>seuils</a:t>
            </a:r>
            <a:r>
              <a:rPr dirty="0"/>
              <a:t> appliqués et de la raison pour </a:t>
            </a:r>
            <a:r>
              <a:rPr dirty="0" err="1"/>
              <a:t>laquelle</a:t>
            </a:r>
            <a:r>
              <a:rPr dirty="0"/>
              <a:t> </a:t>
            </a:r>
            <a:r>
              <a:rPr dirty="0" err="1"/>
              <a:t>une</a:t>
            </a:r>
            <a:r>
              <a:rPr dirty="0"/>
              <a:t> </a:t>
            </a:r>
            <a:r>
              <a:rPr dirty="0" err="1"/>
              <a:t>ligne</a:t>
            </a:r>
            <a:r>
              <a:rPr dirty="0"/>
              <a:t> </a:t>
            </a:r>
            <a:r>
              <a:rPr dirty="0" err="1"/>
              <a:t>remonte</a:t>
            </a:r>
            <a:r>
              <a:rPr dirty="0"/>
              <a:t> ; le </a:t>
            </a:r>
            <a:r>
              <a:rPr dirty="0" err="1"/>
              <a:t>détail</a:t>
            </a:r>
            <a:r>
              <a:rPr dirty="0"/>
              <a:t> du </a:t>
            </a:r>
            <a:r>
              <a:rPr dirty="0" err="1"/>
              <a:t>calcul</a:t>
            </a:r>
            <a:r>
              <a:rPr dirty="0"/>
              <a:t> est </a:t>
            </a:r>
            <a:r>
              <a:rPr dirty="0" err="1"/>
              <a:t>nécessaire</a:t>
            </a:r>
            <a:r>
              <a:rPr dirty="0"/>
              <a:t>.</a:t>
            </a:r>
          </a:p>
          <a:p>
            <a:r>
              <a:rPr dirty="0"/>
              <a:t>Ce </a:t>
            </a:r>
            <a:r>
              <a:rPr dirty="0" err="1"/>
              <a:t>va</a:t>
            </a:r>
            <a:r>
              <a:rPr dirty="0"/>
              <a:t>-et-</a:t>
            </a:r>
            <a:r>
              <a:rPr dirty="0" err="1"/>
              <a:t>vient</a:t>
            </a:r>
            <a:r>
              <a:rPr dirty="0"/>
              <a:t> est </a:t>
            </a:r>
            <a:r>
              <a:rPr dirty="0" err="1"/>
              <a:t>ce</a:t>
            </a:r>
            <a:r>
              <a:rPr dirty="0"/>
              <a:t> </a:t>
            </a:r>
            <a:r>
              <a:rPr dirty="0" err="1"/>
              <a:t>que</a:t>
            </a:r>
            <a:r>
              <a:rPr dirty="0"/>
              <a:t> </a:t>
            </a:r>
            <a:r>
              <a:rPr dirty="0" err="1"/>
              <a:t>j'attendais</a:t>
            </a:r>
            <a:r>
              <a:rPr dirty="0"/>
              <a:t> le </a:t>
            </a:r>
            <a:r>
              <a:rPr dirty="0" err="1"/>
              <a:t>moins</a:t>
            </a:r>
            <a:r>
              <a:rPr dirty="0"/>
              <a:t> et </a:t>
            </a:r>
            <a:r>
              <a:rPr dirty="0" err="1"/>
              <a:t>ce</a:t>
            </a:r>
            <a:r>
              <a:rPr dirty="0"/>
              <a:t> </a:t>
            </a:r>
            <a:r>
              <a:rPr dirty="0" err="1"/>
              <a:t>que</a:t>
            </a:r>
            <a:r>
              <a:rPr dirty="0"/>
              <a:t> je </a:t>
            </a:r>
            <a:r>
              <a:rPr dirty="0" err="1"/>
              <a:t>considère</a:t>
            </a:r>
            <a:r>
              <a:rPr dirty="0"/>
              <a:t> </a:t>
            </a:r>
            <a:r>
              <a:rPr dirty="0" err="1"/>
              <a:t>aujourd'hui</a:t>
            </a:r>
            <a:r>
              <a:rPr dirty="0"/>
              <a:t> </a:t>
            </a:r>
            <a:r>
              <a:rPr dirty="0" err="1"/>
              <a:t>comme</a:t>
            </a:r>
            <a:r>
              <a:rPr dirty="0"/>
              <a:t> le plus </a:t>
            </a:r>
            <a:r>
              <a:rPr dirty="0" err="1"/>
              <a:t>déterminant</a:t>
            </a:r>
            <a:r>
              <a:rPr dirty="0"/>
              <a:t>. La slide </a:t>
            </a:r>
            <a:r>
              <a:rPr dirty="0" err="1"/>
              <a:t>complète</a:t>
            </a:r>
            <a:r>
              <a:rPr dirty="0"/>
              <a:t> </a:t>
            </a:r>
            <a:r>
              <a:rPr dirty="0" err="1"/>
              <a:t>reste</a:t>
            </a:r>
            <a:r>
              <a:rPr dirty="0"/>
              <a:t> </a:t>
            </a:r>
            <a:r>
              <a:rPr dirty="0" err="1"/>
              <a:t>en</a:t>
            </a:r>
            <a:r>
              <a:rPr dirty="0"/>
              <a:t> </a:t>
            </a:r>
            <a:r>
              <a:rPr dirty="0" err="1"/>
              <a:t>annexe</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projet a mobilisé les deux registres en permanence. Du côté métier, comprendre ce que le cabinet facture pour savoir ce qu'une machine porte, et négocier le périmètre. Du côté technique, développer les collecteurs, l'algorithme et l'interface. Le bloc du bas est le point que je veux faire valoir : l'anomalie trouvée en août n'est ni un défaut de code ni une erreur de formule, c'est une cotation métier inexacte. Il fallait les deux compétences pour la détecter et la mesurer.</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Ouverture du chapitre 7 : Bilan et perspectives.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de management fixait sept objectifs mesurables. Quatre sont atteints, dont les trois qui portaient la démonstration : la réconciliation, le calcul continu, et le changement de priorisation. Je précise que le quatrième est atteint sur le principe mais mesuré partiellement. Les trois autres ont été réorientés, ajustés ou reportés, après un recadrage validé avec mon maître d'apprentissage. Le caractère atteignable de ces objectifs reposait sur des hypothèses de départ qui se sont révélées inexactes.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3 écarts rencontrés (source : Annexe F, Tableau 17 — analyse AMDEC). Écart 1 : référentiels hétérogènes non réconciliables sans clé commune (IPR initial 48, le plus élevé), et socle attendu non livré au démarrage — les deux comptent comme un seul écart numéroté (écart 1) car ils se sont matérialisés conjointement au démarrage. Écart 2 : accès au manager Wazuh non préparé, résolu par un overlay ZTNA NetBird. Écart 3 : composant hérité (l'indexeur) jamais mis en service, remis en route et documenté. 0 sur la formule ou l'algorithme : aucun des 3 écarts ne remet en cause le calcul du score lui-même — tous relèvent de la donnée, de l'accès ou de composants annexes. C'est exactement l'argument de la conclusion : la donnée compte plus que l'outil.</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Les mesures conduites après la remise ne produisent pas une liste de correctifs mais un ordre de priorité : la donnée d'abord, le périmètre ensuite, la cartographie des risques enfin. La perspective formulée par le cabinet en 2024 disposait d'un cadrage sans réalisation ; ce mémoire en documente la première mise en œuvre, et les prérequis de la suite sont identifiés et chiffrés. Je vous remercie de votre attention.</a:t>
            </a:r>
          </a:p>
          <a:p>
            <a:endParaRPr lang="en-US" dirty="0"/>
          </a:p>
          <a:p>
            <a:r>
              <a:rPr dirty="0"/>
              <a:t>— AJOUT v6 —</a:t>
            </a:r>
          </a:p>
          <a:p>
            <a:r>
              <a:rPr dirty="0"/>
              <a:t>Insister sur le </a:t>
            </a:r>
            <a:r>
              <a:rPr dirty="0" err="1"/>
              <a:t>maintien</a:t>
            </a:r>
            <a:r>
              <a:rPr dirty="0"/>
              <a:t> </a:t>
            </a:r>
            <a:r>
              <a:rPr dirty="0" err="1"/>
              <a:t>en</a:t>
            </a:r>
            <a:r>
              <a:rPr dirty="0"/>
              <a:t> condition </a:t>
            </a:r>
            <a:r>
              <a:rPr dirty="0" err="1"/>
              <a:t>opérationnelle</a:t>
            </a:r>
            <a:r>
              <a:rPr dirty="0"/>
              <a:t> : </a:t>
            </a:r>
            <a:r>
              <a:rPr dirty="0" err="1"/>
              <a:t>l'objectif</a:t>
            </a:r>
            <a:r>
              <a:rPr dirty="0"/>
              <a:t> est de </a:t>
            </a:r>
            <a:r>
              <a:rPr dirty="0" err="1"/>
              <a:t>l'automatiser</a:t>
            </a:r>
            <a:r>
              <a:rPr dirty="0"/>
              <a:t>, de le faire </a:t>
            </a:r>
            <a:r>
              <a:rPr dirty="0" err="1"/>
              <a:t>tourner</a:t>
            </a:r>
            <a:r>
              <a:rPr dirty="0"/>
              <a:t> </a:t>
            </a:r>
            <a:r>
              <a:rPr dirty="0" err="1"/>
              <a:t>en</a:t>
            </a:r>
            <a:r>
              <a:rPr dirty="0"/>
              <a:t> interne, </a:t>
            </a:r>
            <a:r>
              <a:rPr dirty="0" err="1"/>
              <a:t>puis</a:t>
            </a:r>
            <a:r>
              <a:rPr dirty="0"/>
              <a:t> de le proposer aux clients du cabinet. </a:t>
            </a:r>
            <a:r>
              <a:rPr dirty="0" err="1"/>
              <a:t>C'est</a:t>
            </a:r>
            <a:r>
              <a:rPr dirty="0"/>
              <a:t> </a:t>
            </a:r>
            <a:r>
              <a:rPr dirty="0" err="1"/>
              <a:t>ce</a:t>
            </a:r>
            <a:r>
              <a:rPr dirty="0"/>
              <a:t> qui </a:t>
            </a:r>
            <a:r>
              <a:rPr dirty="0" err="1"/>
              <a:t>transforme</a:t>
            </a:r>
            <a:r>
              <a:rPr dirty="0"/>
              <a:t> un </a:t>
            </a:r>
            <a:r>
              <a:rPr dirty="0" err="1"/>
              <a:t>démonstrateur</a:t>
            </a:r>
            <a:r>
              <a:rPr dirty="0"/>
              <a:t> </a:t>
            </a:r>
            <a:r>
              <a:rPr dirty="0" err="1"/>
              <a:t>en</a:t>
            </a:r>
            <a:r>
              <a:rPr dirty="0"/>
              <a:t> </a:t>
            </a:r>
            <a:r>
              <a:rPr dirty="0" err="1"/>
              <a:t>offre</a:t>
            </a:r>
            <a:r>
              <a:rPr dirty="0"/>
              <a:t>.</a:t>
            </a:r>
          </a:p>
          <a:p>
            <a:endParaRPr/>
          </a:p>
          <a:p>
            <a:r>
              <a:rPr lang="fr-FR" dirty="0"/>
              <a:t>AJOUT (07/09) — À dire : la démarche sera installée chez un client du secteur de la production énergétique, en plus de l'extension au reste du parc du cabinet.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le développement durable, parce que ce n'est pas un ajout de circonstance : la sobriété a servi de critère de conception. Trois chiffres : aucune machine achetée ou louée, aucune ressource cloud supplémentaire, du tout open source, ce qui évite les cycles de licence et met l'outil à portée de structures peu dotées. Le tableau montre trois briques que j'ai écartées parce qu'elles répondaient à un besoin hypothétique et non réel. Et le dernier point est le plus important : la finalité de l'outil sert la même logique, puisque mieux hiérarchiser concentre l'effort de remédiation au lieu de le disperser.</a:t>
            </a:r>
          </a:p>
          <a:p>
            <a:endParaRPr lang="en-US" dirty="0"/>
          </a:p>
          <a:p>
            <a:r>
              <a:rPr dirty="0"/>
              <a:t>— DÉPLACÉE EN CONCLUSION (v8) — </a:t>
            </a:r>
            <a:r>
              <a:rPr dirty="0" err="1"/>
              <a:t>c'est</a:t>
            </a:r>
            <a:r>
              <a:rPr dirty="0"/>
              <a:t> la </a:t>
            </a:r>
            <a:r>
              <a:rPr dirty="0" err="1"/>
              <a:t>dernière</a:t>
            </a:r>
            <a:r>
              <a:rPr dirty="0"/>
              <a:t> slide de </a:t>
            </a:r>
            <a:r>
              <a:rPr dirty="0" err="1"/>
              <a:t>contenu</a:t>
            </a:r>
            <a:r>
              <a:rPr dirty="0"/>
              <a:t>, </a:t>
            </a:r>
            <a:r>
              <a:rPr dirty="0" err="1"/>
              <a:t>juste</a:t>
            </a:r>
            <a:r>
              <a:rPr dirty="0"/>
              <a:t> avant le </a:t>
            </a:r>
            <a:r>
              <a:rPr dirty="0" err="1"/>
              <a:t>remerciement</a:t>
            </a:r>
            <a:r>
              <a:rPr dirty="0"/>
              <a:t>. Terminer sur la phrase : </a:t>
            </a:r>
            <a:r>
              <a:rPr dirty="0" err="1"/>
              <a:t>mieux</a:t>
            </a:r>
            <a:r>
              <a:rPr dirty="0"/>
              <a:t> </a:t>
            </a:r>
            <a:r>
              <a:rPr dirty="0" err="1"/>
              <a:t>hiérarchiser</a:t>
            </a:r>
            <a:r>
              <a:rPr dirty="0"/>
              <a:t>, </a:t>
            </a:r>
            <a:r>
              <a:rPr dirty="0" err="1"/>
              <a:t>c'est</a:t>
            </a:r>
            <a:r>
              <a:rPr dirty="0"/>
              <a:t> </a:t>
            </a:r>
            <a:r>
              <a:rPr dirty="0" err="1"/>
              <a:t>concentrer</a:t>
            </a:r>
            <a:r>
              <a:rPr dirty="0"/>
              <a:t> le temps machine et le temps </a:t>
            </a:r>
            <a:r>
              <a:rPr dirty="0" err="1"/>
              <a:t>humain</a:t>
            </a:r>
            <a:r>
              <a:rPr dirty="0"/>
              <a:t> </a:t>
            </a:r>
            <a:r>
              <a:rPr dirty="0" err="1"/>
              <a:t>là</a:t>
            </a:r>
            <a:r>
              <a:rPr dirty="0"/>
              <a:t> </a:t>
            </a:r>
            <a:r>
              <a:rPr dirty="0" err="1"/>
              <a:t>où</a:t>
            </a:r>
            <a:r>
              <a:rPr dirty="0"/>
              <a:t> le </a:t>
            </a:r>
            <a:r>
              <a:rPr dirty="0" err="1"/>
              <a:t>risque</a:t>
            </a:r>
            <a:r>
              <a:rPr dirty="0"/>
              <a:t> </a:t>
            </a:r>
            <a:r>
              <a:rPr dirty="0" err="1"/>
              <a:t>baisse</a:t>
            </a:r>
            <a:r>
              <a:rPr dirty="0"/>
              <a:t> </a:t>
            </a:r>
            <a:r>
              <a:rPr dirty="0" err="1"/>
              <a:t>vraiment</a:t>
            </a:r>
            <a:r>
              <a:rPr dirty="0"/>
              <a:t>. Et </a:t>
            </a:r>
            <a:r>
              <a:rPr dirty="0" err="1"/>
              <a:t>une</a:t>
            </a:r>
            <a:r>
              <a:rPr dirty="0"/>
              <a:t> phrase sur moi : </a:t>
            </a:r>
            <a:r>
              <a:rPr dirty="0" err="1"/>
              <a:t>c'est</a:t>
            </a:r>
            <a:r>
              <a:rPr dirty="0"/>
              <a:t> le </a:t>
            </a:r>
            <a:r>
              <a:rPr dirty="0" err="1"/>
              <a:t>critère</a:t>
            </a:r>
            <a:r>
              <a:rPr dirty="0"/>
              <a:t> </a:t>
            </a:r>
            <a:r>
              <a:rPr dirty="0" err="1"/>
              <a:t>que</a:t>
            </a:r>
            <a:r>
              <a:rPr dirty="0"/>
              <a:t> je </a:t>
            </a:r>
            <a:r>
              <a:rPr dirty="0" err="1"/>
              <a:t>veux</a:t>
            </a:r>
            <a:r>
              <a:rPr dirty="0"/>
              <a:t> </a:t>
            </a:r>
            <a:r>
              <a:rPr dirty="0" err="1"/>
              <a:t>garder</a:t>
            </a:r>
            <a:r>
              <a:rPr dirty="0"/>
              <a:t> </a:t>
            </a:r>
            <a:r>
              <a:rPr dirty="0" err="1"/>
              <a:t>comme</a:t>
            </a:r>
            <a:r>
              <a:rPr dirty="0"/>
              <a:t> </a:t>
            </a:r>
            <a:r>
              <a:rPr dirty="0" err="1"/>
              <a:t>ingénieur</a:t>
            </a:r>
            <a:r>
              <a:rPr dirty="0"/>
              <a:t>, y </a:t>
            </a:r>
            <a:r>
              <a:rPr dirty="0" err="1"/>
              <a:t>compris</a:t>
            </a:r>
            <a:r>
              <a:rPr dirty="0"/>
              <a:t> dans </a:t>
            </a:r>
            <a:r>
              <a:rPr dirty="0" err="1"/>
              <a:t>mes</a:t>
            </a:r>
            <a:r>
              <a:rPr dirty="0"/>
              <a:t> </a:t>
            </a:r>
            <a:r>
              <a:rPr dirty="0" err="1"/>
              <a:t>prochaines</a:t>
            </a:r>
            <a:r>
              <a:rPr dirty="0"/>
              <a:t> missions.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CHARNIÈRE — La même leçon, changée d'échelle. Le projet conclut que le verrou est dans la compréhension du terrain, pas dans le calcul. Mon parcours dit exactement la même chose : chacun de mes réajustements est venu d'une confrontation au réel, jamais d'un changement d'avis. Ce dernier chapitre n'est donc pas une annexe au PFE, c'est la même idée à l'échelle d'une carrière. [PAUSE]</a:t>
            </a:r>
          </a:p>
          <a:p>
            <a:r>
              <a:t>Ouverture du chapitre 8 : Plan de formation individuel.</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mobilité internationale s'est faite à l'île Maurice, quatre mois chez Eclosia Technology Services comme analyste développeur. Le travail consistait à recueillir un besoin et à le traduire en application. Dans un environnement professionnel différent, sans repères implicites partagés, il fallait écouter avant de proposer. C'est là que mon projet professionnel s'est stabilisé.</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cible professionnelle a évolué trois fois en cinq ans. Le test d'intrusion, abandonné dès que l'alternance m'a montré le métier de près. La cybersécurité organisationnelle, qui reste mais comme socle. Et le conseil, confirmé par les missions. Le point que je veux faire valoir est que chacun de ces réajustements vient d'une confrontation au terrain, ce qui rend la cible actuelle plus solide que la première.</a:t>
            </a:r>
          </a:p>
          <a:p>
            <a:endParaRPr lang="en-US" dirty="0"/>
          </a:p>
          <a:p>
            <a:r>
              <a:t>— AJOUT v6 —</a:t>
            </a:r>
          </a:p>
          <a:p>
            <a:r>
              <a:t>La mobilité internationale est résumée sur cette slide et détaillée en annexe : Eclosia Technology Services, groupe mauricien d'environ 5 000 collaborateurs, quatre mois de juillet à octobre 2025, poste d'analyste développeur.</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endParaRPr lang="fr-FR" dirty="0"/>
          </a:p>
        </p:txBody>
      </p:sp>
    </p:spTree>
    <p:extLst>
      <p:ext uri="{BB962C8B-B14F-4D97-AF65-F5344CB8AC3E}">
        <p14:creationId xmlns:p14="http://schemas.microsoft.com/office/powerpoint/2010/main" val="352872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terme du cursus, la cybersécurité organisationnelle constitue un socle, acquis en mission auprès de clients et non en formation théorique, et le conseil constitue le métier visé. Sur les cinq axes du plan d'action, quatre sont atteints. Le cinquième, le positionnement sur le marché, est en cours, avec plusieurs pistes identifiées et des propositions reçues.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sur la restitution, parce qu'elle a occupé une part réelle du travail. Vulgariser une notation de vulnérabilité pour un dirigeant qui doit décider, et détailler une configuration de supervision pour le collègue qui va la maintenir, ne demandent pas le même discours. Ce va-et-vient est la compétence que j'attendais le moins et que je considère aujourd'hui comme la plus déterminante pour la suite.</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indicateurs étaient fixés. Deux sont dépassés, deux sont partiellement tenus, deux ne le sont pas et un est sans objet. Je m'arrête sur les deux qui ne le sont pas. L'écart de charge, d'abord, pour la raison déjà évoquée. Et la précision de la notation, qui devait atteindre quatre-vingts pour cent de concordance : le plan d'expériences Taguchi prévu pour la mesurer a été remplacé par une recette métier, plus réaliste pour un démonstrateur réalisé seul. Le chiffrage reste donc à produire, et c'est une limite que j'assume.</a:t>
            </a:r>
          </a:p>
          <a:p>
            <a:endParaRPr lang="en-US" dirty="0"/>
          </a:p>
          <a:p>
            <a:r>
              <a:t>— AJOUT v6 —</a:t>
            </a:r>
          </a:p>
          <a:p>
            <a:r>
              <a:t>Cette slide passe en annexe. Les deux indicateurs non tenus, à dire à l'oral sur la slide précédente : l'écart de charge, et la précision chiffrée de la notation (le plan d'expériences Taguchi a été remplacé par une recette métier).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F1012-F8EB-6F60-015C-55CABBE19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AE332-C1AD-E332-DA98-E3F30A0BC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55FE6-3672-A6C1-467E-4D100CF71A4E}"/>
              </a:ext>
            </a:extLst>
          </p:cNvPr>
          <p:cNvSpPr>
            <a:spLocks noGrp="1"/>
          </p:cNvSpPr>
          <p:nvPr>
            <p:ph type="body" idx="1"/>
          </p:nvPr>
        </p:nvSpPr>
        <p:spPr/>
        <p:txBody>
          <a:bodyPr/>
          <a:lstStyle/>
          <a:p>
            <a:r>
              <a:rPr lang="fr-FR" dirty="0"/>
              <a:t>Le catalogue de veille : un actif par ligne, avec sa requête vers la base du NIST. Ajouter un service au périmètre, c'est une ligne de configuration — pas du développement.</a:t>
            </a:r>
          </a:p>
        </p:txBody>
      </p:sp>
      <p:sp>
        <p:nvSpPr>
          <p:cNvPr id="4" name="Slide Number Placeholder 3">
            <a:extLst>
              <a:ext uri="{FF2B5EF4-FFF2-40B4-BE49-F238E27FC236}">
                <a16:creationId xmlns:a16="http://schemas.microsoft.com/office/drawing/2014/main" id="{38DB4995-3355-A55D-53FE-1D4CDA99B12D}"/>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9591928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6ECD3-AE86-F6E1-26CD-7AEF13959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D2BBB-8452-1D43-802D-659BC8CFF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14ACB0-61CA-DAC9-861E-70A8199BB06C}"/>
              </a:ext>
            </a:extLst>
          </p:cNvPr>
          <p:cNvSpPr>
            <a:spLocks noGrp="1"/>
          </p:cNvSpPr>
          <p:nvPr>
            <p:ph type="body" idx="1"/>
          </p:nvPr>
        </p:nvSpPr>
        <p:spPr/>
        <p:txBody>
          <a:bodyPr/>
          <a:lstStyle/>
          <a:p>
            <a:r>
              <a:rPr dirty="0"/>
              <a:t>La </a:t>
            </a:r>
            <a:r>
              <a:rPr dirty="0" err="1"/>
              <a:t>formule</a:t>
            </a:r>
            <a:r>
              <a:rPr dirty="0"/>
              <a:t> </a:t>
            </a:r>
            <a:r>
              <a:rPr dirty="0" err="1"/>
              <a:t>reprend</a:t>
            </a:r>
            <a:r>
              <a:rPr dirty="0"/>
              <a:t> </a:t>
            </a:r>
            <a:r>
              <a:rPr dirty="0" err="1"/>
              <a:t>celle</a:t>
            </a:r>
            <a:r>
              <a:rPr dirty="0"/>
              <a:t> de 2023 et </a:t>
            </a:r>
            <a:r>
              <a:rPr dirty="0" err="1"/>
              <a:t>lui</a:t>
            </a:r>
            <a:r>
              <a:rPr dirty="0"/>
              <a:t> </a:t>
            </a:r>
            <a:r>
              <a:rPr dirty="0" err="1"/>
              <a:t>ajoute</a:t>
            </a:r>
            <a:r>
              <a:rPr dirty="0"/>
              <a:t> un </a:t>
            </a:r>
            <a:r>
              <a:rPr dirty="0" err="1"/>
              <a:t>terme</a:t>
            </a:r>
            <a:r>
              <a:rPr dirty="0"/>
              <a:t> : la </a:t>
            </a:r>
            <a:r>
              <a:rPr dirty="0" err="1"/>
              <a:t>valeur</a:t>
            </a:r>
            <a:r>
              <a:rPr dirty="0"/>
              <a:t> métier </a:t>
            </a:r>
            <a:r>
              <a:rPr dirty="0" err="1"/>
              <a:t>portée</a:t>
            </a:r>
            <a:r>
              <a:rPr dirty="0"/>
              <a:t> par </a:t>
            </a:r>
            <a:r>
              <a:rPr dirty="0" err="1"/>
              <a:t>l'actif</a:t>
            </a:r>
            <a:r>
              <a:rPr dirty="0"/>
              <a:t>. Le </a:t>
            </a:r>
            <a:r>
              <a:rPr dirty="0" err="1"/>
              <a:t>principe</a:t>
            </a:r>
            <a:r>
              <a:rPr dirty="0"/>
              <a:t> est </a:t>
            </a:r>
            <a:r>
              <a:rPr dirty="0" err="1"/>
              <a:t>que</a:t>
            </a:r>
            <a:r>
              <a:rPr dirty="0"/>
              <a:t> deux machines </a:t>
            </a:r>
            <a:r>
              <a:rPr dirty="0" err="1"/>
              <a:t>également</a:t>
            </a:r>
            <a:r>
              <a:rPr dirty="0"/>
              <a:t> </a:t>
            </a:r>
            <a:r>
              <a:rPr dirty="0" err="1"/>
              <a:t>vulnérables</a:t>
            </a:r>
            <a:r>
              <a:rPr dirty="0"/>
              <a:t> ne </a:t>
            </a:r>
            <a:r>
              <a:rPr dirty="0" err="1"/>
              <a:t>méritent</a:t>
            </a:r>
            <a:r>
              <a:rPr dirty="0"/>
              <a:t> pas la </a:t>
            </a:r>
            <a:r>
              <a:rPr dirty="0" err="1"/>
              <a:t>même</a:t>
            </a:r>
            <a:r>
              <a:rPr dirty="0"/>
              <a:t> urgence </a:t>
            </a:r>
            <a:r>
              <a:rPr dirty="0" err="1"/>
              <a:t>si</a:t>
            </a:r>
            <a:r>
              <a:rPr dirty="0"/>
              <a:t> </a:t>
            </a:r>
            <a:r>
              <a:rPr dirty="0" err="1"/>
              <a:t>l'une</a:t>
            </a:r>
            <a:r>
              <a:rPr dirty="0"/>
              <a:t> </a:t>
            </a:r>
            <a:r>
              <a:rPr dirty="0" err="1"/>
              <a:t>porte</a:t>
            </a:r>
            <a:r>
              <a:rPr dirty="0"/>
              <a:t> </a:t>
            </a:r>
            <a:r>
              <a:rPr dirty="0" err="1"/>
              <a:t>une</a:t>
            </a:r>
            <a:r>
              <a:rPr dirty="0"/>
              <a:t> </a:t>
            </a:r>
            <a:r>
              <a:rPr dirty="0" err="1"/>
              <a:t>activité</a:t>
            </a:r>
            <a:r>
              <a:rPr dirty="0"/>
              <a:t> </a:t>
            </a:r>
            <a:r>
              <a:rPr dirty="0" err="1"/>
              <a:t>facturée</a:t>
            </a:r>
            <a:r>
              <a:rPr dirty="0"/>
              <a:t> et </a:t>
            </a:r>
            <a:r>
              <a:rPr dirty="0" err="1"/>
              <a:t>l'autre</a:t>
            </a:r>
            <a:r>
              <a:rPr dirty="0"/>
              <a:t> un </a:t>
            </a:r>
            <a:r>
              <a:rPr dirty="0" err="1"/>
              <a:t>environnement</a:t>
            </a:r>
            <a:r>
              <a:rPr dirty="0"/>
              <a:t> de test. </a:t>
            </a:r>
            <a:r>
              <a:rPr dirty="0" err="1"/>
              <a:t>Retenez</a:t>
            </a:r>
            <a:r>
              <a:rPr dirty="0"/>
              <a:t> le bloc du bas, qui </a:t>
            </a:r>
            <a:r>
              <a:rPr dirty="0" err="1"/>
              <a:t>deviendra</a:t>
            </a:r>
            <a:r>
              <a:rPr dirty="0"/>
              <a:t> important au </a:t>
            </a:r>
            <a:r>
              <a:rPr dirty="0" err="1"/>
              <a:t>chapitre</a:t>
            </a:r>
            <a:r>
              <a:rPr dirty="0"/>
              <a:t> 5 : </a:t>
            </a:r>
            <a:r>
              <a:rPr dirty="0" err="1"/>
              <a:t>quand</a:t>
            </a:r>
            <a:r>
              <a:rPr dirty="0"/>
              <a:t> la </a:t>
            </a:r>
            <a:r>
              <a:rPr dirty="0" err="1"/>
              <a:t>valeur</a:t>
            </a:r>
            <a:r>
              <a:rPr dirty="0"/>
              <a:t> métier manque, le </a:t>
            </a:r>
            <a:r>
              <a:rPr dirty="0" err="1"/>
              <a:t>terme</a:t>
            </a:r>
            <a:r>
              <a:rPr dirty="0"/>
              <a:t> est </a:t>
            </a:r>
            <a:r>
              <a:rPr dirty="0" err="1"/>
              <a:t>neutre</a:t>
            </a:r>
            <a:r>
              <a:rPr dirty="0"/>
              <a:t>, et </a:t>
            </a:r>
            <a:r>
              <a:rPr dirty="0" err="1"/>
              <a:t>cela</a:t>
            </a:r>
            <a:r>
              <a:rPr dirty="0"/>
              <a:t> se </a:t>
            </a:r>
            <a:r>
              <a:rPr dirty="0" err="1"/>
              <a:t>voit</a:t>
            </a:r>
            <a:r>
              <a:rPr dirty="0"/>
              <a:t>.</a:t>
            </a:r>
          </a:p>
          <a:p>
            <a:endParaRPr dirty="0"/>
          </a:p>
          <a:p>
            <a:r>
              <a:rPr dirty="0"/>
              <a:t>EXEMPLE ORAL (</a:t>
            </a:r>
            <a:r>
              <a:rPr dirty="0" err="1"/>
              <a:t>remplace</a:t>
            </a:r>
            <a:r>
              <a:rPr dirty="0"/>
              <a:t> le PC </a:t>
            </a:r>
            <a:r>
              <a:rPr dirty="0" err="1"/>
              <a:t>d'accueil</a:t>
            </a:r>
            <a:r>
              <a:rPr dirty="0"/>
              <a:t>) : deux </a:t>
            </a:r>
            <a:r>
              <a:rPr dirty="0" err="1"/>
              <a:t>serveurs</a:t>
            </a:r>
            <a:r>
              <a:rPr dirty="0"/>
              <a:t>, </a:t>
            </a:r>
            <a:r>
              <a:rPr dirty="0" err="1"/>
              <a:t>même</a:t>
            </a:r>
            <a:r>
              <a:rPr dirty="0"/>
              <a:t> faille critique CVSS 9. </a:t>
            </a:r>
            <a:r>
              <a:rPr dirty="0" err="1"/>
              <a:t>L'un</a:t>
            </a:r>
            <a:r>
              <a:rPr dirty="0"/>
              <a:t> </a:t>
            </a:r>
            <a:r>
              <a:rPr dirty="0" err="1"/>
              <a:t>héberge</a:t>
            </a:r>
            <a:r>
              <a:rPr dirty="0"/>
              <a:t> le site vitrine — </a:t>
            </a:r>
            <a:r>
              <a:rPr dirty="0" err="1"/>
              <a:t>aucune</a:t>
            </a:r>
            <a:r>
              <a:rPr dirty="0"/>
              <a:t> donnée, </a:t>
            </a:r>
            <a:r>
              <a:rPr dirty="0" err="1"/>
              <a:t>aucune</a:t>
            </a:r>
            <a:r>
              <a:rPr dirty="0"/>
              <a:t> </a:t>
            </a:r>
            <a:r>
              <a:rPr dirty="0" err="1"/>
              <a:t>activité</a:t>
            </a:r>
            <a:r>
              <a:rPr dirty="0"/>
              <a:t> </a:t>
            </a:r>
            <a:r>
              <a:rPr dirty="0" err="1"/>
              <a:t>facturée</a:t>
            </a:r>
            <a:r>
              <a:rPr dirty="0"/>
              <a:t>. </a:t>
            </a:r>
            <a:r>
              <a:rPr dirty="0" err="1"/>
              <a:t>L'autre</a:t>
            </a:r>
            <a:r>
              <a:rPr dirty="0"/>
              <a:t> le </a:t>
            </a:r>
            <a:r>
              <a:rPr dirty="0" err="1"/>
              <a:t>logiciel</a:t>
            </a:r>
            <a:r>
              <a:rPr dirty="0"/>
              <a:t> de </a:t>
            </a:r>
            <a:r>
              <a:rPr dirty="0" err="1"/>
              <a:t>paie</a:t>
            </a:r>
            <a:r>
              <a:rPr dirty="0"/>
              <a:t> — données RH, </a:t>
            </a:r>
            <a:r>
              <a:rPr dirty="0" err="1"/>
              <a:t>activité</a:t>
            </a:r>
            <a:r>
              <a:rPr dirty="0"/>
              <a:t> </a:t>
            </a:r>
            <a:r>
              <a:rPr dirty="0" err="1"/>
              <a:t>facturée</a:t>
            </a:r>
            <a:r>
              <a:rPr dirty="0"/>
              <a:t>, obligation </a:t>
            </a:r>
            <a:r>
              <a:rPr dirty="0" err="1"/>
              <a:t>légale</a:t>
            </a:r>
            <a:r>
              <a:rPr dirty="0"/>
              <a:t>. Le CVSS les note </a:t>
            </a:r>
            <a:r>
              <a:rPr dirty="0" err="1"/>
              <a:t>pareil</a:t>
            </a:r>
            <a:r>
              <a:rPr dirty="0"/>
              <a:t> ; le métier, non. </a:t>
            </a:r>
            <a:r>
              <a:rPr dirty="0" err="1"/>
              <a:t>C'est</a:t>
            </a:r>
            <a:r>
              <a:rPr dirty="0"/>
              <a:t> </a:t>
            </a:r>
            <a:r>
              <a:rPr dirty="0" err="1"/>
              <a:t>exactement</a:t>
            </a:r>
            <a:r>
              <a:rPr dirty="0"/>
              <a:t> </a:t>
            </a:r>
            <a:r>
              <a:rPr dirty="0" err="1"/>
              <a:t>ce</a:t>
            </a:r>
            <a:r>
              <a:rPr dirty="0"/>
              <a:t> </a:t>
            </a:r>
            <a:r>
              <a:rPr dirty="0" err="1"/>
              <a:t>que</a:t>
            </a:r>
            <a:r>
              <a:rPr dirty="0"/>
              <a:t> le </a:t>
            </a:r>
            <a:r>
              <a:rPr dirty="0" err="1"/>
              <a:t>terme</a:t>
            </a:r>
            <a:r>
              <a:rPr dirty="0"/>
              <a:t> VM doit </a:t>
            </a:r>
            <a:r>
              <a:rPr dirty="0" err="1"/>
              <a:t>capter</a:t>
            </a:r>
            <a:r>
              <a:rPr dirty="0"/>
              <a:t>.</a:t>
            </a:r>
          </a:p>
          <a:p>
            <a:endParaRPr dirty="0"/>
          </a:p>
          <a:p>
            <a:r>
              <a:rPr dirty="0"/>
              <a:t>— AJOUT v6 —</a:t>
            </a:r>
          </a:p>
          <a:p>
            <a:r>
              <a:rPr dirty="0"/>
              <a:t>Ne pas </a:t>
            </a:r>
            <a:r>
              <a:rPr dirty="0" err="1"/>
              <a:t>réexpliquer</a:t>
            </a:r>
            <a:r>
              <a:rPr dirty="0"/>
              <a:t> CVSS, C+D+I et VM : </a:t>
            </a:r>
            <a:r>
              <a:rPr dirty="0" err="1"/>
              <a:t>ils</a:t>
            </a:r>
            <a:r>
              <a:rPr dirty="0"/>
              <a:t> </a:t>
            </a:r>
            <a:r>
              <a:rPr dirty="0" err="1"/>
              <a:t>sont</a:t>
            </a:r>
            <a:r>
              <a:rPr dirty="0"/>
              <a:t> </a:t>
            </a:r>
            <a:r>
              <a:rPr dirty="0" err="1"/>
              <a:t>vus</a:t>
            </a:r>
            <a:r>
              <a:rPr dirty="0"/>
              <a:t> au </a:t>
            </a:r>
            <a:r>
              <a:rPr dirty="0" err="1"/>
              <a:t>chapitre</a:t>
            </a:r>
            <a:r>
              <a:rPr dirty="0"/>
              <a:t> 4. Ne commenter </a:t>
            </a:r>
            <a:r>
              <a:rPr dirty="0" err="1"/>
              <a:t>que</a:t>
            </a:r>
            <a:r>
              <a:rPr dirty="0"/>
              <a:t> le </a:t>
            </a:r>
            <a:r>
              <a:rPr dirty="0" err="1"/>
              <a:t>facteur</a:t>
            </a:r>
            <a:r>
              <a:rPr dirty="0"/>
              <a:t> E et </a:t>
            </a:r>
            <a:r>
              <a:rPr dirty="0" err="1"/>
              <a:t>ses</a:t>
            </a:r>
            <a:r>
              <a:rPr dirty="0"/>
              <a:t> </a:t>
            </a:r>
            <a:r>
              <a:rPr dirty="0" err="1"/>
              <a:t>paliers</a:t>
            </a:r>
            <a:r>
              <a:rPr dirty="0"/>
              <a:t>.</a:t>
            </a:r>
          </a:p>
        </p:txBody>
      </p:sp>
      <p:sp>
        <p:nvSpPr>
          <p:cNvPr id="4" name="Slide Number Placeholder 3">
            <a:extLst>
              <a:ext uri="{FF2B5EF4-FFF2-40B4-BE49-F238E27FC236}">
                <a16:creationId xmlns:a16="http://schemas.microsoft.com/office/drawing/2014/main" id="{37C1391C-1E60-36AB-C4C7-2C3CC524746E}"/>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42343196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l'échelle atteinte : soixante-quinze cycles de collecte, plus de cent mille vulnérabilités enregistrées, quatre machines instrumentées. Je précise ce chiffre de quatre parce qu'il ne correspond pas au périmètre prévu : il résulte du resserrement décidé après avoir constaté que les référentiels n'étaient pas alimentés. Sur ce périmètre révisé, la chaîne fonctionne de bout en bout.</a:t>
            </a:r>
          </a:p>
          <a:p>
            <a:endParaRPr lang="en-US" dirty="0"/>
          </a:p>
          <a:p>
            <a:r>
              <a:t>— AJOUT v6 —</a:t>
            </a:r>
          </a:p>
          <a:p>
            <a:r>
              <a:t>Dire explicitement, avant de lancer la vidéo : « les données affichées sont des données de test ».</a:t>
            </a:r>
          </a:p>
          <a:p>
            <a:r>
              <a:t>Vidéo : à ralentir ou à découper en deux séquences pour que tout soit lisible.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PB">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65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87E0CA09-CF0A-EC00-64C0-467AE150E986}"/>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pic>
        <p:nvPicPr>
          <p:cNvPr id="6" name="Image 0" descr="/home/claude/lpb-logo.png">
            <a:extLst>
              <a:ext uri="{FF2B5EF4-FFF2-40B4-BE49-F238E27FC236}">
                <a16:creationId xmlns:a16="http://schemas.microsoft.com/office/drawing/2014/main" id="{392DA01C-FEE8-E5AD-D89D-091191763811}"/>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1709625" y="55592"/>
            <a:ext cx="442248" cy="442248"/>
          </a:xfrm>
          <a:prstGeom prst="rect">
            <a:avLst/>
          </a:prstGeom>
        </p:spPr>
      </p:pic>
      <p:pic>
        <p:nvPicPr>
          <p:cNvPr id="8" name="Picture 2" descr="logo-Crédit-Mutuel - URBAN TRAIL MONTPELLIER">
            <a:extLst>
              <a:ext uri="{FF2B5EF4-FFF2-40B4-BE49-F238E27FC236}">
                <a16:creationId xmlns:a16="http://schemas.microsoft.com/office/drawing/2014/main" id="{312D333A-A9A2-97DA-E9A4-AAB1A5C5AEDB}"/>
              </a:ext>
            </a:extLst>
          </p:cNvPr>
          <p:cNvPicPr>
            <a:picLocks noChangeAspect="1" noChangeArrowheads="1"/>
          </p:cNvPicPr>
          <p:nvPr userDrawn="1"/>
        </p:nvPicPr>
        <p:blipFill>
          <a:blip r:embed="rId4">
            <a:extLst>
              <a:ext uri="{BEBA8EAE-BF5A-486C-A8C5-ECC9F3942E4B}">
                <a14:imgProps xmlns:a14="http://schemas.microsoft.com/office/drawing/2010/main">
                  <a14:imgLayer r:embed="rId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0985870" y="55592"/>
            <a:ext cx="603065" cy="44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74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Espace réservé du numéro de diapositive 4">
            <a:extLst>
              <a:ext uri="{FF2B5EF4-FFF2-40B4-BE49-F238E27FC236}">
                <a16:creationId xmlns:a16="http://schemas.microsoft.com/office/drawing/2014/main" id="{E5E2ED2B-87CF-55FA-CE29-FAA7AD5D7285}"/>
              </a:ext>
            </a:extLst>
          </p:cNvPr>
          <p:cNvSpPr>
            <a:spLocks noGrp="1"/>
          </p:cNvSpPr>
          <p:nvPr>
            <p:ph type="sldNum" sz="quarter" idx="4"/>
          </p:nvPr>
        </p:nvSpPr>
        <p:spPr>
          <a:xfrm>
            <a:off x="9448800" y="6491818"/>
            <a:ext cx="2743200"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D70F3056-399D-45FE-B67D-FFE468A2EC23}" type="slidenum">
              <a:rPr lang="fr-FR" smtClean="0"/>
              <a:pPr/>
              <a:t>‹N°›</a:t>
            </a:fld>
            <a:endParaRPr lang="fr-FR" dirty="0"/>
          </a:p>
        </p:txBody>
      </p:sp>
    </p:spTree>
    <p:extLst>
      <p:ext uri="{BB962C8B-B14F-4D97-AF65-F5344CB8AC3E}">
        <p14:creationId xmlns:p14="http://schemas.microsoft.com/office/powerpoint/2010/main" val="272545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49" r:id="rId2"/>
    <p:sldLayoutId id="2147483650" r:id="rId3"/>
    <p:sldLayoutId id="2147483657" r:id="rId4"/>
    <p:sldLayoutId id="2147483658"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80475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24.sv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240"/>
        </a:solidFill>
        <a:effectLst/>
      </p:bgPr>
    </p:bg>
    <p:spTree>
      <p:nvGrpSpPr>
        <p:cNvPr id="1" name=""/>
        <p:cNvGrpSpPr/>
        <p:nvPr/>
      </p:nvGrpSpPr>
      <p:grpSpPr>
        <a:xfrm>
          <a:off x="0" y="0"/>
          <a:ext cx="0" cy="0"/>
          <a:chOff x="0" y="0"/>
          <a:chExt cx="0" cy="0"/>
        </a:xfrm>
      </p:grpSpPr>
      <p:sp>
        <p:nvSpPr>
          <p:cNvPr id="2" name="Shape 0"/>
          <p:cNvSpPr/>
          <p:nvPr/>
        </p:nvSpPr>
        <p:spPr>
          <a:xfrm>
            <a:off x="0" y="0"/>
            <a:ext cx="97536" cy="6858000"/>
          </a:xfrm>
          <a:prstGeom prst="rect">
            <a:avLst/>
          </a:prstGeom>
          <a:solidFill>
            <a:srgbClr val="A28E5D"/>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853440" y="975360"/>
            <a:ext cx="7863840" cy="2682240"/>
          </a:xfrm>
          <a:prstGeom prst="rect">
            <a:avLst/>
          </a:prstGeom>
          <a:noFill/>
          <a:ln/>
        </p:spPr>
        <p:txBody>
          <a:bodyPr wrap="square" lIns="0" tIns="0" rIns="0" bIns="0" rtlCol="0" anchor="ctr"/>
          <a:lstStyle/>
          <a:p>
            <a:pPr marL="0" marR="0" lvl="0" indent="0" algn="l" defTabSz="1219170" rtl="0" eaLnBrk="1" fontAlgn="auto" latinLnBrk="0" hangingPunct="1">
              <a:lnSpc>
                <a:spcPct val="95000"/>
              </a:lnSpc>
              <a:spcBef>
                <a:spcPts val="0"/>
              </a:spcBef>
              <a:spcAft>
                <a:spcPts val="0"/>
              </a:spcAft>
              <a:buClrTx/>
              <a:buSzTx/>
              <a:buFontTx/>
              <a:buNone/>
              <a:tabLst/>
              <a:defRPr/>
            </a:pPr>
            <a:r>
              <a:rPr kumimoji="0" lang="fr-FR" sz="6600" b="1" i="0" u="none" strike="noStrike" kern="1200" cap="none" spc="0" normalizeH="0" baseline="0" noProof="0" dirty="0">
                <a:ln>
                  <a:noFill/>
                </a:ln>
                <a:solidFill>
                  <a:srgbClr val="FFFFFF"/>
                </a:solidFill>
                <a:effectLst/>
                <a:uLnTx/>
                <a:uFillTx/>
                <a:latin typeface="Lato Black" panose="020F0502020204030203" pitchFamily="34" charset="0"/>
                <a:ea typeface="Lato Black" panose="020F0502020204030203" pitchFamily="34" charset="0"/>
                <a:cs typeface="Lato Black" panose="020F0502020204030203" pitchFamily="34" charset="0"/>
              </a:rPr>
              <a:t>Projet de Fin</a:t>
            </a:r>
          </a:p>
          <a:p>
            <a:pPr marL="0" marR="0" lvl="0" indent="0" algn="l" defTabSz="1219170" rtl="0" eaLnBrk="1" fontAlgn="auto" latinLnBrk="0" hangingPunct="1">
              <a:lnSpc>
                <a:spcPct val="95000"/>
              </a:lnSpc>
              <a:spcBef>
                <a:spcPts val="0"/>
              </a:spcBef>
              <a:spcAft>
                <a:spcPts val="0"/>
              </a:spcAft>
              <a:buClrTx/>
              <a:buSzTx/>
              <a:buFontTx/>
              <a:buNone/>
              <a:tabLst/>
              <a:defRPr/>
            </a:pPr>
            <a:r>
              <a:rPr kumimoji="0" lang="fr-FR" sz="6600" b="1" i="0" u="none" strike="noStrike" kern="1200" cap="none" spc="0" normalizeH="0" baseline="0" noProof="0" dirty="0">
                <a:ln>
                  <a:noFill/>
                </a:ln>
                <a:solidFill>
                  <a:srgbClr val="FFFFFF"/>
                </a:solidFill>
                <a:effectLst/>
                <a:uLnTx/>
                <a:uFillTx/>
                <a:latin typeface="Lato Black" panose="020F0502020204030203" pitchFamily="34" charset="0"/>
                <a:ea typeface="Lato Black" panose="020F0502020204030203" pitchFamily="34" charset="0"/>
                <a:cs typeface="Lato Black" panose="020F0502020204030203" pitchFamily="34" charset="0"/>
              </a:rPr>
              <a:t>d’Études</a:t>
            </a:r>
            <a:endParaRPr kumimoji="0" lang="en-US" sz="6600" b="1" i="0" u="none" strike="noStrike" kern="1200" cap="none" spc="0" normalizeH="0" baseline="0" noProof="0" dirty="0">
              <a:ln>
                <a:noFill/>
              </a:ln>
              <a:solidFill>
                <a:srgbClr val="FFFFFF"/>
              </a:solidFill>
              <a:effectLst/>
              <a:uLnTx/>
              <a:uFillTx/>
              <a:latin typeface="Lato Black" panose="020F0502020204030203" pitchFamily="34" charset="0"/>
              <a:ea typeface="Lato Black" panose="020F0502020204030203" pitchFamily="34" charset="0"/>
              <a:cs typeface="Lato Black" panose="020F0502020204030203" pitchFamily="34" charset="0"/>
            </a:endParaRPr>
          </a:p>
        </p:txBody>
      </p:sp>
      <p:sp>
        <p:nvSpPr>
          <p:cNvPr id="4" name="Text 2"/>
          <p:cNvSpPr/>
          <p:nvPr/>
        </p:nvSpPr>
        <p:spPr>
          <a:xfrm>
            <a:off x="853439" y="3515951"/>
            <a:ext cx="11410750" cy="60960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667" b="0" i="1" u="none" strike="noStrike" kern="1200" cap="none" spc="0" normalizeH="0" baseline="0" noProof="0" dirty="0">
                <a:ln>
                  <a:noFill/>
                </a:ln>
                <a:solidFill>
                  <a:srgbClr val="A28E5D"/>
                </a:solidFill>
                <a:effectLst/>
                <a:uLnTx/>
                <a:uFillTx/>
                <a:latin typeface="Calibri" pitchFamily="34" charset="0"/>
                <a:ea typeface="Calibri" pitchFamily="34" charset="-122"/>
                <a:cs typeface="Calibri" pitchFamily="34" charset="-120"/>
              </a:rPr>
              <a:t>Cartographie dynamique des impacts métiers des vulnérabilités</a:t>
            </a:r>
          </a:p>
        </p:txBody>
      </p:sp>
      <p:sp>
        <p:nvSpPr>
          <p:cNvPr id="5" name="Shape 3"/>
          <p:cNvSpPr/>
          <p:nvPr/>
        </p:nvSpPr>
        <p:spPr>
          <a:xfrm>
            <a:off x="853440" y="4389120"/>
            <a:ext cx="3048000" cy="0"/>
          </a:xfrm>
          <a:prstGeom prst="line">
            <a:avLst/>
          </a:prstGeom>
          <a:noFill/>
          <a:ln w="25400">
            <a:solidFill>
              <a:srgbClr val="C9A84C"/>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fr-FR"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853440" y="4693920"/>
            <a:ext cx="7315200" cy="48768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8E99A4"/>
                </a:solidFill>
                <a:effectLst/>
                <a:uLnTx/>
                <a:uFillTx/>
                <a:latin typeface="Calibri" pitchFamily="34" charset="0"/>
                <a:ea typeface="Calibri" pitchFamily="34" charset="-122"/>
                <a:cs typeface="Calibri" pitchFamily="34" charset="-120"/>
              </a:rPr>
              <a:t>CESI Strasbourg</a:t>
            </a:r>
            <a:endParaRPr kumimoji="0" lang="en-US" sz="18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853440" y="5120640"/>
            <a:ext cx="7315200" cy="42672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0" i="0" u="none" strike="noStrike" kern="1200" cap="none" spc="0" normalizeH="0" baseline="0" noProof="0" dirty="0" err="1">
                <a:ln>
                  <a:noFill/>
                </a:ln>
                <a:solidFill>
                  <a:srgbClr val="8E99A4"/>
                </a:solidFill>
                <a:effectLst/>
                <a:uLnTx/>
                <a:uFillTx/>
                <a:latin typeface="Calibri" pitchFamily="34" charset="0"/>
                <a:ea typeface="Calibri" pitchFamily="34" charset="-122"/>
                <a:cs typeface="Calibri" pitchFamily="34" charset="-120"/>
              </a:rPr>
              <a:t>Septembre</a:t>
            </a:r>
            <a:r>
              <a:rPr kumimoji="0" lang="en-US" sz="1733" b="0" i="0" u="none" strike="noStrike" kern="1200" cap="none" spc="0" normalizeH="0" baseline="0" noProof="0" dirty="0">
                <a:ln>
                  <a:noFill/>
                </a:ln>
                <a:solidFill>
                  <a:srgbClr val="8E99A4"/>
                </a:solidFill>
                <a:effectLst/>
                <a:uLnTx/>
                <a:uFillTx/>
                <a:latin typeface="Calibri" pitchFamily="34" charset="0"/>
                <a:ea typeface="Calibri" pitchFamily="34" charset="-122"/>
                <a:cs typeface="Calibri" pitchFamily="34" charset="-120"/>
              </a:rPr>
              <a:t> 2026</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53440" y="5669280"/>
            <a:ext cx="487680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Mattéo TREMISI</a:t>
            </a:r>
            <a:endParaRPr kumimoji="0" lang="en-US" sz="1867"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E99A4"/>
                </a:solidFill>
                <a:effectLst/>
                <a:uLnTx/>
                <a:uFillTx/>
                <a:latin typeface="Calibri" pitchFamily="34" charset="0"/>
                <a:ea typeface="Calibri" pitchFamily="34" charset="-122"/>
                <a:cs typeface="Calibri" pitchFamily="34" charset="-120"/>
              </a:rPr>
              <a:t>LPB Conseil</a:t>
            </a:r>
            <a:endParaRPr kumimoji="0" lang="en-US" sz="18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Graphique 12">
            <a:extLst>
              <a:ext uri="{FF2B5EF4-FFF2-40B4-BE49-F238E27FC236}">
                <a16:creationId xmlns:a16="http://schemas.microsoft.com/office/drawing/2014/main" id="{901F2D3A-FCA2-1E3A-CE38-1AE7C7FB32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8462" y="165464"/>
            <a:ext cx="1619793" cy="1619793"/>
          </a:xfrm>
          <a:prstGeom prst="rect">
            <a:avLst/>
          </a:prstGeom>
        </p:spPr>
      </p:pic>
      <p:pic>
        <p:nvPicPr>
          <p:cNvPr id="14" name="Image 13" descr="Résumé de configuration du registre | Moodle CESI">
            <a:extLst>
              <a:ext uri="{FF2B5EF4-FFF2-40B4-BE49-F238E27FC236}">
                <a16:creationId xmlns:a16="http://schemas.microsoft.com/office/drawing/2014/main" id="{B9C4CD91-DA49-86A9-5905-93B98787427F}"/>
              </a:ext>
            </a:extLst>
          </p:cNvPr>
          <p:cNvPicPr>
            <a:picLocks noChangeAspect="1"/>
          </p:cNvPicPr>
          <p:nvPr/>
        </p:nvPicPr>
        <p:blipFill>
          <a:blip r:embed="rId4"/>
          <a:stretch>
            <a:fillRect/>
          </a:stretch>
        </p:blipFill>
        <p:spPr>
          <a:xfrm>
            <a:off x="9921234" y="5669281"/>
            <a:ext cx="2173230" cy="10232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SOMMAIRE</a:t>
            </a:r>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dirty="0">
                <a:solidFill>
                  <a:srgbClr val="1B2A4A"/>
                </a:solidFill>
                <a:latin typeface="Lato" pitchFamily="34" charset="0"/>
              </a:rPr>
              <a:t>Fil directeur</a:t>
            </a:r>
          </a:p>
        </p:txBody>
      </p:sp>
      <p:sp>
        <p:nvSpPr>
          <p:cNvPr id="910" name="Shape 910"/>
          <p:cNvSpPr/>
          <p:nvPr/>
        </p:nvSpPr>
        <p:spPr>
          <a:xfrm>
            <a:off x="658368" y="1480000"/>
            <a:ext cx="10874959" cy="1230000"/>
          </a:xfrm>
          <a:prstGeom prst="roundRect">
            <a:avLst/>
          </a:prstGeom>
          <a:solidFill>
            <a:srgbClr val="EDEFF3"/>
          </a:solidFill>
          <a:ln>
            <a:noFill/>
          </a:ln>
        </p:spPr>
        <p:txBody>
          <a:bodyPr rtlCol="0" anchor="ctr"/>
          <a:lstStyle/>
          <a:p>
            <a:endParaRPr/>
          </a:p>
        </p:txBody>
      </p:sp>
      <p:sp>
        <p:nvSpPr>
          <p:cNvPr id="911" name="TextBox 911"/>
          <p:cNvSpPr txBox="1"/>
          <p:nvPr/>
        </p:nvSpPr>
        <p:spPr>
          <a:xfrm>
            <a:off x="950976" y="1620000"/>
            <a:ext cx="10289743" cy="220000"/>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LE PROBLÈME</a:t>
            </a:r>
          </a:p>
        </p:txBody>
      </p:sp>
      <p:sp>
        <p:nvSpPr>
          <p:cNvPr id="912" name="TextBox 912"/>
          <p:cNvSpPr txBox="1"/>
          <p:nvPr/>
        </p:nvSpPr>
        <p:spPr>
          <a:xfrm>
            <a:off x="950976" y="19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1</a:t>
            </a:r>
          </a:p>
        </p:txBody>
      </p:sp>
      <p:sp>
        <p:nvSpPr>
          <p:cNvPr id="913" name="TextBox 913"/>
          <p:cNvSpPr txBox="1"/>
          <p:nvPr/>
        </p:nvSpPr>
        <p:spPr>
          <a:xfrm>
            <a:off x="1370976" y="2000000"/>
            <a:ext cx="4664871"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Contexte et enjeux</a:t>
            </a:r>
          </a:p>
        </p:txBody>
      </p:sp>
      <p:sp>
        <p:nvSpPr>
          <p:cNvPr id="914" name="TextBox 914"/>
          <p:cNvSpPr txBox="1"/>
          <p:nvPr/>
        </p:nvSpPr>
        <p:spPr>
          <a:xfrm>
            <a:off x="6095847" y="19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2</a:t>
            </a:r>
          </a:p>
        </p:txBody>
      </p:sp>
      <p:sp>
        <p:nvSpPr>
          <p:cNvPr id="915" name="TextBox 915"/>
          <p:cNvSpPr txBox="1"/>
          <p:nvPr/>
        </p:nvSpPr>
        <p:spPr>
          <a:xfrm>
            <a:off x="6515847" y="2000000"/>
            <a:ext cx="4664871"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Problématique et objectifs</a:t>
            </a:r>
          </a:p>
        </p:txBody>
      </p:sp>
      <p:sp>
        <p:nvSpPr>
          <p:cNvPr id="916" name="TextBox 916"/>
          <p:cNvSpPr txBox="1"/>
          <p:nvPr/>
        </p:nvSpPr>
        <p:spPr>
          <a:xfrm>
            <a:off x="950976" y="2380000"/>
            <a:ext cx="10289743" cy="240000"/>
          </a:xfrm>
          <a:prstGeom prst="rect">
            <a:avLst/>
          </a:prstGeom>
          <a:noFill/>
        </p:spPr>
        <p:txBody>
          <a:bodyPr wrap="square" lIns="0" tIns="0" rIns="0" bIns="0" anchor="t">
            <a:spAutoFit/>
          </a:bodyPr>
          <a:lstStyle/>
          <a:p>
            <a:pPr algn="l">
              <a:buNone/>
            </a:pPr>
            <a:r>
              <a:rPr lang="fr-FR" sz="1050" b="0" i="1" dirty="0">
                <a:solidFill>
                  <a:srgbClr val="4A5568"/>
                </a:solidFill>
                <a:latin typeface="Lato" pitchFamily="34" charset="0"/>
                <a:cs typeface="Lato" pitchFamily="34" charset="0"/>
              </a:rPr>
              <a:t>le métier du cabinet, les rythmes qui ne suivent pas le terrain, et le processus cible</a:t>
            </a:r>
          </a:p>
        </p:txBody>
      </p:sp>
      <p:sp>
        <p:nvSpPr>
          <p:cNvPr id="917" name="Shape 917"/>
          <p:cNvSpPr/>
          <p:nvPr/>
        </p:nvSpPr>
        <p:spPr>
          <a:xfrm>
            <a:off x="658368" y="2830000"/>
            <a:ext cx="10874959" cy="1230000"/>
          </a:xfrm>
          <a:prstGeom prst="roundRect">
            <a:avLst/>
          </a:prstGeom>
          <a:solidFill>
            <a:srgbClr val="EDEFF3"/>
          </a:solidFill>
          <a:ln>
            <a:noFill/>
          </a:ln>
        </p:spPr>
        <p:txBody>
          <a:bodyPr rtlCol="0" anchor="ctr"/>
          <a:lstStyle/>
          <a:p>
            <a:endParaRPr/>
          </a:p>
        </p:txBody>
      </p:sp>
      <p:sp>
        <p:nvSpPr>
          <p:cNvPr id="918" name="TextBox 918"/>
          <p:cNvSpPr txBox="1"/>
          <p:nvPr/>
        </p:nvSpPr>
        <p:spPr>
          <a:xfrm>
            <a:off x="950976" y="2970000"/>
            <a:ext cx="10289743" cy="220000"/>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CE QUE J'AI CONSTRUIT</a:t>
            </a:r>
          </a:p>
        </p:txBody>
      </p:sp>
      <p:sp>
        <p:nvSpPr>
          <p:cNvPr id="919" name="TextBox 919"/>
          <p:cNvSpPr txBox="1"/>
          <p:nvPr/>
        </p:nvSpPr>
        <p:spPr>
          <a:xfrm>
            <a:off x="950976" y="328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3</a:t>
            </a:r>
          </a:p>
        </p:txBody>
      </p:sp>
      <p:sp>
        <p:nvSpPr>
          <p:cNvPr id="920" name="TextBox 920"/>
          <p:cNvSpPr txBox="1"/>
          <p:nvPr/>
        </p:nvSpPr>
        <p:spPr>
          <a:xfrm>
            <a:off x="1370976" y="3350000"/>
            <a:ext cx="4664871"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Conduite du projet</a:t>
            </a:r>
          </a:p>
        </p:txBody>
      </p:sp>
      <p:sp>
        <p:nvSpPr>
          <p:cNvPr id="921" name="TextBox 921"/>
          <p:cNvSpPr txBox="1"/>
          <p:nvPr/>
        </p:nvSpPr>
        <p:spPr>
          <a:xfrm>
            <a:off x="6095847" y="328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4</a:t>
            </a:r>
          </a:p>
        </p:txBody>
      </p:sp>
      <p:sp>
        <p:nvSpPr>
          <p:cNvPr id="922" name="TextBox 922"/>
          <p:cNvSpPr txBox="1"/>
          <p:nvPr/>
        </p:nvSpPr>
        <p:spPr>
          <a:xfrm>
            <a:off x="6515847" y="3350000"/>
            <a:ext cx="4664871"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Solution mise en œuvre</a:t>
            </a:r>
          </a:p>
        </p:txBody>
      </p:sp>
      <p:sp>
        <p:nvSpPr>
          <p:cNvPr id="923" name="TextBox 923"/>
          <p:cNvSpPr txBox="1"/>
          <p:nvPr/>
        </p:nvSpPr>
        <p:spPr>
          <a:xfrm>
            <a:off x="950976" y="3730000"/>
            <a:ext cx="10289743" cy="240000"/>
          </a:xfrm>
          <a:prstGeom prst="rect">
            <a:avLst/>
          </a:prstGeom>
          <a:noFill/>
        </p:spPr>
        <p:txBody>
          <a:bodyPr wrap="square" lIns="0" tIns="0" rIns="0" bIns="0" anchor="t">
            <a:spAutoFit/>
          </a:bodyPr>
          <a:lstStyle/>
          <a:p>
            <a:pPr algn="l">
              <a:buNone/>
            </a:pPr>
            <a:r>
              <a:rPr lang="fr-FR" sz="1050" b="0" i="1" dirty="0">
                <a:solidFill>
                  <a:srgbClr val="4A5568"/>
                </a:solidFill>
                <a:latin typeface="Lato" pitchFamily="34" charset="0"/>
                <a:cs typeface="Lato" pitchFamily="34" charset="0"/>
              </a:rPr>
              <a:t>les briques du processus cible, une par une</a:t>
            </a:r>
          </a:p>
        </p:txBody>
      </p:sp>
      <p:sp>
        <p:nvSpPr>
          <p:cNvPr id="924" name="Shape 924"/>
          <p:cNvSpPr/>
          <p:nvPr/>
        </p:nvSpPr>
        <p:spPr>
          <a:xfrm>
            <a:off x="658368" y="4180000"/>
            <a:ext cx="10874959" cy="1430000"/>
          </a:xfrm>
          <a:prstGeom prst="roundRect">
            <a:avLst/>
          </a:prstGeom>
          <a:solidFill>
            <a:srgbClr val="EDEFF3"/>
          </a:solidFill>
          <a:ln>
            <a:noFill/>
          </a:ln>
        </p:spPr>
        <p:txBody>
          <a:bodyPr rtlCol="0" anchor="ctr"/>
          <a:lstStyle/>
          <a:p>
            <a:endParaRPr/>
          </a:p>
        </p:txBody>
      </p:sp>
      <p:sp>
        <p:nvSpPr>
          <p:cNvPr id="925" name="TextBox 925"/>
          <p:cNvSpPr txBox="1"/>
          <p:nvPr/>
        </p:nvSpPr>
        <p:spPr>
          <a:xfrm>
            <a:off x="950976" y="4320000"/>
            <a:ext cx="10289743" cy="220000"/>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CE QUE ÇA DONNE</a:t>
            </a:r>
          </a:p>
        </p:txBody>
      </p:sp>
      <p:sp>
        <p:nvSpPr>
          <p:cNvPr id="926" name="TextBox 926"/>
          <p:cNvSpPr txBox="1"/>
          <p:nvPr/>
        </p:nvSpPr>
        <p:spPr>
          <a:xfrm>
            <a:off x="950976" y="46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5</a:t>
            </a:r>
          </a:p>
        </p:txBody>
      </p:sp>
      <p:sp>
        <p:nvSpPr>
          <p:cNvPr id="927" name="TextBox 927"/>
          <p:cNvSpPr txBox="1"/>
          <p:nvPr/>
        </p:nvSpPr>
        <p:spPr>
          <a:xfrm>
            <a:off x="1370976" y="4700000"/>
            <a:ext cx="2092435"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Mise à l'épreuve</a:t>
            </a:r>
          </a:p>
        </p:txBody>
      </p:sp>
      <p:sp>
        <p:nvSpPr>
          <p:cNvPr id="928" name="TextBox 928"/>
          <p:cNvSpPr txBox="1"/>
          <p:nvPr/>
        </p:nvSpPr>
        <p:spPr>
          <a:xfrm>
            <a:off x="3523411" y="46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6</a:t>
            </a:r>
          </a:p>
        </p:txBody>
      </p:sp>
      <p:sp>
        <p:nvSpPr>
          <p:cNvPr id="929" name="TextBox 929"/>
          <p:cNvSpPr txBox="1"/>
          <p:nvPr/>
        </p:nvSpPr>
        <p:spPr>
          <a:xfrm>
            <a:off x="3943411" y="4700000"/>
            <a:ext cx="2092435"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Posture professionnelle</a:t>
            </a:r>
          </a:p>
        </p:txBody>
      </p:sp>
      <p:sp>
        <p:nvSpPr>
          <p:cNvPr id="930" name="TextBox 930"/>
          <p:cNvSpPr txBox="1"/>
          <p:nvPr/>
        </p:nvSpPr>
        <p:spPr>
          <a:xfrm>
            <a:off x="6095846" y="46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7</a:t>
            </a:r>
          </a:p>
        </p:txBody>
      </p:sp>
      <p:sp>
        <p:nvSpPr>
          <p:cNvPr id="931" name="TextBox 931"/>
          <p:cNvSpPr txBox="1"/>
          <p:nvPr/>
        </p:nvSpPr>
        <p:spPr>
          <a:xfrm>
            <a:off x="6515846" y="4700000"/>
            <a:ext cx="2092435"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Bilan et perspectives</a:t>
            </a:r>
          </a:p>
        </p:txBody>
      </p:sp>
      <p:sp>
        <p:nvSpPr>
          <p:cNvPr id="932" name="TextBox 932"/>
          <p:cNvSpPr txBox="1"/>
          <p:nvPr/>
        </p:nvSpPr>
        <p:spPr>
          <a:xfrm>
            <a:off x="8668281" y="4630000"/>
            <a:ext cx="420000" cy="380000"/>
          </a:xfrm>
          <a:prstGeom prst="rect">
            <a:avLst/>
          </a:prstGeom>
          <a:noFill/>
        </p:spPr>
        <p:txBody>
          <a:bodyPr wrap="square" lIns="0" tIns="0" rIns="0" bIns="0" anchor="t">
            <a:spAutoFit/>
          </a:bodyPr>
          <a:lstStyle/>
          <a:p>
            <a:pPr algn="l">
              <a:buNone/>
            </a:pPr>
            <a:r>
              <a:rPr lang="fr-FR" sz="1800" b="1" i="0" dirty="0">
                <a:solidFill>
                  <a:srgbClr val="C5A55A"/>
                </a:solidFill>
                <a:latin typeface="Lato" pitchFamily="34" charset="0"/>
                <a:cs typeface="Lato" pitchFamily="34" charset="0"/>
              </a:rPr>
              <a:t>8</a:t>
            </a:r>
          </a:p>
        </p:txBody>
      </p:sp>
      <p:sp>
        <p:nvSpPr>
          <p:cNvPr id="933" name="TextBox 933"/>
          <p:cNvSpPr txBox="1"/>
          <p:nvPr/>
        </p:nvSpPr>
        <p:spPr>
          <a:xfrm>
            <a:off x="9088281" y="4700000"/>
            <a:ext cx="2092435" cy="56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Plan de formation</a:t>
            </a:r>
          </a:p>
        </p:txBody>
      </p:sp>
      <p:sp>
        <p:nvSpPr>
          <p:cNvPr id="934" name="TextBox 934"/>
          <p:cNvSpPr txBox="1"/>
          <p:nvPr/>
        </p:nvSpPr>
        <p:spPr>
          <a:xfrm>
            <a:off x="950976" y="5280000"/>
            <a:ext cx="10289743" cy="240000"/>
          </a:xfrm>
          <a:prstGeom prst="rect">
            <a:avLst/>
          </a:prstGeom>
          <a:noFill/>
        </p:spPr>
        <p:txBody>
          <a:bodyPr wrap="square" lIns="0" tIns="0" rIns="0" bIns="0" anchor="t">
            <a:spAutoFit/>
          </a:bodyPr>
          <a:lstStyle/>
          <a:p>
            <a:pPr algn="l">
              <a:buNone/>
            </a:pPr>
            <a:r>
              <a:rPr lang="fr-FR" sz="1050" b="0" i="1" dirty="0">
                <a:solidFill>
                  <a:srgbClr val="4A5568"/>
                </a:solidFill>
                <a:latin typeface="Lato" pitchFamily="34" charset="0"/>
                <a:cs typeface="Lato" pitchFamily="34" charset="0"/>
              </a:rPr>
              <a:t>ce que la mesure a révélé, et ce que j'en retire</a:t>
            </a:r>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2</a:t>
            </a:fld>
            <a:endParaRPr lang="fr-FR">
              <a:solidFill>
                <a:srgbClr val="4A5568"/>
              </a:solidFill>
            </a:endParaRPr>
          </a:p>
        </p:txBody>
      </p:sp>
    </p:spTree>
    <p:extLst>
      <p:ext uri="{BB962C8B-B14F-4D97-AF65-F5344CB8AC3E}">
        <p14:creationId xmlns:p14="http://schemas.microsoft.com/office/powerpoint/2010/main" val="505261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1</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1</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Contexte et enjeux</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42BFCCDA-9488-419B-944A-5A1D3994431F}" type="slidenum">
              <a:rPr lang="fr-FR" sz="900" b="0">
                <a:solidFill>
                  <a:srgbClr val="AEB7C6"/>
                </a:solidFill>
                <a:latin typeface="Lato"/>
              </a:rPr>
              <a:t>3</a:t>
            </a:fld>
            <a:endParaRPr lang="fr-FR">
              <a:solidFill>
                <a:srgbClr val="AEB7C6"/>
              </a:solidFill>
            </a:endParaRPr>
          </a:p>
        </p:txBody>
      </p:sp>
    </p:spTree>
    <p:extLst>
      <p:ext uri="{BB962C8B-B14F-4D97-AF65-F5344CB8AC3E}">
        <p14:creationId xmlns:p14="http://schemas.microsoft.com/office/powerpoint/2010/main" val="1954908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LPB Conseil et le cadre de la mission</a:t>
            </a:r>
            <a:endParaRPr lang="en-US" sz="3000" dirty="0"/>
          </a:p>
        </p:txBody>
      </p:sp>
      <p:sp>
        <p:nvSpPr>
          <p:cNvPr id="3" name="Text 1"/>
          <p:cNvSpPr txBox="1"/>
          <p:nvPr/>
        </p:nvSpPr>
        <p:spPr>
          <a:xfrm>
            <a:off x="658368" y="1389888"/>
            <a:ext cx="1737360" cy="256032"/>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LE CABINET</a:t>
            </a:r>
            <a:endParaRPr lang="en-US" sz="1050" dirty="0"/>
          </a:p>
        </p:txBody>
      </p:sp>
      <p:sp>
        <p:nvSpPr>
          <p:cNvPr id="4" name="Text 2"/>
          <p:cNvSpPr txBox="1"/>
          <p:nvPr/>
        </p:nvSpPr>
        <p:spPr>
          <a:xfrm>
            <a:off x="658368" y="1627632"/>
            <a:ext cx="2286000" cy="365760"/>
          </a:xfrm>
          <a:prstGeom prst="rect">
            <a:avLst/>
          </a:prstGeom>
          <a:noFill/>
          <a:ln/>
        </p:spPr>
        <p:txBody>
          <a:bodyPr wrap="square" lIns="0" tIns="0" rIns="0" bIns="0" rtlCol="0" anchor="ctr"/>
          <a:lstStyle/>
          <a:p>
            <a:pPr marL="0" indent="0">
              <a:buNone/>
            </a:pPr>
            <a:r>
              <a:rPr lang="en-US" sz="1650" b="1" dirty="0">
                <a:solidFill>
                  <a:srgbClr val="1B2A4A"/>
                </a:solidFill>
                <a:latin typeface="Lato" pitchFamily="34" charset="0"/>
                <a:ea typeface="Lato" pitchFamily="34" charset="-122"/>
                <a:cs typeface="Lato" pitchFamily="34" charset="-120"/>
              </a:rPr>
              <a:t>Conseil indépendant</a:t>
            </a:r>
            <a:endParaRPr lang="en-US" sz="1650" dirty="0"/>
          </a:p>
        </p:txBody>
      </p:sp>
      <p:sp>
        <p:nvSpPr>
          <p:cNvPr id="5" name="Shape 3"/>
          <p:cNvSpPr/>
          <p:nvPr/>
        </p:nvSpPr>
        <p:spPr>
          <a:xfrm>
            <a:off x="3127248" y="1682496"/>
            <a:ext cx="82296" cy="82296"/>
          </a:xfrm>
          <a:prstGeom prst="ellipse">
            <a:avLst/>
          </a:prstGeom>
          <a:solidFill>
            <a:srgbClr val="C5A55A"/>
          </a:solidFill>
          <a:ln/>
        </p:spPr>
        <p:txBody>
          <a:bodyPr/>
          <a:lstStyle/>
          <a:p>
            <a:endParaRPr lang="fr-FR"/>
          </a:p>
        </p:txBody>
      </p:sp>
      <p:sp>
        <p:nvSpPr>
          <p:cNvPr id="6" name="Text 4"/>
          <p:cNvSpPr txBox="1"/>
          <p:nvPr/>
        </p:nvSpPr>
        <p:spPr>
          <a:xfrm>
            <a:off x="3438144" y="1572768"/>
            <a:ext cx="3246120" cy="822960"/>
          </a:xfrm>
          <a:prstGeom prst="rect">
            <a:avLst/>
          </a:prstGeom>
          <a:noFill/>
          <a:ln/>
        </p:spPr>
        <p:txBody>
          <a:bodyPr wrap="square" lIns="0" tIns="0" rIns="0" bIns="0" rtlCol="0" anchor="t"/>
          <a:lstStyle/>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Cybersécurité, IA et stratégie SI.</a:t>
            </a:r>
            <a:endParaRPr lang="en-US" sz="1250" dirty="0"/>
          </a:p>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7 collaborateurs. Clients de 5 à 400.</a:t>
            </a:r>
            <a:endParaRPr lang="en-US" sz="1250" dirty="0"/>
          </a:p>
        </p:txBody>
      </p:sp>
      <p:sp>
        <p:nvSpPr>
          <p:cNvPr id="7" name="Text 5"/>
          <p:cNvSpPr txBox="1"/>
          <p:nvPr/>
        </p:nvSpPr>
        <p:spPr>
          <a:xfrm>
            <a:off x="658368" y="2523744"/>
            <a:ext cx="1737360" cy="256032"/>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LA MISSION</a:t>
            </a:r>
            <a:endParaRPr lang="en-US" sz="1050" dirty="0"/>
          </a:p>
        </p:txBody>
      </p:sp>
      <p:sp>
        <p:nvSpPr>
          <p:cNvPr id="8" name="Text 6"/>
          <p:cNvSpPr txBox="1"/>
          <p:nvPr/>
        </p:nvSpPr>
        <p:spPr>
          <a:xfrm>
            <a:off x="658368" y="2761488"/>
            <a:ext cx="2286000" cy="365760"/>
          </a:xfrm>
          <a:prstGeom prst="rect">
            <a:avLst/>
          </a:prstGeom>
          <a:noFill/>
          <a:ln/>
        </p:spPr>
        <p:txBody>
          <a:bodyPr wrap="square" lIns="0" tIns="0" rIns="0" bIns="0" rtlCol="0" anchor="ctr"/>
          <a:lstStyle/>
          <a:p>
            <a:pPr marL="0" indent="0">
              <a:buNone/>
            </a:pPr>
            <a:r>
              <a:rPr lang="en-US" sz="1650" b="1" dirty="0">
                <a:solidFill>
                  <a:srgbClr val="1B2A4A"/>
                </a:solidFill>
                <a:latin typeface="Lato" pitchFamily="34" charset="0"/>
                <a:ea typeface="Lato" pitchFamily="34" charset="-122"/>
                <a:cs typeface="Lato" pitchFamily="34" charset="-120"/>
              </a:rPr>
              <a:t>Consultant Junior</a:t>
            </a:r>
            <a:endParaRPr lang="en-US" sz="1650" dirty="0"/>
          </a:p>
        </p:txBody>
      </p:sp>
      <p:sp>
        <p:nvSpPr>
          <p:cNvPr id="9" name="Shape 7"/>
          <p:cNvSpPr/>
          <p:nvPr/>
        </p:nvSpPr>
        <p:spPr>
          <a:xfrm>
            <a:off x="3127248" y="2816352"/>
            <a:ext cx="82296" cy="82296"/>
          </a:xfrm>
          <a:prstGeom prst="ellipse">
            <a:avLst/>
          </a:prstGeom>
          <a:solidFill>
            <a:srgbClr val="C5A55A"/>
          </a:solidFill>
          <a:ln/>
        </p:spPr>
        <p:txBody>
          <a:bodyPr/>
          <a:lstStyle/>
          <a:p>
            <a:endParaRPr lang="fr-FR"/>
          </a:p>
        </p:txBody>
      </p:sp>
      <p:sp>
        <p:nvSpPr>
          <p:cNvPr id="10" name="Text 8"/>
          <p:cNvSpPr txBox="1"/>
          <p:nvPr/>
        </p:nvSpPr>
        <p:spPr>
          <a:xfrm>
            <a:off x="3438144" y="2706624"/>
            <a:ext cx="3246120" cy="822960"/>
          </a:xfrm>
          <a:prstGeom prst="rect">
            <a:avLst/>
          </a:prstGeom>
          <a:noFill/>
          <a:ln/>
        </p:spPr>
        <p:txBody>
          <a:bodyPr wrap="square" lIns="0" tIns="0" rIns="0" bIns="0" rtlCol="0" anchor="t"/>
          <a:lstStyle/>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Concevoir un démonstrateur de notation</a:t>
            </a:r>
            <a:endParaRPr lang="en-US" sz="1250" dirty="0"/>
          </a:p>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contextualisée des vulnérabilités.</a:t>
            </a:r>
            <a:endParaRPr lang="en-US" sz="1250" dirty="0"/>
          </a:p>
        </p:txBody>
      </p:sp>
      <p:sp>
        <p:nvSpPr>
          <p:cNvPr id="11" name="Text 9"/>
          <p:cNvSpPr txBox="1"/>
          <p:nvPr/>
        </p:nvSpPr>
        <p:spPr>
          <a:xfrm>
            <a:off x="658368" y="3657600"/>
            <a:ext cx="1737360" cy="256032"/>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LE TERRAIN</a:t>
            </a:r>
            <a:endParaRPr lang="en-US" sz="1050" dirty="0"/>
          </a:p>
        </p:txBody>
      </p:sp>
      <p:sp>
        <p:nvSpPr>
          <p:cNvPr id="12" name="Text 10"/>
          <p:cNvSpPr txBox="1"/>
          <p:nvPr/>
        </p:nvSpPr>
        <p:spPr>
          <a:xfrm>
            <a:off x="658368" y="3895344"/>
            <a:ext cx="2286000" cy="365760"/>
          </a:xfrm>
          <a:prstGeom prst="rect">
            <a:avLst/>
          </a:prstGeom>
          <a:noFill/>
          <a:ln/>
        </p:spPr>
        <p:txBody>
          <a:bodyPr wrap="square" lIns="0" tIns="0" rIns="0" bIns="0" rtlCol="0" anchor="ctr"/>
          <a:lstStyle/>
          <a:p>
            <a:pPr marL="0" indent="0">
              <a:buNone/>
            </a:pPr>
            <a:r>
              <a:rPr lang="en-US" sz="1650" b="1" dirty="0">
                <a:solidFill>
                  <a:srgbClr val="1B2A4A"/>
                </a:solidFill>
                <a:latin typeface="Lato" pitchFamily="34" charset="0"/>
                <a:ea typeface="Lato" pitchFamily="34" charset="-122"/>
                <a:cs typeface="Lato" pitchFamily="34" charset="-120"/>
              </a:rPr>
              <a:t>Infrastructure interne</a:t>
            </a:r>
            <a:endParaRPr lang="en-US" sz="1650" dirty="0"/>
          </a:p>
        </p:txBody>
      </p:sp>
      <p:sp>
        <p:nvSpPr>
          <p:cNvPr id="13" name="Shape 11"/>
          <p:cNvSpPr/>
          <p:nvPr/>
        </p:nvSpPr>
        <p:spPr>
          <a:xfrm>
            <a:off x="3127248" y="3950208"/>
            <a:ext cx="82296" cy="82296"/>
          </a:xfrm>
          <a:prstGeom prst="ellipse">
            <a:avLst/>
          </a:prstGeom>
          <a:solidFill>
            <a:srgbClr val="C5A55A"/>
          </a:solidFill>
          <a:ln/>
        </p:spPr>
        <p:txBody>
          <a:bodyPr/>
          <a:lstStyle/>
          <a:p>
            <a:endParaRPr lang="fr-FR"/>
          </a:p>
        </p:txBody>
      </p:sp>
      <p:sp>
        <p:nvSpPr>
          <p:cNvPr id="14" name="Text 12"/>
          <p:cNvSpPr txBox="1"/>
          <p:nvPr/>
        </p:nvSpPr>
        <p:spPr>
          <a:xfrm>
            <a:off x="3438144" y="3840480"/>
            <a:ext cx="3246120" cy="822960"/>
          </a:xfrm>
          <a:prstGeom prst="rect">
            <a:avLst/>
          </a:prstGeom>
          <a:noFill/>
          <a:ln/>
        </p:spPr>
        <p:txBody>
          <a:bodyPr wrap="square" lIns="0" tIns="0" rIns="0" bIns="0" rtlCol="0" anchor="t"/>
          <a:lstStyle/>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3 nœuds de virtualisation, ~20 machines</a:t>
            </a:r>
            <a:endParaRPr lang="en-US" sz="1250" dirty="0"/>
          </a:p>
          <a:p>
            <a:pPr marL="0" indent="0" algn="l">
              <a:lnSpc>
                <a:spcPct val="118000"/>
              </a:lnSpc>
              <a:buNone/>
            </a:pPr>
            <a:r>
              <a:rPr lang="en-US" sz="1250" dirty="0">
                <a:solidFill>
                  <a:srgbClr val="232A3A"/>
                </a:solidFill>
                <a:latin typeface="Lato" pitchFamily="34" charset="0"/>
                <a:ea typeface="Lato" pitchFamily="34" charset="-122"/>
                <a:cs typeface="Lato" pitchFamily="34" charset="-120"/>
              </a:rPr>
              <a:t>virtuelles, 1 actif en cloud.</a:t>
            </a:r>
            <a:endParaRPr lang="en-US" sz="1250" dirty="0"/>
          </a:p>
        </p:txBody>
      </p:sp>
      <p:sp>
        <p:nvSpPr>
          <p:cNvPr id="15" name="Shape 13"/>
          <p:cNvSpPr/>
          <p:nvPr/>
        </p:nvSpPr>
        <p:spPr>
          <a:xfrm>
            <a:off x="7333488" y="1298448"/>
            <a:ext cx="4206240" cy="4041648"/>
          </a:xfrm>
          <a:prstGeom prst="rect">
            <a:avLst/>
          </a:prstGeom>
          <a:solidFill>
            <a:srgbClr val="F2F4F8"/>
          </a:solidFill>
          <a:ln/>
        </p:spPr>
        <p:txBody>
          <a:bodyPr/>
          <a:lstStyle/>
          <a:p>
            <a:endParaRPr lang="fr-FR"/>
          </a:p>
        </p:txBody>
      </p:sp>
      <p:sp>
        <p:nvSpPr>
          <p:cNvPr id="16" name="Text 14"/>
          <p:cNvSpPr txBox="1"/>
          <p:nvPr/>
        </p:nvSpPr>
        <p:spPr>
          <a:xfrm>
            <a:off x="7607808" y="1517904"/>
            <a:ext cx="3657600" cy="256032"/>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ENCADREMENT DU PROJET</a:t>
            </a:r>
            <a:endParaRPr lang="en-US" sz="1050" dirty="0"/>
          </a:p>
        </p:txBody>
      </p:sp>
      <p:sp>
        <p:nvSpPr>
          <p:cNvPr id="17" name="Shape 15"/>
          <p:cNvSpPr/>
          <p:nvPr/>
        </p:nvSpPr>
        <p:spPr>
          <a:xfrm>
            <a:off x="7626096" y="1993392"/>
            <a:ext cx="82296" cy="82296"/>
          </a:xfrm>
          <a:prstGeom prst="ellipse">
            <a:avLst/>
          </a:prstGeom>
          <a:solidFill>
            <a:srgbClr val="C5A55A"/>
          </a:solidFill>
          <a:ln/>
        </p:spPr>
        <p:txBody>
          <a:bodyPr/>
          <a:lstStyle/>
          <a:p>
            <a:endParaRPr lang="fr-FR"/>
          </a:p>
        </p:txBody>
      </p:sp>
      <p:sp>
        <p:nvSpPr>
          <p:cNvPr id="18" name="Text 16"/>
          <p:cNvSpPr txBox="1"/>
          <p:nvPr/>
        </p:nvSpPr>
        <p:spPr>
          <a:xfrm>
            <a:off x="7808976" y="1883664"/>
            <a:ext cx="3566160" cy="274320"/>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Fadel Ghamlouche</a:t>
            </a:r>
            <a:endParaRPr lang="en-US" sz="1350" dirty="0"/>
          </a:p>
        </p:txBody>
      </p:sp>
      <p:sp>
        <p:nvSpPr>
          <p:cNvPr id="19" name="Text 17"/>
          <p:cNvSpPr txBox="1"/>
          <p:nvPr/>
        </p:nvSpPr>
        <p:spPr>
          <a:xfrm>
            <a:off x="7808976" y="2139696"/>
            <a:ext cx="3566160" cy="237744"/>
          </a:xfrm>
          <a:prstGeom prst="rect">
            <a:avLst/>
          </a:prstGeom>
          <a:noFill/>
          <a:ln/>
        </p:spPr>
        <p:txBody>
          <a:bodyPr wrap="square" lIns="0" tIns="0" rIns="0" bIns="0" rtlCol="0" anchor="ctr"/>
          <a:lstStyle/>
          <a:p>
            <a:pPr marL="0" indent="0">
              <a:buNone/>
            </a:pPr>
            <a:r>
              <a:rPr lang="en-US" sz="1050" b="1" dirty="0">
                <a:solidFill>
                  <a:srgbClr val="C5A55A"/>
                </a:solidFill>
                <a:latin typeface="Lato" pitchFamily="34" charset="0"/>
                <a:ea typeface="Lato" pitchFamily="34" charset="-122"/>
                <a:cs typeface="Lato" pitchFamily="34" charset="-120"/>
              </a:rPr>
              <a:t>Maître d'apprentissage</a:t>
            </a:r>
            <a:endParaRPr lang="en-US" sz="1050" dirty="0"/>
          </a:p>
        </p:txBody>
      </p:sp>
      <p:sp>
        <p:nvSpPr>
          <p:cNvPr id="20" name="Text 18"/>
          <p:cNvSpPr txBox="1"/>
          <p:nvPr/>
        </p:nvSpPr>
        <p:spPr>
          <a:xfrm>
            <a:off x="7808976" y="2359152"/>
            <a:ext cx="3566160" cy="274320"/>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cadrage du besoin, validation de la recette</a:t>
            </a:r>
            <a:endParaRPr lang="en-US" sz="1100" dirty="0"/>
          </a:p>
        </p:txBody>
      </p:sp>
      <p:sp>
        <p:nvSpPr>
          <p:cNvPr id="21" name="Shape 19"/>
          <p:cNvSpPr/>
          <p:nvPr/>
        </p:nvSpPr>
        <p:spPr>
          <a:xfrm>
            <a:off x="7626096" y="2871216"/>
            <a:ext cx="82296" cy="82296"/>
          </a:xfrm>
          <a:prstGeom prst="ellipse">
            <a:avLst/>
          </a:prstGeom>
          <a:solidFill>
            <a:srgbClr val="C5A55A"/>
          </a:solidFill>
          <a:ln/>
        </p:spPr>
        <p:txBody>
          <a:bodyPr/>
          <a:lstStyle/>
          <a:p>
            <a:endParaRPr lang="fr-FR"/>
          </a:p>
        </p:txBody>
      </p:sp>
      <p:sp>
        <p:nvSpPr>
          <p:cNvPr id="22" name="Text 20"/>
          <p:cNvSpPr txBox="1"/>
          <p:nvPr/>
        </p:nvSpPr>
        <p:spPr>
          <a:xfrm>
            <a:off x="7808976" y="2761488"/>
            <a:ext cx="3566160" cy="274320"/>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Alexandre Chauvie</a:t>
            </a:r>
            <a:endParaRPr lang="en-US" sz="1350" dirty="0"/>
          </a:p>
        </p:txBody>
      </p:sp>
      <p:sp>
        <p:nvSpPr>
          <p:cNvPr id="23" name="Text 21"/>
          <p:cNvSpPr txBox="1"/>
          <p:nvPr/>
        </p:nvSpPr>
        <p:spPr>
          <a:xfrm>
            <a:off x="7808976" y="3017520"/>
            <a:ext cx="3566160" cy="237744"/>
          </a:xfrm>
          <a:prstGeom prst="rect">
            <a:avLst/>
          </a:prstGeom>
          <a:noFill/>
          <a:ln/>
        </p:spPr>
        <p:txBody>
          <a:bodyPr wrap="square" lIns="0" tIns="0" rIns="0" bIns="0" rtlCol="0" anchor="ctr"/>
          <a:lstStyle/>
          <a:p>
            <a:pPr marL="0" indent="0">
              <a:buNone/>
            </a:pPr>
            <a:r>
              <a:rPr lang="en-US" sz="1050" b="1" dirty="0">
                <a:solidFill>
                  <a:srgbClr val="C5A55A"/>
                </a:solidFill>
                <a:latin typeface="Lato" pitchFamily="34" charset="0"/>
                <a:ea typeface="Lato" pitchFamily="34" charset="-122"/>
                <a:cs typeface="Lato" pitchFamily="34" charset="-120"/>
              </a:rPr>
              <a:t>Expert cybersécurité</a:t>
            </a:r>
            <a:endParaRPr lang="en-US" sz="1050" dirty="0"/>
          </a:p>
        </p:txBody>
      </p:sp>
      <p:sp>
        <p:nvSpPr>
          <p:cNvPr id="24" name="Text 22"/>
          <p:cNvSpPr txBox="1"/>
          <p:nvPr/>
        </p:nvSpPr>
        <p:spPr>
          <a:xfrm>
            <a:off x="7808976" y="3236976"/>
            <a:ext cx="3566160" cy="274320"/>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appui technique, calibrage des seuils</a:t>
            </a:r>
            <a:endParaRPr lang="en-US" sz="1100" dirty="0"/>
          </a:p>
        </p:txBody>
      </p:sp>
      <p:sp>
        <p:nvSpPr>
          <p:cNvPr id="25" name="Shape 23"/>
          <p:cNvSpPr/>
          <p:nvPr/>
        </p:nvSpPr>
        <p:spPr>
          <a:xfrm>
            <a:off x="7626096" y="3749040"/>
            <a:ext cx="82296" cy="82296"/>
          </a:xfrm>
          <a:prstGeom prst="ellipse">
            <a:avLst/>
          </a:prstGeom>
          <a:solidFill>
            <a:srgbClr val="C5A55A"/>
          </a:solidFill>
          <a:ln/>
        </p:spPr>
        <p:txBody>
          <a:bodyPr/>
          <a:lstStyle/>
          <a:p>
            <a:endParaRPr lang="fr-FR"/>
          </a:p>
        </p:txBody>
      </p:sp>
      <p:sp>
        <p:nvSpPr>
          <p:cNvPr id="26" name="Text 24"/>
          <p:cNvSpPr txBox="1"/>
          <p:nvPr/>
        </p:nvSpPr>
        <p:spPr>
          <a:xfrm>
            <a:off x="7808976" y="3639312"/>
            <a:ext cx="3566160" cy="274320"/>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Étienne Schneider</a:t>
            </a:r>
            <a:endParaRPr lang="en-US" sz="1350" dirty="0"/>
          </a:p>
        </p:txBody>
      </p:sp>
      <p:sp>
        <p:nvSpPr>
          <p:cNvPr id="27" name="Text 25"/>
          <p:cNvSpPr txBox="1"/>
          <p:nvPr/>
        </p:nvSpPr>
        <p:spPr>
          <a:xfrm>
            <a:off x="7808976" y="3895344"/>
            <a:ext cx="3566160" cy="237744"/>
          </a:xfrm>
          <a:prstGeom prst="rect">
            <a:avLst/>
          </a:prstGeom>
          <a:noFill/>
          <a:ln/>
        </p:spPr>
        <p:txBody>
          <a:bodyPr wrap="square" lIns="0" tIns="0" rIns="0" bIns="0" rtlCol="0" anchor="ctr"/>
          <a:lstStyle/>
          <a:p>
            <a:pPr marL="0" indent="0">
              <a:buNone/>
            </a:pPr>
            <a:r>
              <a:rPr lang="en-US" sz="1050" b="1" dirty="0">
                <a:solidFill>
                  <a:srgbClr val="C5A55A"/>
                </a:solidFill>
                <a:latin typeface="Lato" pitchFamily="34" charset="0"/>
                <a:ea typeface="Lato" pitchFamily="34" charset="-122"/>
                <a:cs typeface="Lato" pitchFamily="34" charset="-120"/>
              </a:rPr>
              <a:t>Tuteur école</a:t>
            </a:r>
            <a:endParaRPr lang="en-US" sz="1050" dirty="0"/>
          </a:p>
        </p:txBody>
      </p:sp>
      <p:sp>
        <p:nvSpPr>
          <p:cNvPr id="28" name="Text 26"/>
          <p:cNvSpPr txBox="1"/>
          <p:nvPr/>
        </p:nvSpPr>
        <p:spPr>
          <a:xfrm>
            <a:off x="7808976" y="4114800"/>
            <a:ext cx="3566160" cy="274320"/>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suivi pédagogique et méthodologique</a:t>
            </a:r>
            <a:endParaRPr lang="en-US" sz="1100" dirty="0"/>
          </a:p>
        </p:txBody>
      </p:sp>
      <p:sp>
        <p:nvSpPr>
          <p:cNvPr id="30" name="Text 28"/>
          <p:cNvSpPr txBox="1"/>
          <p:nvPr/>
        </p:nvSpPr>
        <p:spPr>
          <a:xfrm>
            <a:off x="914400" y="5870448"/>
            <a:ext cx="10362895" cy="566928"/>
          </a:xfrm>
          <a:prstGeom prst="rect">
            <a:avLst/>
          </a:prstGeom>
          <a:noFill/>
          <a:ln/>
        </p:spPr>
        <p:txBody>
          <a:bodyPr wrap="square" lIns="0" tIns="0" rIns="0" bIns="0" rtlCol="0" anchor="ctr"/>
          <a:lstStyle/>
          <a:p>
            <a:pPr marL="0" indent="0">
              <a:lnSpc>
                <a:spcPct val="106000"/>
              </a:lnSpc>
              <a:buNone/>
            </a:pPr>
            <a:r>
              <a:rPr lang="en-US" sz="1250" b="1" i="1" dirty="0">
                <a:solidFill>
                  <a:srgbClr val="C5A55A"/>
                </a:solidFill>
                <a:latin typeface="Lato" pitchFamily="34" charset="0"/>
                <a:ea typeface="Lato" pitchFamily="34" charset="-122"/>
                <a:cs typeface="Lato" pitchFamily="34" charset="-120"/>
              </a:rPr>
              <a:t>Le cabinet est à la fois commanditaire, utilisateur et premier client de la démarche.</a:t>
            </a:r>
            <a:endParaRPr lang="en-US" sz="1250" i="1" dirty="0">
              <a:solidFill>
                <a:srgbClr val="C5A55A"/>
              </a:solidFill>
            </a:endParaRPr>
          </a:p>
        </p:txBody>
      </p:sp>
      <p:pic>
        <p:nvPicPr>
          <p:cNvPr id="32" name="Graphique 31" descr="Informations contour">
            <a:extLst>
              <a:ext uri="{FF2B5EF4-FFF2-40B4-BE49-F238E27FC236}">
                <a16:creationId xmlns:a16="http://schemas.microsoft.com/office/drawing/2014/main" id="{488DB7A5-D270-7BEE-44CF-DE8BDAAEA0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4112" y="5824747"/>
            <a:ext cx="658330" cy="658330"/>
          </a:xfrm>
          <a:prstGeom prst="rect">
            <a:avLst/>
          </a:prstGeom>
        </p:spPr>
      </p:pic>
      <p:sp>
        <p:nvSpPr>
          <p:cNvPr id="31" name="Shape 23">
            <a:extLst>
              <a:ext uri="{FF2B5EF4-FFF2-40B4-BE49-F238E27FC236}">
                <a16:creationId xmlns:a16="http://schemas.microsoft.com/office/drawing/2014/main" id="{14E9BF57-F484-16C1-E1F9-FE95FED48231}"/>
              </a:ext>
            </a:extLst>
          </p:cNvPr>
          <p:cNvSpPr/>
          <p:nvPr/>
        </p:nvSpPr>
        <p:spPr>
          <a:xfrm>
            <a:off x="7626096" y="4480560"/>
            <a:ext cx="82296" cy="82296"/>
          </a:xfrm>
          <a:prstGeom prst="ellipse">
            <a:avLst/>
          </a:prstGeom>
          <a:solidFill>
            <a:srgbClr val="C5A55A"/>
          </a:solidFill>
          <a:ln/>
        </p:spPr>
        <p:txBody>
          <a:bodyPr/>
          <a:lstStyle/>
          <a:p>
            <a:endParaRPr lang="fr-FR"/>
          </a:p>
        </p:txBody>
      </p:sp>
      <p:sp>
        <p:nvSpPr>
          <p:cNvPr id="34" name="Text 24">
            <a:extLst>
              <a:ext uri="{FF2B5EF4-FFF2-40B4-BE49-F238E27FC236}">
                <a16:creationId xmlns:a16="http://schemas.microsoft.com/office/drawing/2014/main" id="{B54C7E15-2278-F3CF-6E09-5F1D4395DEE7}"/>
              </a:ext>
            </a:extLst>
          </p:cNvPr>
          <p:cNvSpPr txBox="1"/>
          <p:nvPr/>
        </p:nvSpPr>
        <p:spPr>
          <a:xfrm>
            <a:off x="7808976" y="4370832"/>
            <a:ext cx="3566160" cy="274320"/>
          </a:xfrm>
          <a:prstGeom prst="rect">
            <a:avLst/>
          </a:prstGeom>
          <a:noFill/>
          <a:ln/>
        </p:spPr>
        <p:txBody>
          <a:bodyPr wrap="square" lIns="0" tIns="0" rIns="0" bIns="0" rtlCol="0" anchor="ctr"/>
          <a:lstStyle/>
          <a:p>
            <a:pPr marL="0" indent="0">
              <a:buNone/>
            </a:pPr>
            <a:r>
              <a:rPr lang="en-US" sz="1350" b="1" dirty="0" err="1">
                <a:solidFill>
                  <a:srgbClr val="1B2A4A"/>
                </a:solidFill>
                <a:latin typeface="Lato" pitchFamily="34" charset="0"/>
                <a:ea typeface="Lato" pitchFamily="34" charset="-122"/>
                <a:cs typeface="Lato" pitchFamily="34" charset="-120"/>
              </a:rPr>
              <a:t>Comité</a:t>
            </a:r>
            <a:r>
              <a:rPr lang="en-US" sz="1350" b="1" dirty="0">
                <a:solidFill>
                  <a:srgbClr val="1B2A4A"/>
                </a:solidFill>
                <a:latin typeface="Lato" pitchFamily="34" charset="0"/>
                <a:ea typeface="Lato" pitchFamily="34" charset="-122"/>
                <a:cs typeface="Lato" pitchFamily="34" charset="-120"/>
              </a:rPr>
              <a:t> de direction</a:t>
            </a:r>
            <a:endParaRPr lang="en-US" sz="1350" dirty="0"/>
          </a:p>
        </p:txBody>
      </p:sp>
      <p:sp>
        <p:nvSpPr>
          <p:cNvPr id="36" name="Text 25">
            <a:extLst>
              <a:ext uri="{FF2B5EF4-FFF2-40B4-BE49-F238E27FC236}">
                <a16:creationId xmlns:a16="http://schemas.microsoft.com/office/drawing/2014/main" id="{AA23EF3D-259A-4AA7-918A-73C6FDB9E0FF}"/>
              </a:ext>
            </a:extLst>
          </p:cNvPr>
          <p:cNvSpPr txBox="1"/>
          <p:nvPr/>
        </p:nvSpPr>
        <p:spPr>
          <a:xfrm>
            <a:off x="7808976" y="4626864"/>
            <a:ext cx="3566160" cy="237744"/>
          </a:xfrm>
          <a:prstGeom prst="rect">
            <a:avLst/>
          </a:prstGeom>
          <a:noFill/>
          <a:ln/>
        </p:spPr>
        <p:txBody>
          <a:bodyPr wrap="square" lIns="0" tIns="0" rIns="0" bIns="0" rtlCol="0" anchor="ctr"/>
          <a:lstStyle/>
          <a:p>
            <a:pPr marL="0" indent="0">
              <a:buNone/>
            </a:pPr>
            <a:r>
              <a:rPr lang="fr-FR" sz="1050" b="1" noProof="0" dirty="0">
                <a:solidFill>
                  <a:srgbClr val="C5A55A"/>
                </a:solidFill>
                <a:latin typeface="Lato" pitchFamily="34" charset="0"/>
                <a:ea typeface="Lato" pitchFamily="34" charset="-122"/>
                <a:cs typeface="Lato" pitchFamily="34" charset="-120"/>
              </a:rPr>
              <a:t>Dirigeants</a:t>
            </a:r>
            <a:endParaRPr lang="fr-FR" sz="1050" noProof="0" dirty="0"/>
          </a:p>
        </p:txBody>
      </p:sp>
      <p:sp>
        <p:nvSpPr>
          <p:cNvPr id="38" name="Text 26">
            <a:extLst>
              <a:ext uri="{FF2B5EF4-FFF2-40B4-BE49-F238E27FC236}">
                <a16:creationId xmlns:a16="http://schemas.microsoft.com/office/drawing/2014/main" id="{25B018E6-7671-221D-8053-231B7C5FD37D}"/>
              </a:ext>
            </a:extLst>
          </p:cNvPr>
          <p:cNvSpPr txBox="1"/>
          <p:nvPr/>
        </p:nvSpPr>
        <p:spPr>
          <a:xfrm>
            <a:off x="7808976" y="4846320"/>
            <a:ext cx="3566160" cy="274320"/>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Client final, </a:t>
            </a:r>
            <a:r>
              <a:rPr lang="en-US" sz="1100" dirty="0" err="1">
                <a:solidFill>
                  <a:srgbClr val="4A5568"/>
                </a:solidFill>
                <a:latin typeface="Lato" pitchFamily="34" charset="0"/>
                <a:ea typeface="Lato" pitchFamily="34" charset="-122"/>
                <a:cs typeface="Lato" pitchFamily="34" charset="-120"/>
              </a:rPr>
              <a:t>utilisateur</a:t>
            </a:r>
            <a:r>
              <a:rPr lang="en-US" sz="1100" dirty="0">
                <a:solidFill>
                  <a:srgbClr val="4A5568"/>
                </a:solidFill>
                <a:latin typeface="Lato" pitchFamily="34" charset="0"/>
                <a:ea typeface="Lato" pitchFamily="34" charset="-122"/>
                <a:cs typeface="Lato" pitchFamily="34" charset="-120"/>
              </a:rPr>
              <a:t> final du </a:t>
            </a:r>
            <a:r>
              <a:rPr lang="en-US" sz="1100" dirty="0" err="1">
                <a:solidFill>
                  <a:srgbClr val="4A5568"/>
                </a:solidFill>
                <a:latin typeface="Lato" pitchFamily="34" charset="0"/>
                <a:ea typeface="Lato" pitchFamily="34" charset="-122"/>
                <a:cs typeface="Lato" pitchFamily="34" charset="-120"/>
              </a:rPr>
              <a:t>projet</a:t>
            </a:r>
            <a:endParaRPr lang="en-US" sz="11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A7A1B5E9-537A-42B8-BAB9-EE3A72869E41}" type="slidenum">
              <a:rPr lang="fr-FR" sz="900" b="0">
                <a:solidFill>
                  <a:srgbClr val="4A5568"/>
                </a:solidFill>
                <a:latin typeface="Lato"/>
              </a:rPr>
              <a:t>4</a:t>
            </a:fld>
            <a:endParaRPr lang="fr-FR">
              <a:solidFill>
                <a:srgbClr val="4A556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HISTORIQUE DU PROJET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Huit ans de travaux internes</a:t>
            </a:r>
            <a:endParaRPr lang="en-US" sz="3000" dirty="0"/>
          </a:p>
        </p:txBody>
      </p:sp>
      <p:sp>
        <p:nvSpPr>
          <p:cNvPr id="4" name="Shape 2"/>
          <p:cNvSpPr/>
          <p:nvPr/>
        </p:nvSpPr>
        <p:spPr>
          <a:xfrm>
            <a:off x="749808" y="2103120"/>
            <a:ext cx="9537192" cy="45719"/>
          </a:xfrm>
          <a:prstGeom prst="rect">
            <a:avLst/>
          </a:prstGeom>
          <a:solidFill>
            <a:srgbClr val="E6EAF1"/>
          </a:solidFill>
          <a:ln/>
        </p:spPr>
        <p:txBody>
          <a:bodyPr/>
          <a:lstStyle/>
          <a:p>
            <a:endParaRPr lang="fr-FR"/>
          </a:p>
        </p:txBody>
      </p:sp>
      <p:sp>
        <p:nvSpPr>
          <p:cNvPr id="5" name="Shape 3"/>
          <p:cNvSpPr/>
          <p:nvPr/>
        </p:nvSpPr>
        <p:spPr>
          <a:xfrm>
            <a:off x="10263092" y="2052828"/>
            <a:ext cx="274320" cy="128016"/>
          </a:xfrm>
          <a:prstGeom prst="rect">
            <a:avLst/>
          </a:prstGeom>
          <a:solidFill>
            <a:srgbClr val="C5A55A"/>
          </a:solidFill>
          <a:ln/>
        </p:spPr>
        <p:txBody>
          <a:bodyPr/>
          <a:lstStyle/>
          <a:p>
            <a:endParaRPr lang="fr-FR"/>
          </a:p>
        </p:txBody>
      </p:sp>
      <p:sp>
        <p:nvSpPr>
          <p:cNvPr id="6" name="Shape 4"/>
          <p:cNvSpPr/>
          <p:nvPr/>
        </p:nvSpPr>
        <p:spPr>
          <a:xfrm>
            <a:off x="667512" y="2025396"/>
            <a:ext cx="182880" cy="182880"/>
          </a:xfrm>
          <a:prstGeom prst="ellipse">
            <a:avLst/>
          </a:prstGeom>
          <a:solidFill>
            <a:srgbClr val="1B2A4A"/>
          </a:solidFill>
          <a:ln/>
        </p:spPr>
        <p:txBody>
          <a:bodyPr/>
          <a:lstStyle/>
          <a:p>
            <a:endParaRPr lang="fr-FR"/>
          </a:p>
        </p:txBody>
      </p:sp>
      <p:sp>
        <p:nvSpPr>
          <p:cNvPr id="7" name="Text 5"/>
          <p:cNvSpPr txBox="1"/>
          <p:nvPr/>
        </p:nvSpPr>
        <p:spPr>
          <a:xfrm>
            <a:off x="493776" y="1481328"/>
            <a:ext cx="1280160" cy="365760"/>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2018</a:t>
            </a:r>
            <a:endParaRPr lang="en-US" sz="1900" dirty="0"/>
          </a:p>
        </p:txBody>
      </p:sp>
      <p:sp>
        <p:nvSpPr>
          <p:cNvPr id="8" name="Text 6"/>
          <p:cNvSpPr txBox="1"/>
          <p:nvPr/>
        </p:nvSpPr>
        <p:spPr>
          <a:xfrm>
            <a:off x="694944" y="2340864"/>
            <a:ext cx="2286000"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Cartographier</a:t>
            </a:r>
            <a:endParaRPr lang="en-US" sz="1450" dirty="0"/>
          </a:p>
        </p:txBody>
      </p:sp>
      <p:sp>
        <p:nvSpPr>
          <p:cNvPr id="9" name="Text 7"/>
          <p:cNvSpPr txBox="1"/>
          <p:nvPr/>
        </p:nvSpPr>
        <p:spPr>
          <a:xfrm>
            <a:off x="694944" y="2651760"/>
            <a:ext cx="2212848" cy="731520"/>
          </a:xfrm>
          <a:prstGeom prst="rect">
            <a:avLst/>
          </a:prstGeom>
          <a:noFill/>
          <a:ln/>
        </p:spPr>
        <p:txBody>
          <a:bodyPr wrap="square" lIns="0" tIns="0" rIns="0" bIns="0" rtlCol="0" anchor="t"/>
          <a:lstStyle/>
          <a:p>
            <a:pPr marL="0" indent="0" algn="l">
              <a:lnSpc>
                <a:spcPct val="118000"/>
              </a:lnSpc>
              <a:buNone/>
            </a:pPr>
            <a:r>
              <a:rPr lang="en-US" sz="1150" dirty="0">
                <a:solidFill>
                  <a:srgbClr val="4A5568"/>
                </a:solidFill>
                <a:latin typeface="Lato" pitchFamily="34" charset="0"/>
                <a:ea typeface="Lato" pitchFamily="34" charset="-122"/>
                <a:cs typeface="Lato" pitchFamily="34" charset="-120"/>
              </a:rPr>
              <a:t>Représenter le système d'information pour le maîtriser.</a:t>
            </a:r>
            <a:endParaRPr lang="en-US" sz="1150" dirty="0"/>
          </a:p>
        </p:txBody>
      </p:sp>
      <p:sp>
        <p:nvSpPr>
          <p:cNvPr id="10" name="Shape 8"/>
          <p:cNvSpPr/>
          <p:nvPr/>
        </p:nvSpPr>
        <p:spPr>
          <a:xfrm>
            <a:off x="3154680" y="2025396"/>
            <a:ext cx="182880" cy="182880"/>
          </a:xfrm>
          <a:prstGeom prst="ellipse">
            <a:avLst/>
          </a:prstGeom>
          <a:solidFill>
            <a:srgbClr val="1B2A4A"/>
          </a:solidFill>
          <a:ln/>
        </p:spPr>
        <p:txBody>
          <a:bodyPr/>
          <a:lstStyle/>
          <a:p>
            <a:endParaRPr lang="fr-FR"/>
          </a:p>
        </p:txBody>
      </p:sp>
      <p:sp>
        <p:nvSpPr>
          <p:cNvPr id="11" name="Text 9"/>
          <p:cNvSpPr txBox="1"/>
          <p:nvPr/>
        </p:nvSpPr>
        <p:spPr>
          <a:xfrm>
            <a:off x="2980944" y="1481328"/>
            <a:ext cx="1280160" cy="365760"/>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2021/2022</a:t>
            </a:r>
            <a:endParaRPr lang="en-US" sz="1900" dirty="0"/>
          </a:p>
        </p:txBody>
      </p:sp>
      <p:sp>
        <p:nvSpPr>
          <p:cNvPr id="12" name="Text 10"/>
          <p:cNvSpPr txBox="1"/>
          <p:nvPr/>
        </p:nvSpPr>
        <p:spPr>
          <a:xfrm>
            <a:off x="3182112" y="2340864"/>
            <a:ext cx="2286000"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Relier</a:t>
            </a:r>
            <a:endParaRPr lang="en-US" sz="1450" dirty="0"/>
          </a:p>
        </p:txBody>
      </p:sp>
      <p:sp>
        <p:nvSpPr>
          <p:cNvPr id="13" name="Text 11"/>
          <p:cNvSpPr txBox="1"/>
          <p:nvPr/>
        </p:nvSpPr>
        <p:spPr>
          <a:xfrm>
            <a:off x="3182112" y="2651760"/>
            <a:ext cx="2212848" cy="731520"/>
          </a:xfrm>
          <a:prstGeom prst="rect">
            <a:avLst/>
          </a:prstGeom>
          <a:noFill/>
          <a:ln/>
        </p:spPr>
        <p:txBody>
          <a:bodyPr wrap="square" lIns="0" tIns="0" rIns="0" bIns="0" rtlCol="0" anchor="t"/>
          <a:lstStyle/>
          <a:p>
            <a:pPr marL="0" indent="0" algn="l">
              <a:lnSpc>
                <a:spcPct val="118000"/>
              </a:lnSpc>
              <a:buNone/>
            </a:pPr>
            <a:r>
              <a:rPr lang="en-US" sz="1150" dirty="0">
                <a:solidFill>
                  <a:srgbClr val="4A5568"/>
                </a:solidFill>
                <a:latin typeface="Lato" pitchFamily="34" charset="0"/>
                <a:ea typeface="Lato" pitchFamily="34" charset="-122"/>
                <a:cs typeface="Lato" pitchFamily="34" charset="-120"/>
              </a:rPr>
              <a:t>Rapprocher les enjeux de performance et de sécurité.</a:t>
            </a:r>
            <a:endParaRPr lang="en-US" sz="1150" dirty="0"/>
          </a:p>
        </p:txBody>
      </p:sp>
      <p:sp>
        <p:nvSpPr>
          <p:cNvPr id="14" name="Shape 12"/>
          <p:cNvSpPr/>
          <p:nvPr/>
        </p:nvSpPr>
        <p:spPr>
          <a:xfrm>
            <a:off x="5641848" y="2025396"/>
            <a:ext cx="182880" cy="182880"/>
          </a:xfrm>
          <a:prstGeom prst="ellipse">
            <a:avLst/>
          </a:prstGeom>
          <a:solidFill>
            <a:srgbClr val="1B2A4A"/>
          </a:solidFill>
          <a:ln/>
        </p:spPr>
        <p:txBody>
          <a:bodyPr/>
          <a:lstStyle/>
          <a:p>
            <a:endParaRPr lang="fr-FR"/>
          </a:p>
        </p:txBody>
      </p:sp>
      <p:sp>
        <p:nvSpPr>
          <p:cNvPr id="15" name="Text 13"/>
          <p:cNvSpPr txBox="1"/>
          <p:nvPr/>
        </p:nvSpPr>
        <p:spPr>
          <a:xfrm>
            <a:off x="5468112" y="1481328"/>
            <a:ext cx="1280160" cy="365760"/>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2023</a:t>
            </a:r>
            <a:endParaRPr lang="en-US" sz="1900" dirty="0"/>
          </a:p>
        </p:txBody>
      </p:sp>
      <p:sp>
        <p:nvSpPr>
          <p:cNvPr id="16" name="Text 14"/>
          <p:cNvSpPr txBox="1"/>
          <p:nvPr/>
        </p:nvSpPr>
        <p:spPr>
          <a:xfrm>
            <a:off x="5669280" y="2340864"/>
            <a:ext cx="2286000"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Noter</a:t>
            </a:r>
            <a:endParaRPr lang="en-US" sz="1450" dirty="0"/>
          </a:p>
        </p:txBody>
      </p:sp>
      <p:sp>
        <p:nvSpPr>
          <p:cNvPr id="17" name="Text 15"/>
          <p:cNvSpPr txBox="1"/>
          <p:nvPr/>
        </p:nvSpPr>
        <p:spPr>
          <a:xfrm>
            <a:off x="5669280" y="2651760"/>
            <a:ext cx="2212848" cy="731520"/>
          </a:xfrm>
          <a:prstGeom prst="rect">
            <a:avLst/>
          </a:prstGeom>
          <a:noFill/>
          <a:ln/>
        </p:spPr>
        <p:txBody>
          <a:bodyPr wrap="square" lIns="0" tIns="0" rIns="0" bIns="0" rtlCol="0" anchor="t"/>
          <a:lstStyle/>
          <a:p>
            <a:pPr marL="0" indent="0" algn="l">
              <a:lnSpc>
                <a:spcPct val="118000"/>
              </a:lnSpc>
              <a:buNone/>
            </a:pPr>
            <a:r>
              <a:rPr lang="en-US" sz="1150" dirty="0">
                <a:solidFill>
                  <a:srgbClr val="4A5568"/>
                </a:solidFill>
                <a:latin typeface="Lato" pitchFamily="34" charset="0"/>
                <a:ea typeface="Lato" pitchFamily="34" charset="-122"/>
                <a:cs typeface="Lato" pitchFamily="34" charset="-120"/>
              </a:rPr>
              <a:t>LPB VSS : un questionnaire, cinq coefficients, une formule.</a:t>
            </a:r>
            <a:endParaRPr lang="en-US" sz="1150" dirty="0"/>
          </a:p>
        </p:txBody>
      </p:sp>
      <p:sp>
        <p:nvSpPr>
          <p:cNvPr id="18" name="Shape 16"/>
          <p:cNvSpPr/>
          <p:nvPr/>
        </p:nvSpPr>
        <p:spPr>
          <a:xfrm>
            <a:off x="8129016" y="2025396"/>
            <a:ext cx="182880" cy="182880"/>
          </a:xfrm>
          <a:prstGeom prst="ellipse">
            <a:avLst/>
          </a:prstGeom>
          <a:solidFill>
            <a:srgbClr val="C5A55A"/>
          </a:solidFill>
          <a:ln/>
        </p:spPr>
        <p:txBody>
          <a:bodyPr/>
          <a:lstStyle/>
          <a:p>
            <a:endParaRPr lang="fr-FR"/>
          </a:p>
        </p:txBody>
      </p:sp>
      <p:sp>
        <p:nvSpPr>
          <p:cNvPr id="19" name="Text 17"/>
          <p:cNvSpPr txBox="1"/>
          <p:nvPr/>
        </p:nvSpPr>
        <p:spPr>
          <a:xfrm>
            <a:off x="7955280" y="1481328"/>
            <a:ext cx="128016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2024</a:t>
            </a:r>
            <a:endParaRPr lang="en-US" sz="1900" dirty="0"/>
          </a:p>
        </p:txBody>
      </p:sp>
      <p:sp>
        <p:nvSpPr>
          <p:cNvPr id="20" name="Text 18"/>
          <p:cNvSpPr txBox="1"/>
          <p:nvPr/>
        </p:nvSpPr>
        <p:spPr>
          <a:xfrm>
            <a:off x="8156448" y="2340864"/>
            <a:ext cx="2286000"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Gouverner</a:t>
            </a:r>
            <a:endParaRPr lang="en-US" sz="1450" dirty="0"/>
          </a:p>
        </p:txBody>
      </p:sp>
      <p:sp>
        <p:nvSpPr>
          <p:cNvPr id="21" name="Text 19"/>
          <p:cNvSpPr txBox="1"/>
          <p:nvPr/>
        </p:nvSpPr>
        <p:spPr>
          <a:xfrm>
            <a:off x="8156448" y="2651760"/>
            <a:ext cx="2212848" cy="731520"/>
          </a:xfrm>
          <a:prstGeom prst="rect">
            <a:avLst/>
          </a:prstGeom>
          <a:noFill/>
          <a:ln/>
        </p:spPr>
        <p:txBody>
          <a:bodyPr wrap="square" lIns="0" tIns="0" rIns="0" bIns="0" rtlCol="0" anchor="t"/>
          <a:lstStyle/>
          <a:p>
            <a:pPr marL="0" indent="0" algn="l">
              <a:lnSpc>
                <a:spcPct val="118000"/>
              </a:lnSpc>
              <a:buNone/>
            </a:pPr>
            <a:r>
              <a:rPr lang="en-US" sz="1150" dirty="0">
                <a:solidFill>
                  <a:srgbClr val="4A5568"/>
                </a:solidFill>
                <a:latin typeface="Lato" pitchFamily="34" charset="0"/>
                <a:ea typeface="Lato" pitchFamily="34" charset="-122"/>
                <a:cs typeface="Lato" pitchFamily="34" charset="-120"/>
              </a:rPr>
              <a:t>Mise en place d'un outil de gouvernance des risques.</a:t>
            </a:r>
            <a:endParaRPr lang="en-US" sz="1150" dirty="0"/>
          </a:p>
        </p:txBody>
      </p:sp>
      <p:sp>
        <p:nvSpPr>
          <p:cNvPr id="23" name="Text 21"/>
          <p:cNvSpPr txBox="1"/>
          <p:nvPr/>
        </p:nvSpPr>
        <p:spPr>
          <a:xfrm>
            <a:off x="5916168" y="822960"/>
            <a:ext cx="3346704" cy="361188"/>
          </a:xfrm>
          <a:prstGeom prst="rect">
            <a:avLst/>
          </a:prstGeom>
          <a:noFill/>
          <a:ln/>
        </p:spPr>
        <p:txBody>
          <a:bodyPr wrap="square" lIns="0" tIns="0" rIns="0" bIns="0" rtlCol="0" anchor="ctr"/>
          <a:lstStyle/>
          <a:p>
            <a:pPr marL="0" indent="0">
              <a:buNone/>
            </a:pPr>
            <a:r>
              <a:rPr lang="en-US" sz="1350" i="1" dirty="0">
                <a:solidFill>
                  <a:srgbClr val="C5A55F"/>
                </a:solidFill>
                <a:latin typeface="Lato" pitchFamily="34" charset="0"/>
                <a:ea typeface="Lato" pitchFamily="34" charset="-122"/>
                <a:cs typeface="Lato" pitchFamily="34" charset="-120"/>
              </a:rPr>
              <a:t>Manuel, à un instant T, </a:t>
            </a:r>
            <a:r>
              <a:rPr lang="en-US" sz="1350" i="1" dirty="0" err="1">
                <a:solidFill>
                  <a:srgbClr val="00B0F0"/>
                </a:solidFill>
                <a:latin typeface="Lato" pitchFamily="34" charset="0"/>
                <a:ea typeface="Lato" pitchFamily="34" charset="-122"/>
                <a:cs typeface="Lato" pitchFamily="34" charset="-120"/>
              </a:rPr>
              <a:t>aucune</a:t>
            </a:r>
            <a:r>
              <a:rPr lang="en-US" sz="1350" i="1" dirty="0">
                <a:solidFill>
                  <a:srgbClr val="00B0F0"/>
                </a:solidFill>
                <a:latin typeface="Lato" pitchFamily="34" charset="0"/>
                <a:ea typeface="Lato" pitchFamily="34" charset="-122"/>
                <a:cs typeface="Lato" pitchFamily="34" charset="-120"/>
              </a:rPr>
              <a:t> </a:t>
            </a:r>
            <a:r>
              <a:rPr lang="en-US" sz="1350" i="1" dirty="0" err="1">
                <a:solidFill>
                  <a:srgbClr val="00B0F0"/>
                </a:solidFill>
                <a:latin typeface="Lato" pitchFamily="34" charset="0"/>
                <a:ea typeface="Lato" pitchFamily="34" charset="-122"/>
                <a:cs typeface="Lato" pitchFamily="34" charset="-120"/>
              </a:rPr>
              <a:t>actualisation</a:t>
            </a:r>
            <a:endParaRPr lang="en-US" sz="1350" i="1" dirty="0">
              <a:solidFill>
                <a:srgbClr val="00B0F0"/>
              </a:solidFill>
            </a:endParaRPr>
          </a:p>
        </p:txBody>
      </p:sp>
      <p:sp>
        <p:nvSpPr>
          <p:cNvPr id="24" name="Text 22"/>
          <p:cNvSpPr txBox="1"/>
          <p:nvPr/>
        </p:nvSpPr>
        <p:spPr>
          <a:xfrm>
            <a:off x="694944" y="4516287"/>
            <a:ext cx="5486400" cy="274320"/>
          </a:xfrm>
          <a:prstGeom prst="rect">
            <a:avLst/>
          </a:prstGeom>
          <a:noFill/>
          <a:ln/>
        </p:spPr>
        <p:txBody>
          <a:bodyPr wrap="square" lIns="0" tIns="0" rIns="0" bIns="0" rtlCol="0" anchor="ctr"/>
          <a:lstStyle/>
          <a:p>
            <a:pPr marL="0" indent="0">
              <a:buNone/>
            </a:pPr>
            <a:r>
              <a:rPr lang="en-US" sz="1400" b="1" kern="0" spc="160" dirty="0">
                <a:solidFill>
                  <a:srgbClr val="4A5568"/>
                </a:solidFill>
                <a:latin typeface="Lato" pitchFamily="34" charset="0"/>
                <a:ea typeface="Lato" pitchFamily="34" charset="-122"/>
                <a:cs typeface="Lato" pitchFamily="34" charset="-120"/>
              </a:rPr>
              <a:t>ENJEUX</a:t>
            </a:r>
            <a:endParaRPr lang="en-US" sz="1400" dirty="0"/>
          </a:p>
        </p:txBody>
      </p:sp>
      <p:sp>
        <p:nvSpPr>
          <p:cNvPr id="25" name="Shape 23"/>
          <p:cNvSpPr/>
          <p:nvPr/>
        </p:nvSpPr>
        <p:spPr>
          <a:xfrm>
            <a:off x="658368" y="4992624"/>
            <a:ext cx="82296" cy="82296"/>
          </a:xfrm>
          <a:prstGeom prst="ellipse">
            <a:avLst/>
          </a:prstGeom>
          <a:solidFill>
            <a:srgbClr val="C5A55A"/>
          </a:solidFill>
          <a:ln/>
        </p:spPr>
        <p:txBody>
          <a:bodyPr/>
          <a:lstStyle/>
          <a:p>
            <a:endParaRPr lang="fr-FR" sz="2800"/>
          </a:p>
        </p:txBody>
      </p:sp>
      <p:sp>
        <p:nvSpPr>
          <p:cNvPr id="26" name="Text 24"/>
          <p:cNvSpPr txBox="1"/>
          <p:nvPr/>
        </p:nvSpPr>
        <p:spPr>
          <a:xfrm>
            <a:off x="841248" y="4919472"/>
            <a:ext cx="3200400" cy="274320"/>
          </a:xfrm>
          <a:prstGeom prst="rect">
            <a:avLst/>
          </a:prstGeom>
          <a:noFill/>
          <a:ln/>
        </p:spPr>
        <p:txBody>
          <a:bodyPr wrap="square" lIns="0" tIns="0" rIns="0" bIns="0" rtlCol="0" anchor="ctr"/>
          <a:lstStyle/>
          <a:p>
            <a:pPr marL="0" indent="0">
              <a:buNone/>
            </a:pPr>
            <a:r>
              <a:rPr lang="en-US" sz="1600" b="1" dirty="0">
                <a:solidFill>
                  <a:srgbClr val="C5A55A"/>
                </a:solidFill>
                <a:latin typeface="Lato" pitchFamily="34" charset="0"/>
                <a:ea typeface="Lato" pitchFamily="34" charset="-122"/>
                <a:cs typeface="Lato" pitchFamily="34" charset="-120"/>
              </a:rPr>
              <a:t>Réglementaire</a:t>
            </a:r>
            <a:endParaRPr lang="en-US" sz="1600" dirty="0"/>
          </a:p>
        </p:txBody>
      </p:sp>
      <p:sp>
        <p:nvSpPr>
          <p:cNvPr id="27" name="Text 25"/>
          <p:cNvSpPr txBox="1"/>
          <p:nvPr/>
        </p:nvSpPr>
        <p:spPr>
          <a:xfrm>
            <a:off x="841248" y="5212080"/>
            <a:ext cx="3246120" cy="1225296"/>
          </a:xfrm>
          <a:prstGeom prst="rect">
            <a:avLst/>
          </a:prstGeom>
          <a:noFill/>
          <a:ln/>
        </p:spPr>
        <p:txBody>
          <a:bodyPr wrap="square" lIns="0" tIns="0" rIns="0" bIns="0" rtlCol="0" anchor="t"/>
          <a:lstStyle/>
          <a:p>
            <a:pPr marL="0" indent="0" algn="l">
              <a:lnSpc>
                <a:spcPct val="118000"/>
              </a:lnSpc>
              <a:buNone/>
            </a:pPr>
            <a:r>
              <a:rPr lang="en-US" sz="1400" dirty="0">
                <a:solidFill>
                  <a:srgbClr val="232A3A"/>
                </a:solidFill>
                <a:latin typeface="Lato" pitchFamily="34" charset="0"/>
                <a:ea typeface="Lato" pitchFamily="34" charset="-122"/>
                <a:cs typeface="Lato" pitchFamily="34" charset="-120"/>
              </a:rPr>
              <a:t>Directive NIS 2 : obligations de gestion des vulnérabilités étendues à de nouveaux secteurs.</a:t>
            </a:r>
            <a:endParaRPr lang="en-US" sz="1400" dirty="0"/>
          </a:p>
        </p:txBody>
      </p:sp>
      <p:sp>
        <p:nvSpPr>
          <p:cNvPr id="28" name="Shape 26"/>
          <p:cNvSpPr/>
          <p:nvPr/>
        </p:nvSpPr>
        <p:spPr>
          <a:xfrm>
            <a:off x="4361688" y="4992624"/>
            <a:ext cx="82296" cy="82296"/>
          </a:xfrm>
          <a:prstGeom prst="ellipse">
            <a:avLst/>
          </a:prstGeom>
          <a:solidFill>
            <a:srgbClr val="C5A55A"/>
          </a:solidFill>
          <a:ln/>
        </p:spPr>
        <p:txBody>
          <a:bodyPr/>
          <a:lstStyle/>
          <a:p>
            <a:endParaRPr lang="fr-FR" sz="2800"/>
          </a:p>
        </p:txBody>
      </p:sp>
      <p:sp>
        <p:nvSpPr>
          <p:cNvPr id="29" name="Text 27"/>
          <p:cNvSpPr txBox="1"/>
          <p:nvPr/>
        </p:nvSpPr>
        <p:spPr>
          <a:xfrm>
            <a:off x="4544568" y="4919472"/>
            <a:ext cx="3200400" cy="274320"/>
          </a:xfrm>
          <a:prstGeom prst="rect">
            <a:avLst/>
          </a:prstGeom>
          <a:noFill/>
          <a:ln/>
        </p:spPr>
        <p:txBody>
          <a:bodyPr wrap="square" lIns="0" tIns="0" rIns="0" bIns="0" rtlCol="0" anchor="ctr"/>
          <a:lstStyle/>
          <a:p>
            <a:pPr marL="0" indent="0">
              <a:buNone/>
            </a:pPr>
            <a:r>
              <a:rPr lang="en-US" sz="1600" b="1" dirty="0">
                <a:solidFill>
                  <a:srgbClr val="C5A55A"/>
                </a:solidFill>
                <a:latin typeface="Lato" pitchFamily="34" charset="0"/>
                <a:ea typeface="Lato" pitchFamily="34" charset="-122"/>
                <a:cs typeface="Lato" pitchFamily="34" charset="-120"/>
              </a:rPr>
              <a:t>Assurabilité</a:t>
            </a:r>
            <a:endParaRPr lang="en-US" sz="1600" dirty="0"/>
          </a:p>
        </p:txBody>
      </p:sp>
      <p:sp>
        <p:nvSpPr>
          <p:cNvPr id="30" name="Text 28"/>
          <p:cNvSpPr txBox="1"/>
          <p:nvPr/>
        </p:nvSpPr>
        <p:spPr>
          <a:xfrm>
            <a:off x="4544568" y="5212080"/>
            <a:ext cx="3246120" cy="1225296"/>
          </a:xfrm>
          <a:prstGeom prst="rect">
            <a:avLst/>
          </a:prstGeom>
          <a:noFill/>
          <a:ln/>
        </p:spPr>
        <p:txBody>
          <a:bodyPr wrap="square" lIns="0" tIns="0" rIns="0" bIns="0" rtlCol="0" anchor="t"/>
          <a:lstStyle/>
          <a:p>
            <a:pPr marL="0" indent="0" algn="l">
              <a:lnSpc>
                <a:spcPct val="118000"/>
              </a:lnSpc>
              <a:buNone/>
            </a:pPr>
            <a:r>
              <a:rPr lang="en-US" sz="1400" dirty="0">
                <a:solidFill>
                  <a:srgbClr val="232A3A"/>
                </a:solidFill>
                <a:latin typeface="Lato" pitchFamily="34" charset="0"/>
                <a:ea typeface="Lato" pitchFamily="34" charset="-122"/>
                <a:cs typeface="Lato" pitchFamily="34" charset="-120"/>
              </a:rPr>
              <a:t>Couverture cyber conditionnée à la preuve d'un suivi effectif.</a:t>
            </a:r>
            <a:endParaRPr lang="en-US" sz="1400" dirty="0"/>
          </a:p>
        </p:txBody>
      </p:sp>
      <p:sp>
        <p:nvSpPr>
          <p:cNvPr id="31" name="Shape 29"/>
          <p:cNvSpPr/>
          <p:nvPr/>
        </p:nvSpPr>
        <p:spPr>
          <a:xfrm>
            <a:off x="8065008" y="4992624"/>
            <a:ext cx="82296" cy="82296"/>
          </a:xfrm>
          <a:prstGeom prst="ellipse">
            <a:avLst/>
          </a:prstGeom>
          <a:solidFill>
            <a:srgbClr val="C5A55A"/>
          </a:solidFill>
          <a:ln/>
        </p:spPr>
        <p:txBody>
          <a:bodyPr/>
          <a:lstStyle/>
          <a:p>
            <a:endParaRPr lang="fr-FR" sz="2800"/>
          </a:p>
        </p:txBody>
      </p:sp>
      <p:sp>
        <p:nvSpPr>
          <p:cNvPr id="32" name="Text 30"/>
          <p:cNvSpPr txBox="1"/>
          <p:nvPr/>
        </p:nvSpPr>
        <p:spPr>
          <a:xfrm>
            <a:off x="8247888" y="4919472"/>
            <a:ext cx="3200400" cy="274320"/>
          </a:xfrm>
          <a:prstGeom prst="rect">
            <a:avLst/>
          </a:prstGeom>
          <a:noFill/>
          <a:ln/>
        </p:spPr>
        <p:txBody>
          <a:bodyPr wrap="square" lIns="0" tIns="0" rIns="0" bIns="0" rtlCol="0" anchor="ctr"/>
          <a:lstStyle/>
          <a:p>
            <a:pPr marL="0" indent="0">
              <a:buNone/>
            </a:pPr>
            <a:r>
              <a:rPr lang="en-US" sz="1600" b="1" dirty="0">
                <a:solidFill>
                  <a:srgbClr val="C5A55A"/>
                </a:solidFill>
                <a:latin typeface="Lato" pitchFamily="34" charset="0"/>
                <a:ea typeface="Lato" pitchFamily="34" charset="-122"/>
                <a:cs typeface="Lato" pitchFamily="34" charset="-120"/>
              </a:rPr>
              <a:t>Offre de service</a:t>
            </a:r>
            <a:endParaRPr lang="en-US" sz="1600" dirty="0"/>
          </a:p>
        </p:txBody>
      </p:sp>
      <p:sp>
        <p:nvSpPr>
          <p:cNvPr id="33" name="Text 31"/>
          <p:cNvSpPr txBox="1"/>
          <p:nvPr/>
        </p:nvSpPr>
        <p:spPr>
          <a:xfrm>
            <a:off x="8247888" y="5212080"/>
            <a:ext cx="3246120" cy="1225296"/>
          </a:xfrm>
          <a:prstGeom prst="rect">
            <a:avLst/>
          </a:prstGeom>
          <a:noFill/>
          <a:ln/>
        </p:spPr>
        <p:txBody>
          <a:bodyPr wrap="square" lIns="0" tIns="0" rIns="0" bIns="0" rtlCol="0" anchor="t"/>
          <a:lstStyle/>
          <a:p>
            <a:pPr marL="0" indent="0" algn="l">
              <a:lnSpc>
                <a:spcPct val="118000"/>
              </a:lnSpc>
              <a:buNone/>
            </a:pPr>
            <a:r>
              <a:rPr lang="en-US" sz="1400" dirty="0">
                <a:solidFill>
                  <a:srgbClr val="232A3A"/>
                </a:solidFill>
                <a:latin typeface="Lato" pitchFamily="34" charset="0"/>
                <a:ea typeface="Lato" pitchFamily="34" charset="-122"/>
                <a:cs typeface="Lato" pitchFamily="34" charset="-120"/>
              </a:rPr>
              <a:t>Démarche proposée aux clients après validation interne.</a:t>
            </a:r>
            <a:endParaRPr lang="en-US" sz="1400" dirty="0"/>
          </a:p>
        </p:txBody>
      </p:sp>
      <p:sp>
        <p:nvSpPr>
          <p:cNvPr id="35" name="Text 17">
            <a:extLst>
              <a:ext uri="{FF2B5EF4-FFF2-40B4-BE49-F238E27FC236}">
                <a16:creationId xmlns:a16="http://schemas.microsoft.com/office/drawing/2014/main" id="{6FF03DA3-2B23-FBF2-CF49-A9F21A4D6E81}"/>
              </a:ext>
            </a:extLst>
          </p:cNvPr>
          <p:cNvSpPr txBox="1"/>
          <p:nvPr/>
        </p:nvSpPr>
        <p:spPr>
          <a:xfrm>
            <a:off x="10206942" y="1463040"/>
            <a:ext cx="1280160" cy="365760"/>
          </a:xfrm>
          <a:prstGeom prst="rect">
            <a:avLst/>
          </a:prstGeom>
          <a:noFill/>
          <a:ln/>
        </p:spPr>
        <p:txBody>
          <a:bodyPr wrap="square" lIns="0" tIns="0" rIns="0" bIns="0" rtlCol="0" anchor="ctr"/>
          <a:lstStyle/>
          <a:p>
            <a:pPr marL="0" indent="0">
              <a:buNone/>
            </a:pPr>
            <a:r>
              <a:rPr lang="en-US" sz="1900" b="1" dirty="0" err="1">
                <a:solidFill>
                  <a:srgbClr val="C5A55A"/>
                </a:solidFill>
                <a:latin typeface="Lato" pitchFamily="34" charset="0"/>
                <a:ea typeface="Lato" pitchFamily="34" charset="-122"/>
                <a:cs typeface="Lato" pitchFamily="34" charset="-120"/>
              </a:rPr>
              <a:t>Maintenant</a:t>
            </a:r>
            <a:endParaRPr lang="en-US" sz="1900" dirty="0"/>
          </a:p>
        </p:txBody>
      </p:sp>
      <p:pic>
        <p:nvPicPr>
          <p:cNvPr id="37" name="Graphique 36" descr="Ligne fléchée : incurvée dans le sens des aiguilles d’une montre avec un remplissage uni">
            <a:extLst>
              <a:ext uri="{FF2B5EF4-FFF2-40B4-BE49-F238E27FC236}">
                <a16:creationId xmlns:a16="http://schemas.microsoft.com/office/drawing/2014/main" id="{598E06AF-713F-B7EE-A97A-83C0A4FC19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3536786" flipH="1" flipV="1">
            <a:off x="5968671" y="931381"/>
            <a:ext cx="1319352" cy="1319352"/>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DBEA4F42-BCB7-47AA-94CB-0FB65DB522F8}" type="slidenum">
              <a:rPr lang="fr-FR" sz="900" b="0">
                <a:solidFill>
                  <a:srgbClr val="4A5568"/>
                </a:solidFill>
                <a:latin typeface="Lato"/>
              </a:rPr>
              <a:t>5</a:t>
            </a:fld>
            <a:endParaRPr lang="fr-FR">
              <a:solidFill>
                <a:srgbClr val="4A556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LE CYCLE MÉTIER DU CABINET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De l'audit au plan de contrôle, en boucle</a:t>
            </a:r>
            <a:endParaRPr lang="en-US" sz="3000" dirty="0"/>
          </a:p>
        </p:txBody>
      </p:sp>
      <p:sp>
        <p:nvSpPr>
          <p:cNvPr id="901" name="Rounded Rectangle 900"/>
          <p:cNvSpPr/>
          <p:nvPr/>
        </p:nvSpPr>
        <p:spPr>
          <a:xfrm>
            <a:off x="658368" y="2200000"/>
            <a:ext cx="1934991" cy="14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2" name="TextBox 901"/>
          <p:cNvSpPr txBox="1"/>
          <p:nvPr/>
        </p:nvSpPr>
        <p:spPr>
          <a:xfrm>
            <a:off x="818368" y="2400000"/>
            <a:ext cx="1614991" cy="700000"/>
          </a:xfrm>
          <a:prstGeom prst="rect">
            <a:avLst/>
          </a:prstGeom>
          <a:noFill/>
        </p:spPr>
        <p:txBody>
          <a:bodyPr wrap="square" lIns="0" tIns="0" rIns="0" bIns="0" anchor="t">
            <a:spAutoFit/>
          </a:bodyPr>
          <a:lstStyle/>
          <a:p>
            <a:pPr algn="ctr"/>
            <a:r>
              <a:rPr sz="1450" b="1" i="0">
                <a:solidFill>
                  <a:srgbClr val="1B2A4A"/>
                </a:solidFill>
                <a:latin typeface="Lato"/>
              </a:rPr>
              <a:t>Audit</a:t>
            </a:r>
          </a:p>
        </p:txBody>
      </p:sp>
      <p:sp>
        <p:nvSpPr>
          <p:cNvPr id="903" name="TextBox 902"/>
          <p:cNvSpPr txBox="1"/>
          <p:nvPr/>
        </p:nvSpPr>
        <p:spPr>
          <a:xfrm>
            <a:off x="818368" y="3030000"/>
            <a:ext cx="1614991" cy="450000"/>
          </a:xfrm>
          <a:prstGeom prst="rect">
            <a:avLst/>
          </a:prstGeom>
          <a:noFill/>
        </p:spPr>
        <p:txBody>
          <a:bodyPr wrap="square" lIns="0" tIns="0" rIns="0" bIns="0" anchor="t">
            <a:spAutoFit/>
          </a:bodyPr>
          <a:lstStyle/>
          <a:p>
            <a:pPr algn="ctr"/>
            <a:r>
              <a:rPr sz="1050" b="0" i="0">
                <a:solidFill>
                  <a:srgbClr val="4A5568"/>
                </a:solidFill>
                <a:latin typeface="Lato"/>
              </a:rPr>
              <a:t>état des lieux</a:t>
            </a:r>
          </a:p>
        </p:txBody>
      </p:sp>
      <p:sp>
        <p:nvSpPr>
          <p:cNvPr id="904" name="TextBox 903"/>
          <p:cNvSpPr txBox="1"/>
          <p:nvPr/>
        </p:nvSpPr>
        <p:spPr>
          <a:xfrm>
            <a:off x="2613359" y="2720000"/>
            <a:ext cx="260000" cy="360000"/>
          </a:xfrm>
          <a:prstGeom prst="rect">
            <a:avLst/>
          </a:prstGeom>
          <a:noFill/>
        </p:spPr>
        <p:txBody>
          <a:bodyPr wrap="square" lIns="0" tIns="0" rIns="0" bIns="0" anchor="t">
            <a:spAutoFit/>
          </a:bodyPr>
          <a:lstStyle/>
          <a:p>
            <a:pPr algn="ctr"/>
            <a:r>
              <a:rPr sz="2200" b="1" i="0">
                <a:solidFill>
                  <a:srgbClr val="C5A55A"/>
                </a:solidFill>
                <a:latin typeface="Lato"/>
              </a:rPr>
              <a:t>›</a:t>
            </a:r>
          </a:p>
        </p:txBody>
      </p:sp>
      <p:sp>
        <p:nvSpPr>
          <p:cNvPr id="905" name="Rounded Rectangle 904"/>
          <p:cNvSpPr/>
          <p:nvPr/>
        </p:nvSpPr>
        <p:spPr>
          <a:xfrm>
            <a:off x="2893359" y="2200000"/>
            <a:ext cx="1934991" cy="14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6" name="TextBox 905"/>
          <p:cNvSpPr txBox="1"/>
          <p:nvPr/>
        </p:nvSpPr>
        <p:spPr>
          <a:xfrm>
            <a:off x="3053359" y="2400000"/>
            <a:ext cx="1614991" cy="700000"/>
          </a:xfrm>
          <a:prstGeom prst="rect">
            <a:avLst/>
          </a:prstGeom>
          <a:noFill/>
        </p:spPr>
        <p:txBody>
          <a:bodyPr wrap="square" lIns="0" tIns="0" rIns="0" bIns="0" anchor="t">
            <a:spAutoFit/>
          </a:bodyPr>
          <a:lstStyle/>
          <a:p>
            <a:pPr algn="ctr"/>
            <a:r>
              <a:rPr sz="1450" b="1" i="0">
                <a:solidFill>
                  <a:srgbClr val="1B2A4A"/>
                </a:solidFill>
                <a:latin typeface="Lato"/>
              </a:rPr>
              <a:t>Plan d'action</a:t>
            </a:r>
          </a:p>
        </p:txBody>
      </p:sp>
      <p:sp>
        <p:nvSpPr>
          <p:cNvPr id="907" name="TextBox 906"/>
          <p:cNvSpPr txBox="1"/>
          <p:nvPr/>
        </p:nvSpPr>
        <p:spPr>
          <a:xfrm>
            <a:off x="3053359" y="3030000"/>
            <a:ext cx="1614991" cy="450000"/>
          </a:xfrm>
          <a:prstGeom prst="rect">
            <a:avLst/>
          </a:prstGeom>
          <a:noFill/>
        </p:spPr>
        <p:txBody>
          <a:bodyPr wrap="square" lIns="0" tIns="0" rIns="0" bIns="0" anchor="t">
            <a:spAutoFit/>
          </a:bodyPr>
          <a:lstStyle/>
          <a:p>
            <a:pPr algn="ctr"/>
            <a:r>
              <a:rPr sz="1050" b="0" i="0">
                <a:solidFill>
                  <a:srgbClr val="4A5568"/>
                </a:solidFill>
                <a:latin typeface="Lato"/>
              </a:rPr>
              <a:t>ce qu'on décide de faire</a:t>
            </a:r>
          </a:p>
        </p:txBody>
      </p:sp>
      <p:sp>
        <p:nvSpPr>
          <p:cNvPr id="908" name="TextBox 907"/>
          <p:cNvSpPr txBox="1"/>
          <p:nvPr/>
        </p:nvSpPr>
        <p:spPr>
          <a:xfrm>
            <a:off x="4848350" y="2720000"/>
            <a:ext cx="260000" cy="360000"/>
          </a:xfrm>
          <a:prstGeom prst="rect">
            <a:avLst/>
          </a:prstGeom>
          <a:noFill/>
        </p:spPr>
        <p:txBody>
          <a:bodyPr wrap="square" lIns="0" tIns="0" rIns="0" bIns="0" anchor="t">
            <a:spAutoFit/>
          </a:bodyPr>
          <a:lstStyle/>
          <a:p>
            <a:pPr algn="ctr"/>
            <a:r>
              <a:rPr sz="2200" b="1" i="0">
                <a:solidFill>
                  <a:srgbClr val="C5A55A"/>
                </a:solidFill>
                <a:latin typeface="Lato"/>
              </a:rPr>
              <a:t>›</a:t>
            </a:r>
          </a:p>
        </p:txBody>
      </p:sp>
      <p:sp>
        <p:nvSpPr>
          <p:cNvPr id="909" name="Rounded Rectangle 908"/>
          <p:cNvSpPr/>
          <p:nvPr/>
        </p:nvSpPr>
        <p:spPr>
          <a:xfrm>
            <a:off x="5128350" y="2200000"/>
            <a:ext cx="1934991" cy="14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0" name="TextBox 909"/>
          <p:cNvSpPr txBox="1"/>
          <p:nvPr/>
        </p:nvSpPr>
        <p:spPr>
          <a:xfrm>
            <a:off x="5288350" y="2400000"/>
            <a:ext cx="1614991" cy="700000"/>
          </a:xfrm>
          <a:prstGeom prst="rect">
            <a:avLst/>
          </a:prstGeom>
          <a:noFill/>
        </p:spPr>
        <p:txBody>
          <a:bodyPr wrap="square" lIns="0" tIns="0" rIns="0" bIns="0" anchor="t">
            <a:spAutoFit/>
          </a:bodyPr>
          <a:lstStyle/>
          <a:p>
            <a:pPr algn="ctr"/>
            <a:r>
              <a:rPr sz="1450" b="1" i="0">
                <a:solidFill>
                  <a:srgbClr val="1B2A4A"/>
                </a:solidFill>
                <a:latin typeface="Lato"/>
              </a:rPr>
              <a:t>PSSI</a:t>
            </a:r>
          </a:p>
        </p:txBody>
      </p:sp>
      <p:sp>
        <p:nvSpPr>
          <p:cNvPr id="911" name="TextBox 910"/>
          <p:cNvSpPr txBox="1"/>
          <p:nvPr/>
        </p:nvSpPr>
        <p:spPr>
          <a:xfrm>
            <a:off x="5288350" y="3030000"/>
            <a:ext cx="1614991" cy="450000"/>
          </a:xfrm>
          <a:prstGeom prst="rect">
            <a:avLst/>
          </a:prstGeom>
          <a:noFill/>
        </p:spPr>
        <p:txBody>
          <a:bodyPr wrap="square" lIns="0" tIns="0" rIns="0" bIns="0" anchor="t">
            <a:spAutoFit/>
          </a:bodyPr>
          <a:lstStyle/>
          <a:p>
            <a:pPr algn="ctr"/>
            <a:r>
              <a:rPr sz="1050" b="0" i="0">
                <a:solidFill>
                  <a:srgbClr val="4A5568"/>
                </a:solidFill>
                <a:latin typeface="Lato"/>
              </a:rPr>
              <a:t>la politique de sécurité</a:t>
            </a:r>
          </a:p>
        </p:txBody>
      </p:sp>
      <p:sp>
        <p:nvSpPr>
          <p:cNvPr id="912" name="TextBox 911"/>
          <p:cNvSpPr txBox="1"/>
          <p:nvPr/>
        </p:nvSpPr>
        <p:spPr>
          <a:xfrm>
            <a:off x="7083341" y="2720000"/>
            <a:ext cx="260000" cy="360000"/>
          </a:xfrm>
          <a:prstGeom prst="rect">
            <a:avLst/>
          </a:prstGeom>
          <a:noFill/>
        </p:spPr>
        <p:txBody>
          <a:bodyPr wrap="square" lIns="0" tIns="0" rIns="0" bIns="0" anchor="t">
            <a:spAutoFit/>
          </a:bodyPr>
          <a:lstStyle/>
          <a:p>
            <a:pPr algn="ctr"/>
            <a:r>
              <a:rPr sz="2200" b="1" i="0">
                <a:solidFill>
                  <a:srgbClr val="C5A55A"/>
                </a:solidFill>
                <a:latin typeface="Lato"/>
              </a:rPr>
              <a:t>›</a:t>
            </a:r>
          </a:p>
        </p:txBody>
      </p:sp>
      <p:sp>
        <p:nvSpPr>
          <p:cNvPr id="913" name="Rounded Rectangle 912"/>
          <p:cNvSpPr/>
          <p:nvPr/>
        </p:nvSpPr>
        <p:spPr>
          <a:xfrm>
            <a:off x="7363341" y="2200000"/>
            <a:ext cx="1934991" cy="14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4" name="TextBox 913"/>
          <p:cNvSpPr txBox="1"/>
          <p:nvPr/>
        </p:nvSpPr>
        <p:spPr>
          <a:xfrm>
            <a:off x="7523341" y="2400000"/>
            <a:ext cx="1614991" cy="700000"/>
          </a:xfrm>
          <a:prstGeom prst="rect">
            <a:avLst/>
          </a:prstGeom>
          <a:noFill/>
        </p:spPr>
        <p:txBody>
          <a:bodyPr wrap="square" lIns="0" tIns="0" rIns="0" bIns="0" anchor="t">
            <a:spAutoFit/>
          </a:bodyPr>
          <a:lstStyle/>
          <a:p>
            <a:pPr algn="ctr"/>
            <a:r>
              <a:rPr sz="1450" b="1" i="0">
                <a:solidFill>
                  <a:srgbClr val="1B2A4A"/>
                </a:solidFill>
                <a:latin typeface="Lato"/>
              </a:rPr>
              <a:t>Politiques et procédures</a:t>
            </a:r>
          </a:p>
        </p:txBody>
      </p:sp>
      <p:sp>
        <p:nvSpPr>
          <p:cNvPr id="915" name="TextBox 914"/>
          <p:cNvSpPr txBox="1"/>
          <p:nvPr/>
        </p:nvSpPr>
        <p:spPr>
          <a:xfrm>
            <a:off x="7523341" y="3030000"/>
            <a:ext cx="1614991" cy="450000"/>
          </a:xfrm>
          <a:prstGeom prst="rect">
            <a:avLst/>
          </a:prstGeom>
          <a:noFill/>
        </p:spPr>
        <p:txBody>
          <a:bodyPr wrap="square" lIns="0" tIns="0" rIns="0" bIns="0" anchor="t">
            <a:spAutoFit/>
          </a:bodyPr>
          <a:lstStyle/>
          <a:p>
            <a:pPr algn="ctr"/>
            <a:r>
              <a:rPr sz="1050" b="0" i="0">
                <a:solidFill>
                  <a:srgbClr val="4A5568"/>
                </a:solidFill>
                <a:latin typeface="Lato"/>
              </a:rPr>
              <a:t>les règles écrites</a:t>
            </a:r>
          </a:p>
        </p:txBody>
      </p:sp>
      <p:sp>
        <p:nvSpPr>
          <p:cNvPr id="916" name="TextBox 915"/>
          <p:cNvSpPr txBox="1"/>
          <p:nvPr/>
        </p:nvSpPr>
        <p:spPr>
          <a:xfrm>
            <a:off x="9318332" y="2720000"/>
            <a:ext cx="260000" cy="360000"/>
          </a:xfrm>
          <a:prstGeom prst="rect">
            <a:avLst/>
          </a:prstGeom>
          <a:noFill/>
        </p:spPr>
        <p:txBody>
          <a:bodyPr wrap="square" lIns="0" tIns="0" rIns="0" bIns="0" anchor="t">
            <a:spAutoFit/>
          </a:bodyPr>
          <a:lstStyle/>
          <a:p>
            <a:pPr algn="ctr"/>
            <a:r>
              <a:rPr sz="2200" b="1" i="0">
                <a:solidFill>
                  <a:srgbClr val="C5A55A"/>
                </a:solidFill>
                <a:latin typeface="Lato"/>
              </a:rPr>
              <a:t>›</a:t>
            </a:r>
          </a:p>
        </p:txBody>
      </p:sp>
      <p:sp>
        <p:nvSpPr>
          <p:cNvPr id="917" name="Rounded Rectangle 916"/>
          <p:cNvSpPr/>
          <p:nvPr/>
        </p:nvSpPr>
        <p:spPr>
          <a:xfrm>
            <a:off x="9598332" y="2200000"/>
            <a:ext cx="1934991" cy="14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8" name="TextBox 917"/>
          <p:cNvSpPr txBox="1"/>
          <p:nvPr/>
        </p:nvSpPr>
        <p:spPr>
          <a:xfrm>
            <a:off x="9758332" y="2400000"/>
            <a:ext cx="1614991" cy="700000"/>
          </a:xfrm>
          <a:prstGeom prst="rect">
            <a:avLst/>
          </a:prstGeom>
          <a:noFill/>
        </p:spPr>
        <p:txBody>
          <a:bodyPr wrap="square" lIns="0" tIns="0" rIns="0" bIns="0" anchor="t">
            <a:spAutoFit/>
          </a:bodyPr>
          <a:lstStyle/>
          <a:p>
            <a:pPr algn="ctr"/>
            <a:r>
              <a:rPr sz="1450" b="1" i="0">
                <a:solidFill>
                  <a:srgbClr val="1B2A4A"/>
                </a:solidFill>
                <a:latin typeface="Lato"/>
              </a:rPr>
              <a:t>Plan de contrôle</a:t>
            </a:r>
          </a:p>
        </p:txBody>
      </p:sp>
      <p:sp>
        <p:nvSpPr>
          <p:cNvPr id="919" name="TextBox 918"/>
          <p:cNvSpPr txBox="1"/>
          <p:nvPr/>
        </p:nvSpPr>
        <p:spPr>
          <a:xfrm>
            <a:off x="9758332" y="3030000"/>
            <a:ext cx="1614991" cy="450000"/>
          </a:xfrm>
          <a:prstGeom prst="rect">
            <a:avLst/>
          </a:prstGeom>
          <a:noFill/>
        </p:spPr>
        <p:txBody>
          <a:bodyPr wrap="square" lIns="0" tIns="0" rIns="0" bIns="0" anchor="t">
            <a:spAutoFit/>
          </a:bodyPr>
          <a:lstStyle/>
          <a:p>
            <a:pPr algn="ctr"/>
            <a:r>
              <a:rPr sz="1050" b="0" i="0">
                <a:solidFill>
                  <a:srgbClr val="4A5568"/>
                </a:solidFill>
                <a:latin typeface="Lato"/>
              </a:rPr>
              <a:t>on vérifie que c'est appliqué</a:t>
            </a:r>
          </a:p>
        </p:txBody>
      </p:sp>
      <p:sp>
        <p:nvSpPr>
          <p:cNvPr id="920" name="Rounded Rectangle 919"/>
          <p:cNvSpPr/>
          <p:nvPr/>
        </p:nvSpPr>
        <p:spPr>
          <a:xfrm>
            <a:off x="2643359" y="1230000"/>
            <a:ext cx="2434991" cy="640000"/>
          </a:xfrm>
          <a:prstGeom prst="roundRect">
            <a:avLst/>
          </a:prstGeom>
          <a:noFill/>
          <a:ln w="19050">
            <a:solidFill>
              <a:srgbClr val="C5A55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1" name="TextBox 920"/>
          <p:cNvSpPr txBox="1"/>
          <p:nvPr/>
        </p:nvSpPr>
        <p:spPr>
          <a:xfrm>
            <a:off x="2763359" y="1300000"/>
            <a:ext cx="2194991" cy="260000"/>
          </a:xfrm>
          <a:prstGeom prst="rect">
            <a:avLst/>
          </a:prstGeom>
          <a:noFill/>
        </p:spPr>
        <p:txBody>
          <a:bodyPr wrap="square" lIns="0" tIns="0" rIns="0" bIns="0" anchor="t">
            <a:spAutoFit/>
          </a:bodyPr>
          <a:lstStyle/>
          <a:p>
            <a:pPr algn="ctr"/>
            <a:r>
              <a:rPr sz="1100" b="1" i="0" spc="120">
                <a:solidFill>
                  <a:srgbClr val="C5A55A"/>
                </a:solidFill>
                <a:latin typeface="Lato"/>
              </a:rPr>
              <a:t>ANALYSE DE RISQUE</a:t>
            </a:r>
          </a:p>
        </p:txBody>
      </p:sp>
      <p:sp>
        <p:nvSpPr>
          <p:cNvPr id="922" name="TextBox 921"/>
          <p:cNvSpPr txBox="1"/>
          <p:nvPr/>
        </p:nvSpPr>
        <p:spPr>
          <a:xfrm>
            <a:off x="2763359" y="1570000"/>
            <a:ext cx="2194991" cy="240000"/>
          </a:xfrm>
          <a:prstGeom prst="rect">
            <a:avLst/>
          </a:prstGeom>
          <a:noFill/>
        </p:spPr>
        <p:txBody>
          <a:bodyPr wrap="square" lIns="0" tIns="0" rIns="0" bIns="0" anchor="t">
            <a:spAutoFit/>
          </a:bodyPr>
          <a:lstStyle/>
          <a:p>
            <a:pPr algn="ctr"/>
            <a:r>
              <a:rPr sz="1050" b="0" i="0">
                <a:solidFill>
                  <a:srgbClr val="4A5568"/>
                </a:solidFill>
                <a:latin typeface="Lato"/>
              </a:rPr>
              <a:t>menée en parallèle</a:t>
            </a:r>
          </a:p>
        </p:txBody>
      </p:sp>
      <p:cxnSp>
        <p:nvCxnSpPr>
          <p:cNvPr id="923" name="Connector 922"/>
          <p:cNvCxnSpPr/>
          <p:nvPr/>
        </p:nvCxnSpPr>
        <p:spPr>
          <a:xfrm>
            <a:off x="3860854" y="1890000"/>
            <a:ext cx="0" cy="290000"/>
          </a:xfrm>
          <a:prstGeom prst="line">
            <a:avLst/>
          </a:prstGeom>
          <a:ln w="22225">
            <a:solidFill>
              <a:srgbClr val="C5A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4" name="Left Arrow 923"/>
          <p:cNvSpPr/>
          <p:nvPr/>
        </p:nvSpPr>
        <p:spPr>
          <a:xfrm>
            <a:off x="658368" y="3780000"/>
            <a:ext cx="10874991" cy="440000"/>
          </a:xfrm>
          <a:prstGeom prst="leftArrow">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5" name="TextBox 924"/>
          <p:cNvSpPr txBox="1"/>
          <p:nvPr/>
        </p:nvSpPr>
        <p:spPr>
          <a:xfrm>
            <a:off x="1400000" y="3830000"/>
            <a:ext cx="9400000" cy="340000"/>
          </a:xfrm>
          <a:prstGeom prst="rect">
            <a:avLst/>
          </a:prstGeom>
          <a:noFill/>
        </p:spPr>
        <p:txBody>
          <a:bodyPr wrap="square" lIns="0" tIns="0" rIns="0" bIns="0" anchor="ctr">
            <a:spAutoFit/>
          </a:bodyPr>
          <a:lstStyle/>
          <a:p>
            <a:pPr algn="ctr"/>
            <a:r>
              <a:rPr sz="1100" b="0" i="0" dirty="0">
                <a:solidFill>
                  <a:srgbClr val="1B2A4A"/>
                </a:solidFill>
                <a:latin typeface="Lato"/>
              </a:rPr>
              <a:t>le plan de </a:t>
            </a:r>
            <a:r>
              <a:rPr sz="1100" b="0" i="0" dirty="0" err="1">
                <a:solidFill>
                  <a:srgbClr val="1B2A4A"/>
                </a:solidFill>
                <a:latin typeface="Lato"/>
              </a:rPr>
              <a:t>contrôle</a:t>
            </a:r>
            <a:r>
              <a:rPr sz="1100" b="0" i="0" dirty="0">
                <a:solidFill>
                  <a:srgbClr val="1B2A4A"/>
                </a:solidFill>
                <a:latin typeface="Lato"/>
              </a:rPr>
              <a:t> </a:t>
            </a:r>
            <a:r>
              <a:rPr sz="1100" b="0" i="0" dirty="0" err="1">
                <a:solidFill>
                  <a:srgbClr val="1B2A4A"/>
                </a:solidFill>
                <a:latin typeface="Lato"/>
              </a:rPr>
              <a:t>alimente</a:t>
            </a:r>
            <a:r>
              <a:rPr sz="1100" b="0" i="0" dirty="0">
                <a:solidFill>
                  <a:srgbClr val="1B2A4A"/>
                </a:solidFill>
                <a:latin typeface="Lato"/>
              </a:rPr>
              <a:t> </a:t>
            </a:r>
            <a:r>
              <a:rPr sz="1100" b="0" i="0" dirty="0" err="1">
                <a:solidFill>
                  <a:srgbClr val="1B2A4A"/>
                </a:solidFill>
                <a:latin typeface="Lato"/>
              </a:rPr>
              <a:t>l'audit</a:t>
            </a:r>
            <a:r>
              <a:rPr sz="1100" b="0" i="0" dirty="0">
                <a:solidFill>
                  <a:srgbClr val="1B2A4A"/>
                </a:solidFill>
                <a:latin typeface="Lato"/>
              </a:rPr>
              <a:t> </a:t>
            </a:r>
            <a:r>
              <a:rPr sz="1100" b="0" i="0" dirty="0" err="1">
                <a:solidFill>
                  <a:srgbClr val="1B2A4A"/>
                </a:solidFill>
                <a:latin typeface="Lato"/>
              </a:rPr>
              <a:t>suivant</a:t>
            </a:r>
            <a:r>
              <a:rPr sz="1100" b="0" i="0" dirty="0">
                <a:solidFill>
                  <a:srgbClr val="1B2A4A"/>
                </a:solidFill>
                <a:latin typeface="Lato"/>
              </a:rPr>
              <a:t> : le cycle ne </a:t>
            </a:r>
            <a:r>
              <a:rPr sz="1100" b="0" i="0" dirty="0" err="1">
                <a:solidFill>
                  <a:srgbClr val="1B2A4A"/>
                </a:solidFill>
                <a:latin typeface="Lato"/>
              </a:rPr>
              <a:t>s'arrête</a:t>
            </a:r>
            <a:r>
              <a:rPr sz="1100" b="0" i="0" dirty="0">
                <a:solidFill>
                  <a:srgbClr val="1B2A4A"/>
                </a:solidFill>
                <a:latin typeface="Lato"/>
              </a:rPr>
              <a:t> jamais</a:t>
            </a:r>
          </a:p>
        </p:txBody>
      </p:sp>
      <p:sp>
        <p:nvSpPr>
          <p:cNvPr id="926" name="TextBox 925"/>
          <p:cNvSpPr txBox="1"/>
          <p:nvPr/>
        </p:nvSpPr>
        <p:spPr>
          <a:xfrm>
            <a:off x="498364" y="4196194"/>
            <a:ext cx="10874959" cy="192360"/>
          </a:xfrm>
          <a:prstGeom prst="rect">
            <a:avLst/>
          </a:prstGeom>
          <a:noFill/>
        </p:spPr>
        <p:txBody>
          <a:bodyPr wrap="square" lIns="0" tIns="0" rIns="0" bIns="0" anchor="t">
            <a:spAutoFit/>
          </a:bodyPr>
          <a:lstStyle/>
          <a:p>
            <a:pPr algn="ctr"/>
            <a:r>
              <a:rPr sz="1250" b="0" i="1" dirty="0">
                <a:solidFill>
                  <a:srgbClr val="4A5568"/>
                </a:solidFill>
                <a:latin typeface="Lato"/>
              </a:rPr>
              <a:t>Boucle PDCA</a:t>
            </a:r>
          </a:p>
        </p:txBody>
      </p:sp>
      <p:sp>
        <p:nvSpPr>
          <p:cNvPr id="927" name="Rounded Rectangle 926"/>
          <p:cNvSpPr/>
          <p:nvPr/>
        </p:nvSpPr>
        <p:spPr>
          <a:xfrm>
            <a:off x="658368" y="4780000"/>
            <a:ext cx="5237479" cy="9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8" name="TextBox 927"/>
          <p:cNvSpPr txBox="1"/>
          <p:nvPr/>
        </p:nvSpPr>
        <p:spPr>
          <a:xfrm>
            <a:off x="958368" y="4900000"/>
            <a:ext cx="4637479" cy="240000"/>
          </a:xfrm>
          <a:prstGeom prst="rect">
            <a:avLst/>
          </a:prstGeom>
          <a:noFill/>
        </p:spPr>
        <p:txBody>
          <a:bodyPr wrap="square" lIns="0" tIns="0" rIns="0" bIns="0" anchor="t">
            <a:spAutoFit/>
          </a:bodyPr>
          <a:lstStyle/>
          <a:p>
            <a:pPr algn="l"/>
            <a:r>
              <a:rPr sz="1000" b="1" i="0" spc="120" dirty="0">
                <a:solidFill>
                  <a:srgbClr val="C5A55A"/>
                </a:solidFill>
                <a:latin typeface="Lato"/>
              </a:rPr>
              <a:t>CE QUE LE CYCLE GARANTIT</a:t>
            </a:r>
          </a:p>
        </p:txBody>
      </p:sp>
      <p:sp>
        <p:nvSpPr>
          <p:cNvPr id="929" name="TextBox 928"/>
          <p:cNvSpPr txBox="1"/>
          <p:nvPr/>
        </p:nvSpPr>
        <p:spPr>
          <a:xfrm>
            <a:off x="958368" y="5190000"/>
            <a:ext cx="4637479" cy="192360"/>
          </a:xfrm>
          <a:prstGeom prst="rect">
            <a:avLst/>
          </a:prstGeom>
          <a:noFill/>
        </p:spPr>
        <p:txBody>
          <a:bodyPr wrap="square" lIns="0" tIns="0" rIns="0" bIns="0" anchor="t">
            <a:spAutoFit/>
          </a:bodyPr>
          <a:lstStyle/>
          <a:p>
            <a:pPr algn="l"/>
            <a:r>
              <a:rPr sz="1250" b="0" i="0" dirty="0">
                <a:solidFill>
                  <a:srgbClr val="232A3A"/>
                </a:solidFill>
                <a:latin typeface="Lato"/>
              </a:rPr>
              <a:t>Une </a:t>
            </a:r>
            <a:r>
              <a:rPr sz="1250" b="0" i="0" dirty="0" err="1">
                <a:solidFill>
                  <a:srgbClr val="232A3A"/>
                </a:solidFill>
                <a:latin typeface="Lato"/>
              </a:rPr>
              <a:t>trajectoire</a:t>
            </a:r>
            <a:r>
              <a:rPr sz="1250" b="0" i="0" dirty="0">
                <a:solidFill>
                  <a:srgbClr val="232A3A"/>
                </a:solidFill>
                <a:latin typeface="Lato"/>
              </a:rPr>
              <a:t> </a:t>
            </a:r>
            <a:r>
              <a:rPr lang="fr-FR" sz="1250" b="0" i="0" dirty="0">
                <a:solidFill>
                  <a:srgbClr val="232A3A"/>
                </a:solidFill>
                <a:latin typeface="Lato"/>
              </a:rPr>
              <a:t>d</a:t>
            </a:r>
            <a:r>
              <a:rPr sz="1250" b="0" i="0" dirty="0" err="1">
                <a:solidFill>
                  <a:srgbClr val="232A3A"/>
                </a:solidFill>
                <a:latin typeface="Lato"/>
              </a:rPr>
              <a:t>ocumentée</a:t>
            </a:r>
            <a:r>
              <a:rPr sz="1250" b="0" i="0" dirty="0">
                <a:solidFill>
                  <a:srgbClr val="232A3A"/>
                </a:solidFill>
                <a:latin typeface="Lato"/>
              </a:rPr>
              <a:t>, auditable, </a:t>
            </a:r>
            <a:r>
              <a:rPr sz="1250" b="0" i="0" dirty="0" err="1">
                <a:solidFill>
                  <a:srgbClr val="232A3A"/>
                </a:solidFill>
                <a:latin typeface="Lato"/>
              </a:rPr>
              <a:t>répétable</a:t>
            </a:r>
            <a:r>
              <a:rPr sz="1250" b="0" i="0" dirty="0">
                <a:solidFill>
                  <a:srgbClr val="232A3A"/>
                </a:solidFill>
                <a:latin typeface="Lato"/>
              </a:rPr>
              <a:t>.</a:t>
            </a:r>
          </a:p>
        </p:txBody>
      </p:sp>
      <p:sp>
        <p:nvSpPr>
          <p:cNvPr id="930" name="Rounded Rectangle 929"/>
          <p:cNvSpPr/>
          <p:nvPr/>
        </p:nvSpPr>
        <p:spPr>
          <a:xfrm>
            <a:off x="6295847" y="4780000"/>
            <a:ext cx="5237479" cy="9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1" name="TextBox 930"/>
          <p:cNvSpPr txBox="1"/>
          <p:nvPr/>
        </p:nvSpPr>
        <p:spPr>
          <a:xfrm>
            <a:off x="6595847" y="4900000"/>
            <a:ext cx="4637479" cy="240000"/>
          </a:xfrm>
          <a:prstGeom prst="rect">
            <a:avLst/>
          </a:prstGeom>
          <a:noFill/>
        </p:spPr>
        <p:txBody>
          <a:bodyPr wrap="square" lIns="0" tIns="0" rIns="0" bIns="0" anchor="t">
            <a:spAutoFit/>
          </a:bodyPr>
          <a:lstStyle/>
          <a:p>
            <a:pPr algn="l"/>
            <a:r>
              <a:rPr sz="1000" b="1" i="0" spc="120" dirty="0">
                <a:solidFill>
                  <a:srgbClr val="C5A55A"/>
                </a:solidFill>
                <a:latin typeface="Lato"/>
              </a:rPr>
              <a:t>CE QU'IL NE DIT PAS</a:t>
            </a:r>
          </a:p>
        </p:txBody>
      </p:sp>
      <p:sp>
        <p:nvSpPr>
          <p:cNvPr id="932" name="TextBox 931"/>
          <p:cNvSpPr txBox="1"/>
          <p:nvPr/>
        </p:nvSpPr>
        <p:spPr>
          <a:xfrm>
            <a:off x="6595847" y="5190000"/>
            <a:ext cx="4637479" cy="192360"/>
          </a:xfrm>
          <a:prstGeom prst="rect">
            <a:avLst/>
          </a:prstGeom>
          <a:noFill/>
        </p:spPr>
        <p:txBody>
          <a:bodyPr wrap="square" lIns="0" tIns="0" rIns="0" bIns="0" anchor="t">
            <a:spAutoFit/>
          </a:bodyPr>
          <a:lstStyle/>
          <a:p>
            <a:pPr algn="l"/>
            <a:r>
              <a:rPr sz="1250" b="1" i="1" dirty="0">
                <a:solidFill>
                  <a:srgbClr val="232A3A"/>
                </a:solidFill>
                <a:latin typeface="Lato"/>
              </a:rPr>
              <a:t>Dans </a:t>
            </a:r>
            <a:r>
              <a:rPr sz="1250" b="1" i="1" dirty="0" err="1">
                <a:solidFill>
                  <a:srgbClr val="232A3A"/>
                </a:solidFill>
                <a:latin typeface="Lato"/>
              </a:rPr>
              <a:t>quel</a:t>
            </a:r>
            <a:r>
              <a:rPr sz="1250" b="1" i="1" dirty="0">
                <a:solidFill>
                  <a:srgbClr val="232A3A"/>
                </a:solidFill>
                <a:latin typeface="Lato"/>
              </a:rPr>
              <a:t> </a:t>
            </a:r>
            <a:r>
              <a:rPr sz="1250" b="1" i="1" dirty="0" err="1">
                <a:solidFill>
                  <a:srgbClr val="232A3A"/>
                </a:solidFill>
                <a:latin typeface="Lato"/>
              </a:rPr>
              <a:t>ordre</a:t>
            </a:r>
            <a:r>
              <a:rPr sz="1250" b="1" i="1" dirty="0">
                <a:solidFill>
                  <a:srgbClr val="232A3A"/>
                </a:solidFill>
                <a:latin typeface="Lato"/>
              </a:rPr>
              <a:t> </a:t>
            </a:r>
            <a:r>
              <a:rPr sz="1250" b="1" i="1" dirty="0" err="1">
                <a:solidFill>
                  <a:srgbClr val="232A3A"/>
                </a:solidFill>
                <a:latin typeface="Lato"/>
              </a:rPr>
              <a:t>traiter</a:t>
            </a:r>
            <a:r>
              <a:rPr sz="1250" b="1" i="1" dirty="0">
                <a:solidFill>
                  <a:srgbClr val="232A3A"/>
                </a:solidFill>
                <a:latin typeface="Lato"/>
              </a:rPr>
              <a:t> </a:t>
            </a:r>
            <a:r>
              <a:rPr sz="1250" b="1" i="1" dirty="0" err="1">
                <a:solidFill>
                  <a:srgbClr val="232A3A"/>
                </a:solidFill>
                <a:latin typeface="Lato"/>
              </a:rPr>
              <a:t>ce</a:t>
            </a:r>
            <a:r>
              <a:rPr sz="1250" b="1" i="1" dirty="0">
                <a:solidFill>
                  <a:srgbClr val="232A3A"/>
                </a:solidFill>
                <a:latin typeface="Lato"/>
              </a:rPr>
              <a:t> qui </a:t>
            </a:r>
            <a:r>
              <a:rPr sz="1250" b="1" i="1" dirty="0" err="1">
                <a:solidFill>
                  <a:srgbClr val="232A3A"/>
                </a:solidFill>
                <a:latin typeface="Lato"/>
              </a:rPr>
              <a:t>remonte</a:t>
            </a:r>
            <a:r>
              <a:rPr sz="1250" b="1" i="1" dirty="0">
                <a:solidFill>
                  <a:srgbClr val="232A3A"/>
                </a:solidFill>
                <a:latin typeface="Lato"/>
              </a:rPr>
              <a:t> de </a:t>
            </a:r>
            <a:r>
              <a:rPr sz="1250" b="1" i="1" dirty="0" err="1">
                <a:solidFill>
                  <a:srgbClr val="232A3A"/>
                </a:solidFill>
                <a:latin typeface="Lato"/>
              </a:rPr>
              <a:t>chaque</a:t>
            </a:r>
            <a:r>
              <a:rPr sz="1250" b="1" i="1" dirty="0">
                <a:solidFill>
                  <a:srgbClr val="232A3A"/>
                </a:solidFill>
                <a:latin typeface="Lato"/>
              </a:rPr>
              <a:t> étape.</a:t>
            </a:r>
          </a:p>
        </p:txBody>
      </p:sp>
      <p:sp>
        <p:nvSpPr>
          <p:cNvPr id="933" name="Rounded Rectangle 932"/>
          <p:cNvSpPr/>
          <p:nvPr/>
        </p:nvSpPr>
        <p:spPr>
          <a:xfrm>
            <a:off x="658368" y="5870448"/>
            <a:ext cx="10874959" cy="566928"/>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bg1"/>
              </a:solidFill>
            </a:endParaRPr>
          </a:p>
        </p:txBody>
      </p:sp>
      <p:sp>
        <p:nvSpPr>
          <p:cNvPr id="934" name="TextBox 933"/>
          <p:cNvSpPr txBox="1"/>
          <p:nvPr/>
        </p:nvSpPr>
        <p:spPr>
          <a:xfrm>
            <a:off x="914400" y="6046190"/>
            <a:ext cx="10362895" cy="215444"/>
          </a:xfrm>
          <a:prstGeom prst="rect">
            <a:avLst/>
          </a:prstGeom>
          <a:solidFill>
            <a:schemeClr val="bg1"/>
          </a:solidFill>
        </p:spPr>
        <p:txBody>
          <a:bodyPr wrap="square" lIns="0" tIns="0" rIns="0" bIns="0" anchor="ctr">
            <a:spAutoFit/>
          </a:bodyPr>
          <a:lstStyle/>
          <a:p>
            <a:pPr algn="ctr"/>
            <a:r>
              <a:rPr lang="fr-FR" sz="1400" b="1" i="0" dirty="0">
                <a:solidFill>
                  <a:schemeClr val="bg1"/>
                </a:solidFill>
                <a:latin typeface="Lato"/>
              </a:rPr>
              <a:t>Sujet : </a:t>
            </a:r>
            <a:r>
              <a:rPr sz="1400" b="1" i="0" dirty="0" err="1">
                <a:solidFill>
                  <a:schemeClr val="bg1"/>
                </a:solidFill>
                <a:latin typeface="Lato"/>
              </a:rPr>
              <a:t>ce</a:t>
            </a:r>
            <a:r>
              <a:rPr sz="1400" b="1" i="0" dirty="0">
                <a:solidFill>
                  <a:schemeClr val="bg1"/>
                </a:solidFill>
                <a:latin typeface="Lato"/>
              </a:rPr>
              <a:t> qui entre dans le plan d'action, et dans </a:t>
            </a:r>
            <a:r>
              <a:rPr sz="1400" b="1" i="0" dirty="0" err="1">
                <a:solidFill>
                  <a:schemeClr val="bg1"/>
                </a:solidFill>
                <a:latin typeface="Lato"/>
              </a:rPr>
              <a:t>quel</a:t>
            </a:r>
            <a:r>
              <a:rPr sz="1400" b="1" i="0" dirty="0">
                <a:solidFill>
                  <a:schemeClr val="bg1"/>
                </a:solidFill>
                <a:latin typeface="Lato"/>
              </a:rPr>
              <a:t> </a:t>
            </a:r>
            <a:r>
              <a:rPr sz="1400" b="1" i="0" dirty="0" err="1">
                <a:solidFill>
                  <a:schemeClr val="bg1"/>
                </a:solidFill>
                <a:latin typeface="Lato"/>
              </a:rPr>
              <a:t>ordre</a:t>
            </a:r>
            <a:r>
              <a:rPr sz="1400" b="1" i="0" dirty="0">
                <a:solidFill>
                  <a:schemeClr val="bg1"/>
                </a:solidFill>
                <a:latin typeface="Lato"/>
              </a:rPr>
              <a:t>.</a:t>
            </a:r>
          </a:p>
        </p:txBody>
      </p:sp>
      <p:pic>
        <p:nvPicPr>
          <p:cNvPr id="5" name="Graphique 4" descr="Coche avec un remplissage uni">
            <a:extLst>
              <a:ext uri="{FF2B5EF4-FFF2-40B4-BE49-F238E27FC236}">
                <a16:creationId xmlns:a16="http://schemas.microsoft.com/office/drawing/2014/main" id="{1CA7F634-FE8B-50A7-502C-CCBC6CAD6A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30595" y="4923610"/>
            <a:ext cx="616104" cy="616104"/>
          </a:xfrm>
          <a:prstGeom prst="rect">
            <a:avLst/>
          </a:prstGeom>
        </p:spPr>
      </p:pic>
      <p:pic>
        <p:nvPicPr>
          <p:cNvPr id="7" name="Graphique 6" descr="Fermer avec un remplissage uni">
            <a:extLst>
              <a:ext uri="{FF2B5EF4-FFF2-40B4-BE49-F238E27FC236}">
                <a16:creationId xmlns:a16="http://schemas.microsoft.com/office/drawing/2014/main" id="{A242CBB6-EF5A-7D9D-C8C7-361E5DBE06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73486" y="4915342"/>
            <a:ext cx="616104" cy="616104"/>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6</a:t>
            </a:fld>
            <a:endParaRPr lang="fr-FR">
              <a:solidFill>
                <a:srgbClr val="4A556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AUJOURD'HUI, EN MISSION</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Trois étapes </a:t>
            </a:r>
            <a:r>
              <a:rPr lang="en-US" sz="3000" b="1" dirty="0" err="1">
                <a:solidFill>
                  <a:srgbClr val="1B2A4A"/>
                </a:solidFill>
                <a:latin typeface="Lato" pitchFamily="34" charset="0"/>
                <a:ea typeface="Lato" pitchFamily="34" charset="-122"/>
                <a:cs typeface="Lato" pitchFamily="34" charset="-120"/>
              </a:rPr>
              <a:t>cloisonées</a:t>
            </a:r>
            <a:endParaRPr lang="en-US" sz="3000" dirty="0"/>
          </a:p>
        </p:txBody>
      </p:sp>
      <p:sp>
        <p:nvSpPr>
          <p:cNvPr id="901" name="TextBox 900"/>
          <p:cNvSpPr txBox="1"/>
          <p:nvPr/>
        </p:nvSpPr>
        <p:spPr>
          <a:xfrm>
            <a:off x="658368" y="1330000"/>
            <a:ext cx="3358319" cy="250000"/>
          </a:xfrm>
          <a:prstGeom prst="rect">
            <a:avLst/>
          </a:prstGeom>
          <a:noFill/>
        </p:spPr>
        <p:txBody>
          <a:bodyPr wrap="square" lIns="0" tIns="0" rIns="0" bIns="0" anchor="t">
            <a:spAutoFit/>
          </a:bodyPr>
          <a:lstStyle/>
          <a:p>
            <a:pPr algn="ctr"/>
            <a:r>
              <a:rPr sz="1050" b="1" i="0" spc="140">
                <a:solidFill>
                  <a:srgbClr val="C5A55A"/>
                </a:solidFill>
                <a:latin typeface="Lato"/>
              </a:rPr>
              <a:t>CONFORMITÉ</a:t>
            </a:r>
          </a:p>
        </p:txBody>
      </p:sp>
      <p:sp>
        <p:nvSpPr>
          <p:cNvPr id="902" name="Rounded Rectangle 901"/>
          <p:cNvSpPr/>
          <p:nvPr/>
        </p:nvSpPr>
        <p:spPr>
          <a:xfrm>
            <a:off x="658368" y="1620000"/>
            <a:ext cx="3358319" cy="10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3" name="TextBox 902"/>
          <p:cNvSpPr txBox="1"/>
          <p:nvPr/>
        </p:nvSpPr>
        <p:spPr>
          <a:xfrm>
            <a:off x="858368" y="1760000"/>
            <a:ext cx="2958319" cy="320000"/>
          </a:xfrm>
          <a:prstGeom prst="rect">
            <a:avLst/>
          </a:prstGeom>
          <a:noFill/>
        </p:spPr>
        <p:txBody>
          <a:bodyPr wrap="square" lIns="0" tIns="0" rIns="0" bIns="0" anchor="t">
            <a:spAutoFit/>
          </a:bodyPr>
          <a:lstStyle/>
          <a:p>
            <a:pPr algn="ctr"/>
            <a:r>
              <a:rPr sz="1450" b="1" i="0">
                <a:solidFill>
                  <a:srgbClr val="1B2A4A"/>
                </a:solidFill>
                <a:latin typeface="Lato"/>
              </a:rPr>
              <a:t>Audit ISO 27002</a:t>
            </a:r>
          </a:p>
        </p:txBody>
      </p:sp>
      <p:sp>
        <p:nvSpPr>
          <p:cNvPr id="904" name="TextBox 903"/>
          <p:cNvSpPr txBox="1"/>
          <p:nvPr/>
        </p:nvSpPr>
        <p:spPr>
          <a:xfrm>
            <a:off x="858368" y="2130000"/>
            <a:ext cx="2958319" cy="400000"/>
          </a:xfrm>
          <a:prstGeom prst="rect">
            <a:avLst/>
          </a:prstGeom>
          <a:noFill/>
        </p:spPr>
        <p:txBody>
          <a:bodyPr wrap="square" lIns="0" tIns="0" rIns="0" bIns="0" anchor="t">
            <a:spAutoFit/>
          </a:bodyPr>
          <a:lstStyle/>
          <a:p>
            <a:pPr algn="ctr"/>
            <a:r>
              <a:rPr sz="1100" b="0" i="0">
                <a:solidFill>
                  <a:srgbClr val="4A5568"/>
                </a:solidFill>
                <a:latin typeface="Lato"/>
              </a:rPr>
              <a:t>outil de GRC, tableau de conformité</a:t>
            </a:r>
          </a:p>
        </p:txBody>
      </p:sp>
      <p:cxnSp>
        <p:nvCxnSpPr>
          <p:cNvPr id="905" name="Connector 904"/>
          <p:cNvCxnSpPr/>
          <p:nvPr/>
        </p:nvCxnSpPr>
        <p:spPr>
          <a:xfrm>
            <a:off x="2337527" y="2690000"/>
            <a:ext cx="0" cy="340000"/>
          </a:xfrm>
          <a:prstGeom prst="line">
            <a:avLst/>
          </a:prstGeom>
          <a:ln w="22225">
            <a:solidFill>
              <a:srgbClr val="C5A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 name="Rounded Rectangle 905"/>
          <p:cNvSpPr/>
          <p:nvPr/>
        </p:nvSpPr>
        <p:spPr>
          <a:xfrm>
            <a:off x="658368" y="3070000"/>
            <a:ext cx="3358319" cy="8800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7" name="TextBox 906"/>
          <p:cNvSpPr txBox="1"/>
          <p:nvPr/>
        </p:nvSpPr>
        <p:spPr>
          <a:xfrm>
            <a:off x="808368" y="3070000"/>
            <a:ext cx="3058319" cy="880000"/>
          </a:xfrm>
          <a:prstGeom prst="rect">
            <a:avLst/>
          </a:prstGeom>
          <a:noFill/>
        </p:spPr>
        <p:txBody>
          <a:bodyPr wrap="square" lIns="0" tIns="0" rIns="0" bIns="0" anchor="ctr">
            <a:spAutoFit/>
          </a:bodyPr>
          <a:lstStyle/>
          <a:p>
            <a:pPr algn="ctr"/>
            <a:r>
              <a:rPr sz="1500" b="1" i="0">
                <a:solidFill>
                  <a:srgbClr val="FFFFFF"/>
                </a:solidFill>
                <a:latin typeface="Lato"/>
              </a:rPr>
              <a:t>PLAN D'ACTION</a:t>
            </a:r>
          </a:p>
        </p:txBody>
      </p:sp>
      <p:sp>
        <p:nvSpPr>
          <p:cNvPr id="908" name="TextBox 907"/>
          <p:cNvSpPr txBox="1"/>
          <p:nvPr/>
        </p:nvSpPr>
        <p:spPr>
          <a:xfrm>
            <a:off x="658368" y="4040000"/>
            <a:ext cx="3358319" cy="230000"/>
          </a:xfrm>
          <a:prstGeom prst="rect">
            <a:avLst/>
          </a:prstGeom>
          <a:noFill/>
        </p:spPr>
        <p:txBody>
          <a:bodyPr wrap="square" lIns="0" tIns="0" rIns="0" bIns="0" anchor="t">
            <a:spAutoFit/>
          </a:bodyPr>
          <a:lstStyle/>
          <a:p>
            <a:pPr algn="ctr"/>
            <a:r>
              <a:rPr sz="950" b="1" i="0" spc="120">
                <a:solidFill>
                  <a:srgbClr val="C5A55A"/>
                </a:solidFill>
                <a:latin typeface="Lato"/>
              </a:rPr>
              <a:t>PRIORITÉ DONNÉE PAR</a:t>
            </a:r>
          </a:p>
        </p:txBody>
      </p:sp>
      <p:sp>
        <p:nvSpPr>
          <p:cNvPr id="909" name="TextBox 908"/>
          <p:cNvSpPr txBox="1"/>
          <p:nvPr/>
        </p:nvSpPr>
        <p:spPr>
          <a:xfrm>
            <a:off x="658368" y="4300000"/>
            <a:ext cx="3358319" cy="400000"/>
          </a:xfrm>
          <a:prstGeom prst="rect">
            <a:avLst/>
          </a:prstGeom>
          <a:noFill/>
        </p:spPr>
        <p:txBody>
          <a:bodyPr wrap="square" lIns="0" tIns="0" rIns="0" bIns="0" anchor="t">
            <a:spAutoFit/>
          </a:bodyPr>
          <a:lstStyle/>
          <a:p>
            <a:pPr algn="ctr"/>
            <a:r>
              <a:rPr sz="1250" b="0" i="0">
                <a:solidFill>
                  <a:srgbClr val="232A3A"/>
                </a:solidFill>
                <a:latin typeface="Lato"/>
              </a:rPr>
              <a:t>l'écart au référentiel</a:t>
            </a:r>
          </a:p>
        </p:txBody>
      </p:sp>
      <p:sp>
        <p:nvSpPr>
          <p:cNvPr id="910" name="TextBox 909"/>
          <p:cNvSpPr txBox="1"/>
          <p:nvPr/>
        </p:nvSpPr>
        <p:spPr>
          <a:xfrm>
            <a:off x="4016687" y="3280000"/>
            <a:ext cx="400000" cy="460000"/>
          </a:xfrm>
          <a:prstGeom prst="rect">
            <a:avLst/>
          </a:prstGeom>
          <a:noFill/>
        </p:spPr>
        <p:txBody>
          <a:bodyPr wrap="square" lIns="0" tIns="0" rIns="0" bIns="0" anchor="t">
            <a:spAutoFit/>
          </a:bodyPr>
          <a:lstStyle/>
          <a:p>
            <a:pPr algn="ctr"/>
            <a:r>
              <a:rPr sz="2600" b="1" i="0">
                <a:solidFill>
                  <a:srgbClr val="C5A55A"/>
                </a:solidFill>
                <a:latin typeface="Lato"/>
              </a:rPr>
              <a:t>≠</a:t>
            </a:r>
          </a:p>
        </p:txBody>
      </p:sp>
      <p:sp>
        <p:nvSpPr>
          <p:cNvPr id="911" name="TextBox 910"/>
          <p:cNvSpPr txBox="1"/>
          <p:nvPr/>
        </p:nvSpPr>
        <p:spPr>
          <a:xfrm>
            <a:off x="4416687" y="1330000"/>
            <a:ext cx="3358319" cy="250000"/>
          </a:xfrm>
          <a:prstGeom prst="rect">
            <a:avLst/>
          </a:prstGeom>
          <a:noFill/>
        </p:spPr>
        <p:txBody>
          <a:bodyPr wrap="square" lIns="0" tIns="0" rIns="0" bIns="0" anchor="t">
            <a:spAutoFit/>
          </a:bodyPr>
          <a:lstStyle/>
          <a:p>
            <a:pPr algn="ctr"/>
            <a:r>
              <a:rPr sz="1050" b="1" i="0" spc="140">
                <a:solidFill>
                  <a:srgbClr val="C5A55A"/>
                </a:solidFill>
                <a:latin typeface="Lato"/>
              </a:rPr>
              <a:t>VULNÉRABILITÉS</a:t>
            </a:r>
          </a:p>
        </p:txBody>
      </p:sp>
      <p:sp>
        <p:nvSpPr>
          <p:cNvPr id="912" name="Rounded Rectangle 911"/>
          <p:cNvSpPr/>
          <p:nvPr/>
        </p:nvSpPr>
        <p:spPr>
          <a:xfrm>
            <a:off x="4416687" y="1620000"/>
            <a:ext cx="3358319" cy="10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3" name="TextBox 912"/>
          <p:cNvSpPr txBox="1"/>
          <p:nvPr/>
        </p:nvSpPr>
        <p:spPr>
          <a:xfrm>
            <a:off x="4616687" y="1760000"/>
            <a:ext cx="2958319" cy="320000"/>
          </a:xfrm>
          <a:prstGeom prst="rect">
            <a:avLst/>
          </a:prstGeom>
          <a:noFill/>
        </p:spPr>
        <p:txBody>
          <a:bodyPr wrap="square" lIns="0" tIns="0" rIns="0" bIns="0" anchor="t">
            <a:spAutoFit/>
          </a:bodyPr>
          <a:lstStyle/>
          <a:p>
            <a:pPr algn="ctr"/>
            <a:r>
              <a:rPr sz="1450" b="1" i="0">
                <a:solidFill>
                  <a:srgbClr val="1B2A4A"/>
                </a:solidFill>
                <a:latin typeface="Lato"/>
              </a:rPr>
              <a:t>Scan du parc</a:t>
            </a:r>
          </a:p>
        </p:txBody>
      </p:sp>
      <p:sp>
        <p:nvSpPr>
          <p:cNvPr id="914" name="TextBox 913"/>
          <p:cNvSpPr txBox="1"/>
          <p:nvPr/>
        </p:nvSpPr>
        <p:spPr>
          <a:xfrm>
            <a:off x="4616687" y="2130000"/>
            <a:ext cx="2958319" cy="400000"/>
          </a:xfrm>
          <a:prstGeom prst="rect">
            <a:avLst/>
          </a:prstGeom>
          <a:noFill/>
        </p:spPr>
        <p:txBody>
          <a:bodyPr wrap="square" lIns="0" tIns="0" rIns="0" bIns="0" anchor="t">
            <a:spAutoFit/>
          </a:bodyPr>
          <a:lstStyle/>
          <a:p>
            <a:pPr algn="ctr"/>
            <a:r>
              <a:rPr sz="1100" b="0" i="0">
                <a:solidFill>
                  <a:srgbClr val="4A5568"/>
                </a:solidFill>
                <a:latin typeface="Lato"/>
              </a:rPr>
              <a:t>note CVSS, de 0 à 10</a:t>
            </a:r>
          </a:p>
        </p:txBody>
      </p:sp>
      <p:cxnSp>
        <p:nvCxnSpPr>
          <p:cNvPr id="915" name="Connector 914"/>
          <p:cNvCxnSpPr/>
          <p:nvPr/>
        </p:nvCxnSpPr>
        <p:spPr>
          <a:xfrm>
            <a:off x="6095846" y="2690000"/>
            <a:ext cx="0" cy="340000"/>
          </a:xfrm>
          <a:prstGeom prst="line">
            <a:avLst/>
          </a:prstGeom>
          <a:ln w="22225">
            <a:solidFill>
              <a:srgbClr val="C5A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16" name="Rounded Rectangle 915"/>
          <p:cNvSpPr/>
          <p:nvPr/>
        </p:nvSpPr>
        <p:spPr>
          <a:xfrm>
            <a:off x="4416687" y="3070000"/>
            <a:ext cx="3358319" cy="8800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7" name="TextBox 916"/>
          <p:cNvSpPr txBox="1"/>
          <p:nvPr/>
        </p:nvSpPr>
        <p:spPr>
          <a:xfrm>
            <a:off x="4566687" y="3070000"/>
            <a:ext cx="3058319" cy="880000"/>
          </a:xfrm>
          <a:prstGeom prst="rect">
            <a:avLst/>
          </a:prstGeom>
          <a:noFill/>
        </p:spPr>
        <p:txBody>
          <a:bodyPr wrap="square" lIns="0" tIns="0" rIns="0" bIns="0" anchor="ctr">
            <a:spAutoFit/>
          </a:bodyPr>
          <a:lstStyle/>
          <a:p>
            <a:pPr algn="ctr"/>
            <a:r>
              <a:rPr sz="1500" b="1" i="0">
                <a:solidFill>
                  <a:srgbClr val="FFFFFF"/>
                </a:solidFill>
                <a:latin typeface="Lato"/>
              </a:rPr>
              <a:t>PLAN CORRECTIF</a:t>
            </a:r>
          </a:p>
        </p:txBody>
      </p:sp>
      <p:sp>
        <p:nvSpPr>
          <p:cNvPr id="918" name="TextBox 917"/>
          <p:cNvSpPr txBox="1"/>
          <p:nvPr/>
        </p:nvSpPr>
        <p:spPr>
          <a:xfrm>
            <a:off x="4416687" y="4040000"/>
            <a:ext cx="3358319" cy="230000"/>
          </a:xfrm>
          <a:prstGeom prst="rect">
            <a:avLst/>
          </a:prstGeom>
          <a:noFill/>
        </p:spPr>
        <p:txBody>
          <a:bodyPr wrap="square" lIns="0" tIns="0" rIns="0" bIns="0" anchor="t">
            <a:spAutoFit/>
          </a:bodyPr>
          <a:lstStyle/>
          <a:p>
            <a:pPr algn="ctr"/>
            <a:r>
              <a:rPr sz="950" b="1" i="0" spc="120">
                <a:solidFill>
                  <a:srgbClr val="C5A55A"/>
                </a:solidFill>
                <a:latin typeface="Lato"/>
              </a:rPr>
              <a:t>PRIORITÉ DONNÉE PAR</a:t>
            </a:r>
          </a:p>
        </p:txBody>
      </p:sp>
      <p:sp>
        <p:nvSpPr>
          <p:cNvPr id="919" name="TextBox 918"/>
          <p:cNvSpPr txBox="1"/>
          <p:nvPr/>
        </p:nvSpPr>
        <p:spPr>
          <a:xfrm>
            <a:off x="4416687" y="4300000"/>
            <a:ext cx="3358319" cy="400000"/>
          </a:xfrm>
          <a:prstGeom prst="rect">
            <a:avLst/>
          </a:prstGeom>
          <a:noFill/>
        </p:spPr>
        <p:txBody>
          <a:bodyPr wrap="square" lIns="0" tIns="0" rIns="0" bIns="0" anchor="t">
            <a:spAutoFit/>
          </a:bodyPr>
          <a:lstStyle/>
          <a:p>
            <a:pPr algn="ctr"/>
            <a:r>
              <a:rPr sz="1250" b="0" i="0">
                <a:solidFill>
                  <a:srgbClr val="232A3A"/>
                </a:solidFill>
                <a:latin typeface="Lato"/>
              </a:rPr>
              <a:t>la gravité technique</a:t>
            </a:r>
          </a:p>
        </p:txBody>
      </p:sp>
      <p:sp>
        <p:nvSpPr>
          <p:cNvPr id="920" name="TextBox 919"/>
          <p:cNvSpPr txBox="1"/>
          <p:nvPr/>
        </p:nvSpPr>
        <p:spPr>
          <a:xfrm>
            <a:off x="7775006" y="3280000"/>
            <a:ext cx="400000" cy="460000"/>
          </a:xfrm>
          <a:prstGeom prst="rect">
            <a:avLst/>
          </a:prstGeom>
          <a:noFill/>
        </p:spPr>
        <p:txBody>
          <a:bodyPr wrap="square" lIns="0" tIns="0" rIns="0" bIns="0" anchor="t">
            <a:spAutoFit/>
          </a:bodyPr>
          <a:lstStyle/>
          <a:p>
            <a:pPr algn="ctr"/>
            <a:r>
              <a:rPr sz="2600" b="1" i="0">
                <a:solidFill>
                  <a:srgbClr val="C5A55A"/>
                </a:solidFill>
                <a:latin typeface="Lato"/>
              </a:rPr>
              <a:t>≠</a:t>
            </a:r>
          </a:p>
        </p:txBody>
      </p:sp>
      <p:sp>
        <p:nvSpPr>
          <p:cNvPr id="921" name="TextBox 920"/>
          <p:cNvSpPr txBox="1"/>
          <p:nvPr/>
        </p:nvSpPr>
        <p:spPr>
          <a:xfrm>
            <a:off x="8175006" y="1330000"/>
            <a:ext cx="3358319" cy="250000"/>
          </a:xfrm>
          <a:prstGeom prst="rect">
            <a:avLst/>
          </a:prstGeom>
          <a:noFill/>
        </p:spPr>
        <p:txBody>
          <a:bodyPr wrap="square" lIns="0" tIns="0" rIns="0" bIns="0" anchor="t">
            <a:spAutoFit/>
          </a:bodyPr>
          <a:lstStyle/>
          <a:p>
            <a:pPr algn="ctr"/>
            <a:r>
              <a:rPr sz="1050" b="1" i="0" spc="140">
                <a:solidFill>
                  <a:srgbClr val="C5A55A"/>
                </a:solidFill>
                <a:latin typeface="Lato"/>
              </a:rPr>
              <a:t>RISQUES</a:t>
            </a:r>
          </a:p>
        </p:txBody>
      </p:sp>
      <p:sp>
        <p:nvSpPr>
          <p:cNvPr id="922" name="Rounded Rectangle 921"/>
          <p:cNvSpPr/>
          <p:nvPr/>
        </p:nvSpPr>
        <p:spPr>
          <a:xfrm>
            <a:off x="8175006" y="1620000"/>
            <a:ext cx="3358319" cy="100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3" name="TextBox 922"/>
          <p:cNvSpPr txBox="1"/>
          <p:nvPr/>
        </p:nvSpPr>
        <p:spPr>
          <a:xfrm>
            <a:off x="8375006" y="1760000"/>
            <a:ext cx="2958319" cy="320000"/>
          </a:xfrm>
          <a:prstGeom prst="rect">
            <a:avLst/>
          </a:prstGeom>
          <a:noFill/>
        </p:spPr>
        <p:txBody>
          <a:bodyPr wrap="square" lIns="0" tIns="0" rIns="0" bIns="0" anchor="t">
            <a:spAutoFit/>
          </a:bodyPr>
          <a:lstStyle/>
          <a:p>
            <a:pPr algn="ctr"/>
            <a:r>
              <a:rPr sz="1450" b="1" i="0">
                <a:solidFill>
                  <a:srgbClr val="1B2A4A"/>
                </a:solidFill>
                <a:latin typeface="Lato"/>
              </a:rPr>
              <a:t>Analyse EBIOS RM</a:t>
            </a:r>
          </a:p>
        </p:txBody>
      </p:sp>
      <p:sp>
        <p:nvSpPr>
          <p:cNvPr id="924" name="TextBox 923"/>
          <p:cNvSpPr txBox="1"/>
          <p:nvPr/>
        </p:nvSpPr>
        <p:spPr>
          <a:xfrm>
            <a:off x="8375006" y="2130000"/>
            <a:ext cx="2958319" cy="400000"/>
          </a:xfrm>
          <a:prstGeom prst="rect">
            <a:avLst/>
          </a:prstGeom>
          <a:noFill/>
        </p:spPr>
        <p:txBody>
          <a:bodyPr wrap="square" lIns="0" tIns="0" rIns="0" bIns="0" anchor="t">
            <a:spAutoFit/>
          </a:bodyPr>
          <a:lstStyle/>
          <a:p>
            <a:pPr algn="ctr"/>
            <a:r>
              <a:rPr sz="1100" b="0" i="0">
                <a:solidFill>
                  <a:srgbClr val="4A5568"/>
                </a:solidFill>
                <a:latin typeface="Lato"/>
              </a:rPr>
              <a:t>gravité et vraisemblance</a:t>
            </a:r>
          </a:p>
        </p:txBody>
      </p:sp>
      <p:cxnSp>
        <p:nvCxnSpPr>
          <p:cNvPr id="925" name="Connector 924"/>
          <p:cNvCxnSpPr/>
          <p:nvPr/>
        </p:nvCxnSpPr>
        <p:spPr>
          <a:xfrm>
            <a:off x="9854165" y="2690000"/>
            <a:ext cx="0" cy="340000"/>
          </a:xfrm>
          <a:prstGeom prst="line">
            <a:avLst/>
          </a:prstGeom>
          <a:ln w="22225">
            <a:solidFill>
              <a:srgbClr val="C5A5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6" name="Rounded Rectangle 925"/>
          <p:cNvSpPr/>
          <p:nvPr/>
        </p:nvSpPr>
        <p:spPr>
          <a:xfrm>
            <a:off x="8175006" y="3070000"/>
            <a:ext cx="3358319" cy="8800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27" name="TextBox 926"/>
          <p:cNvSpPr txBox="1"/>
          <p:nvPr/>
        </p:nvSpPr>
        <p:spPr>
          <a:xfrm>
            <a:off x="8325006" y="3070000"/>
            <a:ext cx="3058319" cy="880000"/>
          </a:xfrm>
          <a:prstGeom prst="rect">
            <a:avLst/>
          </a:prstGeom>
          <a:noFill/>
        </p:spPr>
        <p:txBody>
          <a:bodyPr wrap="square" lIns="0" tIns="0" rIns="0" bIns="0" anchor="ctr">
            <a:spAutoFit/>
          </a:bodyPr>
          <a:lstStyle/>
          <a:p>
            <a:pPr algn="ctr"/>
            <a:r>
              <a:rPr sz="1500" b="1" i="0">
                <a:solidFill>
                  <a:srgbClr val="FFFFFF"/>
                </a:solidFill>
                <a:latin typeface="Lato"/>
              </a:rPr>
              <a:t>PLAN DE TRAITEMENT</a:t>
            </a:r>
          </a:p>
        </p:txBody>
      </p:sp>
      <p:sp>
        <p:nvSpPr>
          <p:cNvPr id="928" name="TextBox 927"/>
          <p:cNvSpPr txBox="1"/>
          <p:nvPr/>
        </p:nvSpPr>
        <p:spPr>
          <a:xfrm>
            <a:off x="8175006" y="4040000"/>
            <a:ext cx="3358319" cy="230000"/>
          </a:xfrm>
          <a:prstGeom prst="rect">
            <a:avLst/>
          </a:prstGeom>
          <a:noFill/>
        </p:spPr>
        <p:txBody>
          <a:bodyPr wrap="square" lIns="0" tIns="0" rIns="0" bIns="0" anchor="t">
            <a:spAutoFit/>
          </a:bodyPr>
          <a:lstStyle/>
          <a:p>
            <a:pPr algn="ctr"/>
            <a:r>
              <a:rPr sz="950" b="1" i="0" spc="120">
                <a:solidFill>
                  <a:srgbClr val="C5A55A"/>
                </a:solidFill>
                <a:latin typeface="Lato"/>
              </a:rPr>
              <a:t>PRIORITÉ DONNÉE PAR</a:t>
            </a:r>
          </a:p>
        </p:txBody>
      </p:sp>
      <p:sp>
        <p:nvSpPr>
          <p:cNvPr id="929" name="TextBox 928"/>
          <p:cNvSpPr txBox="1"/>
          <p:nvPr/>
        </p:nvSpPr>
        <p:spPr>
          <a:xfrm>
            <a:off x="8175006" y="4300000"/>
            <a:ext cx="3358319" cy="400000"/>
          </a:xfrm>
          <a:prstGeom prst="rect">
            <a:avLst/>
          </a:prstGeom>
          <a:noFill/>
        </p:spPr>
        <p:txBody>
          <a:bodyPr wrap="square" lIns="0" tIns="0" rIns="0" bIns="0" anchor="t">
            <a:spAutoFit/>
          </a:bodyPr>
          <a:lstStyle/>
          <a:p>
            <a:pPr algn="ctr"/>
            <a:r>
              <a:rPr sz="1250" b="0" i="0">
                <a:solidFill>
                  <a:srgbClr val="232A3A"/>
                </a:solidFill>
                <a:latin typeface="Lato"/>
              </a:rPr>
              <a:t>la cotation du scénario</a:t>
            </a:r>
          </a:p>
        </p:txBody>
      </p:sp>
      <p:sp>
        <p:nvSpPr>
          <p:cNvPr id="930" name="Rounded Rectangle 929"/>
          <p:cNvSpPr/>
          <p:nvPr/>
        </p:nvSpPr>
        <p:spPr>
          <a:xfrm>
            <a:off x="658368" y="4830000"/>
            <a:ext cx="10874959" cy="83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1" name="TextBox 930"/>
          <p:cNvSpPr txBox="1"/>
          <p:nvPr/>
        </p:nvSpPr>
        <p:spPr>
          <a:xfrm>
            <a:off x="950976" y="4950000"/>
            <a:ext cx="10290000" cy="153888"/>
          </a:xfrm>
          <a:prstGeom prst="rect">
            <a:avLst/>
          </a:prstGeom>
          <a:noFill/>
        </p:spPr>
        <p:txBody>
          <a:bodyPr wrap="square" lIns="0" tIns="0" rIns="0" bIns="0" anchor="t">
            <a:spAutoFit/>
          </a:bodyPr>
          <a:lstStyle/>
          <a:p>
            <a:pPr algn="ctr"/>
            <a:r>
              <a:rPr sz="1000" b="1" i="0" spc="120" dirty="0">
                <a:solidFill>
                  <a:srgbClr val="C5A55A"/>
                </a:solidFill>
                <a:latin typeface="Lato"/>
              </a:rPr>
              <a:t>LE POINT AVEUGLE, COMMUN AUX TROIS</a:t>
            </a:r>
          </a:p>
        </p:txBody>
      </p:sp>
      <p:sp>
        <p:nvSpPr>
          <p:cNvPr id="932" name="TextBox 931"/>
          <p:cNvSpPr txBox="1"/>
          <p:nvPr/>
        </p:nvSpPr>
        <p:spPr>
          <a:xfrm>
            <a:off x="950976" y="5240000"/>
            <a:ext cx="10290000" cy="192360"/>
          </a:xfrm>
          <a:prstGeom prst="rect">
            <a:avLst/>
          </a:prstGeom>
          <a:noFill/>
        </p:spPr>
        <p:txBody>
          <a:bodyPr wrap="square" lIns="0" tIns="0" rIns="0" bIns="0" anchor="t">
            <a:spAutoFit/>
          </a:bodyPr>
          <a:lstStyle/>
          <a:p>
            <a:pPr algn="ctr"/>
            <a:r>
              <a:rPr sz="1250" b="1" i="0" dirty="0" err="1">
                <a:solidFill>
                  <a:srgbClr val="232A3A"/>
                </a:solidFill>
                <a:latin typeface="Lato"/>
              </a:rPr>
              <a:t>Aucune</a:t>
            </a:r>
            <a:r>
              <a:rPr sz="1250" b="1" i="0" dirty="0">
                <a:solidFill>
                  <a:srgbClr val="232A3A"/>
                </a:solidFill>
                <a:latin typeface="Lato"/>
              </a:rPr>
              <a:t> des trois </a:t>
            </a:r>
            <a:r>
              <a:rPr sz="1250" b="1" i="0" dirty="0" err="1">
                <a:solidFill>
                  <a:srgbClr val="232A3A"/>
                </a:solidFill>
                <a:latin typeface="Lato"/>
              </a:rPr>
              <a:t>chaînes</a:t>
            </a:r>
            <a:r>
              <a:rPr sz="1250" b="1" i="0" dirty="0">
                <a:solidFill>
                  <a:srgbClr val="232A3A"/>
                </a:solidFill>
                <a:latin typeface="Lato"/>
              </a:rPr>
              <a:t> ne </a:t>
            </a:r>
            <a:r>
              <a:rPr sz="1250" b="1" i="0" dirty="0" err="1">
                <a:solidFill>
                  <a:srgbClr val="232A3A"/>
                </a:solidFill>
                <a:latin typeface="Lato"/>
              </a:rPr>
              <a:t>sait</a:t>
            </a:r>
            <a:r>
              <a:rPr sz="1250" b="1" i="0" dirty="0">
                <a:solidFill>
                  <a:srgbClr val="232A3A"/>
                </a:solidFill>
                <a:latin typeface="Lato"/>
              </a:rPr>
              <a:t> </a:t>
            </a:r>
            <a:r>
              <a:rPr sz="1250" b="1" i="0" dirty="0" err="1">
                <a:solidFill>
                  <a:srgbClr val="232A3A"/>
                </a:solidFill>
                <a:latin typeface="Lato"/>
              </a:rPr>
              <a:t>ce</a:t>
            </a:r>
            <a:r>
              <a:rPr sz="1250" b="1" i="0" dirty="0">
                <a:solidFill>
                  <a:srgbClr val="232A3A"/>
                </a:solidFill>
                <a:latin typeface="Lato"/>
              </a:rPr>
              <a:t> </a:t>
            </a:r>
            <a:r>
              <a:rPr sz="1250" b="1" i="0" dirty="0" err="1">
                <a:solidFill>
                  <a:srgbClr val="232A3A"/>
                </a:solidFill>
                <a:latin typeface="Lato"/>
              </a:rPr>
              <a:t>que</a:t>
            </a:r>
            <a:r>
              <a:rPr sz="1250" b="1" i="0" dirty="0">
                <a:solidFill>
                  <a:srgbClr val="232A3A"/>
                </a:solidFill>
                <a:latin typeface="Lato"/>
              </a:rPr>
              <a:t> la machine </a:t>
            </a:r>
            <a:r>
              <a:rPr sz="1250" b="1" i="0" dirty="0" err="1">
                <a:solidFill>
                  <a:srgbClr val="232A3A"/>
                </a:solidFill>
                <a:latin typeface="Lato"/>
              </a:rPr>
              <a:t>concernée</a:t>
            </a:r>
            <a:r>
              <a:rPr sz="1250" b="1" i="0" dirty="0">
                <a:solidFill>
                  <a:srgbClr val="232A3A"/>
                </a:solidFill>
                <a:latin typeface="Lato"/>
              </a:rPr>
              <a:t> fait </a:t>
            </a:r>
            <a:r>
              <a:rPr sz="1250" b="1" i="0" dirty="0" err="1">
                <a:solidFill>
                  <a:srgbClr val="232A3A"/>
                </a:solidFill>
                <a:latin typeface="Lato"/>
              </a:rPr>
              <a:t>tourner</a:t>
            </a:r>
            <a:r>
              <a:rPr sz="1250" b="1" i="0" dirty="0">
                <a:solidFill>
                  <a:srgbClr val="232A3A"/>
                </a:solidFill>
                <a:latin typeface="Lato"/>
              </a:rPr>
              <a:t> pour </a:t>
            </a:r>
            <a:r>
              <a:rPr sz="1250" b="1" i="0" dirty="0" err="1">
                <a:solidFill>
                  <a:srgbClr val="232A3A"/>
                </a:solidFill>
                <a:latin typeface="Lato"/>
              </a:rPr>
              <a:t>l'entreprise</a:t>
            </a:r>
            <a:r>
              <a:rPr sz="1250" b="1" i="0" dirty="0">
                <a:solidFill>
                  <a:srgbClr val="232A3A"/>
                </a:solidFill>
                <a:latin typeface="Lato"/>
              </a:rPr>
              <a:t>.</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7</a:t>
            </a:fld>
            <a:endParaRPr lang="fr-FR">
              <a:solidFill>
                <a:srgbClr val="4A556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LE RYTHME DE MISE À JOUR</a:t>
            </a:r>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dirty="0">
                <a:solidFill>
                  <a:srgbClr val="1B2A4A"/>
                </a:solidFill>
                <a:latin typeface="Lato" pitchFamily="34" charset="0"/>
              </a:rPr>
              <a:t>Un mouvement continu</a:t>
            </a:r>
          </a:p>
        </p:txBody>
      </p:sp>
      <p:sp>
        <p:nvSpPr>
          <p:cNvPr id="910" name="TextBox 910"/>
          <p:cNvSpPr txBox="1"/>
          <p:nvPr/>
        </p:nvSpPr>
        <p:spPr>
          <a:xfrm>
            <a:off x="2400000"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aujourd'hui</a:t>
            </a:r>
          </a:p>
        </p:txBody>
      </p:sp>
      <p:sp>
        <p:nvSpPr>
          <p:cNvPr id="911" name="TextBox 911"/>
          <p:cNvSpPr txBox="1"/>
          <p:nvPr/>
        </p:nvSpPr>
        <p:spPr>
          <a:xfrm>
            <a:off x="4558332"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+ 1 an</a:t>
            </a:r>
          </a:p>
        </p:txBody>
      </p:sp>
      <p:sp>
        <p:nvSpPr>
          <p:cNvPr id="912" name="TextBox 912"/>
          <p:cNvSpPr txBox="1"/>
          <p:nvPr/>
        </p:nvSpPr>
        <p:spPr>
          <a:xfrm>
            <a:off x="6716664"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+ 2 ans</a:t>
            </a:r>
          </a:p>
        </p:txBody>
      </p:sp>
      <p:sp>
        <p:nvSpPr>
          <p:cNvPr id="913" name="TextBox 913"/>
          <p:cNvSpPr txBox="1"/>
          <p:nvPr/>
        </p:nvSpPr>
        <p:spPr>
          <a:xfrm>
            <a:off x="8874996" y="1430000"/>
            <a:ext cx="1000000" cy="200000"/>
          </a:xfrm>
          <a:prstGeom prst="rect">
            <a:avLst/>
          </a:prstGeom>
          <a:noFill/>
        </p:spPr>
        <p:txBody>
          <a:bodyPr wrap="square" lIns="0" tIns="0" rIns="0" bIns="0" anchor="t">
            <a:spAutoFit/>
          </a:bodyPr>
          <a:lstStyle/>
          <a:p>
            <a:pPr algn="ctr">
              <a:buNone/>
            </a:pPr>
            <a:r>
              <a:rPr lang="fr-FR" sz="900" b="0" i="0" dirty="0">
                <a:solidFill>
                  <a:srgbClr val="4A5568"/>
                </a:solidFill>
                <a:latin typeface="Lato" pitchFamily="34" charset="0"/>
                <a:cs typeface="Lato" pitchFamily="34" charset="0"/>
              </a:rPr>
              <a:t>+ 3 ans</a:t>
            </a:r>
          </a:p>
        </p:txBody>
      </p:sp>
      <p:sp>
        <p:nvSpPr>
          <p:cNvPr id="914" name="TextBox 914"/>
          <p:cNvSpPr txBox="1"/>
          <p:nvPr/>
        </p:nvSpPr>
        <p:spPr>
          <a:xfrm>
            <a:off x="10533328" y="1430000"/>
            <a:ext cx="1000000" cy="200000"/>
          </a:xfrm>
          <a:prstGeom prst="rect">
            <a:avLst/>
          </a:prstGeom>
          <a:noFill/>
        </p:spPr>
        <p:txBody>
          <a:bodyPr wrap="square" lIns="0" tIns="0" rIns="0" bIns="0" anchor="t">
            <a:spAutoFit/>
          </a:bodyPr>
          <a:lstStyle/>
          <a:p>
            <a:pPr algn="r">
              <a:buNone/>
            </a:pPr>
            <a:r>
              <a:rPr lang="fr-FR" sz="900" b="0" i="0" dirty="0">
                <a:solidFill>
                  <a:srgbClr val="4A5568"/>
                </a:solidFill>
                <a:latin typeface="Lato" pitchFamily="34" charset="0"/>
                <a:cs typeface="Lato" pitchFamily="34" charset="0"/>
              </a:rPr>
              <a:t>+ 4 ans</a:t>
            </a:r>
          </a:p>
        </p:txBody>
      </p:sp>
      <p:sp>
        <p:nvSpPr>
          <p:cNvPr id="915" name="Shape 915"/>
          <p:cNvSpPr/>
          <p:nvPr/>
        </p:nvSpPr>
        <p:spPr>
          <a:xfrm>
            <a:off x="2900000" y="1880000"/>
            <a:ext cx="8633328" cy="40000"/>
          </a:xfrm>
          <a:prstGeom prst="rect">
            <a:avLst/>
          </a:prstGeom>
          <a:solidFill>
            <a:srgbClr val="EDEFF3"/>
          </a:solidFill>
          <a:ln>
            <a:noFill/>
          </a:ln>
        </p:spPr>
        <p:txBody>
          <a:bodyPr rtlCol="0" anchor="ctr"/>
          <a:lstStyle/>
          <a:p>
            <a:endParaRPr/>
          </a:p>
        </p:txBody>
      </p:sp>
      <p:sp>
        <p:nvSpPr>
          <p:cNvPr id="916" name="TextBox 916"/>
          <p:cNvSpPr txBox="1"/>
          <p:nvPr/>
        </p:nvSpPr>
        <p:spPr>
          <a:xfrm>
            <a:off x="658368" y="16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Audit ISO 27002</a:t>
            </a:r>
          </a:p>
        </p:txBody>
      </p:sp>
      <p:sp>
        <p:nvSpPr>
          <p:cNvPr id="917" name="TextBox 917"/>
          <p:cNvSpPr txBox="1"/>
          <p:nvPr/>
        </p:nvSpPr>
        <p:spPr>
          <a:xfrm>
            <a:off x="658368" y="19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tous les 3 à 4 ans</a:t>
            </a:r>
          </a:p>
        </p:txBody>
      </p:sp>
      <p:sp>
        <p:nvSpPr>
          <p:cNvPr id="918" name="Shape 918"/>
          <p:cNvSpPr/>
          <p:nvPr/>
        </p:nvSpPr>
        <p:spPr>
          <a:xfrm>
            <a:off x="2815000" y="1815000"/>
            <a:ext cx="170000" cy="170000"/>
          </a:xfrm>
          <a:prstGeom prst="ellipse">
            <a:avLst/>
          </a:prstGeom>
          <a:solidFill>
            <a:srgbClr val="1B2A4A"/>
          </a:solidFill>
          <a:ln>
            <a:noFill/>
          </a:ln>
        </p:spPr>
        <p:txBody>
          <a:bodyPr rtlCol="0" anchor="ctr"/>
          <a:lstStyle/>
          <a:p>
            <a:endParaRPr/>
          </a:p>
        </p:txBody>
      </p:sp>
      <p:sp>
        <p:nvSpPr>
          <p:cNvPr id="919" name="Shape 919"/>
          <p:cNvSpPr/>
          <p:nvPr/>
        </p:nvSpPr>
        <p:spPr>
          <a:xfrm>
            <a:off x="10369162" y="1815000"/>
            <a:ext cx="170000" cy="170000"/>
          </a:xfrm>
          <a:prstGeom prst="ellipse">
            <a:avLst/>
          </a:prstGeom>
          <a:solidFill>
            <a:srgbClr val="1B2A4A"/>
          </a:solidFill>
          <a:ln>
            <a:noFill/>
          </a:ln>
        </p:spPr>
        <p:txBody>
          <a:bodyPr rtlCol="0" anchor="ctr"/>
          <a:lstStyle/>
          <a:p>
            <a:endParaRPr/>
          </a:p>
        </p:txBody>
      </p:sp>
      <p:sp>
        <p:nvSpPr>
          <p:cNvPr id="920" name="Shape 920"/>
          <p:cNvSpPr/>
          <p:nvPr/>
        </p:nvSpPr>
        <p:spPr>
          <a:xfrm>
            <a:off x="2900000" y="2580000"/>
            <a:ext cx="8633328" cy="40000"/>
          </a:xfrm>
          <a:prstGeom prst="rect">
            <a:avLst/>
          </a:prstGeom>
          <a:solidFill>
            <a:srgbClr val="EDEFF3"/>
          </a:solidFill>
          <a:ln>
            <a:noFill/>
          </a:ln>
        </p:spPr>
        <p:txBody>
          <a:bodyPr rtlCol="0" anchor="ctr"/>
          <a:lstStyle/>
          <a:p>
            <a:endParaRPr/>
          </a:p>
        </p:txBody>
      </p:sp>
      <p:sp>
        <p:nvSpPr>
          <p:cNvPr id="921" name="TextBox 921"/>
          <p:cNvSpPr txBox="1"/>
          <p:nvPr/>
        </p:nvSpPr>
        <p:spPr>
          <a:xfrm>
            <a:off x="658368" y="23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Scan du parc</a:t>
            </a:r>
          </a:p>
        </p:txBody>
      </p:sp>
      <p:sp>
        <p:nvSpPr>
          <p:cNvPr id="922" name="TextBox 922"/>
          <p:cNvSpPr txBox="1"/>
          <p:nvPr/>
        </p:nvSpPr>
        <p:spPr>
          <a:xfrm>
            <a:off x="658368" y="26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tous les 6 mois à 1 an</a:t>
            </a:r>
          </a:p>
        </p:txBody>
      </p:sp>
      <p:sp>
        <p:nvSpPr>
          <p:cNvPr id="923" name="Shape 923"/>
          <p:cNvSpPr/>
          <p:nvPr/>
        </p:nvSpPr>
        <p:spPr>
          <a:xfrm>
            <a:off x="2815000" y="2515000"/>
            <a:ext cx="170000" cy="170000"/>
          </a:xfrm>
          <a:prstGeom prst="ellipse">
            <a:avLst/>
          </a:prstGeom>
          <a:solidFill>
            <a:srgbClr val="1B2A4A"/>
          </a:solidFill>
          <a:ln>
            <a:noFill/>
          </a:ln>
        </p:spPr>
        <p:txBody>
          <a:bodyPr rtlCol="0" anchor="ctr"/>
          <a:lstStyle/>
          <a:p>
            <a:endParaRPr/>
          </a:p>
        </p:txBody>
      </p:sp>
      <p:sp>
        <p:nvSpPr>
          <p:cNvPr id="924" name="Shape 924"/>
          <p:cNvSpPr/>
          <p:nvPr/>
        </p:nvSpPr>
        <p:spPr>
          <a:xfrm>
            <a:off x="4433749" y="2515000"/>
            <a:ext cx="170000" cy="170000"/>
          </a:xfrm>
          <a:prstGeom prst="ellipse">
            <a:avLst/>
          </a:prstGeom>
          <a:solidFill>
            <a:srgbClr val="1B2A4A"/>
          </a:solidFill>
          <a:ln>
            <a:noFill/>
          </a:ln>
        </p:spPr>
        <p:txBody>
          <a:bodyPr rtlCol="0" anchor="ctr"/>
          <a:lstStyle/>
          <a:p>
            <a:endParaRPr/>
          </a:p>
        </p:txBody>
      </p:sp>
      <p:sp>
        <p:nvSpPr>
          <p:cNvPr id="925" name="Shape 925"/>
          <p:cNvSpPr/>
          <p:nvPr/>
        </p:nvSpPr>
        <p:spPr>
          <a:xfrm>
            <a:off x="6052498" y="2515000"/>
            <a:ext cx="170000" cy="170000"/>
          </a:xfrm>
          <a:prstGeom prst="ellipse">
            <a:avLst/>
          </a:prstGeom>
          <a:solidFill>
            <a:srgbClr val="1B2A4A"/>
          </a:solidFill>
          <a:ln>
            <a:noFill/>
          </a:ln>
        </p:spPr>
        <p:txBody>
          <a:bodyPr rtlCol="0" anchor="ctr"/>
          <a:lstStyle/>
          <a:p>
            <a:endParaRPr/>
          </a:p>
        </p:txBody>
      </p:sp>
      <p:sp>
        <p:nvSpPr>
          <p:cNvPr id="926" name="Shape 926"/>
          <p:cNvSpPr/>
          <p:nvPr/>
        </p:nvSpPr>
        <p:spPr>
          <a:xfrm>
            <a:off x="7671247" y="2515000"/>
            <a:ext cx="170000" cy="170000"/>
          </a:xfrm>
          <a:prstGeom prst="ellipse">
            <a:avLst/>
          </a:prstGeom>
          <a:solidFill>
            <a:srgbClr val="1B2A4A"/>
          </a:solidFill>
          <a:ln>
            <a:noFill/>
          </a:ln>
        </p:spPr>
        <p:txBody>
          <a:bodyPr rtlCol="0" anchor="ctr"/>
          <a:lstStyle/>
          <a:p>
            <a:endParaRPr/>
          </a:p>
        </p:txBody>
      </p:sp>
      <p:sp>
        <p:nvSpPr>
          <p:cNvPr id="927" name="Shape 927"/>
          <p:cNvSpPr/>
          <p:nvPr/>
        </p:nvSpPr>
        <p:spPr>
          <a:xfrm>
            <a:off x="9289996" y="2515000"/>
            <a:ext cx="170000" cy="170000"/>
          </a:xfrm>
          <a:prstGeom prst="ellipse">
            <a:avLst/>
          </a:prstGeom>
          <a:solidFill>
            <a:srgbClr val="1B2A4A"/>
          </a:solidFill>
          <a:ln>
            <a:noFill/>
          </a:ln>
        </p:spPr>
        <p:txBody>
          <a:bodyPr rtlCol="0" anchor="ctr"/>
          <a:lstStyle/>
          <a:p>
            <a:endParaRPr/>
          </a:p>
        </p:txBody>
      </p:sp>
      <p:sp>
        <p:nvSpPr>
          <p:cNvPr id="928" name="Shape 928"/>
          <p:cNvSpPr/>
          <p:nvPr/>
        </p:nvSpPr>
        <p:spPr>
          <a:xfrm>
            <a:off x="10908745" y="2515000"/>
            <a:ext cx="170000" cy="170000"/>
          </a:xfrm>
          <a:prstGeom prst="ellipse">
            <a:avLst/>
          </a:prstGeom>
          <a:solidFill>
            <a:srgbClr val="1B2A4A"/>
          </a:solidFill>
          <a:ln>
            <a:noFill/>
          </a:ln>
        </p:spPr>
        <p:txBody>
          <a:bodyPr rtlCol="0" anchor="ctr"/>
          <a:lstStyle/>
          <a:p>
            <a:endParaRPr/>
          </a:p>
        </p:txBody>
      </p:sp>
      <p:sp>
        <p:nvSpPr>
          <p:cNvPr id="929" name="Shape 929"/>
          <p:cNvSpPr/>
          <p:nvPr/>
        </p:nvSpPr>
        <p:spPr>
          <a:xfrm>
            <a:off x="2900000" y="3280000"/>
            <a:ext cx="8633328" cy="40000"/>
          </a:xfrm>
          <a:prstGeom prst="rect">
            <a:avLst/>
          </a:prstGeom>
          <a:solidFill>
            <a:srgbClr val="EDEFF3"/>
          </a:solidFill>
          <a:ln>
            <a:noFill/>
          </a:ln>
        </p:spPr>
        <p:txBody>
          <a:bodyPr rtlCol="0" anchor="ctr"/>
          <a:lstStyle/>
          <a:p>
            <a:endParaRPr/>
          </a:p>
        </p:txBody>
      </p:sp>
      <p:sp>
        <p:nvSpPr>
          <p:cNvPr id="930" name="TextBox 930"/>
          <p:cNvSpPr txBox="1"/>
          <p:nvPr/>
        </p:nvSpPr>
        <p:spPr>
          <a:xfrm>
            <a:off x="658368" y="3090000"/>
            <a:ext cx="2100000" cy="220000"/>
          </a:xfrm>
          <a:prstGeom prst="rect">
            <a:avLst/>
          </a:prstGeom>
          <a:noFill/>
        </p:spPr>
        <p:txBody>
          <a:bodyPr wrap="square" lIns="0" tIns="0" rIns="0" bIns="0" anchor="t">
            <a:spAutoFit/>
          </a:bodyPr>
          <a:lstStyle/>
          <a:p>
            <a:pPr algn="l">
              <a:buNone/>
            </a:pPr>
            <a:r>
              <a:rPr lang="fr-FR" sz="1150" b="1" i="0" dirty="0">
                <a:solidFill>
                  <a:srgbClr val="1B2A4A"/>
                </a:solidFill>
                <a:latin typeface="Lato" pitchFamily="34" charset="0"/>
                <a:cs typeface="Lato" pitchFamily="34" charset="0"/>
              </a:rPr>
              <a:t>Analyse de risques</a:t>
            </a:r>
          </a:p>
        </p:txBody>
      </p:sp>
      <p:sp>
        <p:nvSpPr>
          <p:cNvPr id="931" name="TextBox 931"/>
          <p:cNvSpPr txBox="1"/>
          <p:nvPr/>
        </p:nvSpPr>
        <p:spPr>
          <a:xfrm>
            <a:off x="658368" y="333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à fréquence variable</a:t>
            </a:r>
          </a:p>
        </p:txBody>
      </p:sp>
      <p:sp>
        <p:nvSpPr>
          <p:cNvPr id="932" name="Shape 932"/>
          <p:cNvSpPr/>
          <p:nvPr/>
        </p:nvSpPr>
        <p:spPr>
          <a:xfrm>
            <a:off x="2815000" y="3215000"/>
            <a:ext cx="170000" cy="170000"/>
          </a:xfrm>
          <a:prstGeom prst="ellipse">
            <a:avLst/>
          </a:prstGeom>
          <a:solidFill>
            <a:srgbClr val="1B2A4A"/>
          </a:solidFill>
          <a:ln>
            <a:noFill/>
          </a:ln>
        </p:spPr>
        <p:txBody>
          <a:bodyPr rtlCol="0" anchor="ctr"/>
          <a:lstStyle/>
          <a:p>
            <a:endParaRPr/>
          </a:p>
        </p:txBody>
      </p:sp>
      <p:sp>
        <p:nvSpPr>
          <p:cNvPr id="933" name="Shape 933"/>
          <p:cNvSpPr/>
          <p:nvPr/>
        </p:nvSpPr>
        <p:spPr>
          <a:xfrm>
            <a:off x="5836664" y="3215000"/>
            <a:ext cx="170000" cy="170000"/>
          </a:xfrm>
          <a:prstGeom prst="ellipse">
            <a:avLst/>
          </a:prstGeom>
          <a:solidFill>
            <a:srgbClr val="1B2A4A"/>
          </a:solidFill>
          <a:ln>
            <a:noFill/>
          </a:ln>
        </p:spPr>
        <p:txBody>
          <a:bodyPr rtlCol="0" anchor="ctr"/>
          <a:lstStyle/>
          <a:p>
            <a:endParaRPr/>
          </a:p>
        </p:txBody>
      </p:sp>
      <p:sp>
        <p:nvSpPr>
          <p:cNvPr id="934" name="Shape 934"/>
          <p:cNvSpPr/>
          <p:nvPr/>
        </p:nvSpPr>
        <p:spPr>
          <a:xfrm>
            <a:off x="9505829" y="3215000"/>
            <a:ext cx="170000" cy="170000"/>
          </a:xfrm>
          <a:prstGeom prst="ellipse">
            <a:avLst/>
          </a:prstGeom>
          <a:solidFill>
            <a:srgbClr val="1B2A4A"/>
          </a:solidFill>
          <a:ln>
            <a:noFill/>
          </a:ln>
        </p:spPr>
        <p:txBody>
          <a:bodyPr rtlCol="0" anchor="ctr"/>
          <a:lstStyle/>
          <a:p>
            <a:endParaRPr/>
          </a:p>
        </p:txBody>
      </p:sp>
      <p:sp>
        <p:nvSpPr>
          <p:cNvPr id="935" name="Shape 935"/>
          <p:cNvSpPr/>
          <p:nvPr/>
        </p:nvSpPr>
        <p:spPr>
          <a:xfrm>
            <a:off x="2900000" y="4095000"/>
            <a:ext cx="8633328" cy="110000"/>
          </a:xfrm>
          <a:prstGeom prst="rect">
            <a:avLst/>
          </a:prstGeom>
          <a:solidFill>
            <a:srgbClr val="C5A55A"/>
          </a:solidFill>
          <a:ln>
            <a:noFill/>
          </a:ln>
        </p:spPr>
        <p:txBody>
          <a:bodyPr rtlCol="0" anchor="ctr"/>
          <a:lstStyle/>
          <a:p>
            <a:endParaRPr/>
          </a:p>
        </p:txBody>
      </p:sp>
      <p:sp>
        <p:nvSpPr>
          <p:cNvPr id="936" name="TextBox 936"/>
          <p:cNvSpPr txBox="1"/>
          <p:nvPr/>
        </p:nvSpPr>
        <p:spPr>
          <a:xfrm>
            <a:off x="658368" y="3940000"/>
            <a:ext cx="2100000" cy="220000"/>
          </a:xfrm>
          <a:prstGeom prst="rect">
            <a:avLst/>
          </a:prstGeom>
          <a:noFill/>
        </p:spPr>
        <p:txBody>
          <a:bodyPr wrap="square" lIns="0" tIns="0" rIns="0" bIns="0" anchor="t">
            <a:spAutoFit/>
          </a:bodyPr>
          <a:lstStyle/>
          <a:p>
            <a:pPr algn="l">
              <a:buNone/>
            </a:pPr>
            <a:r>
              <a:rPr lang="fr-FR" sz="1150" b="1" i="0" dirty="0">
                <a:solidFill>
                  <a:srgbClr val="C5A55A"/>
                </a:solidFill>
                <a:latin typeface="Lato" pitchFamily="34" charset="0"/>
                <a:cs typeface="Lato" pitchFamily="34" charset="0"/>
              </a:rPr>
              <a:t>Le terrain</a:t>
            </a:r>
          </a:p>
        </p:txBody>
      </p:sp>
      <p:sp>
        <p:nvSpPr>
          <p:cNvPr id="937" name="TextBox 937"/>
          <p:cNvSpPr txBox="1"/>
          <p:nvPr/>
        </p:nvSpPr>
        <p:spPr>
          <a:xfrm>
            <a:off x="658368" y="4180000"/>
            <a:ext cx="2100000" cy="200000"/>
          </a:xfrm>
          <a:prstGeom prst="rect">
            <a:avLst/>
          </a:prstGeom>
          <a:noFill/>
        </p:spPr>
        <p:txBody>
          <a:bodyPr wrap="square" lIns="0" tIns="0" rIns="0" bIns="0" anchor="t">
            <a:spAutoFit/>
          </a:bodyPr>
          <a:lstStyle/>
          <a:p>
            <a:pPr algn="l">
              <a:buNone/>
            </a:pPr>
            <a:r>
              <a:rPr lang="fr-FR" sz="950" b="0" i="0" dirty="0">
                <a:solidFill>
                  <a:srgbClr val="4A5568"/>
                </a:solidFill>
                <a:latin typeface="Lato" pitchFamily="34" charset="0"/>
                <a:cs typeface="Lato" pitchFamily="34" charset="0"/>
              </a:rPr>
              <a:t>change tous les jours</a:t>
            </a:r>
          </a:p>
        </p:txBody>
      </p:sp>
      <p:sp>
        <p:nvSpPr>
          <p:cNvPr id="938" name="TextBox 938"/>
          <p:cNvSpPr txBox="1"/>
          <p:nvPr/>
        </p:nvSpPr>
        <p:spPr>
          <a:xfrm>
            <a:off x="2900000" y="4280000"/>
            <a:ext cx="8633328" cy="220000"/>
          </a:xfrm>
          <a:prstGeom prst="rect">
            <a:avLst/>
          </a:prstGeom>
          <a:noFill/>
        </p:spPr>
        <p:txBody>
          <a:bodyPr wrap="square" lIns="0" tIns="0" rIns="0" bIns="0" anchor="t">
            <a:spAutoFit/>
          </a:bodyPr>
          <a:lstStyle/>
          <a:p>
            <a:pPr algn="ctr">
              <a:buNone/>
            </a:pPr>
            <a:r>
              <a:rPr lang="fr-FR" sz="950" b="0" i="0" dirty="0">
                <a:solidFill>
                  <a:srgbClr val="4A5568"/>
                </a:solidFill>
                <a:latin typeface="Lato" pitchFamily="34" charset="0"/>
                <a:cs typeface="Lato" pitchFamily="34" charset="0"/>
              </a:rPr>
              <a:t>parc, applications, métiers, vulnérabilités publiées</a:t>
            </a:r>
          </a:p>
        </p:txBody>
      </p:sp>
      <p:sp>
        <p:nvSpPr>
          <p:cNvPr id="939" name="Shape 939"/>
          <p:cNvSpPr/>
          <p:nvPr/>
        </p:nvSpPr>
        <p:spPr>
          <a:xfrm>
            <a:off x="658368" y="4700000"/>
            <a:ext cx="10874959" cy="1050000"/>
          </a:xfrm>
          <a:prstGeom prst="roundRect">
            <a:avLst/>
          </a:prstGeom>
          <a:solidFill>
            <a:srgbClr val="EDEFF3"/>
          </a:solidFill>
          <a:ln>
            <a:noFill/>
          </a:ln>
        </p:spPr>
        <p:txBody>
          <a:bodyPr rtlCol="0" anchor="ctr"/>
          <a:lstStyle/>
          <a:p>
            <a:endParaRPr/>
          </a:p>
        </p:txBody>
      </p:sp>
      <p:sp>
        <p:nvSpPr>
          <p:cNvPr id="940" name="TextBox 940"/>
          <p:cNvSpPr txBox="1"/>
          <p:nvPr/>
        </p:nvSpPr>
        <p:spPr>
          <a:xfrm>
            <a:off x="950976" y="4830000"/>
            <a:ext cx="10290000" cy="220000"/>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CE QUE PRODUIT CET ÉCART DE RYTHME</a:t>
            </a:r>
          </a:p>
        </p:txBody>
      </p:sp>
      <p:sp>
        <p:nvSpPr>
          <p:cNvPr id="941" name="TextBox 941"/>
          <p:cNvSpPr txBox="1"/>
          <p:nvPr/>
        </p:nvSpPr>
        <p:spPr>
          <a:xfrm>
            <a:off x="950976" y="5110000"/>
            <a:ext cx="10290000" cy="560000"/>
          </a:xfrm>
          <a:prstGeom prst="rect">
            <a:avLst/>
          </a:prstGeom>
          <a:noFill/>
        </p:spPr>
        <p:txBody>
          <a:bodyPr wrap="square" lIns="0" tIns="0" rIns="0" bIns="0" anchor="t">
            <a:spAutoFit/>
          </a:bodyPr>
          <a:lstStyle/>
          <a:p>
            <a:pPr algn="l">
              <a:buNone/>
            </a:pPr>
            <a:r>
              <a:rPr lang="fr-FR" sz="1250" b="0" i="0" dirty="0">
                <a:solidFill>
                  <a:srgbClr val="232A3A"/>
                </a:solidFill>
                <a:latin typeface="Lato" pitchFamily="34" charset="0"/>
                <a:cs typeface="Lato" pitchFamily="34" charset="0"/>
              </a:rPr>
              <a:t>Une cartographie juste le jour de l'audit est déjà fausse un an plus tard : le parc a changé, les métiers aussi, les vulnérabilités bien plus vite encore.</a:t>
            </a:r>
          </a:p>
          <a:p>
            <a:pPr algn="l">
              <a:buNone/>
            </a:pPr>
            <a:r>
              <a:rPr lang="fr-FR" sz="1250" b="1" i="0" dirty="0">
                <a:solidFill>
                  <a:srgbClr val="232A3A"/>
                </a:solidFill>
                <a:latin typeface="Lato" pitchFamily="34" charset="0"/>
                <a:cs typeface="Lato" pitchFamily="34" charset="0"/>
              </a:rPr>
              <a:t>Un risque, comme un audit, est évalué à l'instant T : il n'évolue pas seul.</a:t>
            </a:r>
          </a:p>
        </p:txBody>
      </p:sp>
      <p:sp>
        <p:nvSpPr>
          <p:cNvPr id="942" name="Shape 942"/>
          <p:cNvSpPr/>
          <p:nvPr/>
        </p:nvSpPr>
        <p:spPr>
          <a:xfrm>
            <a:off x="658368" y="5870448"/>
            <a:ext cx="10874959" cy="566928"/>
          </a:xfrm>
          <a:prstGeom prst="roundRect">
            <a:avLst/>
          </a:prstGeom>
          <a:solidFill>
            <a:srgbClr val="1B2A4A"/>
          </a:solidFill>
          <a:ln>
            <a:noFill/>
          </a:ln>
        </p:spPr>
        <p:txBody>
          <a:bodyPr rtlCol="0" anchor="ctr"/>
          <a:lstStyle/>
          <a:p>
            <a:endParaRPr/>
          </a:p>
        </p:txBody>
      </p:sp>
      <p:sp>
        <p:nvSpPr>
          <p:cNvPr id="943" name="TextBox 943"/>
          <p:cNvSpPr txBox="1"/>
          <p:nvPr/>
        </p:nvSpPr>
        <p:spPr>
          <a:xfrm>
            <a:off x="914400" y="5870448"/>
            <a:ext cx="10362895" cy="566928"/>
          </a:xfrm>
          <a:prstGeom prst="rect">
            <a:avLst/>
          </a:prstGeom>
          <a:noFill/>
        </p:spPr>
        <p:txBody>
          <a:bodyPr wrap="square" lIns="0" tIns="0" rIns="0" bIns="0" anchor="ctr">
            <a:spAutoFit/>
          </a:bodyPr>
          <a:lstStyle/>
          <a:p>
            <a:pPr algn="l">
              <a:buNone/>
            </a:pPr>
            <a:r>
              <a:rPr lang="fr-FR" sz="1250" b="1" i="0" dirty="0">
                <a:solidFill>
                  <a:srgbClr val="FFFFFF"/>
                </a:solidFill>
                <a:latin typeface="Lato" pitchFamily="34" charset="0"/>
                <a:cs typeface="Lato" pitchFamily="34" charset="0"/>
              </a:rPr>
              <a:t>Seuls le scan et la veille tournent assez vite pour maintenir la cartographie juste entre deux audits.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8</a:t>
            </a:fld>
            <a:endParaRPr lang="fr-FR">
              <a:solidFill>
                <a:srgbClr val="4A556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2</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2</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Problématique et objectifs</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40D5DF61-7D08-439C-832B-9192D8868AF5}" type="slidenum">
              <a:rPr lang="fr-FR" sz="900" b="0">
                <a:solidFill>
                  <a:srgbClr val="AEB7C6"/>
                </a:solidFill>
                <a:latin typeface="Lato"/>
              </a:rPr>
              <a:t>9</a:t>
            </a:fld>
            <a:endParaRPr lang="fr-FR">
              <a:solidFill>
                <a:srgbClr val="AEB7C6"/>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Termes </a:t>
            </a:r>
            <a:r>
              <a:rPr lang="en-US" sz="3000" b="1" dirty="0" err="1">
                <a:solidFill>
                  <a:srgbClr val="1B2A4A"/>
                </a:solidFill>
                <a:latin typeface="Lato" pitchFamily="34" charset="0"/>
                <a:ea typeface="Lato" pitchFamily="34" charset="-122"/>
                <a:cs typeface="Lato" pitchFamily="34" charset="-120"/>
              </a:rPr>
              <a:t>clés</a:t>
            </a:r>
            <a:endParaRPr lang="en-US" sz="3000" dirty="0"/>
          </a:p>
        </p:txBody>
      </p:sp>
      <p:sp>
        <p:nvSpPr>
          <p:cNvPr id="3" name="Shape 1"/>
          <p:cNvSpPr/>
          <p:nvPr/>
        </p:nvSpPr>
        <p:spPr>
          <a:xfrm>
            <a:off x="1234440" y="1444752"/>
            <a:ext cx="2962656" cy="1572768"/>
          </a:xfrm>
          <a:prstGeom prst="roundRect">
            <a:avLst>
              <a:gd name="adj" fmla="val 3488"/>
            </a:avLst>
          </a:prstGeom>
          <a:solidFill>
            <a:schemeClr val="bg1">
              <a:lumMod val="85000"/>
            </a:schemeClr>
          </a:solidFill>
          <a:ln/>
        </p:spPr>
        <p:txBody>
          <a:bodyPr/>
          <a:lstStyle/>
          <a:p>
            <a:endParaRPr lang="fr-FR"/>
          </a:p>
        </p:txBody>
      </p:sp>
      <p:sp>
        <p:nvSpPr>
          <p:cNvPr id="4" name="Text 2"/>
          <p:cNvSpPr txBox="1"/>
          <p:nvPr/>
        </p:nvSpPr>
        <p:spPr>
          <a:xfrm>
            <a:off x="1490472"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Actif</a:t>
            </a:r>
            <a:endParaRPr lang="en-US" sz="1800" dirty="0"/>
          </a:p>
        </p:txBody>
      </p:sp>
      <p:sp>
        <p:nvSpPr>
          <p:cNvPr id="5" name="Text 3"/>
          <p:cNvSpPr txBox="1"/>
          <p:nvPr/>
        </p:nvSpPr>
        <p:spPr>
          <a:xfrm>
            <a:off x="1490472"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QU'ON PROTÈGE</a:t>
            </a:r>
            <a:endParaRPr lang="en-US" sz="1000" dirty="0"/>
          </a:p>
        </p:txBody>
      </p:sp>
      <p:sp>
        <p:nvSpPr>
          <p:cNvPr id="6" name="Text 4"/>
          <p:cNvSpPr txBox="1"/>
          <p:nvPr/>
        </p:nvSpPr>
        <p:spPr>
          <a:xfrm>
            <a:off x="1490472"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Un actif support, au sens EBIOS RM : machine, service, donnée. Ici, les machines virtuelles du parc.</a:t>
            </a:r>
            <a:endParaRPr lang="en-US" sz="1150" dirty="0"/>
          </a:p>
        </p:txBody>
      </p:sp>
      <p:sp>
        <p:nvSpPr>
          <p:cNvPr id="7" name="Shape 5"/>
          <p:cNvSpPr/>
          <p:nvPr/>
        </p:nvSpPr>
        <p:spPr>
          <a:xfrm>
            <a:off x="4590288" y="1444752"/>
            <a:ext cx="2962656" cy="1572768"/>
          </a:xfrm>
          <a:prstGeom prst="roundRect">
            <a:avLst>
              <a:gd name="adj" fmla="val 3488"/>
            </a:avLst>
          </a:prstGeom>
          <a:solidFill>
            <a:schemeClr val="bg1">
              <a:lumMod val="85000"/>
            </a:schemeClr>
          </a:solidFill>
          <a:ln/>
        </p:spPr>
        <p:txBody>
          <a:bodyPr/>
          <a:lstStyle/>
          <a:p>
            <a:endParaRPr lang="fr-FR"/>
          </a:p>
        </p:txBody>
      </p:sp>
      <p:sp>
        <p:nvSpPr>
          <p:cNvPr id="8" name="Text 6"/>
          <p:cNvSpPr txBox="1"/>
          <p:nvPr/>
        </p:nvSpPr>
        <p:spPr>
          <a:xfrm>
            <a:off x="4846320"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Vulnérabilité</a:t>
            </a:r>
            <a:endParaRPr lang="en-US" sz="1800" dirty="0"/>
          </a:p>
        </p:txBody>
      </p:sp>
      <p:sp>
        <p:nvSpPr>
          <p:cNvPr id="9" name="Text 7"/>
          <p:cNvSpPr txBox="1"/>
          <p:nvPr/>
        </p:nvSpPr>
        <p:spPr>
          <a:xfrm>
            <a:off x="4846320"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QUI EXPOSE</a:t>
            </a:r>
            <a:endParaRPr lang="en-US" sz="1000" dirty="0"/>
          </a:p>
        </p:txBody>
      </p:sp>
      <p:sp>
        <p:nvSpPr>
          <p:cNvPr id="10" name="Text 8"/>
          <p:cNvSpPr txBox="1"/>
          <p:nvPr/>
        </p:nvSpPr>
        <p:spPr>
          <a:xfrm>
            <a:off x="4846320"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Une faiblesse </a:t>
            </a:r>
            <a:r>
              <a:rPr lang="en-US" sz="1150" dirty="0" err="1">
                <a:solidFill>
                  <a:srgbClr val="232A3A"/>
                </a:solidFill>
                <a:latin typeface="Lato" pitchFamily="34" charset="0"/>
                <a:ea typeface="Lato" pitchFamily="34" charset="-122"/>
                <a:cs typeface="Lato" pitchFamily="34" charset="-120"/>
              </a:rPr>
              <a:t>publiée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une</a:t>
            </a:r>
            <a:r>
              <a:rPr lang="en-US" sz="1150" dirty="0">
                <a:solidFill>
                  <a:srgbClr val="232A3A"/>
                </a:solidFill>
                <a:latin typeface="Lato" pitchFamily="34" charset="0"/>
                <a:ea typeface="Lato" pitchFamily="34" charset="-122"/>
                <a:cs typeface="Lato" pitchFamily="34" charset="-120"/>
              </a:rPr>
              <a:t> CVE, notée de 0 à 10 par le CVSS, standard de gravité.</a:t>
            </a:r>
            <a:endParaRPr lang="en-US" sz="1150" dirty="0"/>
          </a:p>
        </p:txBody>
      </p:sp>
      <p:sp>
        <p:nvSpPr>
          <p:cNvPr id="11" name="Shape 9"/>
          <p:cNvSpPr/>
          <p:nvPr/>
        </p:nvSpPr>
        <p:spPr>
          <a:xfrm>
            <a:off x="7946136" y="1444752"/>
            <a:ext cx="2962656" cy="1572768"/>
          </a:xfrm>
          <a:prstGeom prst="roundRect">
            <a:avLst>
              <a:gd name="adj" fmla="val 3488"/>
            </a:avLst>
          </a:prstGeom>
          <a:solidFill>
            <a:schemeClr val="bg1">
              <a:lumMod val="85000"/>
            </a:schemeClr>
          </a:solidFill>
          <a:ln/>
        </p:spPr>
        <p:txBody>
          <a:bodyPr/>
          <a:lstStyle/>
          <a:p>
            <a:endParaRPr lang="fr-FR"/>
          </a:p>
        </p:txBody>
      </p:sp>
      <p:sp>
        <p:nvSpPr>
          <p:cNvPr id="12" name="Text 10"/>
          <p:cNvSpPr txBox="1"/>
          <p:nvPr/>
        </p:nvSpPr>
        <p:spPr>
          <a:xfrm>
            <a:off x="8202168"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Valeur métier</a:t>
            </a:r>
            <a:endParaRPr lang="en-US" sz="1800" dirty="0"/>
          </a:p>
        </p:txBody>
      </p:sp>
      <p:sp>
        <p:nvSpPr>
          <p:cNvPr id="13" name="Text 11"/>
          <p:cNvSpPr txBox="1"/>
          <p:nvPr/>
        </p:nvSpPr>
        <p:spPr>
          <a:xfrm>
            <a:off x="8202168"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QUE ÇA MET EN JEU</a:t>
            </a:r>
            <a:endParaRPr lang="en-US" sz="1000" dirty="0"/>
          </a:p>
        </p:txBody>
      </p:sp>
      <p:sp>
        <p:nvSpPr>
          <p:cNvPr id="14" name="Text 12"/>
          <p:cNvSpPr txBox="1"/>
          <p:nvPr/>
        </p:nvSpPr>
        <p:spPr>
          <a:xfrm>
            <a:off x="8202168" y="2231136"/>
            <a:ext cx="2468880" cy="731520"/>
          </a:xfrm>
          <a:prstGeom prst="rect">
            <a:avLst/>
          </a:prstGeom>
          <a:noFill/>
          <a:ln/>
        </p:spPr>
        <p:txBody>
          <a:bodyPr wrap="square" lIns="0" tIns="0" rIns="0" bIns="0" rtlCol="0" anchor="t"/>
          <a:lstStyle/>
          <a:p>
            <a:pPr marL="0" indent="0" algn="l">
              <a:lnSpc>
                <a:spcPct val="118000"/>
              </a:lnSpc>
              <a:buNone/>
            </a:pPr>
            <a:r>
              <a:rPr lang="en-US" sz="1150" dirty="0" err="1">
                <a:solidFill>
                  <a:srgbClr val="232A3A"/>
                </a:solidFill>
                <a:latin typeface="Lato" pitchFamily="34" charset="0"/>
                <a:ea typeface="Lato" pitchFamily="34" charset="-122"/>
                <a:cs typeface="Lato" pitchFamily="34" charset="-120"/>
              </a:rPr>
              <a:t>L’element</a:t>
            </a:r>
            <a:r>
              <a:rPr lang="en-US" sz="1150" dirty="0">
                <a:solidFill>
                  <a:srgbClr val="232A3A"/>
                </a:solidFill>
                <a:latin typeface="Lato" pitchFamily="34" charset="0"/>
                <a:ea typeface="Lato" pitchFamily="34" charset="-122"/>
                <a:cs typeface="Lato" pitchFamily="34" charset="-120"/>
              </a:rPr>
              <a:t> qui </a:t>
            </a:r>
            <a:r>
              <a:rPr lang="en-US" sz="1150" dirty="0" err="1">
                <a:solidFill>
                  <a:srgbClr val="232A3A"/>
                </a:solidFill>
                <a:latin typeface="Lato" pitchFamily="34" charset="0"/>
                <a:ea typeface="Lato" pitchFamily="34" charset="-122"/>
                <a:cs typeface="Lato" pitchFamily="34" charset="-120"/>
              </a:rPr>
              <a:t>représente</a:t>
            </a:r>
            <a:r>
              <a:rPr lang="en-US" sz="1150" dirty="0">
                <a:solidFill>
                  <a:srgbClr val="232A3A"/>
                </a:solidFill>
                <a:latin typeface="Lato" pitchFamily="34" charset="0"/>
                <a:ea typeface="Lato" pitchFamily="34" charset="-122"/>
                <a:cs typeface="Lato" pitchFamily="34" charset="-120"/>
              </a:rPr>
              <a:t> le </a:t>
            </a:r>
            <a:r>
              <a:rPr lang="en-US" sz="1150" dirty="0" err="1">
                <a:solidFill>
                  <a:srgbClr val="232A3A"/>
                </a:solidFill>
                <a:latin typeface="Lato" pitchFamily="34" charset="0"/>
                <a:ea typeface="Lato" pitchFamily="34" charset="-122"/>
                <a:cs typeface="Lato" pitchFamily="34" charset="-120"/>
              </a:rPr>
              <a:t>coeur</a:t>
            </a:r>
            <a:r>
              <a:rPr lang="en-US" sz="1150" dirty="0">
                <a:solidFill>
                  <a:srgbClr val="232A3A"/>
                </a:solidFill>
                <a:latin typeface="Lato" pitchFamily="34" charset="0"/>
                <a:ea typeface="Lato" pitchFamily="34" charset="-122"/>
                <a:cs typeface="Lato" pitchFamily="34" charset="-120"/>
              </a:rPr>
              <a:t> de </a:t>
            </a:r>
            <a:r>
              <a:rPr lang="en-US" sz="1150" dirty="0" err="1">
                <a:solidFill>
                  <a:srgbClr val="232A3A"/>
                </a:solidFill>
                <a:latin typeface="Lato" pitchFamily="34" charset="0"/>
                <a:ea typeface="Lato" pitchFamily="34" charset="-122"/>
                <a:cs typeface="Lato" pitchFamily="34" charset="-120"/>
              </a:rPr>
              <a:t>l’entreprise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ce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qu’elle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possède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ou</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ce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qu’elle</a:t>
            </a:r>
            <a:r>
              <a:rPr lang="en-US" sz="1150" dirty="0">
                <a:solidFill>
                  <a:srgbClr val="232A3A"/>
                </a:solidFill>
                <a:latin typeface="Lato" pitchFamily="34" charset="0"/>
                <a:ea typeface="Lato" pitchFamily="34" charset="-122"/>
                <a:cs typeface="Lato" pitchFamily="34" charset="-120"/>
              </a:rPr>
              <a:t> </a:t>
            </a:r>
            <a:r>
              <a:rPr lang="en-US" sz="1150" dirty="0" err="1">
                <a:solidFill>
                  <a:srgbClr val="232A3A"/>
                </a:solidFill>
                <a:latin typeface="Lato" pitchFamily="34" charset="0"/>
                <a:ea typeface="Lato" pitchFamily="34" charset="-122"/>
                <a:cs typeface="Lato" pitchFamily="34" charset="-120"/>
              </a:rPr>
              <a:t>exerce</a:t>
            </a:r>
            <a:r>
              <a:rPr lang="en-US" sz="1150" dirty="0">
                <a:solidFill>
                  <a:srgbClr val="232A3A"/>
                </a:solidFill>
                <a:latin typeface="Lato" pitchFamily="34" charset="0"/>
                <a:ea typeface="Lato" pitchFamily="34" charset="-122"/>
                <a:cs typeface="Lato" pitchFamily="34" charset="-120"/>
              </a:rPr>
              <a:t>).</a:t>
            </a:r>
            <a:endParaRPr lang="en-US" sz="1150" dirty="0"/>
          </a:p>
        </p:txBody>
      </p:sp>
      <p:sp>
        <p:nvSpPr>
          <p:cNvPr id="45" name="Panneau GRC"/>
          <p:cNvSpPr/>
          <p:nvPr/>
        </p:nvSpPr>
        <p:spPr>
          <a:xfrm>
            <a:off x="2032000" y="3383280"/>
            <a:ext cx="8128000" cy="1061719"/>
          </a:xfrm>
          <a:prstGeom prst="roundRect">
            <a:avLst>
              <a:gd name="adj" fmla="val 6000"/>
            </a:avLst>
          </a:prstGeom>
          <a:solidFill>
            <a:srgbClr val="D9D9D9"/>
          </a:solidFill>
          <a:ln>
            <a:noFill/>
          </a:ln>
        </p:spPr>
        <p:txBody>
          <a:bodyPr rtlCol="0" anchor="ctr"/>
          <a:lstStyle/>
          <a:p>
            <a:pPr algn="ctr">
              <a:buNone/>
            </a:pPr>
            <a:endParaRPr lang="fr-FR"/>
          </a:p>
        </p:txBody>
      </p:sp>
      <p:sp>
        <p:nvSpPr>
          <p:cNvPr id="20" name="Text 18"/>
          <p:cNvSpPr txBox="1"/>
          <p:nvPr/>
        </p:nvSpPr>
        <p:spPr>
          <a:xfrm>
            <a:off x="2286000" y="3483736"/>
            <a:ext cx="7620000" cy="301244"/>
          </a:xfrm>
          <a:prstGeom prst="rect">
            <a:avLst/>
          </a:prstGeom>
          <a:noFill/>
          <a:ln/>
        </p:spPr>
        <p:txBody>
          <a:bodyPr wrap="square" lIns="0" tIns="0" rIns="0" bIns="0" rtlCol="0" anchor="ctr"/>
          <a:lstStyle/>
          <a:p>
            <a:pPr marL="0" indent="0" algn="ctr">
              <a:buNone/>
            </a:pPr>
            <a:r>
              <a:rPr lang="fr-FR" sz="1800" b="1" dirty="0">
                <a:solidFill>
                  <a:srgbClr val="1B2A4A"/>
                </a:solidFill>
                <a:latin typeface="Lato" pitchFamily="34" charset="0"/>
                <a:ea typeface="Lato" pitchFamily="34" charset="-122"/>
                <a:cs typeface="Lato" pitchFamily="34" charset="-120"/>
              </a:rPr>
              <a:t>GRC</a:t>
            </a:r>
          </a:p>
          <a:p>
            <a:pPr marL="0" indent="0" algn="ctr">
              <a:spcBef>
                <a:spcPts val="200"/>
              </a:spcBef>
              <a:buNone/>
            </a:pPr>
            <a:r>
              <a:rPr lang="fr-FR" sz="1000" b="1" kern="0" spc="160" dirty="0">
                <a:solidFill>
                  <a:srgbClr val="C5A55A"/>
                </a:solidFill>
                <a:latin typeface="Lato" pitchFamily="34" charset="0"/>
                <a:ea typeface="Lato" pitchFamily="34" charset="-122"/>
                <a:cs typeface="Lato" pitchFamily="34" charset="-120"/>
              </a:rPr>
              <a:t>GOUVERNANCE, RISQUES &amp; CONFORMITÉ</a:t>
            </a:r>
          </a:p>
        </p:txBody>
      </p:sp>
      <p:sp>
        <p:nvSpPr>
          <p:cNvPr id="21" name="Text 19"/>
          <p:cNvSpPr txBox="1"/>
          <p:nvPr/>
        </p:nvSpPr>
        <p:spPr>
          <a:xfrm>
            <a:off x="2286000" y="3810000"/>
            <a:ext cx="7620000" cy="660400"/>
          </a:xfrm>
          <a:prstGeom prst="rect">
            <a:avLst/>
          </a:prstGeom>
          <a:noFill/>
          <a:ln/>
        </p:spPr>
        <p:txBody>
          <a:bodyPr wrap="square" lIns="0" tIns="0" rIns="0" bIns="0" rtlCol="0" anchor="ctr"/>
          <a:lstStyle/>
          <a:p>
            <a:pPr marL="0" indent="0" algn="ctr">
              <a:lnSpc>
                <a:spcPct val="118000"/>
              </a:lnSpc>
              <a:buNone/>
            </a:pPr>
            <a:r>
              <a:rPr lang="fr-FR" sz="1150" b="1" dirty="0">
                <a:solidFill>
                  <a:srgbClr val="1B2A4A"/>
                </a:solidFill>
                <a:latin typeface="Lato" pitchFamily="34" charset="0"/>
                <a:ea typeface="Lato" pitchFamily="34" charset="-122"/>
                <a:cs typeface="Lato" pitchFamily="34" charset="-120"/>
              </a:rPr>
              <a:t>CISO Assistant : outil de GRC du cabinet. Il porte les référentiels, les analyses de risques EBIOS RM et les plans d'action. C'est lui qui détient la valeur métier.</a:t>
            </a:r>
          </a:p>
        </p:txBody>
      </p:sp>
      <p:sp>
        <p:nvSpPr>
          <p:cNvPr id="15" name="Shape 8"/>
          <p:cNvSpPr/>
          <p:nvPr/>
        </p:nvSpPr>
        <p:spPr>
          <a:xfrm>
            <a:off x="660400" y="4648200"/>
            <a:ext cx="10871200" cy="1676400"/>
          </a:xfrm>
          <a:prstGeom prst="rect">
            <a:avLst/>
          </a:prstGeom>
          <a:solidFill>
            <a:srgbClr val="16233D"/>
          </a:solidFill>
          <a:ln/>
        </p:spPr>
        <p:txBody>
          <a:bodyPr/>
          <a:lstStyle/>
          <a:p>
            <a:endParaRPr lang="fr-FR"/>
          </a:p>
        </p:txBody>
      </p:sp>
      <p:sp>
        <p:nvSpPr>
          <p:cNvPr id="40" name="Box CVSS"/>
          <p:cNvSpPr/>
          <p:nvPr/>
        </p:nvSpPr>
        <p:spPr>
          <a:xfrm>
            <a:off x="1117600" y="4978400"/>
            <a:ext cx="2921000" cy="1016000"/>
          </a:xfrm>
          <a:prstGeom prst="roundRect">
            <a:avLst>
              <a:gd name="adj" fmla="val 8000"/>
            </a:avLst>
          </a:prstGeom>
          <a:solidFill>
            <a:srgbClr val="24344F"/>
          </a:solidFill>
          <a:ln w="12700">
            <a:solidFill>
              <a:srgbClr val="C5A55A"/>
            </a:solidFill>
          </a:ln>
        </p:spPr>
        <p:txBody>
          <a:bodyPr rtlCol="0" anchor="ctr">
            <a:normAutofit/>
          </a:bodyPr>
          <a:lstStyle/>
          <a:p>
            <a:pPr algn="ctr">
              <a:buNone/>
            </a:pPr>
            <a:r>
              <a:rPr lang="fr-FR" sz="1600" b="1" dirty="0">
                <a:solidFill>
                  <a:srgbClr val="FFFFFF"/>
                </a:solidFill>
                <a:latin typeface="Lato" pitchFamily="34" charset="0"/>
                <a:ea typeface="Lato" pitchFamily="34" charset="-122"/>
                <a:cs typeface="Lato" pitchFamily="34" charset="-120"/>
              </a:rPr>
              <a:t>CVSS</a:t>
            </a:r>
          </a:p>
          <a:p>
            <a:pPr algn="ctr">
              <a:spcBef>
                <a:spcPts val="200"/>
              </a:spcBef>
              <a:buNone/>
            </a:pPr>
            <a:r>
              <a:rPr lang="fr-FR" sz="1100" dirty="0">
                <a:solidFill>
                  <a:srgbClr val="C5A55A"/>
                </a:solidFill>
                <a:latin typeface="Lato" pitchFamily="34" charset="0"/>
                <a:ea typeface="Lato" pitchFamily="34" charset="-122"/>
                <a:cs typeface="Lato" pitchFamily="34" charset="-120"/>
              </a:rPr>
              <a:t>note la faille · 0 à 10</a:t>
            </a:r>
          </a:p>
        </p:txBody>
      </p:sp>
      <p:sp>
        <p:nvSpPr>
          <p:cNvPr id="41" name="Box Valeur"/>
          <p:cNvSpPr/>
          <p:nvPr/>
        </p:nvSpPr>
        <p:spPr>
          <a:xfrm>
            <a:off x="8153400" y="4978400"/>
            <a:ext cx="2921000" cy="1016000"/>
          </a:xfrm>
          <a:prstGeom prst="roundRect">
            <a:avLst>
              <a:gd name="adj" fmla="val 8000"/>
            </a:avLst>
          </a:prstGeom>
          <a:solidFill>
            <a:srgbClr val="24344F"/>
          </a:solidFill>
          <a:ln w="12700">
            <a:solidFill>
              <a:srgbClr val="C5A55A"/>
            </a:solidFill>
          </a:ln>
        </p:spPr>
        <p:txBody>
          <a:bodyPr rtlCol="0" anchor="ctr">
            <a:normAutofit/>
          </a:bodyPr>
          <a:lstStyle/>
          <a:p>
            <a:pPr algn="ctr">
              <a:buNone/>
            </a:pPr>
            <a:r>
              <a:rPr lang="fr-FR" sz="1600" b="1" dirty="0">
                <a:solidFill>
                  <a:srgbClr val="FFFFFF"/>
                </a:solidFill>
                <a:latin typeface="Lato" pitchFamily="34" charset="0"/>
                <a:ea typeface="Lato" pitchFamily="34" charset="-122"/>
                <a:cs typeface="Lato" pitchFamily="34" charset="-120"/>
              </a:rPr>
              <a:t>Valeur métier</a:t>
            </a:r>
          </a:p>
          <a:p>
            <a:pPr algn="ctr">
              <a:spcBef>
                <a:spcPts val="200"/>
              </a:spcBef>
              <a:buNone/>
            </a:pPr>
            <a:r>
              <a:rPr lang="fr-FR" sz="1100" dirty="0">
                <a:solidFill>
                  <a:srgbClr val="C5A55A"/>
                </a:solidFill>
                <a:latin typeface="Lato" pitchFamily="34" charset="0"/>
                <a:ea typeface="Lato" pitchFamily="34" charset="-122"/>
                <a:cs typeface="Lato" pitchFamily="34" charset="-120"/>
              </a:rPr>
              <a:t>note l'enjeu</a:t>
            </a:r>
          </a:p>
        </p:txBody>
      </p:sp>
      <p:sp>
        <p:nvSpPr>
          <p:cNvPr id="42" name="Ecart arrow"/>
          <p:cNvSpPr/>
          <p:nvPr/>
        </p:nvSpPr>
        <p:spPr>
          <a:xfrm>
            <a:off x="4318000" y="5308600"/>
            <a:ext cx="3556000" cy="355600"/>
          </a:xfrm>
          <a:prstGeom prst="leftRightArrow">
            <a:avLst>
              <a:gd name="adj1" fmla="val 50000"/>
              <a:gd name="adj2" fmla="val 45000"/>
            </a:avLst>
          </a:prstGeom>
          <a:solidFill>
            <a:srgbClr val="C5A55A"/>
          </a:solidFill>
          <a:ln>
            <a:noFill/>
          </a:ln>
        </p:spPr>
        <p:txBody>
          <a:bodyPr rtlCol="0" anchor="ctr"/>
          <a:lstStyle/>
          <a:p>
            <a:pPr algn="ctr">
              <a:buNone/>
            </a:pPr>
            <a:endParaRPr lang="fr-FR"/>
          </a:p>
        </p:txBody>
      </p:sp>
      <p:sp>
        <p:nvSpPr>
          <p:cNvPr id="43" name="Label ecart"/>
          <p:cNvSpPr txBox="1"/>
          <p:nvPr/>
        </p:nvSpPr>
        <p:spPr>
          <a:xfrm>
            <a:off x="4191000" y="5016500"/>
            <a:ext cx="3810000" cy="254000"/>
          </a:xfrm>
          <a:prstGeom prst="rect">
            <a:avLst/>
          </a:prstGeom>
          <a:noFill/>
        </p:spPr>
        <p:txBody>
          <a:bodyPr wrap="square" rtlCol="0" anchor="ctr">
            <a:noAutofit/>
          </a:bodyPr>
          <a:lstStyle/>
          <a:p>
            <a:pPr algn="ctr">
              <a:buNone/>
            </a:pPr>
            <a:r>
              <a:rPr lang="fr-FR" sz="1000" b="1" spc="200" dirty="0">
                <a:solidFill>
                  <a:srgbClr val="C5A55A"/>
                </a:solidFill>
                <a:latin typeface="Lato" pitchFamily="34" charset="0"/>
                <a:ea typeface="Lato" pitchFamily="34" charset="-122"/>
                <a:cs typeface="Lato" pitchFamily="34" charset="-120"/>
              </a:rPr>
              <a:t>L'ÉCART</a:t>
            </a:r>
          </a:p>
        </p:txBody>
      </p:sp>
      <p:sp>
        <p:nvSpPr>
          <p:cNvPr id="44" name="Caption ecart"/>
          <p:cNvSpPr txBox="1"/>
          <p:nvPr/>
        </p:nvSpPr>
        <p:spPr>
          <a:xfrm>
            <a:off x="4038600" y="5740400"/>
            <a:ext cx="4114800" cy="482600"/>
          </a:xfrm>
          <a:prstGeom prst="rect">
            <a:avLst/>
          </a:prstGeom>
          <a:noFill/>
        </p:spPr>
        <p:txBody>
          <a:bodyPr wrap="square" rtlCol="0" anchor="ctr">
            <a:noAutofit/>
          </a:bodyPr>
          <a:lstStyle/>
          <a:p>
            <a:pPr algn="ctr">
              <a:buNone/>
            </a:pPr>
            <a:r>
              <a:rPr lang="fr-FR" sz="1300" b="1" dirty="0">
                <a:solidFill>
                  <a:srgbClr val="FFFFFF"/>
                </a:solidFill>
                <a:latin typeface="Lato" pitchFamily="34" charset="0"/>
                <a:ea typeface="Lato" pitchFamily="34" charset="-122"/>
                <a:cs typeface="Lato" pitchFamily="34" charset="-120"/>
              </a:rPr>
              <a:t>Tout le projet tient dans cet écart.</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555226A-7EA3-4730-9DCE-A90B74B7CC29}" type="slidenum">
              <a:rPr lang="fr-FR" sz="900" b="0">
                <a:solidFill>
                  <a:srgbClr val="4A5568"/>
                </a:solidFill>
                <a:latin typeface="Lato"/>
              </a:rPr>
              <a:t>10</a:t>
            </a:fld>
            <a:endParaRPr lang="fr-FR">
              <a:solidFill>
                <a:srgbClr val="4A5568"/>
              </a:solidFill>
            </a:endParaRPr>
          </a:p>
        </p:txBody>
      </p:sp>
    </p:spTree>
    <p:extLst>
      <p:ext uri="{BB962C8B-B14F-4D97-AF65-F5344CB8AC3E}">
        <p14:creationId xmlns:p14="http://schemas.microsoft.com/office/powerpoint/2010/main" val="164653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969264"/>
            <a:ext cx="5486400" cy="274320"/>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LE POINT DE DÉPART</a:t>
            </a:r>
            <a:endParaRPr lang="en-US" sz="1100" dirty="0"/>
          </a:p>
        </p:txBody>
      </p:sp>
      <p:sp>
        <p:nvSpPr>
          <p:cNvPr id="3" name="Text 1"/>
          <p:cNvSpPr txBox="1"/>
          <p:nvPr/>
        </p:nvSpPr>
        <p:spPr>
          <a:xfrm>
            <a:off x="603504" y="1316736"/>
            <a:ext cx="5669280" cy="1737360"/>
          </a:xfrm>
          <a:prstGeom prst="rect">
            <a:avLst/>
          </a:prstGeom>
          <a:noFill/>
          <a:ln/>
        </p:spPr>
        <p:txBody>
          <a:bodyPr wrap="square" lIns="0" tIns="0" rIns="0" bIns="0" rtlCol="0" anchor="ctr"/>
          <a:lstStyle/>
          <a:p>
            <a:pPr marL="0" indent="0">
              <a:buNone/>
            </a:pPr>
            <a:r>
              <a:rPr lang="en-US" sz="13200" b="1" u="sng" dirty="0">
                <a:solidFill>
                  <a:srgbClr val="FFFFFF"/>
                </a:solidFill>
                <a:latin typeface="Lato" pitchFamily="34" charset="0"/>
                <a:ea typeface="Lato" pitchFamily="34" charset="-122"/>
                <a:cs typeface="Lato" pitchFamily="34" charset="-120"/>
              </a:rPr>
              <a:t>5 662</a:t>
            </a:r>
            <a:endParaRPr lang="en-US" sz="13200" u="sng" dirty="0"/>
          </a:p>
        </p:txBody>
      </p:sp>
      <p:sp>
        <p:nvSpPr>
          <p:cNvPr id="4" name="Text 2"/>
          <p:cNvSpPr txBox="1"/>
          <p:nvPr/>
        </p:nvSpPr>
        <p:spPr>
          <a:xfrm>
            <a:off x="658368" y="3054096"/>
            <a:ext cx="5029200" cy="548640"/>
          </a:xfrm>
          <a:prstGeom prst="rect">
            <a:avLst/>
          </a:prstGeom>
          <a:noFill/>
          <a:ln/>
        </p:spPr>
        <p:txBody>
          <a:bodyPr wrap="square" lIns="0" tIns="0" rIns="0" bIns="0" rtlCol="0" anchor="ctr"/>
          <a:lstStyle/>
          <a:p>
            <a:pPr marL="0" indent="0">
              <a:lnSpc>
                <a:spcPct val="116000"/>
              </a:lnSpc>
              <a:buNone/>
            </a:pPr>
            <a:r>
              <a:rPr lang="en-US" sz="1500" dirty="0">
                <a:solidFill>
                  <a:srgbClr val="E0CF9E"/>
                </a:solidFill>
                <a:latin typeface="Lato" pitchFamily="34" charset="0"/>
                <a:ea typeface="Lato" pitchFamily="34" charset="-122"/>
                <a:cs typeface="Lato" pitchFamily="34" charset="-120"/>
              </a:rPr>
              <a:t>vulnérabilités sur </a:t>
            </a:r>
            <a:r>
              <a:rPr lang="en-US" sz="1500" b="1" dirty="0">
                <a:solidFill>
                  <a:srgbClr val="E0CF9E"/>
                </a:solidFill>
                <a:latin typeface="Lato" pitchFamily="34" charset="0"/>
                <a:ea typeface="Lato" pitchFamily="34" charset="-122"/>
                <a:cs typeface="Lato" pitchFamily="34" charset="-120"/>
              </a:rPr>
              <a:t>UNE SEULE </a:t>
            </a:r>
            <a:r>
              <a:rPr lang="en-US" sz="1500" dirty="0">
                <a:solidFill>
                  <a:srgbClr val="E0CF9E"/>
                </a:solidFill>
                <a:latin typeface="Lato" pitchFamily="34" charset="0"/>
                <a:ea typeface="Lato" pitchFamily="34" charset="-122"/>
                <a:cs typeface="Lato" pitchFamily="34" charset="-120"/>
              </a:rPr>
              <a:t>machine du parc</a:t>
            </a:r>
            <a:endParaRPr lang="en-US" sz="1500" dirty="0">
              <a:solidFill>
                <a:srgbClr val="E0CF9E"/>
              </a:solidFill>
            </a:endParaRPr>
          </a:p>
        </p:txBody>
      </p:sp>
      <p:sp>
        <p:nvSpPr>
          <p:cNvPr id="950" name="Pareto bar 1"/>
          <p:cNvSpPr/>
          <p:nvPr/>
        </p:nvSpPr>
        <p:spPr>
          <a:xfrm>
            <a:off x="922968" y="3700000"/>
            <a:ext cx="1300000" cy="700000"/>
          </a:xfrm>
          <a:prstGeom prst="rect">
            <a:avLst/>
          </a:prstGeom>
          <a:solidFill>
            <a:srgbClr val="C5A55A"/>
          </a:solidFill>
          <a:ln>
            <a:noFill/>
          </a:ln>
        </p:spPr>
        <p:txBody>
          <a:bodyPr/>
          <a:lstStyle/>
          <a:p>
            <a:endParaRPr lang="fr-FR"/>
          </a:p>
        </p:txBody>
      </p:sp>
      <p:sp>
        <p:nvSpPr>
          <p:cNvPr id="951" name="Pareto label 1"/>
          <p:cNvSpPr txBox="1"/>
          <p:nvPr/>
        </p:nvSpPr>
        <p:spPr>
          <a:xfrm>
            <a:off x="9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-160</a:t>
            </a:r>
          </a:p>
        </p:txBody>
      </p:sp>
      <p:sp>
        <p:nvSpPr>
          <p:cNvPr id="952" name="Pareto bar 2"/>
          <p:cNvSpPr/>
          <p:nvPr/>
        </p:nvSpPr>
        <p:spPr>
          <a:xfrm>
            <a:off x="2522968" y="3796481"/>
            <a:ext cx="1300000" cy="603519"/>
          </a:xfrm>
          <a:prstGeom prst="rect">
            <a:avLst/>
          </a:prstGeom>
          <a:solidFill>
            <a:srgbClr val="C5A55A"/>
          </a:solidFill>
          <a:ln>
            <a:noFill/>
          </a:ln>
        </p:spPr>
        <p:txBody>
          <a:bodyPr/>
          <a:lstStyle/>
          <a:p>
            <a:endParaRPr lang="fr-FR"/>
          </a:p>
        </p:txBody>
      </p:sp>
      <p:sp>
        <p:nvSpPr>
          <p:cNvPr id="953" name="Pareto label 2"/>
          <p:cNvSpPr txBox="1"/>
          <p:nvPr/>
        </p:nvSpPr>
        <p:spPr>
          <a:xfrm>
            <a:off x="25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linux-image -176</a:t>
            </a:r>
          </a:p>
        </p:txBody>
      </p:sp>
      <p:sp>
        <p:nvSpPr>
          <p:cNvPr id="954" name="Pareto bar 3"/>
          <p:cNvSpPr/>
          <p:nvPr/>
        </p:nvSpPr>
        <p:spPr>
          <a:xfrm>
            <a:off x="4122968" y="4235051"/>
            <a:ext cx="1300000" cy="164949"/>
          </a:xfrm>
          <a:prstGeom prst="rect">
            <a:avLst/>
          </a:prstGeom>
          <a:solidFill>
            <a:srgbClr val="AEB7C6"/>
          </a:solidFill>
          <a:ln>
            <a:noFill/>
          </a:ln>
        </p:spPr>
        <p:txBody>
          <a:bodyPr/>
          <a:lstStyle/>
          <a:p>
            <a:endParaRPr lang="fr-FR"/>
          </a:p>
        </p:txBody>
      </p:sp>
      <p:sp>
        <p:nvSpPr>
          <p:cNvPr id="955" name="Pareto label 3"/>
          <p:cNvSpPr txBox="1"/>
          <p:nvPr/>
        </p:nvSpPr>
        <p:spPr>
          <a:xfrm>
            <a:off x="4122968" y="4415000"/>
            <a:ext cx="1300000" cy="170000"/>
          </a:xfrm>
          <a:prstGeom prst="rect">
            <a:avLst/>
          </a:prstGeom>
          <a:noFill/>
          <a:ln/>
        </p:spPr>
        <p:txBody>
          <a:bodyPr wrap="square" lIns="0" tIns="0" rIns="0" bIns="0" anchor="t"/>
          <a:lstStyle/>
          <a:p>
            <a:pPr marL="0" indent="0" algn="ctr">
              <a:buNone/>
            </a:pPr>
            <a:r>
              <a:rPr lang="fr-FR" sz="800" dirty="0">
                <a:solidFill>
                  <a:srgbClr val="D5DAE4"/>
                </a:solidFill>
                <a:latin typeface="Lato" pitchFamily="34" charset="0"/>
                <a:cs typeface="Lato" pitchFamily="34" charset="0"/>
              </a:rPr>
              <a:t>136 autres paquets</a:t>
            </a:r>
          </a:p>
        </p:txBody>
      </p:sp>
      <p:sp>
        <p:nvSpPr>
          <p:cNvPr id="956" name="Pareto caption"/>
          <p:cNvSpPr txBox="1"/>
          <p:nvPr/>
        </p:nvSpPr>
        <p:spPr>
          <a:xfrm>
            <a:off x="658368" y="4580000"/>
            <a:ext cx="5029200" cy="250000"/>
          </a:xfrm>
          <a:prstGeom prst="rect">
            <a:avLst/>
          </a:prstGeom>
          <a:noFill/>
          <a:ln/>
        </p:spPr>
        <p:txBody>
          <a:bodyPr wrap="square" lIns="0" tIns="0" rIns="0" bIns="0" anchor="t"/>
          <a:lstStyle/>
          <a:p>
            <a:pPr marL="0" indent="0">
              <a:lnSpc>
                <a:spcPct val="105000"/>
              </a:lnSpc>
              <a:buNone/>
            </a:pPr>
            <a:r>
              <a:rPr lang="fr-FR" sz="800" i="1" dirty="0">
                <a:solidFill>
                  <a:srgbClr val="D5DAE4"/>
                </a:solidFill>
                <a:latin typeface="Lato" pitchFamily="34" charset="0"/>
                <a:cs typeface="Lato" pitchFamily="34" charset="0"/>
              </a:rPr>
              <a:t>Deux versions du noyau concentrent 88,8 % des 5 662 lignes — sur 138 paquets au total.</a:t>
            </a:r>
          </a:p>
        </p:txBody>
      </p:sp>
      <p:sp>
        <p:nvSpPr>
          <p:cNvPr id="5" name="Shape 3"/>
          <p:cNvSpPr/>
          <p:nvPr/>
        </p:nvSpPr>
        <p:spPr>
          <a:xfrm>
            <a:off x="6272784" y="1353312"/>
            <a:ext cx="25603" cy="3566160"/>
          </a:xfrm>
          <a:prstGeom prst="rect">
            <a:avLst/>
          </a:prstGeom>
          <a:solidFill>
            <a:srgbClr val="34456B"/>
          </a:solidFill>
          <a:ln/>
        </p:spPr>
        <p:txBody>
          <a:bodyPr/>
          <a:lstStyle/>
          <a:p>
            <a:endParaRPr lang="fr-FR"/>
          </a:p>
        </p:txBody>
      </p:sp>
      <p:sp>
        <p:nvSpPr>
          <p:cNvPr id="6" name="Text 4"/>
          <p:cNvSpPr txBox="1"/>
          <p:nvPr/>
        </p:nvSpPr>
        <p:spPr>
          <a:xfrm>
            <a:off x="6693408" y="1353312"/>
            <a:ext cx="484632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La </a:t>
            </a:r>
            <a:r>
              <a:rPr lang="en-US" sz="1900" b="1" dirty="0" err="1">
                <a:solidFill>
                  <a:srgbClr val="C5A55A"/>
                </a:solidFill>
                <a:latin typeface="Lato" pitchFamily="34" charset="0"/>
                <a:ea typeface="Lato" pitchFamily="34" charset="-122"/>
                <a:cs typeface="Lato" pitchFamily="34" charset="-120"/>
              </a:rPr>
              <a:t>difficulté</a:t>
            </a:r>
            <a:endParaRPr lang="en-US" sz="1900" dirty="0"/>
          </a:p>
        </p:txBody>
      </p:sp>
      <p:sp>
        <p:nvSpPr>
          <p:cNvPr id="7" name="Text 5"/>
          <p:cNvSpPr txBox="1"/>
          <p:nvPr/>
        </p:nvSpPr>
        <p:spPr>
          <a:xfrm>
            <a:off x="6693408" y="1847088"/>
            <a:ext cx="4846320" cy="1005840"/>
          </a:xfrm>
          <a:prstGeom prst="rect">
            <a:avLst/>
          </a:prstGeom>
          <a:noFill/>
          <a:ln/>
        </p:spPr>
        <p:txBody>
          <a:bodyPr wrap="square" lIns="0" tIns="0" rIns="0" bIns="0" rtlCol="0" anchor="t"/>
          <a:lstStyle/>
          <a:p>
            <a:pPr marL="0" indent="0" algn="l">
              <a:lnSpc>
                <a:spcPct val="118000"/>
              </a:lnSpc>
              <a:buNone/>
            </a:pPr>
            <a:r>
              <a:rPr lang="en-US" sz="1350" dirty="0">
                <a:solidFill>
                  <a:srgbClr val="D5DAE4"/>
                </a:solidFill>
                <a:latin typeface="Lato" pitchFamily="34" charset="0"/>
                <a:ea typeface="Lato" pitchFamily="34" charset="-122"/>
                <a:cs typeface="Lato" pitchFamily="34" charset="-120"/>
              </a:rPr>
              <a:t>Des milliers de lignes remontées automatiquement.</a:t>
            </a:r>
          </a:p>
          <a:p>
            <a:pPr marL="0" indent="0" algn="l">
              <a:lnSpc>
                <a:spcPct val="118000"/>
              </a:lnSpc>
              <a:buNone/>
            </a:pPr>
            <a:endParaRPr lang="en-US" sz="1350" dirty="0">
              <a:solidFill>
                <a:srgbClr val="D5DAE4"/>
              </a:solidFill>
              <a:latin typeface="Lato" pitchFamily="34" charset="0"/>
              <a:ea typeface="Lato" pitchFamily="34" charset="-122"/>
              <a:cs typeface="Lato" pitchFamily="34" charset="-120"/>
            </a:endParaRPr>
          </a:p>
          <a:p>
            <a:pPr marL="0" indent="0" algn="l">
              <a:lnSpc>
                <a:spcPct val="118000"/>
              </a:lnSpc>
              <a:buNone/>
            </a:pPr>
            <a:r>
              <a:rPr lang="en-US" sz="1350" b="1" i="1" dirty="0" err="1">
                <a:solidFill>
                  <a:srgbClr val="D5DAE4"/>
                </a:solidFill>
                <a:latin typeface="Lato" pitchFamily="34" charset="0"/>
                <a:ea typeface="Lato" pitchFamily="34" charset="-122"/>
                <a:cs typeface="Lato" pitchFamily="34" charset="-120"/>
              </a:rPr>
              <a:t>Lesquelles corriger en premier ?</a:t>
            </a:r>
            <a:endParaRPr lang="en-US" sz="1350" b="1" i="1" dirty="0"/>
          </a:p>
        </p:txBody>
      </p:sp>
      <p:sp>
        <p:nvSpPr>
          <p:cNvPr id="8" name="Text 6"/>
          <p:cNvSpPr txBox="1"/>
          <p:nvPr/>
        </p:nvSpPr>
        <p:spPr>
          <a:xfrm>
            <a:off x="6693408" y="3035808"/>
            <a:ext cx="4846320" cy="32918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Les </a:t>
            </a:r>
            <a:r>
              <a:rPr lang="en-US" sz="1450" b="1" dirty="0" err="1">
                <a:solidFill>
                  <a:srgbClr val="C5A55A"/>
                </a:solidFill>
                <a:latin typeface="Lato" pitchFamily="34" charset="0"/>
                <a:ea typeface="Lato" pitchFamily="34" charset="-122"/>
                <a:cs typeface="Lato" pitchFamily="34" charset="-120"/>
              </a:rPr>
              <a:t>limites</a:t>
            </a:r>
            <a:r>
              <a:rPr lang="en-US" sz="1450" b="1" dirty="0">
                <a:solidFill>
                  <a:srgbClr val="C5A55A"/>
                </a:solidFill>
                <a:latin typeface="Lato" pitchFamily="34" charset="0"/>
                <a:ea typeface="Lato" pitchFamily="34" charset="-122"/>
                <a:cs typeface="Lato" pitchFamily="34" charset="-120"/>
              </a:rPr>
              <a:t> du CVSS </a:t>
            </a:r>
            <a:endParaRPr lang="en-US" sz="1450" dirty="0"/>
          </a:p>
        </p:txBody>
      </p:sp>
      <p:sp>
        <p:nvSpPr>
          <p:cNvPr id="9" name="Text 7"/>
          <p:cNvSpPr txBox="1"/>
          <p:nvPr/>
        </p:nvSpPr>
        <p:spPr>
          <a:xfrm>
            <a:off x="6693408" y="3401568"/>
            <a:ext cx="4846320" cy="1005840"/>
          </a:xfrm>
          <a:prstGeom prst="rect">
            <a:avLst/>
          </a:prstGeom>
          <a:noFill/>
          <a:ln/>
        </p:spPr>
        <p:txBody>
          <a:bodyPr wrap="square" lIns="0" tIns="0" rIns="0" bIns="0" rtlCol="0" anchor="t"/>
          <a:lstStyle/>
          <a:p>
            <a:pPr marL="0" indent="0" algn="l">
              <a:lnSpc>
                <a:spcPct val="118000"/>
              </a:lnSpc>
              <a:buNone/>
            </a:pPr>
            <a:r>
              <a:rPr lang="en-US" sz="1300" dirty="0" err="1">
                <a:solidFill>
                  <a:srgbClr val="AEB7C6"/>
                </a:solidFill>
                <a:latin typeface="Lato" pitchFamily="34" charset="0"/>
                <a:ea typeface="Lato" pitchFamily="34" charset="-122"/>
                <a:cs typeface="Lato" pitchFamily="34" charset="-120"/>
              </a:rPr>
              <a:t>CVSS : gravité de 0 à 10, identique pour tous.</a:t>
            </a:r>
          </a:p>
          <a:p>
            <a:pPr marL="0" indent="0" algn="l">
              <a:lnSpc>
                <a:spcPct val="118000"/>
              </a:lnSpc>
              <a:buNone/>
            </a:pPr>
            <a:endParaRPr lang="en-US" sz="1300" dirty="0">
              <a:solidFill>
                <a:srgbClr val="AEB7C6"/>
              </a:solidFill>
              <a:latin typeface="Lato" pitchFamily="34" charset="0"/>
              <a:ea typeface="Lato" pitchFamily="34" charset="-122"/>
              <a:cs typeface="Lato" pitchFamily="34" charset="-120"/>
            </a:endParaRPr>
          </a:p>
          <a:p>
            <a:pPr marL="0" indent="0" algn="l">
              <a:lnSpc>
                <a:spcPct val="118000"/>
              </a:lnSpc>
              <a:buNone/>
            </a:pPr>
            <a:r>
              <a:rPr lang="en-US" sz="1300" dirty="0">
                <a:solidFill>
                  <a:srgbClr val="AEB7C6"/>
                </a:solidFill>
                <a:latin typeface="Lato" pitchFamily="34" charset="0"/>
                <a:ea typeface="Lato" pitchFamily="34" charset="-122"/>
                <a:cs typeface="Lato" pitchFamily="34" charset="-120"/>
              </a:rPr>
              <a:t>Aucune information sur l'activité que la machine porte.</a:t>
            </a:r>
            <a:endParaRPr lang="en-US" sz="1300" dirty="0"/>
          </a:p>
        </p:txBody>
      </p:sp>
      <p:sp>
        <p:nvSpPr>
          <p:cNvPr id="10" name="Shape 8"/>
          <p:cNvSpPr/>
          <p:nvPr/>
        </p:nvSpPr>
        <p:spPr>
          <a:xfrm>
            <a:off x="658368" y="4846320"/>
            <a:ext cx="10874959" cy="932688"/>
          </a:xfrm>
          <a:prstGeom prst="rect">
            <a:avLst/>
          </a:prstGeom>
          <a:solidFill>
            <a:srgbClr val="16233D"/>
          </a:solidFill>
          <a:ln/>
        </p:spPr>
        <p:txBody>
          <a:bodyPr/>
          <a:lstStyle/>
          <a:p>
            <a:endParaRPr lang="fr-FR"/>
          </a:p>
        </p:txBody>
      </p:sp>
      <p:sp>
        <p:nvSpPr>
          <p:cNvPr id="11" name="Text 9"/>
          <p:cNvSpPr txBox="1"/>
          <p:nvPr/>
        </p:nvSpPr>
        <p:spPr>
          <a:xfrm>
            <a:off x="950976" y="4846320"/>
            <a:ext cx="10289743" cy="932688"/>
          </a:xfrm>
          <a:prstGeom prst="rect">
            <a:avLst/>
          </a:prstGeom>
          <a:noFill/>
          <a:ln/>
        </p:spPr>
        <p:txBody>
          <a:bodyPr wrap="square" lIns="0" tIns="0" rIns="0" bIns="0" rtlCol="0" anchor="ctr"/>
          <a:lstStyle/>
          <a:p>
            <a:pPr marL="0" indent="0">
              <a:lnSpc>
                <a:spcPct val="114000"/>
              </a:lnSpc>
              <a:buNone/>
            </a:pPr>
            <a:r>
              <a:rPr lang="fr-FR" sz="1350" b="1" noProof="0" dirty="0">
                <a:solidFill>
                  <a:srgbClr val="C5A55A"/>
                </a:solidFill>
                <a:latin typeface="Lato" pitchFamily="34" charset="0"/>
                <a:ea typeface="Lato" pitchFamily="34" charset="-122"/>
                <a:cs typeface="Lato" pitchFamily="34" charset="-120"/>
              </a:rPr>
              <a:t>Une priorisation qui ne reflète pas la réalité — alors que quelques mises à jour concentrent l'essentiel du gain (80/20).</a:t>
            </a:r>
            <a:endParaRPr lang="fr-FR" sz="13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55532CE-BEB4-44AB-8B83-7696F7F9711B}" type="slidenum">
              <a:rPr lang="fr-FR" sz="900" b="0">
                <a:solidFill>
                  <a:srgbClr val="AEB7C6"/>
                </a:solidFill>
                <a:latin typeface="Lato"/>
              </a:rPr>
              <a:t>11</a:t>
            </a:fld>
            <a:endParaRPr lang="fr-FR">
              <a:solidFill>
                <a:srgbClr val="AEB7C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969264"/>
            <a:ext cx="5486400" cy="274320"/>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L'ENJEU, CHIFFRÉ</a:t>
            </a:r>
            <a:endParaRPr lang="en-US" sz="1100" dirty="0"/>
          </a:p>
        </p:txBody>
      </p:sp>
      <p:sp>
        <p:nvSpPr>
          <p:cNvPr id="3" name="Text 1"/>
          <p:cNvSpPr txBox="1"/>
          <p:nvPr/>
        </p:nvSpPr>
        <p:spPr>
          <a:xfrm>
            <a:off x="603504" y="1316736"/>
            <a:ext cx="5669280" cy="1737360"/>
          </a:xfrm>
          <a:prstGeom prst="rect">
            <a:avLst/>
          </a:prstGeom>
          <a:noFill/>
          <a:ln/>
        </p:spPr>
        <p:txBody>
          <a:bodyPr wrap="square" lIns="0" tIns="0" rIns="0" bIns="0" rtlCol="0" anchor="ctr"/>
          <a:lstStyle/>
          <a:p>
            <a:pPr marL="0" indent="0">
              <a:buNone/>
            </a:pPr>
            <a:r>
              <a:rPr lang="en-US" sz="13200" b="1" u="sng" dirty="0">
                <a:solidFill>
                  <a:srgbClr val="FFFFFF"/>
                </a:solidFill>
                <a:latin typeface="Lato" pitchFamily="34" charset="0"/>
                <a:ea typeface="Lato" pitchFamily="34" charset="-122"/>
                <a:cs typeface="Lato" pitchFamily="34" charset="-120"/>
              </a:rPr>
              <a:t>4,4 M$</a:t>
            </a:r>
            <a:endParaRPr lang="en-US" sz="13200" u="sng" dirty="0"/>
          </a:p>
        </p:txBody>
      </p:sp>
      <p:sp>
        <p:nvSpPr>
          <p:cNvPr id="4" name="Text 2"/>
          <p:cNvSpPr txBox="1"/>
          <p:nvPr/>
        </p:nvSpPr>
        <p:spPr>
          <a:xfrm>
            <a:off x="658368" y="3054096"/>
            <a:ext cx="5029200" cy="548640"/>
          </a:xfrm>
          <a:prstGeom prst="rect">
            <a:avLst/>
          </a:prstGeom>
          <a:noFill/>
          <a:ln/>
        </p:spPr>
        <p:txBody>
          <a:bodyPr wrap="square" lIns="0" tIns="0" rIns="0" bIns="0" rtlCol="0" anchor="ctr"/>
          <a:lstStyle/>
          <a:p>
            <a:pPr marL="0" indent="0">
              <a:lnSpc>
                <a:spcPct val="116000"/>
              </a:lnSpc>
              <a:buNone/>
            </a:pPr>
            <a:r>
              <a:rPr lang="en-US" sz="1500" dirty="0">
                <a:solidFill>
                  <a:srgbClr val="E0CF9E"/>
                </a:solidFill>
                <a:latin typeface="Lato" pitchFamily="34" charset="0"/>
                <a:ea typeface="Lato" pitchFamily="34" charset="-122"/>
                <a:cs typeface="Lato" pitchFamily="34" charset="-120"/>
              </a:rPr>
              <a:t>de rançon </a:t>
            </a:r>
            <a:r>
              <a:rPr lang="en-US" sz="1500" dirty="0" err="1">
                <a:solidFill>
                  <a:srgbClr val="E0CF9E"/>
                </a:solidFill>
                <a:latin typeface="Lato" pitchFamily="34" charset="0"/>
                <a:ea typeface="Lato" pitchFamily="34" charset="-122"/>
                <a:cs typeface="Lato" pitchFamily="34" charset="-120"/>
              </a:rPr>
              <a:t>payée</a:t>
            </a:r>
            <a:r>
              <a:rPr lang="en-US" sz="1500" dirty="0">
                <a:solidFill>
                  <a:srgbClr val="E0CF9E"/>
                </a:solidFill>
                <a:latin typeface="Lato" pitchFamily="34" charset="0"/>
                <a:ea typeface="Lato" pitchFamily="34" charset="-122"/>
                <a:cs typeface="Lato" pitchFamily="34" charset="-120"/>
              </a:rPr>
              <a:t> : Colonial Pipeline, mai 2021</a:t>
            </a:r>
            <a:endParaRPr lang="en-US" sz="1500" dirty="0"/>
          </a:p>
        </p:txBody>
      </p:sp>
      <p:sp>
        <p:nvSpPr>
          <p:cNvPr id="5" name="Shape 3"/>
          <p:cNvSpPr/>
          <p:nvPr/>
        </p:nvSpPr>
        <p:spPr>
          <a:xfrm>
            <a:off x="6272784" y="1353312"/>
            <a:ext cx="25603" cy="3566160"/>
          </a:xfrm>
          <a:prstGeom prst="rect">
            <a:avLst/>
          </a:prstGeom>
          <a:solidFill>
            <a:srgbClr val="34456B"/>
          </a:solidFill>
          <a:ln/>
        </p:spPr>
        <p:txBody>
          <a:bodyPr/>
          <a:lstStyle/>
          <a:p>
            <a:endParaRPr lang="fr-FR"/>
          </a:p>
        </p:txBody>
      </p:sp>
      <p:sp>
        <p:nvSpPr>
          <p:cNvPr id="6" name="Text 4"/>
          <p:cNvSpPr txBox="1"/>
          <p:nvPr/>
        </p:nvSpPr>
        <p:spPr>
          <a:xfrm>
            <a:off x="6693408" y="1353312"/>
            <a:ext cx="4846320" cy="365760"/>
          </a:xfrm>
          <a:prstGeom prst="rect">
            <a:avLst/>
          </a:prstGeom>
          <a:noFill/>
          <a:ln/>
        </p:spPr>
        <p:txBody>
          <a:bodyPr wrap="square" lIns="0" tIns="0" rIns="0" bIns="0" rtlCol="0" anchor="ctr"/>
          <a:lstStyle/>
          <a:p>
            <a:pPr marL="0" indent="0">
              <a:buNone/>
            </a:pPr>
            <a:r>
              <a:rPr lang="en-US" sz="1900" b="1" dirty="0">
                <a:solidFill>
                  <a:srgbClr val="C5A55A"/>
                </a:solidFill>
                <a:latin typeface="Lato" pitchFamily="34" charset="0"/>
                <a:ea typeface="Lato" pitchFamily="34" charset="-122"/>
                <a:cs typeface="Lato" pitchFamily="34" charset="-120"/>
              </a:rPr>
              <a:t>Le point d'entrée</a:t>
            </a:r>
            <a:endParaRPr lang="en-US" sz="1900" dirty="0"/>
          </a:p>
        </p:txBody>
      </p:sp>
      <p:sp>
        <p:nvSpPr>
          <p:cNvPr id="7" name="Text 5"/>
          <p:cNvSpPr txBox="1"/>
          <p:nvPr/>
        </p:nvSpPr>
        <p:spPr>
          <a:xfrm>
            <a:off x="6693408" y="1847088"/>
            <a:ext cx="4846320" cy="1005840"/>
          </a:xfrm>
          <a:prstGeom prst="rect">
            <a:avLst/>
          </a:prstGeom>
          <a:noFill/>
          <a:ln/>
        </p:spPr>
        <p:txBody>
          <a:bodyPr wrap="square" lIns="0" tIns="0" rIns="0" bIns="0" rtlCol="0" anchor="t"/>
          <a:lstStyle/>
          <a:p>
            <a:pPr marL="0" indent="0" algn="l">
              <a:lnSpc>
                <a:spcPct val="118000"/>
              </a:lnSpc>
              <a:buNone/>
            </a:pPr>
            <a:r>
              <a:rPr lang="en-US" sz="1350" dirty="0">
                <a:solidFill>
                  <a:srgbClr val="D5DAE4"/>
                </a:solidFill>
                <a:latin typeface="Lato" pitchFamily="34" charset="0"/>
                <a:ea typeface="Lato" pitchFamily="34" charset="-122"/>
                <a:cs typeface="Lato" pitchFamily="34" charset="-120"/>
              </a:rPr>
              <a:t>Un compte d'accès distant inutilisé, sans double authentification.</a:t>
            </a:r>
          </a:p>
          <a:p>
            <a:pPr marL="0" indent="0" algn="l">
              <a:lnSpc>
                <a:spcPct val="118000"/>
              </a:lnSpc>
              <a:buNone/>
            </a:pPr>
            <a:endParaRPr lang="en-US" sz="1350" dirty="0">
              <a:solidFill>
                <a:srgbClr val="D5DAE4"/>
              </a:solidFill>
              <a:latin typeface="Lato" pitchFamily="34" charset="0"/>
              <a:ea typeface="Lato" pitchFamily="34" charset="-122"/>
              <a:cs typeface="Lato" pitchFamily="34" charset="-120"/>
            </a:endParaRPr>
          </a:p>
          <a:p>
            <a:pPr marL="0" indent="0" algn="l">
              <a:lnSpc>
                <a:spcPct val="118000"/>
              </a:lnSpc>
              <a:buNone/>
            </a:pPr>
            <a:r>
              <a:rPr lang="en-US" sz="1350" b="1" i="1" dirty="0" err="1">
                <a:solidFill>
                  <a:srgbClr val="D5DAE4"/>
                </a:solidFill>
                <a:latin typeface="Lato" pitchFamily="34" charset="0"/>
                <a:ea typeface="Lato" pitchFamily="34" charset="-122"/>
                <a:cs typeface="Lato" pitchFamily="34" charset="-120"/>
              </a:rPr>
              <a:t>Six jours d'arrêt, carburant en pénurie dans 17 États.</a:t>
            </a:r>
            <a:endParaRPr lang="en-US" sz="1350" b="1" i="1" dirty="0"/>
          </a:p>
        </p:txBody>
      </p:sp>
      <p:sp>
        <p:nvSpPr>
          <p:cNvPr id="10" name="Shape 8"/>
          <p:cNvSpPr/>
          <p:nvPr/>
        </p:nvSpPr>
        <p:spPr>
          <a:xfrm>
            <a:off x="658368" y="4846320"/>
            <a:ext cx="10874959" cy="932688"/>
          </a:xfrm>
          <a:prstGeom prst="rect">
            <a:avLst/>
          </a:prstGeom>
          <a:solidFill>
            <a:srgbClr val="16233D"/>
          </a:solidFill>
          <a:ln/>
        </p:spPr>
        <p:txBody>
          <a:bodyPr/>
          <a:lstStyle/>
          <a:p>
            <a:endParaRPr lang="fr-FR"/>
          </a:p>
        </p:txBody>
      </p:sp>
      <p:sp>
        <p:nvSpPr>
          <p:cNvPr id="11" name="Text 9"/>
          <p:cNvSpPr txBox="1"/>
          <p:nvPr/>
        </p:nvSpPr>
        <p:spPr>
          <a:xfrm>
            <a:off x="950976" y="4846320"/>
            <a:ext cx="10289743" cy="932688"/>
          </a:xfrm>
          <a:prstGeom prst="rect">
            <a:avLst/>
          </a:prstGeom>
          <a:noFill/>
          <a:ln/>
        </p:spPr>
        <p:txBody>
          <a:bodyPr wrap="square" lIns="0" tIns="0" rIns="0" bIns="0" rtlCol="0" anchor="ctr"/>
          <a:lstStyle/>
          <a:p>
            <a:pPr marL="0" indent="0">
              <a:lnSpc>
                <a:spcPct val="114000"/>
              </a:lnSpc>
              <a:buNone/>
            </a:pPr>
            <a:r>
              <a:rPr lang="fr-FR" sz="1350" b="1" noProof="0" dirty="0">
                <a:solidFill>
                  <a:srgbClr val="C5A55A"/>
                </a:solidFill>
                <a:latin typeface="Lato" pitchFamily="34" charset="0"/>
                <a:ea typeface="Lato" pitchFamily="34" charset="-122"/>
                <a:cs typeface="Lato" pitchFamily="34" charset="-120"/>
              </a:rPr>
              <a:t>Un actif technique modeste peut porter la valeur métier la plus élevée : ce qui compte, c'est ce qu'il commande.</a:t>
            </a:r>
            <a:endParaRPr lang="fr-FR" sz="13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07E6BFBC-C5C8-48C1-A8C5-1E5C6C429354}" type="slidenum">
              <a:rPr lang="fr-FR" sz="900" b="0">
                <a:solidFill>
                  <a:srgbClr val="AEB7C6"/>
                </a:solidFill>
                <a:latin typeface="Lato"/>
              </a:rPr>
              <a:t>12</a:t>
            </a:fld>
            <a:endParaRPr lang="fr-FR">
              <a:solidFill>
                <a:srgbClr val="AEB7C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Trois référentiels, aucune clé commune</a:t>
            </a:r>
            <a:endParaRPr lang="en-US" sz="3000" dirty="0"/>
          </a:p>
        </p:txBody>
      </p:sp>
      <p:sp>
        <p:nvSpPr>
          <p:cNvPr id="3" name="Shape 1"/>
          <p:cNvSpPr/>
          <p:nvPr/>
        </p:nvSpPr>
        <p:spPr>
          <a:xfrm>
            <a:off x="1234440" y="1444752"/>
            <a:ext cx="2962656" cy="1572768"/>
          </a:xfrm>
          <a:prstGeom prst="roundRect">
            <a:avLst>
              <a:gd name="adj" fmla="val 3488"/>
            </a:avLst>
          </a:prstGeom>
          <a:solidFill>
            <a:schemeClr val="bg1">
              <a:lumMod val="85000"/>
            </a:schemeClr>
          </a:solidFill>
          <a:ln/>
        </p:spPr>
        <p:txBody>
          <a:bodyPr/>
          <a:lstStyle/>
          <a:p>
            <a:endParaRPr lang="fr-FR"/>
          </a:p>
        </p:txBody>
      </p:sp>
      <p:sp>
        <p:nvSpPr>
          <p:cNvPr id="4" name="Text 2"/>
          <p:cNvSpPr txBox="1"/>
          <p:nvPr/>
        </p:nvSpPr>
        <p:spPr>
          <a:xfrm>
            <a:off x="1490472"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iTop</a:t>
            </a:r>
            <a:endParaRPr lang="en-US" sz="1800" dirty="0"/>
          </a:p>
        </p:txBody>
      </p:sp>
      <p:sp>
        <p:nvSpPr>
          <p:cNvPr id="5" name="Text 3"/>
          <p:cNvSpPr txBox="1"/>
          <p:nvPr/>
        </p:nvSpPr>
        <p:spPr>
          <a:xfrm>
            <a:off x="1490472"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INVENTAIRE</a:t>
            </a:r>
            <a:endParaRPr lang="en-US" sz="1000" dirty="0"/>
          </a:p>
        </p:txBody>
      </p:sp>
      <p:sp>
        <p:nvSpPr>
          <p:cNvPr id="6" name="Text 4"/>
          <p:cNvSpPr txBox="1"/>
          <p:nvPr/>
        </p:nvSpPr>
        <p:spPr>
          <a:xfrm>
            <a:off x="1490472"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Machines virtuelles, adresses réseau, hôte de virtualisation.</a:t>
            </a:r>
            <a:endParaRPr lang="en-US" sz="1150" dirty="0"/>
          </a:p>
        </p:txBody>
      </p:sp>
      <p:sp>
        <p:nvSpPr>
          <p:cNvPr id="7" name="Shape 5"/>
          <p:cNvSpPr/>
          <p:nvPr/>
        </p:nvSpPr>
        <p:spPr>
          <a:xfrm>
            <a:off x="4590288" y="1444752"/>
            <a:ext cx="2962656" cy="1572768"/>
          </a:xfrm>
          <a:prstGeom prst="roundRect">
            <a:avLst>
              <a:gd name="adj" fmla="val 3488"/>
            </a:avLst>
          </a:prstGeom>
          <a:solidFill>
            <a:schemeClr val="bg1">
              <a:lumMod val="85000"/>
            </a:schemeClr>
          </a:solidFill>
          <a:ln/>
        </p:spPr>
        <p:txBody>
          <a:bodyPr/>
          <a:lstStyle/>
          <a:p>
            <a:endParaRPr lang="fr-FR"/>
          </a:p>
        </p:txBody>
      </p:sp>
      <p:sp>
        <p:nvSpPr>
          <p:cNvPr id="8" name="Text 6"/>
          <p:cNvSpPr txBox="1"/>
          <p:nvPr/>
        </p:nvSpPr>
        <p:spPr>
          <a:xfrm>
            <a:off x="4846320"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Wazuh</a:t>
            </a:r>
            <a:endParaRPr lang="en-US" sz="1800" dirty="0"/>
          </a:p>
        </p:txBody>
      </p:sp>
      <p:sp>
        <p:nvSpPr>
          <p:cNvPr id="9" name="Text 7"/>
          <p:cNvSpPr txBox="1"/>
          <p:nvPr/>
        </p:nvSpPr>
        <p:spPr>
          <a:xfrm>
            <a:off x="4846320"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DÉTECTION</a:t>
            </a:r>
            <a:endParaRPr lang="en-US" sz="1000" dirty="0"/>
          </a:p>
        </p:txBody>
      </p:sp>
      <p:sp>
        <p:nvSpPr>
          <p:cNvPr id="10" name="Text 8"/>
          <p:cNvSpPr txBox="1"/>
          <p:nvPr/>
        </p:nvSpPr>
        <p:spPr>
          <a:xfrm>
            <a:off x="4846320"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Vulnérabilités présentes sur chaque agent, avec leur note CVSS.</a:t>
            </a:r>
            <a:endParaRPr lang="en-US" sz="1150" dirty="0"/>
          </a:p>
        </p:txBody>
      </p:sp>
      <p:sp>
        <p:nvSpPr>
          <p:cNvPr id="11" name="Shape 9"/>
          <p:cNvSpPr/>
          <p:nvPr/>
        </p:nvSpPr>
        <p:spPr>
          <a:xfrm>
            <a:off x="7946136" y="1444752"/>
            <a:ext cx="2962656" cy="1572768"/>
          </a:xfrm>
          <a:prstGeom prst="roundRect">
            <a:avLst>
              <a:gd name="adj" fmla="val 3488"/>
            </a:avLst>
          </a:prstGeom>
          <a:solidFill>
            <a:schemeClr val="bg1">
              <a:lumMod val="85000"/>
            </a:schemeClr>
          </a:solidFill>
          <a:ln/>
        </p:spPr>
        <p:txBody>
          <a:bodyPr/>
          <a:lstStyle/>
          <a:p>
            <a:endParaRPr lang="fr-FR"/>
          </a:p>
        </p:txBody>
      </p:sp>
      <p:sp>
        <p:nvSpPr>
          <p:cNvPr id="12" name="Text 10"/>
          <p:cNvSpPr txBox="1"/>
          <p:nvPr/>
        </p:nvSpPr>
        <p:spPr>
          <a:xfrm>
            <a:off x="8202168"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CISO Assistant</a:t>
            </a:r>
            <a:endParaRPr lang="en-US" sz="1800" dirty="0"/>
          </a:p>
        </p:txBody>
      </p:sp>
      <p:sp>
        <p:nvSpPr>
          <p:cNvPr id="13" name="Text 11"/>
          <p:cNvSpPr txBox="1"/>
          <p:nvPr/>
        </p:nvSpPr>
        <p:spPr>
          <a:xfrm>
            <a:off x="8202168"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CRITICITÉ MÉTIER</a:t>
            </a:r>
            <a:endParaRPr lang="en-US" sz="1000" dirty="0"/>
          </a:p>
        </p:txBody>
      </p:sp>
      <p:sp>
        <p:nvSpPr>
          <p:cNvPr id="14" name="Text 12"/>
          <p:cNvSpPr txBox="1"/>
          <p:nvPr/>
        </p:nvSpPr>
        <p:spPr>
          <a:xfrm>
            <a:off x="8202168"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Valeur des actifs pour l'entreprise, notée de 0 à 4 en C, D et I.</a:t>
            </a:r>
            <a:endParaRPr lang="en-US" sz="1150" dirty="0"/>
          </a:p>
        </p:txBody>
      </p:sp>
      <p:sp>
        <p:nvSpPr>
          <p:cNvPr id="15" name="Shape 13"/>
          <p:cNvSpPr/>
          <p:nvPr/>
        </p:nvSpPr>
        <p:spPr>
          <a:xfrm>
            <a:off x="2715768" y="3017520"/>
            <a:ext cx="3355848" cy="950976"/>
          </a:xfrm>
          <a:prstGeom prst="line">
            <a:avLst/>
          </a:prstGeom>
          <a:noFill/>
          <a:ln w="20320">
            <a:solidFill>
              <a:srgbClr val="E6EAF1"/>
            </a:solidFill>
            <a:prstDash val="dash"/>
          </a:ln>
        </p:spPr>
        <p:txBody>
          <a:bodyPr/>
          <a:lstStyle/>
          <a:p>
            <a:endParaRPr lang="fr-FR"/>
          </a:p>
        </p:txBody>
      </p:sp>
      <p:sp>
        <p:nvSpPr>
          <p:cNvPr id="16" name="Shape 14"/>
          <p:cNvSpPr/>
          <p:nvPr/>
        </p:nvSpPr>
        <p:spPr>
          <a:xfrm>
            <a:off x="6071616" y="3017520"/>
            <a:ext cx="0" cy="896112"/>
          </a:xfrm>
          <a:prstGeom prst="line">
            <a:avLst/>
          </a:prstGeom>
          <a:noFill/>
          <a:ln w="20320">
            <a:solidFill>
              <a:srgbClr val="E6EAF1"/>
            </a:solidFill>
            <a:prstDash val="dash"/>
          </a:ln>
        </p:spPr>
        <p:txBody>
          <a:bodyPr/>
          <a:lstStyle/>
          <a:p>
            <a:endParaRPr lang="fr-FR"/>
          </a:p>
        </p:txBody>
      </p:sp>
      <p:sp>
        <p:nvSpPr>
          <p:cNvPr id="17" name="Shape 15"/>
          <p:cNvSpPr/>
          <p:nvPr/>
        </p:nvSpPr>
        <p:spPr>
          <a:xfrm flipH="1">
            <a:off x="6071616" y="3017520"/>
            <a:ext cx="3355848" cy="950976"/>
          </a:xfrm>
          <a:prstGeom prst="line">
            <a:avLst/>
          </a:prstGeom>
          <a:noFill/>
          <a:ln w="20320">
            <a:solidFill>
              <a:srgbClr val="E6EAF1"/>
            </a:solidFill>
            <a:prstDash val="dash"/>
          </a:ln>
        </p:spPr>
        <p:txBody>
          <a:bodyPr/>
          <a:lstStyle/>
          <a:p>
            <a:endParaRPr lang="fr-FR"/>
          </a:p>
        </p:txBody>
      </p:sp>
      <p:sp>
        <p:nvSpPr>
          <p:cNvPr id="18" name="Shape 16"/>
          <p:cNvSpPr/>
          <p:nvPr/>
        </p:nvSpPr>
        <p:spPr>
          <a:xfrm>
            <a:off x="5504688" y="3639312"/>
            <a:ext cx="1133856" cy="1133856"/>
          </a:xfrm>
          <a:prstGeom prst="ellipse">
            <a:avLst/>
          </a:prstGeom>
          <a:solidFill>
            <a:srgbClr val="1B2A4A"/>
          </a:solidFill>
          <a:ln/>
        </p:spPr>
        <p:txBody>
          <a:bodyPr/>
          <a:lstStyle/>
          <a:p>
            <a:endParaRPr lang="fr-FR"/>
          </a:p>
        </p:txBody>
      </p:sp>
      <p:sp>
        <p:nvSpPr>
          <p:cNvPr id="19" name="Text 17"/>
          <p:cNvSpPr txBox="1"/>
          <p:nvPr/>
        </p:nvSpPr>
        <p:spPr>
          <a:xfrm>
            <a:off x="5504688" y="3639312"/>
            <a:ext cx="1133856" cy="1133856"/>
          </a:xfrm>
          <a:prstGeom prst="rect">
            <a:avLst/>
          </a:prstGeom>
          <a:noFill/>
          <a:ln/>
        </p:spPr>
        <p:txBody>
          <a:bodyPr wrap="square" lIns="0" tIns="0" rIns="0" bIns="0" rtlCol="0" anchor="ctr"/>
          <a:lstStyle/>
          <a:p>
            <a:pPr marL="0" indent="0" algn="ctr">
              <a:buNone/>
            </a:pPr>
            <a:r>
              <a:rPr lang="en-US" sz="3800" b="1" dirty="0">
                <a:solidFill>
                  <a:srgbClr val="C5A55A"/>
                </a:solidFill>
                <a:latin typeface="Lato" pitchFamily="34" charset="0"/>
                <a:ea typeface="Lato" pitchFamily="34" charset="-122"/>
                <a:cs typeface="Lato" pitchFamily="34" charset="-120"/>
              </a:rPr>
              <a:t>✕</a:t>
            </a:r>
            <a:endParaRPr lang="en-US" sz="3800" dirty="0"/>
          </a:p>
        </p:txBody>
      </p:sp>
      <p:sp>
        <p:nvSpPr>
          <p:cNvPr id="20" name="Text 18"/>
          <p:cNvSpPr txBox="1"/>
          <p:nvPr/>
        </p:nvSpPr>
        <p:spPr>
          <a:xfrm>
            <a:off x="4059936" y="4882896"/>
            <a:ext cx="4023360" cy="292608"/>
          </a:xfrm>
          <a:prstGeom prst="rect">
            <a:avLst/>
          </a:prstGeom>
          <a:noFill/>
          <a:ln/>
        </p:spPr>
        <p:txBody>
          <a:bodyPr wrap="square" lIns="0" tIns="0" rIns="0" bIns="0" rtlCol="0" anchor="ctr"/>
          <a:lstStyle/>
          <a:p>
            <a:pPr marL="0" indent="0" algn="ctr">
              <a:buNone/>
            </a:pPr>
            <a:r>
              <a:rPr lang="en-US" sz="1450" b="1" dirty="0">
                <a:solidFill>
                  <a:srgbClr val="C00000"/>
                </a:solidFill>
                <a:latin typeface="Lato" pitchFamily="34" charset="0"/>
                <a:ea typeface="Lato" pitchFamily="34" charset="-122"/>
                <a:cs typeface="Lato" pitchFamily="34" charset="-120"/>
              </a:rPr>
              <a:t>Aucun identifiant partagé</a:t>
            </a:r>
            <a:endParaRPr lang="en-US" sz="1450" dirty="0">
              <a:solidFill>
                <a:srgbClr val="C00000"/>
              </a:solidFill>
            </a:endParaRPr>
          </a:p>
        </p:txBody>
      </p:sp>
      <p:sp>
        <p:nvSpPr>
          <p:cNvPr id="21" name="Text 19"/>
          <p:cNvSpPr txBox="1"/>
          <p:nvPr/>
        </p:nvSpPr>
        <p:spPr>
          <a:xfrm>
            <a:off x="2505456" y="5212080"/>
            <a:ext cx="7132320" cy="640080"/>
          </a:xfrm>
          <a:prstGeom prst="rect">
            <a:avLst/>
          </a:prstGeom>
          <a:noFill/>
          <a:ln/>
        </p:spPr>
        <p:txBody>
          <a:bodyPr wrap="square" lIns="0" tIns="0" rIns="0" bIns="0" rtlCol="0" anchor="ctr"/>
          <a:lstStyle/>
          <a:p>
            <a:pPr marL="0" indent="0" algn="ctr">
              <a:lnSpc>
                <a:spcPct val="116000"/>
              </a:lnSpc>
              <a:buNone/>
            </a:pPr>
            <a:r>
              <a:rPr lang="en-US" sz="1250" i="1" dirty="0">
                <a:solidFill>
                  <a:srgbClr val="4A5568"/>
                </a:solidFill>
                <a:latin typeface="Lato" pitchFamily="34" charset="0"/>
                <a:ea typeface="Lato" pitchFamily="34" charset="-122"/>
                <a:cs typeface="Lato" pitchFamily="34" charset="-120"/>
              </a:rPr>
              <a:t>Rien ne relie une vulnérabilité remontée par la supervision à une machine que la gouvernance sait critique.</a:t>
            </a:r>
            <a:endParaRPr lang="en-US" sz="1250" i="1"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1558F530-E59E-4F8F-8B65-2096791FDD33}" type="slidenum">
              <a:rPr lang="fr-FR" sz="900" b="0">
                <a:solidFill>
                  <a:srgbClr val="4A5568"/>
                </a:solidFill>
                <a:latin typeface="Lato"/>
              </a:rPr>
              <a:t>13</a:t>
            </a:fld>
            <a:endParaRPr lang="fr-FR">
              <a:solidFill>
                <a:srgbClr val="4A556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État de l'art des systèmes de notation</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886855261"/>
              </p:ext>
            </p:extLst>
          </p:nvPr>
        </p:nvGraphicFramePr>
        <p:xfrm>
          <a:off x="658368" y="1481328"/>
          <a:ext cx="10872216" cy="3017520"/>
        </p:xfrm>
        <a:graphic>
          <a:graphicData uri="http://schemas.openxmlformats.org/drawingml/2006/table">
            <a:tbl>
              <a:tblPr/>
              <a:tblGrid>
                <a:gridCol w="224028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745736">
                  <a:extLst>
                    <a:ext uri="{9D8B030D-6E8A-4147-A177-3AD203B41FA5}">
                      <a16:colId xmlns:a16="http://schemas.microsoft.com/office/drawing/2014/main" val="20002"/>
                    </a:ext>
                  </a:extLst>
                </a:gridCol>
              </a:tblGrid>
              <a:tr h="603504">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Système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Ce qu'il apporte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Pourquoi il ne suffit pas ici</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03504">
                <a:tc>
                  <a:txBody>
                    <a:bodyPr/>
                    <a:lstStyle/>
                    <a:p>
                      <a:pPr marL="0" indent="0" algn="l">
                        <a:buNone/>
                      </a:pPr>
                      <a:r>
                        <a:rPr lang="en-US" sz="1250" dirty="0">
                          <a:solidFill>
                            <a:srgbClr val="232A3A"/>
                          </a:solidFill>
                          <a:latin typeface="Lato" pitchFamily="34" charset="0"/>
                          <a:ea typeface="Lato" pitchFamily="34" charset="-122"/>
                          <a:cs typeface="Lato" pitchFamily="34" charset="-120"/>
                        </a:rPr>
                        <a:t>CVSS</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la référence de gravité, universellement diffusée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ignore l'actif porteur et son usage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603504">
                <a:tc>
                  <a:txBody>
                    <a:bodyPr/>
                    <a:lstStyle/>
                    <a:p>
                      <a:pPr marL="0" indent="0" algn="l">
                        <a:buNone/>
                      </a:pPr>
                      <a:r>
                        <a:rPr lang="en-US" sz="1250" dirty="0">
                          <a:solidFill>
                            <a:srgbClr val="232A3A"/>
                          </a:solidFill>
                          <a:latin typeface="Lato" pitchFamily="34" charset="0"/>
                          <a:ea typeface="Lato" pitchFamily="34" charset="-122"/>
                          <a:cs typeface="Lato" pitchFamily="34" charset="-120"/>
                        </a:rPr>
                        <a:t>EPSS</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une probabilité d'exploitation observée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reste une donnée sur la faille, non sur l'organisation</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lgn="l">
                        <a:buNone/>
                      </a:pPr>
                      <a:r>
                        <a:rPr lang="en-US" sz="1250" dirty="0">
                          <a:solidFill>
                            <a:srgbClr val="232A3A"/>
                          </a:solidFill>
                          <a:latin typeface="Lato" pitchFamily="34" charset="0"/>
                          <a:ea typeface="Lato" pitchFamily="34" charset="-122"/>
                          <a:cs typeface="Lato" pitchFamily="34" charset="-120"/>
                        </a:rPr>
                        <a:t>SSVC</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un arbre de décision plutôt qu'une note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qualitatif, difficile à recalculer en continu</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r h="603504">
                <a:tc>
                  <a:txBody>
                    <a:bodyPr/>
                    <a:lstStyle/>
                    <a:p>
                      <a:pPr marL="0" indent="0" algn="l">
                        <a:buNone/>
                      </a:pPr>
                      <a:r>
                        <a:rPr lang="en-US" sz="1250" dirty="0">
                          <a:solidFill>
                            <a:srgbClr val="232A3A"/>
                          </a:solidFill>
                          <a:latin typeface="Lato" pitchFamily="34" charset="0"/>
                          <a:ea typeface="Lato" pitchFamily="34" charset="-122"/>
                          <a:cs typeface="Lato" pitchFamily="34" charset="-120"/>
                        </a:rPr>
                        <a:t>Solutions intégrées du </a:t>
                      </a:r>
                      <a:r>
                        <a:rPr lang="en-US" sz="1250" dirty="0" err="1">
                          <a:solidFill>
                            <a:srgbClr val="232A3A"/>
                          </a:solidFill>
                          <a:latin typeface="Lato" pitchFamily="34" charset="0"/>
                          <a:ea typeface="Lato" pitchFamily="34" charset="-122"/>
                          <a:cs typeface="Lato" pitchFamily="34" charset="-120"/>
                        </a:rPr>
                        <a:t>marché</a:t>
                      </a:r>
                      <a:r>
                        <a:rPr lang="en-US" sz="1250" dirty="0">
                          <a:solidFill>
                            <a:srgbClr val="232A3A"/>
                          </a:solidFill>
                          <a:latin typeface="Lato" pitchFamily="34" charset="0"/>
                          <a:ea typeface="Lato" pitchFamily="34" charset="-122"/>
                          <a:cs typeface="Lato" pitchFamily="34" charset="-120"/>
                        </a:rPr>
                        <a:t> </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une chaîne complète et industrialisée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notation propriétaire, non alignée sur la cotation métier du cabinet, </a:t>
                      </a:r>
                      <a:r>
                        <a:rPr lang="en-US" sz="1250" dirty="0" err="1">
                          <a:solidFill>
                            <a:srgbClr val="232A3A"/>
                          </a:solidFill>
                          <a:latin typeface="Lato" pitchFamily="34" charset="0"/>
                          <a:ea typeface="Lato" pitchFamily="34" charset="-122"/>
                          <a:cs typeface="Lato" pitchFamily="34" charset="-120"/>
                        </a:rPr>
                        <a:t>coût</a:t>
                      </a:r>
                      <a:r>
                        <a:rPr lang="en-US" sz="1250" dirty="0">
                          <a:solidFill>
                            <a:srgbClr val="232A3A"/>
                          </a:solidFill>
                          <a:latin typeface="Lato" pitchFamily="34" charset="0"/>
                          <a:ea typeface="Lato" pitchFamily="34" charset="-122"/>
                          <a:cs typeface="Lato" pitchFamily="34" charset="-120"/>
                        </a:rPr>
                        <a:t> de license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655625" y="5093208"/>
            <a:ext cx="10874959" cy="1042416"/>
          </a:xfrm>
          <a:prstGeom prst="rect">
            <a:avLst/>
          </a:prstGeom>
          <a:solidFill>
            <a:srgbClr val="F2F4F8"/>
          </a:solidFill>
          <a:ln/>
        </p:spPr>
        <p:txBody>
          <a:bodyPr/>
          <a:lstStyle/>
          <a:p>
            <a:endParaRPr lang="fr-FR"/>
          </a:p>
        </p:txBody>
      </p:sp>
      <p:sp>
        <p:nvSpPr>
          <p:cNvPr id="6" name="Text 3"/>
          <p:cNvSpPr txBox="1"/>
          <p:nvPr/>
        </p:nvSpPr>
        <p:spPr>
          <a:xfrm>
            <a:off x="2154021" y="5237754"/>
            <a:ext cx="6989979" cy="822960"/>
          </a:xfrm>
          <a:prstGeom prst="rect">
            <a:avLst/>
          </a:prstGeom>
          <a:noFill/>
          <a:ln/>
        </p:spPr>
        <p:txBody>
          <a:bodyPr wrap="square" lIns="0" tIns="0" rIns="0" bIns="0" rtlCol="0" anchor="ctr"/>
          <a:lstStyle/>
          <a:p>
            <a:pPr marL="0" indent="0">
              <a:lnSpc>
                <a:spcPct val="116000"/>
              </a:lnSpc>
              <a:buNone/>
            </a:pPr>
            <a:r>
              <a:rPr lang="fr-FR" sz="1400" b="1" noProof="0" dirty="0">
                <a:solidFill>
                  <a:srgbClr val="1B2A4A"/>
                </a:solidFill>
                <a:latin typeface="Lato" pitchFamily="34" charset="0"/>
                <a:ea typeface="Lato" pitchFamily="34" charset="-122"/>
                <a:cs typeface="Lato" pitchFamily="34" charset="-120"/>
              </a:rPr>
              <a:t>Aucun lien entre une vulnérabilité sur un actif et la valeur métier qu’il supporte,</a:t>
            </a:r>
          </a:p>
          <a:p>
            <a:pPr marL="0" indent="0">
              <a:lnSpc>
                <a:spcPct val="116000"/>
              </a:lnSpc>
              <a:buNone/>
            </a:pPr>
            <a:r>
              <a:rPr lang="fr-FR" sz="1400" b="1" noProof="0" dirty="0">
                <a:solidFill>
                  <a:srgbClr val="1B2A4A"/>
                </a:solidFill>
                <a:latin typeface="Lato" pitchFamily="34" charset="0"/>
                <a:ea typeface="Lato" pitchFamily="34" charset="-122"/>
                <a:cs typeface="Lato" pitchFamily="34" charset="-120"/>
              </a:rPr>
              <a:t> telle qu'elle est définie dans la gouvernance de l'entreprise.</a:t>
            </a:r>
            <a:endParaRPr lang="fr-FR" sz="1400" noProof="0" dirty="0"/>
          </a:p>
        </p:txBody>
      </p:sp>
      <p:pic>
        <p:nvPicPr>
          <p:cNvPr id="8" name="Graphique 7" descr="Avertissement avec un remplissage uni">
            <a:extLst>
              <a:ext uri="{FF2B5EF4-FFF2-40B4-BE49-F238E27FC236}">
                <a16:creationId xmlns:a16="http://schemas.microsoft.com/office/drawing/2014/main" id="{55389855-6E9E-8207-47A9-2927A08B3A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7623" y="5157216"/>
            <a:ext cx="914400" cy="914400"/>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D401B149-6C40-48EB-9629-C9BED87E02FB}" type="slidenum">
              <a:rPr lang="fr-FR" sz="900" b="0">
                <a:solidFill>
                  <a:srgbClr val="4A5568"/>
                </a:solidFill>
                <a:latin typeface="Lato"/>
              </a:rPr>
              <a:t>14</a:t>
            </a:fld>
            <a:endParaRPr lang="fr-FR">
              <a:solidFill>
                <a:srgbClr val="4A556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a:extLst>
            <a:ext uri="{FF2B5EF4-FFF2-40B4-BE49-F238E27FC236}">
              <a16:creationId xmlns:a16="http://schemas.microsoft.com/office/drawing/2014/main" id="{27328718-BF69-7E40-FABA-1CBD943DCD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E5705E-4617-3848-58AF-0B8FDB91C9EB}"/>
              </a:ext>
            </a:extLst>
          </p:cNvPr>
          <p:cNvSpPr txBox="1"/>
          <p:nvPr/>
        </p:nvSpPr>
        <p:spPr>
          <a:xfrm>
            <a:off x="406400" y="290068"/>
            <a:ext cx="5486400" cy="274320"/>
          </a:xfrm>
          <a:prstGeom prst="rect">
            <a:avLst/>
          </a:prstGeom>
          <a:noFill/>
          <a:ln/>
        </p:spPr>
        <p:txBody>
          <a:bodyPr wrap="square" lIns="0" tIns="0" rIns="0" bIns="0" rtlCol="0" anchor="ctr"/>
          <a:lstStyle/>
          <a:p>
            <a:pPr marL="0" indent="0">
              <a:buNone/>
            </a:pPr>
            <a:r>
              <a:rPr lang="en-US" sz="2800" b="1" kern="0" spc="240" dirty="0">
                <a:solidFill>
                  <a:srgbClr val="C5A55A"/>
                </a:solidFill>
                <a:latin typeface="Lato" pitchFamily="34" charset="0"/>
                <a:ea typeface="Lato" pitchFamily="34" charset="-122"/>
                <a:cs typeface="Lato" pitchFamily="34" charset="-120"/>
              </a:rPr>
              <a:t>PROBLÉMATIQUE</a:t>
            </a:r>
            <a:endParaRPr lang="en-US" sz="2800" dirty="0"/>
          </a:p>
        </p:txBody>
      </p:sp>
      <p:sp>
        <p:nvSpPr>
          <p:cNvPr id="3" name="Text 1">
            <a:extLst>
              <a:ext uri="{FF2B5EF4-FFF2-40B4-BE49-F238E27FC236}">
                <a16:creationId xmlns:a16="http://schemas.microsoft.com/office/drawing/2014/main" id="{0CEAEEF6-57F5-FD75-C942-AF8EE962CA59}"/>
              </a:ext>
            </a:extLst>
          </p:cNvPr>
          <p:cNvSpPr txBox="1"/>
          <p:nvPr/>
        </p:nvSpPr>
        <p:spPr>
          <a:xfrm>
            <a:off x="406400" y="752856"/>
            <a:ext cx="9493504" cy="1554480"/>
          </a:xfrm>
          <a:prstGeom prst="rect">
            <a:avLst/>
          </a:prstGeom>
          <a:noFill/>
          <a:ln/>
        </p:spPr>
        <p:txBody>
          <a:bodyPr wrap="square" lIns="0" tIns="0" rIns="0" bIns="0" rtlCol="0" anchor="ctr"/>
          <a:lstStyle/>
          <a:p>
            <a:pPr marL="0" indent="0">
              <a:lnSpc>
                <a:spcPct val="118000"/>
              </a:lnSpc>
              <a:buNone/>
            </a:pPr>
            <a:r>
              <a:rPr lang="en-US" sz="2400" b="1" i="1" dirty="0">
                <a:solidFill>
                  <a:srgbClr val="FFFFFF"/>
                </a:solidFill>
                <a:latin typeface="Lato" pitchFamily="34" charset="0"/>
                <a:ea typeface="Lato" pitchFamily="34" charset="-122"/>
                <a:cs typeface="Lato" pitchFamily="34" charset="-120"/>
              </a:rPr>
              <a:t>Comment produire, de manière automatisée et continue, une notation des vulnérabilités intégrant la valeur métier des actifs concernés, à partir de référentiels hétérogènes et sans clé commune ?</a:t>
            </a:r>
            <a:endParaRPr lang="en-US" sz="2400" i="1" dirty="0"/>
          </a:p>
        </p:txBody>
      </p:sp>
      <p:sp>
        <p:nvSpPr>
          <p:cNvPr id="4" name="Text 2">
            <a:extLst>
              <a:ext uri="{FF2B5EF4-FFF2-40B4-BE49-F238E27FC236}">
                <a16:creationId xmlns:a16="http://schemas.microsoft.com/office/drawing/2014/main" id="{C5438414-C561-6AE9-644B-C9914D03BDAA}"/>
              </a:ext>
            </a:extLst>
          </p:cNvPr>
          <p:cNvSpPr txBox="1"/>
          <p:nvPr/>
        </p:nvSpPr>
        <p:spPr>
          <a:xfrm>
            <a:off x="557584" y="3703320"/>
            <a:ext cx="1695088" cy="2607058"/>
          </a:xfrm>
          <a:prstGeom prst="rect">
            <a:avLst/>
          </a:prstGeom>
          <a:noFill/>
          <a:ln/>
        </p:spPr>
        <p:txBody>
          <a:bodyPr wrap="square" lIns="0" tIns="0" rIns="0" bIns="0" rtlCol="0" anchor="ctr"/>
          <a:lstStyle/>
          <a:p>
            <a:pPr marL="0" indent="0" algn="ctr">
              <a:buNone/>
            </a:pPr>
            <a:r>
              <a:rPr lang="en-US" sz="23900" b="1" kern="0" spc="240" dirty="0">
                <a:solidFill>
                  <a:srgbClr val="C5A55A"/>
                </a:solidFill>
                <a:latin typeface="Lato" pitchFamily="34" charset="0"/>
                <a:ea typeface="Lato" pitchFamily="34" charset="-122"/>
                <a:cs typeface="Lato" pitchFamily="34" charset="-120"/>
              </a:rPr>
              <a:t>3</a:t>
            </a:r>
            <a:endParaRPr lang="en-US" sz="23900" dirty="0"/>
          </a:p>
        </p:txBody>
      </p:sp>
      <p:pic>
        <p:nvPicPr>
          <p:cNvPr id="15" name="Graphique 14" descr="Point d’interrogation avec un remplissage uni">
            <a:extLst>
              <a:ext uri="{FF2B5EF4-FFF2-40B4-BE49-F238E27FC236}">
                <a16:creationId xmlns:a16="http://schemas.microsoft.com/office/drawing/2014/main" id="{5D2C397E-4141-D0EF-90F1-088FB38424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99904" y="0"/>
            <a:ext cx="2635504" cy="2635504"/>
          </a:xfrm>
          <a:prstGeom prst="rect">
            <a:avLst/>
          </a:prstGeom>
        </p:spPr>
      </p:pic>
      <p:sp>
        <p:nvSpPr>
          <p:cNvPr id="16" name="Text 0">
            <a:extLst>
              <a:ext uri="{FF2B5EF4-FFF2-40B4-BE49-F238E27FC236}">
                <a16:creationId xmlns:a16="http://schemas.microsoft.com/office/drawing/2014/main" id="{99DEECF6-949F-0F70-E886-381BD28CB402}"/>
              </a:ext>
            </a:extLst>
          </p:cNvPr>
          <p:cNvSpPr txBox="1"/>
          <p:nvPr/>
        </p:nvSpPr>
        <p:spPr>
          <a:xfrm>
            <a:off x="2576786" y="3918205"/>
            <a:ext cx="5291307" cy="274320"/>
          </a:xfrm>
          <a:prstGeom prst="rect">
            <a:avLst/>
          </a:prstGeom>
          <a:noFill/>
          <a:ln/>
        </p:spPr>
        <p:txBody>
          <a:bodyPr wrap="square" lIns="0" tIns="0" rIns="0" bIns="0" rtlCol="0" anchor="ctr"/>
          <a:lstStyle/>
          <a:p>
            <a:pPr marL="0" indent="0">
              <a:buNone/>
            </a:pPr>
            <a:r>
              <a:rPr lang="en-US" sz="2800" b="1" kern="0" spc="240" dirty="0">
                <a:solidFill>
                  <a:srgbClr val="C5A55A"/>
                </a:solidFill>
                <a:latin typeface="Lato" pitchFamily="34" charset="0"/>
                <a:ea typeface="Lato" pitchFamily="34" charset="-122"/>
                <a:cs typeface="Lato" pitchFamily="34" charset="-120"/>
              </a:rPr>
              <a:t>RÉSULTATS À DÉMONTRER</a:t>
            </a:r>
            <a:endParaRPr lang="en-US" sz="2800" dirty="0"/>
          </a:p>
        </p:txBody>
      </p:sp>
      <p:sp>
        <p:nvSpPr>
          <p:cNvPr id="18" name="Text 4">
            <a:extLst>
              <a:ext uri="{FF2B5EF4-FFF2-40B4-BE49-F238E27FC236}">
                <a16:creationId xmlns:a16="http://schemas.microsoft.com/office/drawing/2014/main" id="{BBBA816A-6061-A388-F2F9-AB06432C3C09}"/>
              </a:ext>
            </a:extLst>
          </p:cNvPr>
          <p:cNvSpPr txBox="1"/>
          <p:nvPr/>
        </p:nvSpPr>
        <p:spPr>
          <a:xfrm>
            <a:off x="2576786" y="4348481"/>
            <a:ext cx="5571534" cy="658368"/>
          </a:xfrm>
          <a:prstGeom prst="rect">
            <a:avLst/>
          </a:prstGeom>
          <a:noFill/>
          <a:ln/>
        </p:spPr>
        <p:txBody>
          <a:bodyPr wrap="square" lIns="0" tIns="0" rIns="0" bIns="0" rtlCol="0" anchor="ctr"/>
          <a:lstStyle/>
          <a:p>
            <a:pPr marL="0" indent="0">
              <a:lnSpc>
                <a:spcPct val="114000"/>
              </a:lnSpc>
              <a:buNone/>
            </a:pPr>
            <a:r>
              <a:rPr lang="en-US" sz="1600" b="1" dirty="0" err="1">
                <a:solidFill>
                  <a:srgbClr val="FFFFFF"/>
                </a:solidFill>
                <a:latin typeface="Lato" pitchFamily="34" charset="0"/>
                <a:ea typeface="Lato" pitchFamily="34" charset="-122"/>
                <a:cs typeface="Lato" pitchFamily="34" charset="-120"/>
              </a:rPr>
              <a:t>Réconcilier</a:t>
            </a:r>
            <a:r>
              <a:rPr lang="en-US" sz="1600" b="1" dirty="0">
                <a:solidFill>
                  <a:srgbClr val="FFFFFF"/>
                </a:solidFill>
                <a:latin typeface="Lato" pitchFamily="34" charset="0"/>
                <a:ea typeface="Lato" pitchFamily="34" charset="-122"/>
                <a:cs typeface="Lato" pitchFamily="34" charset="-120"/>
              </a:rPr>
              <a:t> automatiquement les trois </a:t>
            </a:r>
            <a:r>
              <a:rPr lang="en-US" sz="1600" b="1" dirty="0" err="1">
                <a:solidFill>
                  <a:srgbClr val="FFFFFF"/>
                </a:solidFill>
                <a:latin typeface="Lato" pitchFamily="34" charset="0"/>
                <a:ea typeface="Lato" pitchFamily="34" charset="-122"/>
                <a:cs typeface="Lato" pitchFamily="34" charset="-120"/>
              </a:rPr>
              <a:t>référentiels</a:t>
            </a:r>
            <a:endParaRPr lang="en-US" sz="1600" dirty="0">
              <a:solidFill>
                <a:srgbClr val="FFFFFF"/>
              </a:solidFill>
            </a:endParaRPr>
          </a:p>
        </p:txBody>
      </p:sp>
      <p:sp>
        <p:nvSpPr>
          <p:cNvPr id="20" name="Text 7">
            <a:extLst>
              <a:ext uri="{FF2B5EF4-FFF2-40B4-BE49-F238E27FC236}">
                <a16:creationId xmlns:a16="http://schemas.microsoft.com/office/drawing/2014/main" id="{B23C8225-D41F-FA0F-64F1-FF3C40C6C77C}"/>
              </a:ext>
            </a:extLst>
          </p:cNvPr>
          <p:cNvSpPr txBox="1"/>
          <p:nvPr/>
        </p:nvSpPr>
        <p:spPr>
          <a:xfrm>
            <a:off x="2576785" y="4833621"/>
            <a:ext cx="4953811" cy="658368"/>
          </a:xfrm>
          <a:prstGeom prst="rect">
            <a:avLst/>
          </a:prstGeom>
          <a:noFill/>
          <a:ln/>
        </p:spPr>
        <p:txBody>
          <a:bodyPr wrap="square" lIns="0" tIns="0" rIns="0" bIns="0" rtlCol="0" anchor="ctr"/>
          <a:lstStyle/>
          <a:p>
            <a:pPr marL="0" indent="0">
              <a:lnSpc>
                <a:spcPct val="114000"/>
              </a:lnSpc>
              <a:buNone/>
            </a:pPr>
            <a:r>
              <a:rPr lang="en-US" sz="1600" b="1" dirty="0">
                <a:solidFill>
                  <a:srgbClr val="FFFFFF"/>
                </a:solidFill>
                <a:latin typeface="Lato" pitchFamily="34" charset="0"/>
                <a:ea typeface="Lato" pitchFamily="34" charset="-122"/>
                <a:cs typeface="Lato" pitchFamily="34" charset="-120"/>
              </a:rPr>
              <a:t>Calculer la notation en continu et la restituer</a:t>
            </a:r>
            <a:endParaRPr lang="en-US" sz="1600" dirty="0">
              <a:solidFill>
                <a:srgbClr val="FFFFFF"/>
              </a:solidFill>
            </a:endParaRPr>
          </a:p>
        </p:txBody>
      </p:sp>
      <p:sp>
        <p:nvSpPr>
          <p:cNvPr id="22" name="Text 10">
            <a:extLst>
              <a:ext uri="{FF2B5EF4-FFF2-40B4-BE49-F238E27FC236}">
                <a16:creationId xmlns:a16="http://schemas.microsoft.com/office/drawing/2014/main" id="{C221C7D1-128F-9C3D-FBA0-B879BE981CB8}"/>
              </a:ext>
            </a:extLst>
          </p:cNvPr>
          <p:cNvSpPr txBox="1"/>
          <p:nvPr/>
        </p:nvSpPr>
        <p:spPr>
          <a:xfrm>
            <a:off x="2576786" y="5318761"/>
            <a:ext cx="5683682" cy="658368"/>
          </a:xfrm>
          <a:prstGeom prst="rect">
            <a:avLst/>
          </a:prstGeom>
          <a:noFill/>
          <a:ln/>
        </p:spPr>
        <p:txBody>
          <a:bodyPr wrap="square" lIns="0" tIns="0" rIns="0" bIns="0" rtlCol="0" anchor="ctr"/>
          <a:lstStyle/>
          <a:p>
            <a:pPr marL="0" indent="0">
              <a:lnSpc>
                <a:spcPct val="114000"/>
              </a:lnSpc>
              <a:buNone/>
            </a:pPr>
            <a:r>
              <a:rPr lang="en-US" sz="1600" b="1" dirty="0">
                <a:solidFill>
                  <a:srgbClr val="FFFFFF"/>
                </a:solidFill>
                <a:latin typeface="Lato" pitchFamily="34" charset="0"/>
                <a:ea typeface="Lato" pitchFamily="34" charset="-122"/>
                <a:cs typeface="Lato" pitchFamily="34" charset="-120"/>
              </a:rPr>
              <a:t>Établir que la hiérarchisation change les décisions</a:t>
            </a:r>
            <a:endParaRPr lang="en-US" sz="1600" dirty="0">
              <a:solidFill>
                <a:srgbClr val="FFFFFF"/>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C8B7419-9098-4E42-ACA0-A485CCDF66ED}" type="slidenum">
              <a:rPr lang="fr-FR" sz="900" b="0">
                <a:solidFill>
                  <a:srgbClr val="AEB7C6"/>
                </a:solidFill>
                <a:latin typeface="Lato"/>
              </a:rPr>
              <a:t>15</a:t>
            </a:fld>
            <a:endParaRPr lang="fr-FR">
              <a:solidFill>
                <a:srgbClr val="AEB7C6"/>
              </a:solidFill>
            </a:endParaRPr>
          </a:p>
        </p:txBody>
      </p:sp>
    </p:spTree>
    <p:extLst>
      <p:ext uri="{BB962C8B-B14F-4D97-AF65-F5344CB8AC3E}">
        <p14:creationId xmlns:p14="http://schemas.microsoft.com/office/powerpoint/2010/main" val="491136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LE SCHÉMA CIBLE</a:t>
            </a:r>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dirty="0">
                <a:solidFill>
                  <a:srgbClr val="1B2A4A"/>
                </a:solidFill>
                <a:latin typeface="Lato" pitchFamily="34" charset="0"/>
              </a:rPr>
              <a:t>Un processus qui reste juste entre deux audits</a:t>
            </a:r>
          </a:p>
        </p:txBody>
      </p:sp>
      <p:sp>
        <p:nvSpPr>
          <p:cNvPr id="910" name="TextBox 910"/>
          <p:cNvSpPr txBox="1"/>
          <p:nvPr/>
        </p:nvSpPr>
        <p:spPr>
          <a:xfrm>
            <a:off x="658368" y="1150000"/>
            <a:ext cx="10874959" cy="220000"/>
          </a:xfrm>
          <a:prstGeom prst="rect">
            <a:avLst/>
          </a:prstGeom>
          <a:noFill/>
        </p:spPr>
        <p:txBody>
          <a:bodyPr wrap="square" lIns="0" tIns="0" rIns="0" bIns="0" anchor="t">
            <a:spAutoFit/>
          </a:bodyPr>
          <a:lstStyle/>
          <a:p>
            <a:pPr algn="ctr">
              <a:buNone/>
            </a:pPr>
            <a:r>
              <a:rPr lang="fr-FR" sz="1000" b="1" i="0" spc="120" dirty="0">
                <a:solidFill>
                  <a:srgbClr val="C5A55A"/>
                </a:solidFill>
                <a:latin typeface="Lato" pitchFamily="34" charset="0"/>
                <a:cs typeface="Lato" pitchFamily="34" charset="0"/>
              </a:rPr>
              <a:t>5 · LA BOUCLE — la correction n'est acquise que si le scan suivant la confirme</a:t>
            </a:r>
          </a:p>
        </p:txBody>
      </p:sp>
      <p:cxnSp>
        <p:nvCxnSpPr>
          <p:cNvPr id="911" name="Connector 911"/>
          <p:cNvCxnSpPr/>
          <p:nvPr/>
        </p:nvCxnSpPr>
        <p:spPr>
          <a:xfrm>
            <a:off x="10267708" y="1420000"/>
            <a:ext cx="0" cy="330000"/>
          </a:xfrm>
          <a:prstGeom prst="line">
            <a:avLst/>
          </a:prstGeom>
          <a:ln w="22225">
            <a:solidFill>
              <a:srgbClr val="C5A55A"/>
            </a:solidFill>
          </a:ln>
        </p:spPr>
      </p:cxnSp>
      <p:cxnSp>
        <p:nvCxnSpPr>
          <p:cNvPr id="912" name="Connector 912"/>
          <p:cNvCxnSpPr/>
          <p:nvPr/>
        </p:nvCxnSpPr>
        <p:spPr>
          <a:xfrm>
            <a:off x="1923988" y="1420000"/>
            <a:ext cx="8343720" cy="0"/>
          </a:xfrm>
          <a:prstGeom prst="line">
            <a:avLst/>
          </a:prstGeom>
          <a:ln w="22225">
            <a:solidFill>
              <a:srgbClr val="C5A55A"/>
            </a:solidFill>
          </a:ln>
        </p:spPr>
      </p:cxnSp>
      <p:cxnSp>
        <p:nvCxnSpPr>
          <p:cNvPr id="913" name="Connector 913"/>
          <p:cNvCxnSpPr/>
          <p:nvPr/>
        </p:nvCxnSpPr>
        <p:spPr>
          <a:xfrm>
            <a:off x="1923988" y="1420000"/>
            <a:ext cx="0" cy="330000"/>
          </a:xfrm>
          <a:prstGeom prst="line">
            <a:avLst/>
          </a:prstGeom>
          <a:ln w="22225">
            <a:solidFill>
              <a:srgbClr val="C5A55A"/>
            </a:solidFill>
            <a:tailEnd type="triangle" w="med" len="med"/>
          </a:ln>
        </p:spPr>
      </p:cxnSp>
      <p:sp>
        <p:nvSpPr>
          <p:cNvPr id="914" name="Shape 914"/>
          <p:cNvSpPr/>
          <p:nvPr/>
        </p:nvSpPr>
        <p:spPr>
          <a:xfrm>
            <a:off x="658368" y="1750000"/>
            <a:ext cx="2531240" cy="1450000"/>
          </a:xfrm>
          <a:prstGeom prst="roundRect">
            <a:avLst/>
          </a:prstGeom>
          <a:solidFill>
            <a:srgbClr val="EDEFF3"/>
          </a:solidFill>
          <a:ln>
            <a:noFill/>
          </a:ln>
        </p:spPr>
        <p:txBody>
          <a:bodyPr rtlCol="0" anchor="ctr"/>
          <a:lstStyle/>
          <a:p>
            <a:endParaRPr/>
          </a:p>
        </p:txBody>
      </p:sp>
      <p:sp>
        <p:nvSpPr>
          <p:cNvPr id="915" name="TextBox 915"/>
          <p:cNvSpPr txBox="1"/>
          <p:nvPr/>
        </p:nvSpPr>
        <p:spPr>
          <a:xfrm>
            <a:off x="858368" y="1880000"/>
            <a:ext cx="600000" cy="380000"/>
          </a:xfrm>
          <a:prstGeom prst="rect">
            <a:avLst/>
          </a:prstGeom>
          <a:noFill/>
        </p:spPr>
        <p:txBody>
          <a:bodyPr wrap="square" lIns="0" tIns="0" rIns="0" bIns="0" anchor="t">
            <a:spAutoFit/>
          </a:bodyPr>
          <a:lstStyle/>
          <a:p>
            <a:pPr algn="l">
              <a:buNone/>
            </a:pPr>
            <a:r>
              <a:rPr lang="fr-FR" sz="2000" b="1" i="0" dirty="0">
                <a:solidFill>
                  <a:srgbClr val="C5A55A"/>
                </a:solidFill>
                <a:latin typeface="Lato" pitchFamily="34" charset="0"/>
                <a:cs typeface="Lato" pitchFamily="34" charset="0"/>
              </a:rPr>
              <a:t>1</a:t>
            </a:r>
          </a:p>
        </p:txBody>
      </p:sp>
      <p:sp>
        <p:nvSpPr>
          <p:cNvPr id="916" name="TextBox 916"/>
          <p:cNvSpPr txBox="1"/>
          <p:nvPr/>
        </p:nvSpPr>
        <p:spPr>
          <a:xfrm>
            <a:off x="858368" y="2310000"/>
            <a:ext cx="2131240" cy="40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Collecte continue</a:t>
            </a:r>
          </a:p>
        </p:txBody>
      </p:sp>
      <p:sp>
        <p:nvSpPr>
          <p:cNvPr id="917" name="TextBox 917"/>
          <p:cNvSpPr txBox="1"/>
          <p:nvPr/>
        </p:nvSpPr>
        <p:spPr>
          <a:xfrm>
            <a:off x="858368" y="2750000"/>
            <a:ext cx="2131240" cy="380000"/>
          </a:xfrm>
          <a:prstGeom prst="rect">
            <a:avLst/>
          </a:prstGeom>
          <a:noFill/>
        </p:spPr>
        <p:txBody>
          <a:bodyPr wrap="square" lIns="0" tIns="0" rIns="0" bIns="0" anchor="t">
            <a:spAutoFit/>
          </a:bodyPr>
          <a:lstStyle/>
          <a:p>
            <a:pPr algn="l">
              <a:buNone/>
            </a:pPr>
            <a:r>
              <a:rPr lang="fr-FR" sz="1000" b="0" i="0" dirty="0">
                <a:solidFill>
                  <a:srgbClr val="4A5568"/>
                </a:solidFill>
                <a:latin typeface="Lato" pitchFamily="34" charset="0"/>
                <a:cs typeface="Lato" pitchFamily="34" charset="0"/>
              </a:rPr>
              <a:t>scan du parc et veille CVE, à chaque cycle</a:t>
            </a:r>
          </a:p>
        </p:txBody>
      </p:sp>
      <p:cxnSp>
        <p:nvCxnSpPr>
          <p:cNvPr id="918" name="Connector 918"/>
          <p:cNvCxnSpPr/>
          <p:nvPr/>
        </p:nvCxnSpPr>
        <p:spPr>
          <a:xfrm>
            <a:off x="3219608" y="2475000"/>
            <a:ext cx="190000" cy="0"/>
          </a:xfrm>
          <a:prstGeom prst="line">
            <a:avLst/>
          </a:prstGeom>
          <a:ln w="22225">
            <a:solidFill>
              <a:srgbClr val="C5A55A"/>
            </a:solidFill>
            <a:tailEnd type="triangle" w="med" len="med"/>
          </a:ln>
        </p:spPr>
      </p:cxnSp>
      <p:sp>
        <p:nvSpPr>
          <p:cNvPr id="919" name="Shape 919"/>
          <p:cNvSpPr/>
          <p:nvPr/>
        </p:nvSpPr>
        <p:spPr>
          <a:xfrm>
            <a:off x="3439608" y="1750000"/>
            <a:ext cx="2531240" cy="1450000"/>
          </a:xfrm>
          <a:prstGeom prst="roundRect">
            <a:avLst/>
          </a:prstGeom>
          <a:solidFill>
            <a:srgbClr val="EDEFF3"/>
          </a:solidFill>
          <a:ln>
            <a:noFill/>
          </a:ln>
        </p:spPr>
        <p:txBody>
          <a:bodyPr rtlCol="0" anchor="ctr"/>
          <a:lstStyle/>
          <a:p>
            <a:endParaRPr/>
          </a:p>
        </p:txBody>
      </p:sp>
      <p:sp>
        <p:nvSpPr>
          <p:cNvPr id="920" name="TextBox 920"/>
          <p:cNvSpPr txBox="1"/>
          <p:nvPr/>
        </p:nvSpPr>
        <p:spPr>
          <a:xfrm>
            <a:off x="3639608" y="1880000"/>
            <a:ext cx="600000" cy="380000"/>
          </a:xfrm>
          <a:prstGeom prst="rect">
            <a:avLst/>
          </a:prstGeom>
          <a:noFill/>
        </p:spPr>
        <p:txBody>
          <a:bodyPr wrap="square" lIns="0" tIns="0" rIns="0" bIns="0" anchor="t">
            <a:spAutoFit/>
          </a:bodyPr>
          <a:lstStyle/>
          <a:p>
            <a:pPr algn="l">
              <a:buNone/>
            </a:pPr>
            <a:r>
              <a:rPr lang="fr-FR" sz="2000" b="1" i="0" dirty="0">
                <a:solidFill>
                  <a:srgbClr val="C5A55A"/>
                </a:solidFill>
                <a:latin typeface="Lato" pitchFamily="34" charset="0"/>
                <a:cs typeface="Lato" pitchFamily="34" charset="0"/>
              </a:rPr>
              <a:t>2</a:t>
            </a:r>
          </a:p>
        </p:txBody>
      </p:sp>
      <p:sp>
        <p:nvSpPr>
          <p:cNvPr id="921" name="TextBox 921"/>
          <p:cNvSpPr txBox="1"/>
          <p:nvPr/>
        </p:nvSpPr>
        <p:spPr>
          <a:xfrm>
            <a:off x="3639608" y="2310000"/>
            <a:ext cx="2131240" cy="40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Réconciliation</a:t>
            </a:r>
          </a:p>
        </p:txBody>
      </p:sp>
      <p:sp>
        <p:nvSpPr>
          <p:cNvPr id="922" name="TextBox 922"/>
          <p:cNvSpPr txBox="1"/>
          <p:nvPr/>
        </p:nvSpPr>
        <p:spPr>
          <a:xfrm>
            <a:off x="3639608" y="2750000"/>
            <a:ext cx="2131240" cy="380000"/>
          </a:xfrm>
          <a:prstGeom prst="rect">
            <a:avLst/>
          </a:prstGeom>
          <a:noFill/>
        </p:spPr>
        <p:txBody>
          <a:bodyPr wrap="square" lIns="0" tIns="0" rIns="0" bIns="0" anchor="t">
            <a:spAutoFit/>
          </a:bodyPr>
          <a:lstStyle/>
          <a:p>
            <a:pPr algn="l">
              <a:buNone/>
            </a:pPr>
            <a:r>
              <a:rPr lang="fr-FR" sz="1000" b="0" i="0" dirty="0">
                <a:solidFill>
                  <a:srgbClr val="4A5568"/>
                </a:solidFill>
                <a:latin typeface="Lato" pitchFamily="34" charset="0"/>
                <a:cs typeface="Lato" pitchFamily="34" charset="0"/>
              </a:rPr>
              <a:t>un même actif reconnu dans les trois outils</a:t>
            </a:r>
          </a:p>
        </p:txBody>
      </p:sp>
      <p:cxnSp>
        <p:nvCxnSpPr>
          <p:cNvPr id="923" name="Connector 923"/>
          <p:cNvCxnSpPr/>
          <p:nvPr/>
        </p:nvCxnSpPr>
        <p:spPr>
          <a:xfrm>
            <a:off x="6000848" y="2475000"/>
            <a:ext cx="190000" cy="0"/>
          </a:xfrm>
          <a:prstGeom prst="line">
            <a:avLst/>
          </a:prstGeom>
          <a:ln w="22225">
            <a:solidFill>
              <a:srgbClr val="C5A55A"/>
            </a:solidFill>
            <a:tailEnd type="triangle" w="med" len="med"/>
          </a:ln>
        </p:spPr>
      </p:cxnSp>
      <p:sp>
        <p:nvSpPr>
          <p:cNvPr id="924" name="Shape 924"/>
          <p:cNvSpPr/>
          <p:nvPr/>
        </p:nvSpPr>
        <p:spPr>
          <a:xfrm>
            <a:off x="6220848" y="1750000"/>
            <a:ext cx="2531240" cy="1450000"/>
          </a:xfrm>
          <a:prstGeom prst="roundRect">
            <a:avLst/>
          </a:prstGeom>
          <a:solidFill>
            <a:srgbClr val="EDEFF3"/>
          </a:solidFill>
          <a:ln>
            <a:noFill/>
          </a:ln>
        </p:spPr>
        <p:txBody>
          <a:bodyPr rtlCol="0" anchor="ctr"/>
          <a:lstStyle/>
          <a:p>
            <a:endParaRPr/>
          </a:p>
        </p:txBody>
      </p:sp>
      <p:sp>
        <p:nvSpPr>
          <p:cNvPr id="925" name="TextBox 925"/>
          <p:cNvSpPr txBox="1"/>
          <p:nvPr/>
        </p:nvSpPr>
        <p:spPr>
          <a:xfrm>
            <a:off x="6420848" y="1880000"/>
            <a:ext cx="600000" cy="380000"/>
          </a:xfrm>
          <a:prstGeom prst="rect">
            <a:avLst/>
          </a:prstGeom>
          <a:noFill/>
        </p:spPr>
        <p:txBody>
          <a:bodyPr wrap="square" lIns="0" tIns="0" rIns="0" bIns="0" anchor="t">
            <a:spAutoFit/>
          </a:bodyPr>
          <a:lstStyle/>
          <a:p>
            <a:pPr algn="l">
              <a:buNone/>
            </a:pPr>
            <a:r>
              <a:rPr lang="fr-FR" sz="2000" b="1" i="0" dirty="0">
                <a:solidFill>
                  <a:srgbClr val="C5A55A"/>
                </a:solidFill>
                <a:latin typeface="Lato" pitchFamily="34" charset="0"/>
                <a:cs typeface="Lato" pitchFamily="34" charset="0"/>
              </a:rPr>
              <a:t>3</a:t>
            </a:r>
          </a:p>
        </p:txBody>
      </p:sp>
      <p:sp>
        <p:nvSpPr>
          <p:cNvPr id="926" name="TextBox 926"/>
          <p:cNvSpPr txBox="1"/>
          <p:nvPr/>
        </p:nvSpPr>
        <p:spPr>
          <a:xfrm>
            <a:off x="6420848" y="2310000"/>
            <a:ext cx="2131240" cy="400000"/>
          </a:xfrm>
          <a:prstGeom prst="rect">
            <a:avLst/>
          </a:prstGeom>
          <a:noFill/>
        </p:spPr>
        <p:txBody>
          <a:bodyPr wrap="square" lIns="0" tIns="0" rIns="0" bIns="0" anchor="t">
            <a:spAutoFit/>
          </a:bodyPr>
          <a:lstStyle/>
          <a:p>
            <a:pPr algn="l">
              <a:buNone/>
            </a:pPr>
            <a:r>
              <a:rPr lang="fr-FR" sz="1300" b="1" i="0" dirty="0">
                <a:solidFill>
                  <a:srgbClr val="1B2A4A"/>
                </a:solidFill>
                <a:latin typeface="Lato" pitchFamily="34" charset="0"/>
                <a:cs typeface="Lato" pitchFamily="34" charset="0"/>
              </a:rPr>
              <a:t>Notation contextualisée</a:t>
            </a:r>
          </a:p>
        </p:txBody>
      </p:sp>
      <p:sp>
        <p:nvSpPr>
          <p:cNvPr id="927" name="TextBox 927"/>
          <p:cNvSpPr txBox="1"/>
          <p:nvPr/>
        </p:nvSpPr>
        <p:spPr>
          <a:xfrm>
            <a:off x="6420848" y="2750000"/>
            <a:ext cx="2131240" cy="380000"/>
          </a:xfrm>
          <a:prstGeom prst="rect">
            <a:avLst/>
          </a:prstGeom>
          <a:noFill/>
        </p:spPr>
        <p:txBody>
          <a:bodyPr wrap="square" lIns="0" tIns="0" rIns="0" bIns="0" anchor="t">
            <a:spAutoFit/>
          </a:bodyPr>
          <a:lstStyle/>
          <a:p>
            <a:pPr algn="l">
              <a:buNone/>
            </a:pPr>
            <a:r>
              <a:rPr lang="fr-FR" sz="1000" b="0" i="0" dirty="0">
                <a:solidFill>
                  <a:srgbClr val="4A5568"/>
                </a:solidFill>
                <a:latin typeface="Lato" pitchFamily="34" charset="0"/>
                <a:cs typeface="Lato" pitchFamily="34" charset="0"/>
              </a:rPr>
              <a:t>CVSS × criticité de l'actif × valeur métier</a:t>
            </a:r>
          </a:p>
        </p:txBody>
      </p:sp>
      <p:cxnSp>
        <p:nvCxnSpPr>
          <p:cNvPr id="928" name="Connector 928"/>
          <p:cNvCxnSpPr/>
          <p:nvPr/>
        </p:nvCxnSpPr>
        <p:spPr>
          <a:xfrm>
            <a:off x="8782088" y="2475000"/>
            <a:ext cx="190000" cy="0"/>
          </a:xfrm>
          <a:prstGeom prst="line">
            <a:avLst/>
          </a:prstGeom>
          <a:ln w="22225">
            <a:solidFill>
              <a:srgbClr val="C5A55A"/>
            </a:solidFill>
            <a:tailEnd type="triangle" w="med" len="med"/>
          </a:ln>
        </p:spPr>
      </p:cxnSp>
      <p:sp>
        <p:nvSpPr>
          <p:cNvPr id="929" name="Shape 929"/>
          <p:cNvSpPr/>
          <p:nvPr/>
        </p:nvSpPr>
        <p:spPr>
          <a:xfrm>
            <a:off x="9002088" y="1750000"/>
            <a:ext cx="2531240" cy="1450000"/>
          </a:xfrm>
          <a:prstGeom prst="roundRect">
            <a:avLst/>
          </a:prstGeom>
          <a:solidFill>
            <a:srgbClr val="1B2A4A"/>
          </a:solidFill>
          <a:ln>
            <a:noFill/>
          </a:ln>
        </p:spPr>
        <p:txBody>
          <a:bodyPr rtlCol="0" anchor="ctr"/>
          <a:lstStyle/>
          <a:p>
            <a:endParaRPr/>
          </a:p>
        </p:txBody>
      </p:sp>
      <p:sp>
        <p:nvSpPr>
          <p:cNvPr id="930" name="TextBox 930"/>
          <p:cNvSpPr txBox="1"/>
          <p:nvPr/>
        </p:nvSpPr>
        <p:spPr>
          <a:xfrm>
            <a:off x="9202088" y="1880000"/>
            <a:ext cx="600000" cy="380000"/>
          </a:xfrm>
          <a:prstGeom prst="rect">
            <a:avLst/>
          </a:prstGeom>
          <a:noFill/>
        </p:spPr>
        <p:txBody>
          <a:bodyPr wrap="square" lIns="0" tIns="0" rIns="0" bIns="0" anchor="t">
            <a:spAutoFit/>
          </a:bodyPr>
          <a:lstStyle/>
          <a:p>
            <a:pPr algn="l">
              <a:buNone/>
            </a:pPr>
            <a:r>
              <a:rPr lang="fr-FR" sz="2000" b="1" i="0" dirty="0">
                <a:solidFill>
                  <a:srgbClr val="C5A55A"/>
                </a:solidFill>
                <a:latin typeface="Lato" pitchFamily="34" charset="0"/>
                <a:cs typeface="Lato" pitchFamily="34" charset="0"/>
              </a:rPr>
              <a:t>4</a:t>
            </a:r>
          </a:p>
        </p:txBody>
      </p:sp>
      <p:sp>
        <p:nvSpPr>
          <p:cNvPr id="931" name="TextBox 931"/>
          <p:cNvSpPr txBox="1"/>
          <p:nvPr/>
        </p:nvSpPr>
        <p:spPr>
          <a:xfrm>
            <a:off x="9202088" y="2310000"/>
            <a:ext cx="2131240" cy="400000"/>
          </a:xfrm>
          <a:prstGeom prst="rect">
            <a:avLst/>
          </a:prstGeom>
          <a:noFill/>
        </p:spPr>
        <p:txBody>
          <a:bodyPr wrap="square" lIns="0" tIns="0" rIns="0" bIns="0" anchor="t">
            <a:spAutoFit/>
          </a:bodyPr>
          <a:lstStyle/>
          <a:p>
            <a:pPr algn="l">
              <a:buNone/>
            </a:pPr>
            <a:r>
              <a:rPr lang="fr-FR" sz="1300" b="1" i="0" dirty="0">
                <a:solidFill>
                  <a:srgbClr val="FFFFFF"/>
                </a:solidFill>
                <a:latin typeface="Lato" pitchFamily="34" charset="0"/>
                <a:cs typeface="Lato" pitchFamily="34" charset="0"/>
              </a:rPr>
              <a:t>Plan d'action priorisé</a:t>
            </a:r>
          </a:p>
        </p:txBody>
      </p:sp>
      <p:sp>
        <p:nvSpPr>
          <p:cNvPr id="932" name="TextBox 932"/>
          <p:cNvSpPr txBox="1"/>
          <p:nvPr/>
        </p:nvSpPr>
        <p:spPr>
          <a:xfrm>
            <a:off x="9202088" y="2750000"/>
            <a:ext cx="2131240" cy="380000"/>
          </a:xfrm>
          <a:prstGeom prst="rect">
            <a:avLst/>
          </a:prstGeom>
          <a:noFill/>
        </p:spPr>
        <p:txBody>
          <a:bodyPr wrap="square" lIns="0" tIns="0" rIns="0" bIns="0" anchor="t">
            <a:spAutoFit/>
          </a:bodyPr>
          <a:lstStyle/>
          <a:p>
            <a:pPr algn="l">
              <a:buNone/>
            </a:pPr>
            <a:r>
              <a:rPr lang="fr-FR" sz="1000" b="0" i="0" dirty="0">
                <a:solidFill>
                  <a:srgbClr val="C7CEDB"/>
                </a:solidFill>
                <a:latin typeface="Lato" pitchFamily="34" charset="0"/>
                <a:cs typeface="Lato" pitchFamily="34" charset="0"/>
              </a:rPr>
              <a:t>une seule file, réactualisée à chaque cycle</a:t>
            </a:r>
          </a:p>
        </p:txBody>
      </p:sp>
      <p:cxnSp>
        <p:nvCxnSpPr>
          <p:cNvPr id="933" name="Connector 933"/>
          <p:cNvCxnSpPr/>
          <p:nvPr/>
        </p:nvCxnSpPr>
        <p:spPr>
          <a:xfrm flipV="1">
            <a:off x="1923988" y="3260000"/>
            <a:ext cx="0" cy="470000"/>
          </a:xfrm>
          <a:prstGeom prst="line">
            <a:avLst/>
          </a:prstGeom>
          <a:ln w="22225">
            <a:solidFill>
              <a:srgbClr val="C5A55A"/>
            </a:solidFill>
            <a:tailEnd type="triangle" w="med" len="med"/>
          </a:ln>
        </p:spPr>
      </p:cxnSp>
      <p:cxnSp>
        <p:nvCxnSpPr>
          <p:cNvPr id="934" name="Connector 934"/>
          <p:cNvCxnSpPr/>
          <p:nvPr/>
        </p:nvCxnSpPr>
        <p:spPr>
          <a:xfrm flipV="1">
            <a:off x="4705228" y="3260000"/>
            <a:ext cx="0" cy="470000"/>
          </a:xfrm>
          <a:prstGeom prst="line">
            <a:avLst/>
          </a:prstGeom>
          <a:ln w="22225">
            <a:solidFill>
              <a:srgbClr val="C5A55A"/>
            </a:solidFill>
            <a:tailEnd type="triangle" w="med" len="med"/>
          </a:ln>
        </p:spPr>
      </p:cxnSp>
      <p:cxnSp>
        <p:nvCxnSpPr>
          <p:cNvPr id="935" name="Connector 935"/>
          <p:cNvCxnSpPr/>
          <p:nvPr/>
        </p:nvCxnSpPr>
        <p:spPr>
          <a:xfrm flipV="1">
            <a:off x="7486468" y="3260000"/>
            <a:ext cx="0" cy="470000"/>
          </a:xfrm>
          <a:prstGeom prst="line">
            <a:avLst/>
          </a:prstGeom>
          <a:ln w="22225">
            <a:solidFill>
              <a:srgbClr val="C5A55A"/>
            </a:solidFill>
            <a:tailEnd type="triangle" w="med" len="med"/>
          </a:ln>
        </p:spPr>
      </p:cxnSp>
      <p:sp>
        <p:nvSpPr>
          <p:cNvPr id="936" name="Shape 936"/>
          <p:cNvSpPr/>
          <p:nvPr/>
        </p:nvSpPr>
        <p:spPr>
          <a:xfrm>
            <a:off x="658368" y="3780000"/>
            <a:ext cx="10874959" cy="780000"/>
          </a:xfrm>
          <a:prstGeom prst="roundRect">
            <a:avLst/>
          </a:prstGeom>
          <a:solidFill>
            <a:srgbClr val="1B2A4A"/>
          </a:solidFill>
          <a:ln>
            <a:noFill/>
          </a:ln>
        </p:spPr>
        <p:txBody>
          <a:bodyPr rtlCol="0" anchor="ctr"/>
          <a:lstStyle/>
          <a:p>
            <a:endParaRPr/>
          </a:p>
        </p:txBody>
      </p:sp>
      <p:sp>
        <p:nvSpPr>
          <p:cNvPr id="937" name="TextBox 937"/>
          <p:cNvSpPr txBox="1"/>
          <p:nvPr/>
        </p:nvSpPr>
        <p:spPr>
          <a:xfrm>
            <a:off x="950976" y="3900000"/>
            <a:ext cx="10290000" cy="153888"/>
          </a:xfrm>
          <a:prstGeom prst="rect">
            <a:avLst/>
          </a:prstGeom>
          <a:noFill/>
        </p:spPr>
        <p:txBody>
          <a:bodyPr wrap="square" lIns="0" tIns="0" rIns="0" bIns="0" anchor="t">
            <a:spAutoFit/>
          </a:bodyPr>
          <a:lstStyle/>
          <a:p>
            <a:pPr algn="l">
              <a:buNone/>
            </a:pPr>
            <a:r>
              <a:rPr lang="fr-FR" sz="1000" b="1" i="0" spc="120" dirty="0">
                <a:solidFill>
                  <a:srgbClr val="C5A55A"/>
                </a:solidFill>
                <a:latin typeface="Lato" pitchFamily="34" charset="0"/>
                <a:cs typeface="Lato" pitchFamily="34" charset="0"/>
              </a:rPr>
              <a:t>LE SOCLE</a:t>
            </a:r>
          </a:p>
        </p:txBody>
      </p:sp>
      <p:sp>
        <p:nvSpPr>
          <p:cNvPr id="938" name="TextBox 938"/>
          <p:cNvSpPr txBox="1"/>
          <p:nvPr/>
        </p:nvSpPr>
        <p:spPr>
          <a:xfrm>
            <a:off x="950976" y="4160000"/>
            <a:ext cx="10290000" cy="200055"/>
          </a:xfrm>
          <a:prstGeom prst="rect">
            <a:avLst/>
          </a:prstGeom>
          <a:noFill/>
        </p:spPr>
        <p:txBody>
          <a:bodyPr wrap="square" lIns="0" tIns="0" rIns="0" bIns="0" anchor="t">
            <a:spAutoFit/>
          </a:bodyPr>
          <a:lstStyle/>
          <a:p>
            <a:pPr algn="l">
              <a:buNone/>
            </a:pPr>
            <a:r>
              <a:rPr lang="fr-FR" sz="1300" b="1" i="0" dirty="0">
                <a:solidFill>
                  <a:srgbClr val="FFFFFF"/>
                </a:solidFill>
                <a:latin typeface="Lato" pitchFamily="34" charset="0"/>
                <a:cs typeface="Lato" pitchFamily="34" charset="0"/>
              </a:rPr>
              <a:t>La cartographie, applicative et infrastructure, tenue à jour : les actifs, ce qu'ils portent, et la criticité métier des activités.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16</a:t>
            </a:fld>
            <a:endParaRPr lang="fr-FR">
              <a:solidFill>
                <a:srgbClr val="4A556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GOUVERNANCE DU TERRAIN</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Qui </a:t>
            </a:r>
            <a:r>
              <a:rPr lang="en-US" sz="3000" b="1" dirty="0" err="1">
                <a:solidFill>
                  <a:srgbClr val="1B2A4A"/>
                </a:solidFill>
                <a:latin typeface="Lato" pitchFamily="34" charset="0"/>
                <a:ea typeface="Lato" pitchFamily="34" charset="-122"/>
                <a:cs typeface="Lato" pitchFamily="34" charset="-120"/>
              </a:rPr>
              <a:t>renseigne</a:t>
            </a:r>
            <a:r>
              <a:rPr lang="en-US" sz="3000" b="1" dirty="0">
                <a:solidFill>
                  <a:srgbClr val="1B2A4A"/>
                </a:solidFill>
                <a:latin typeface="Lato" pitchFamily="34" charset="0"/>
                <a:ea typeface="Lato" pitchFamily="34" charset="-122"/>
                <a:cs typeface="Lato" pitchFamily="34" charset="-120"/>
              </a:rPr>
              <a:t> quoi</a:t>
            </a:r>
            <a:endParaRPr lang="en-US" sz="3000" dirty="0"/>
          </a:p>
        </p:txBody>
      </p:sp>
      <p:sp>
        <p:nvSpPr>
          <p:cNvPr id="4" name="Shape 2"/>
          <p:cNvSpPr/>
          <p:nvPr/>
        </p:nvSpPr>
        <p:spPr>
          <a:xfrm>
            <a:off x="658368" y="1225296"/>
            <a:ext cx="10874959" cy="512064"/>
          </a:xfrm>
          <a:prstGeom prst="rect">
            <a:avLst/>
          </a:prstGeom>
          <a:solidFill>
            <a:srgbClr val="1B2A4A"/>
          </a:solidFill>
          <a:ln/>
        </p:spPr>
        <p:txBody>
          <a:bodyPr/>
          <a:lstStyle/>
          <a:p>
            <a:endParaRPr lang="fr-FR"/>
          </a:p>
        </p:txBody>
      </p:sp>
      <p:sp>
        <p:nvSpPr>
          <p:cNvPr id="5" name="Text 3"/>
          <p:cNvSpPr txBox="1"/>
          <p:nvPr/>
        </p:nvSpPr>
        <p:spPr>
          <a:xfrm>
            <a:off x="914400" y="1225296"/>
            <a:ext cx="10362895" cy="51206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6 </a:t>
            </a:r>
            <a:r>
              <a:rPr lang="en-US" sz="1450" b="1" dirty="0" err="1">
                <a:solidFill>
                  <a:srgbClr val="C5A55A"/>
                </a:solidFill>
                <a:latin typeface="Lato" pitchFamily="34" charset="0"/>
                <a:ea typeface="Lato" pitchFamily="34" charset="-122"/>
                <a:cs typeface="Lato" pitchFamily="34" charset="-120"/>
              </a:rPr>
              <a:t>contributeurs</a:t>
            </a:r>
            <a:r>
              <a:rPr lang="en-US" sz="1450" b="1" dirty="0">
                <a:solidFill>
                  <a:srgbClr val="C5A55A"/>
                </a:solidFill>
                <a:latin typeface="Lato" pitchFamily="34" charset="0"/>
                <a:ea typeface="Lato" pitchFamily="34" charset="-122"/>
                <a:cs typeface="Lato" pitchFamily="34" charset="-120"/>
              </a:rPr>
              <a:t> distincts, chacun sur son périmètre.</a:t>
            </a:r>
            <a:endParaRPr lang="en-US" sz="1450" dirty="0"/>
          </a:p>
        </p:txBody>
      </p:sp>
      <p:sp>
        <p:nvSpPr>
          <p:cNvPr id="6" name="Text 4"/>
          <p:cNvSpPr txBox="1"/>
          <p:nvPr/>
        </p:nvSpPr>
        <p:spPr>
          <a:xfrm>
            <a:off x="658368" y="1920240"/>
            <a:ext cx="594360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LES SIX RÔLES DU PROCESSUS</a:t>
            </a:r>
            <a:endParaRPr lang="en-US" sz="1050" dirty="0"/>
          </a:p>
        </p:txBody>
      </p:sp>
      <p:sp>
        <p:nvSpPr>
          <p:cNvPr id="7" name="Shape 5"/>
          <p:cNvSpPr/>
          <p:nvPr/>
        </p:nvSpPr>
        <p:spPr>
          <a:xfrm>
            <a:off x="658368" y="2249424"/>
            <a:ext cx="2871216" cy="877824"/>
          </a:xfrm>
          <a:prstGeom prst="rect">
            <a:avLst/>
          </a:prstGeom>
          <a:solidFill>
            <a:srgbClr val="F2F4F8"/>
          </a:solidFill>
          <a:ln/>
        </p:spPr>
        <p:txBody>
          <a:bodyPr/>
          <a:lstStyle/>
          <a:p>
            <a:endParaRPr lang="fr-FR"/>
          </a:p>
        </p:txBody>
      </p:sp>
      <p:sp>
        <p:nvSpPr>
          <p:cNvPr id="8" name="Text 6"/>
          <p:cNvSpPr txBox="1"/>
          <p:nvPr/>
        </p:nvSpPr>
        <p:spPr>
          <a:xfrm>
            <a:off x="841248"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01</a:t>
            </a:r>
            <a:endParaRPr lang="en-US" sz="1500" dirty="0"/>
          </a:p>
        </p:txBody>
      </p:sp>
      <p:sp>
        <p:nvSpPr>
          <p:cNvPr id="9" name="Text 7"/>
          <p:cNvSpPr txBox="1"/>
          <p:nvPr/>
        </p:nvSpPr>
        <p:spPr>
          <a:xfrm>
            <a:off x="1178224" y="2267712"/>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Inventaire des actifs</a:t>
            </a:r>
            <a:endParaRPr lang="en-US" sz="1350" dirty="0"/>
          </a:p>
        </p:txBody>
      </p:sp>
      <p:sp>
        <p:nvSpPr>
          <p:cNvPr id="10" name="Text 8"/>
          <p:cNvSpPr txBox="1"/>
          <p:nvPr/>
        </p:nvSpPr>
        <p:spPr>
          <a:xfrm>
            <a:off x="1178224" y="265545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administrateur système</a:t>
            </a:r>
            <a:endParaRPr lang="en-US" sz="1100" dirty="0"/>
          </a:p>
        </p:txBody>
      </p:sp>
      <p:sp>
        <p:nvSpPr>
          <p:cNvPr id="11" name="Shape 9"/>
          <p:cNvSpPr/>
          <p:nvPr/>
        </p:nvSpPr>
        <p:spPr>
          <a:xfrm>
            <a:off x="3712464" y="2249424"/>
            <a:ext cx="2871216" cy="877824"/>
          </a:xfrm>
          <a:prstGeom prst="rect">
            <a:avLst/>
          </a:prstGeom>
          <a:solidFill>
            <a:srgbClr val="F2F4F8"/>
          </a:solidFill>
          <a:ln/>
        </p:spPr>
        <p:txBody>
          <a:bodyPr/>
          <a:lstStyle/>
          <a:p>
            <a:endParaRPr lang="fr-FR"/>
          </a:p>
        </p:txBody>
      </p:sp>
      <p:sp>
        <p:nvSpPr>
          <p:cNvPr id="12" name="Text 10"/>
          <p:cNvSpPr txBox="1"/>
          <p:nvPr/>
        </p:nvSpPr>
        <p:spPr>
          <a:xfrm>
            <a:off x="3895344"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02</a:t>
            </a:r>
            <a:endParaRPr lang="en-US" sz="1500" dirty="0"/>
          </a:p>
        </p:txBody>
      </p:sp>
      <p:sp>
        <p:nvSpPr>
          <p:cNvPr id="13" name="Text 11"/>
          <p:cNvSpPr txBox="1"/>
          <p:nvPr/>
        </p:nvSpPr>
        <p:spPr>
          <a:xfrm>
            <a:off x="4232320" y="2267712"/>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Détection des vulnérabilités</a:t>
            </a:r>
            <a:endParaRPr lang="en-US" sz="1350" dirty="0"/>
          </a:p>
        </p:txBody>
      </p:sp>
      <p:sp>
        <p:nvSpPr>
          <p:cNvPr id="14" name="Text 12"/>
          <p:cNvSpPr txBox="1"/>
          <p:nvPr/>
        </p:nvSpPr>
        <p:spPr>
          <a:xfrm>
            <a:off x="4232320" y="265545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exploitant de la supervision</a:t>
            </a:r>
            <a:endParaRPr lang="en-US" sz="1100" dirty="0"/>
          </a:p>
        </p:txBody>
      </p:sp>
      <p:sp>
        <p:nvSpPr>
          <p:cNvPr id="15" name="Shape 13"/>
          <p:cNvSpPr/>
          <p:nvPr/>
        </p:nvSpPr>
        <p:spPr>
          <a:xfrm>
            <a:off x="658368" y="3273552"/>
            <a:ext cx="2871216" cy="877824"/>
          </a:xfrm>
          <a:prstGeom prst="rect">
            <a:avLst/>
          </a:prstGeom>
          <a:solidFill>
            <a:srgbClr val="F2F4F8"/>
          </a:solidFill>
          <a:ln/>
        </p:spPr>
        <p:txBody>
          <a:bodyPr/>
          <a:lstStyle/>
          <a:p>
            <a:endParaRPr lang="fr-FR"/>
          </a:p>
        </p:txBody>
      </p:sp>
      <p:sp>
        <p:nvSpPr>
          <p:cNvPr id="16" name="Text 14"/>
          <p:cNvSpPr txBox="1"/>
          <p:nvPr/>
        </p:nvSpPr>
        <p:spPr>
          <a:xfrm>
            <a:off x="841248"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03</a:t>
            </a:r>
            <a:endParaRPr lang="en-US" sz="1500" dirty="0"/>
          </a:p>
        </p:txBody>
      </p:sp>
      <p:sp>
        <p:nvSpPr>
          <p:cNvPr id="17" name="Text 15"/>
          <p:cNvSpPr txBox="1"/>
          <p:nvPr/>
        </p:nvSpPr>
        <p:spPr>
          <a:xfrm>
            <a:off x="1178224" y="3291840"/>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Cotation C, D, I des machines</a:t>
            </a:r>
            <a:endParaRPr lang="en-US" sz="1350" dirty="0"/>
          </a:p>
        </p:txBody>
      </p:sp>
      <p:sp>
        <p:nvSpPr>
          <p:cNvPr id="18" name="Text 16"/>
          <p:cNvSpPr txBox="1"/>
          <p:nvPr/>
        </p:nvSpPr>
        <p:spPr>
          <a:xfrm>
            <a:off x="1178224" y="367958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référent sécurité</a:t>
            </a:r>
            <a:endParaRPr lang="en-US" sz="1100" dirty="0"/>
          </a:p>
        </p:txBody>
      </p:sp>
      <p:sp>
        <p:nvSpPr>
          <p:cNvPr id="19" name="Shape 17"/>
          <p:cNvSpPr/>
          <p:nvPr/>
        </p:nvSpPr>
        <p:spPr>
          <a:xfrm>
            <a:off x="3712464" y="3273552"/>
            <a:ext cx="2871216" cy="877824"/>
          </a:xfrm>
          <a:prstGeom prst="rect">
            <a:avLst/>
          </a:prstGeom>
          <a:solidFill>
            <a:srgbClr val="F2F4F8"/>
          </a:solidFill>
          <a:ln/>
        </p:spPr>
        <p:txBody>
          <a:bodyPr/>
          <a:lstStyle/>
          <a:p>
            <a:endParaRPr lang="fr-FR"/>
          </a:p>
        </p:txBody>
      </p:sp>
      <p:sp>
        <p:nvSpPr>
          <p:cNvPr id="20" name="Text 18"/>
          <p:cNvSpPr txBox="1"/>
          <p:nvPr/>
        </p:nvSpPr>
        <p:spPr>
          <a:xfrm>
            <a:off x="3895344"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04</a:t>
            </a:r>
            <a:endParaRPr lang="en-US" sz="1500" dirty="0"/>
          </a:p>
        </p:txBody>
      </p:sp>
      <p:sp>
        <p:nvSpPr>
          <p:cNvPr id="21" name="Text 19"/>
          <p:cNvSpPr txBox="1"/>
          <p:nvPr/>
        </p:nvSpPr>
        <p:spPr>
          <a:xfrm>
            <a:off x="4232320" y="3291840"/>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Valeur métier des activités</a:t>
            </a:r>
            <a:endParaRPr lang="en-US" sz="1350" dirty="0"/>
          </a:p>
        </p:txBody>
      </p:sp>
      <p:sp>
        <p:nvSpPr>
          <p:cNvPr id="22" name="Text 20"/>
          <p:cNvSpPr txBox="1"/>
          <p:nvPr/>
        </p:nvSpPr>
        <p:spPr>
          <a:xfrm>
            <a:off x="4232320" y="367958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direction et responsables métier</a:t>
            </a:r>
            <a:endParaRPr lang="en-US" sz="1100" dirty="0"/>
          </a:p>
        </p:txBody>
      </p:sp>
      <p:sp>
        <p:nvSpPr>
          <p:cNvPr id="23" name="Shape 21"/>
          <p:cNvSpPr/>
          <p:nvPr/>
        </p:nvSpPr>
        <p:spPr>
          <a:xfrm>
            <a:off x="658368" y="4297680"/>
            <a:ext cx="2871216" cy="877824"/>
          </a:xfrm>
          <a:prstGeom prst="rect">
            <a:avLst/>
          </a:prstGeom>
          <a:solidFill>
            <a:srgbClr val="F2F4F8"/>
          </a:solidFill>
          <a:ln/>
        </p:spPr>
        <p:txBody>
          <a:bodyPr/>
          <a:lstStyle/>
          <a:p>
            <a:endParaRPr lang="fr-FR"/>
          </a:p>
        </p:txBody>
      </p:sp>
      <p:sp>
        <p:nvSpPr>
          <p:cNvPr id="24" name="Text 22"/>
          <p:cNvSpPr txBox="1"/>
          <p:nvPr/>
        </p:nvSpPr>
        <p:spPr>
          <a:xfrm>
            <a:off x="841248"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05</a:t>
            </a:r>
            <a:endParaRPr lang="en-US" sz="1500" dirty="0"/>
          </a:p>
        </p:txBody>
      </p:sp>
      <p:sp>
        <p:nvSpPr>
          <p:cNvPr id="25" name="Text 23"/>
          <p:cNvSpPr txBox="1"/>
          <p:nvPr/>
        </p:nvSpPr>
        <p:spPr>
          <a:xfrm>
            <a:off x="1178224" y="4315968"/>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Arbitrage des priorités</a:t>
            </a:r>
            <a:endParaRPr lang="en-US" sz="1350" dirty="0"/>
          </a:p>
        </p:txBody>
      </p:sp>
      <p:sp>
        <p:nvSpPr>
          <p:cNvPr id="26" name="Text 24"/>
          <p:cNvSpPr txBox="1"/>
          <p:nvPr/>
        </p:nvSpPr>
        <p:spPr>
          <a:xfrm>
            <a:off x="1178224" y="4703712"/>
            <a:ext cx="2542032" cy="219456"/>
          </a:xfrm>
          <a:prstGeom prst="rect">
            <a:avLst/>
          </a:prstGeom>
          <a:noFill/>
          <a:ln/>
        </p:spPr>
        <p:txBody>
          <a:bodyPr wrap="square" lIns="0" tIns="0" rIns="0" bIns="0" rtlCol="0" anchor="ctr"/>
          <a:lstStyle/>
          <a:p>
            <a:pPr marL="0" indent="0">
              <a:buNone/>
            </a:pPr>
            <a:r>
              <a:rPr lang="en-US" sz="1000" dirty="0">
                <a:solidFill>
                  <a:srgbClr val="4A5568"/>
                </a:solidFill>
                <a:latin typeface="Lato" pitchFamily="34" charset="0"/>
                <a:ea typeface="Lato" pitchFamily="34" charset="-122"/>
                <a:cs typeface="Lato" pitchFamily="34" charset="-120"/>
              </a:rPr>
              <a:t>référent sécurité et direction technique</a:t>
            </a:r>
            <a:endParaRPr lang="en-US" sz="1100" dirty="0"/>
          </a:p>
        </p:txBody>
      </p:sp>
      <p:sp>
        <p:nvSpPr>
          <p:cNvPr id="27" name="Shape 25"/>
          <p:cNvSpPr/>
          <p:nvPr/>
        </p:nvSpPr>
        <p:spPr>
          <a:xfrm>
            <a:off x="3712464" y="4297680"/>
            <a:ext cx="2871216" cy="877824"/>
          </a:xfrm>
          <a:prstGeom prst="rect">
            <a:avLst/>
          </a:prstGeom>
          <a:solidFill>
            <a:srgbClr val="F2F4F8"/>
          </a:solidFill>
          <a:ln/>
        </p:spPr>
        <p:txBody>
          <a:bodyPr/>
          <a:lstStyle/>
          <a:p>
            <a:endParaRPr lang="fr-FR"/>
          </a:p>
        </p:txBody>
      </p:sp>
      <p:sp>
        <p:nvSpPr>
          <p:cNvPr id="28" name="Text 26"/>
          <p:cNvSpPr txBox="1"/>
          <p:nvPr/>
        </p:nvSpPr>
        <p:spPr>
          <a:xfrm>
            <a:off x="3895344"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06</a:t>
            </a:r>
            <a:endParaRPr lang="en-US" sz="1500" dirty="0"/>
          </a:p>
        </p:txBody>
      </p:sp>
      <p:sp>
        <p:nvSpPr>
          <p:cNvPr id="29" name="Text 27"/>
          <p:cNvSpPr txBox="1"/>
          <p:nvPr/>
        </p:nvSpPr>
        <p:spPr>
          <a:xfrm>
            <a:off x="4232320" y="4315968"/>
            <a:ext cx="2900000" cy="470000"/>
          </a:xfrm>
          <a:prstGeom prst="rect">
            <a:avLst/>
          </a:prstGeom>
          <a:noFill/>
          <a:ln/>
        </p:spPr>
        <p:txBody>
          <a:bodyPr wrap="square" lIns="0" tIns="0" rIns="0" bIns="0" rtlCol="0" anchor="ctr"/>
          <a:lstStyle/>
          <a:p>
            <a:pPr marL="0" indent="0">
              <a:buNone/>
            </a:pPr>
            <a:r>
              <a:rPr lang="en-US" sz="1250" b="1" dirty="0">
                <a:solidFill>
                  <a:srgbClr val="1B2A4A"/>
                </a:solidFill>
                <a:latin typeface="Lato" pitchFamily="34" charset="0"/>
                <a:ea typeface="Lato" pitchFamily="34" charset="-122"/>
                <a:cs typeface="Lato" pitchFamily="34" charset="-120"/>
              </a:rPr>
              <a:t>Remédiation et vérification</a:t>
            </a:r>
            <a:endParaRPr lang="en-US" sz="1350" dirty="0"/>
          </a:p>
        </p:txBody>
      </p:sp>
      <p:sp>
        <p:nvSpPr>
          <p:cNvPr id="30" name="Text 28"/>
          <p:cNvSpPr txBox="1"/>
          <p:nvPr/>
        </p:nvSpPr>
        <p:spPr>
          <a:xfrm>
            <a:off x="4232320" y="4703712"/>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administrateur système</a:t>
            </a:r>
            <a:endParaRPr lang="en-US" sz="1100" dirty="0"/>
          </a:p>
        </p:txBody>
      </p:sp>
      <p:sp>
        <p:nvSpPr>
          <p:cNvPr id="31" name="Shape 29"/>
          <p:cNvSpPr/>
          <p:nvPr/>
        </p:nvSpPr>
        <p:spPr>
          <a:xfrm>
            <a:off x="6803136" y="1975104"/>
            <a:ext cx="25603" cy="3200400"/>
          </a:xfrm>
          <a:prstGeom prst="rect">
            <a:avLst/>
          </a:prstGeom>
          <a:solidFill>
            <a:srgbClr val="E6EAF1"/>
          </a:solidFill>
          <a:ln/>
        </p:spPr>
        <p:txBody>
          <a:bodyPr/>
          <a:lstStyle/>
          <a:p>
            <a:endParaRPr lang="fr-FR"/>
          </a:p>
        </p:txBody>
      </p:sp>
      <p:sp>
        <p:nvSpPr>
          <p:cNvPr id="32" name="Text 30"/>
          <p:cNvSpPr txBox="1"/>
          <p:nvPr/>
        </p:nvSpPr>
        <p:spPr>
          <a:xfrm>
            <a:off x="7187184" y="1920240"/>
            <a:ext cx="429768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LA RÉALITÉ D'UNE PETITE STRUCTURE</a:t>
            </a:r>
            <a:endParaRPr lang="en-US" sz="1050" dirty="0"/>
          </a:p>
        </p:txBody>
      </p:sp>
      <p:sp>
        <p:nvSpPr>
          <p:cNvPr id="33" name="Text 31"/>
          <p:cNvSpPr txBox="1"/>
          <p:nvPr/>
        </p:nvSpPr>
        <p:spPr>
          <a:xfrm>
            <a:off x="7187184" y="2249424"/>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4</a:t>
            </a:r>
            <a:endParaRPr lang="en-US" sz="4000" dirty="0"/>
          </a:p>
        </p:txBody>
      </p:sp>
      <p:sp>
        <p:nvSpPr>
          <p:cNvPr id="34" name="Text 32"/>
          <p:cNvSpPr txBox="1"/>
          <p:nvPr/>
        </p:nvSpPr>
        <p:spPr>
          <a:xfrm>
            <a:off x="8613648" y="2249424"/>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collaborateurs se répartissent ces six rôles</a:t>
            </a:r>
            <a:endParaRPr lang="en-US" sz="1300" dirty="0"/>
          </a:p>
        </p:txBody>
      </p:sp>
      <p:sp>
        <p:nvSpPr>
          <p:cNvPr id="35" name="Text 33"/>
          <p:cNvSpPr txBox="1"/>
          <p:nvPr/>
        </p:nvSpPr>
        <p:spPr>
          <a:xfrm>
            <a:off x="7187184" y="3273552"/>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3</a:t>
            </a:r>
            <a:endParaRPr lang="en-US" sz="4000" dirty="0"/>
          </a:p>
        </p:txBody>
      </p:sp>
      <p:sp>
        <p:nvSpPr>
          <p:cNvPr id="36" name="Text 34"/>
          <p:cNvSpPr txBox="1"/>
          <p:nvPr/>
        </p:nvSpPr>
        <p:spPr>
          <a:xfrm>
            <a:off x="8613648" y="3273552"/>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référentiels à tenir à jour en parallèle</a:t>
            </a:r>
            <a:endParaRPr lang="en-US" sz="1300" dirty="0"/>
          </a:p>
        </p:txBody>
      </p:sp>
      <p:sp>
        <p:nvSpPr>
          <p:cNvPr id="37" name="Text 35"/>
          <p:cNvSpPr txBox="1"/>
          <p:nvPr/>
        </p:nvSpPr>
        <p:spPr>
          <a:xfrm>
            <a:off x="7187184" y="4297680"/>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0</a:t>
            </a:r>
            <a:endParaRPr lang="en-US" sz="4000" dirty="0"/>
          </a:p>
        </p:txBody>
      </p:sp>
      <p:sp>
        <p:nvSpPr>
          <p:cNvPr id="38" name="Text 36"/>
          <p:cNvSpPr txBox="1"/>
          <p:nvPr/>
        </p:nvSpPr>
        <p:spPr>
          <a:xfrm>
            <a:off x="8613648" y="4297680"/>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poste dédié à la tenue des référentiels</a:t>
            </a:r>
            <a:endParaRPr lang="en-US" sz="1300" dirty="0"/>
          </a:p>
        </p:txBody>
      </p:sp>
      <p:sp>
        <p:nvSpPr>
          <p:cNvPr id="39" name="Shape 37"/>
          <p:cNvSpPr/>
          <p:nvPr/>
        </p:nvSpPr>
        <p:spPr>
          <a:xfrm>
            <a:off x="658368" y="5486400"/>
            <a:ext cx="10874959" cy="566928"/>
          </a:xfrm>
          <a:prstGeom prst="rect">
            <a:avLst/>
          </a:prstGeom>
          <a:solidFill>
            <a:srgbClr val="1B2A4A"/>
          </a:solidFill>
          <a:ln/>
        </p:spPr>
        <p:txBody>
          <a:bodyPr/>
          <a:lstStyle/>
          <a:p>
            <a:endParaRPr lang="fr-FR"/>
          </a:p>
        </p:txBody>
      </p:sp>
      <p:sp>
        <p:nvSpPr>
          <p:cNvPr id="40" name="Text 38"/>
          <p:cNvSpPr txBox="1"/>
          <p:nvPr/>
        </p:nvSpPr>
        <p:spPr>
          <a:xfrm>
            <a:off x="914400" y="5486400"/>
            <a:ext cx="10362895" cy="566928"/>
          </a:xfrm>
          <a:prstGeom prst="rect">
            <a:avLst/>
          </a:prstGeom>
          <a:noFill/>
          <a:ln/>
        </p:spPr>
        <p:txBody>
          <a:bodyPr wrap="square" lIns="0" tIns="0" rIns="0" bIns="0" rtlCol="0" anchor="ctr"/>
          <a:lstStyle/>
          <a:p>
            <a:pPr marL="0" indent="0">
              <a:lnSpc>
                <a:spcPct val="106000"/>
              </a:lnSpc>
              <a:buNone/>
            </a:pPr>
            <a:r>
              <a:rPr lang="en-US" sz="1250" b="1" dirty="0">
                <a:solidFill>
                  <a:srgbClr val="FFFFFF"/>
                </a:solidFill>
                <a:latin typeface="Lato" pitchFamily="34" charset="0"/>
                <a:ea typeface="Lato" pitchFamily="34" charset="-122"/>
                <a:cs typeface="Lato" pitchFamily="34" charset="-120"/>
              </a:rPr>
              <a:t>Ce n'est pas un défaut d'organisation : c'est la contrainte que l'outil doit absorber.</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17</a:t>
            </a:fld>
            <a:endParaRPr lang="fr-FR">
              <a:solidFill>
                <a:srgbClr val="4A556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3</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3</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Conduite du projet</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1352E1D2-7750-4779-BC19-3E7837F9217E}" type="slidenum">
              <a:rPr lang="fr-FR" sz="900" b="0">
                <a:solidFill>
                  <a:srgbClr val="AEB7C6"/>
                </a:solidFill>
                <a:latin typeface="Lato"/>
              </a:rPr>
              <a:t>18</a:t>
            </a:fld>
            <a:endParaRPr lang="fr-FR">
              <a:solidFill>
                <a:srgbClr val="AEB7C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MÉTHODOLOGIE ET DÉCOUPAGE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 cycle hybride, jalonné puis itératif</a:t>
            </a:r>
            <a:endParaRPr lang="en-US" sz="3000" dirty="0"/>
          </a:p>
        </p:txBody>
      </p:sp>
      <p:sp>
        <p:nvSpPr>
          <p:cNvPr id="4" name="Shape 2"/>
          <p:cNvSpPr/>
          <p:nvPr/>
        </p:nvSpPr>
        <p:spPr>
          <a:xfrm>
            <a:off x="658368" y="1920240"/>
            <a:ext cx="1225296" cy="512064"/>
          </a:xfrm>
          <a:prstGeom prst="rect">
            <a:avLst/>
          </a:prstGeom>
          <a:solidFill>
            <a:srgbClr val="1B2A4A"/>
          </a:solidFill>
          <a:ln/>
        </p:spPr>
        <p:txBody>
          <a:bodyPr/>
          <a:lstStyle/>
          <a:p>
            <a:endParaRPr lang="fr-FR"/>
          </a:p>
        </p:txBody>
      </p:sp>
      <p:sp>
        <p:nvSpPr>
          <p:cNvPr id="5" name="Text 3"/>
          <p:cNvSpPr txBox="1"/>
          <p:nvPr/>
        </p:nvSpPr>
        <p:spPr>
          <a:xfrm>
            <a:off x="658368" y="1920240"/>
            <a:ext cx="122529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Lato" pitchFamily="34" charset="0"/>
                <a:ea typeface="Lato" pitchFamily="34" charset="-122"/>
                <a:cs typeface="Lato" pitchFamily="34" charset="-120"/>
              </a:rPr>
              <a:t>Cadrage</a:t>
            </a:r>
            <a:endParaRPr lang="en-US" sz="1150" dirty="0"/>
          </a:p>
        </p:txBody>
      </p:sp>
      <p:sp>
        <p:nvSpPr>
          <p:cNvPr id="6" name="Shape 4"/>
          <p:cNvSpPr/>
          <p:nvPr/>
        </p:nvSpPr>
        <p:spPr>
          <a:xfrm>
            <a:off x="2011680" y="1920240"/>
            <a:ext cx="1225296" cy="512064"/>
          </a:xfrm>
          <a:prstGeom prst="rect">
            <a:avLst/>
          </a:prstGeom>
          <a:solidFill>
            <a:srgbClr val="1B2A4A"/>
          </a:solidFill>
          <a:ln/>
        </p:spPr>
        <p:txBody>
          <a:bodyPr/>
          <a:lstStyle/>
          <a:p>
            <a:endParaRPr lang="fr-FR"/>
          </a:p>
        </p:txBody>
      </p:sp>
      <p:sp>
        <p:nvSpPr>
          <p:cNvPr id="7" name="Text 5"/>
          <p:cNvSpPr txBox="1"/>
          <p:nvPr/>
        </p:nvSpPr>
        <p:spPr>
          <a:xfrm>
            <a:off x="2011680" y="1920240"/>
            <a:ext cx="122529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Lato" pitchFamily="34" charset="0"/>
                <a:ea typeface="Lato" pitchFamily="34" charset="-122"/>
                <a:cs typeface="Lato" pitchFamily="34" charset="-120"/>
              </a:rPr>
              <a:t>Audit</a:t>
            </a:r>
            <a:endParaRPr lang="en-US" sz="1150" dirty="0"/>
          </a:p>
        </p:txBody>
      </p:sp>
      <p:sp>
        <p:nvSpPr>
          <p:cNvPr id="8" name="Shape 6"/>
          <p:cNvSpPr/>
          <p:nvPr/>
        </p:nvSpPr>
        <p:spPr>
          <a:xfrm>
            <a:off x="3364992" y="1920240"/>
            <a:ext cx="1225296" cy="512064"/>
          </a:xfrm>
          <a:prstGeom prst="rect">
            <a:avLst/>
          </a:prstGeom>
          <a:solidFill>
            <a:srgbClr val="1B2A4A"/>
          </a:solidFill>
          <a:ln/>
        </p:spPr>
        <p:txBody>
          <a:bodyPr/>
          <a:lstStyle/>
          <a:p>
            <a:endParaRPr lang="fr-FR"/>
          </a:p>
        </p:txBody>
      </p:sp>
      <p:sp>
        <p:nvSpPr>
          <p:cNvPr id="9" name="Text 7"/>
          <p:cNvSpPr txBox="1"/>
          <p:nvPr/>
        </p:nvSpPr>
        <p:spPr>
          <a:xfrm>
            <a:off x="3364992" y="1920240"/>
            <a:ext cx="122529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Lato" pitchFamily="34" charset="0"/>
                <a:ea typeface="Lato" pitchFamily="34" charset="-122"/>
                <a:cs typeface="Lato" pitchFamily="34" charset="-120"/>
              </a:rPr>
              <a:t>Architecture</a:t>
            </a:r>
            <a:endParaRPr lang="en-US" sz="1150" dirty="0"/>
          </a:p>
        </p:txBody>
      </p:sp>
      <p:sp>
        <p:nvSpPr>
          <p:cNvPr id="10" name="Shape 8"/>
          <p:cNvSpPr/>
          <p:nvPr/>
        </p:nvSpPr>
        <p:spPr>
          <a:xfrm>
            <a:off x="4718304" y="1920240"/>
            <a:ext cx="1225296" cy="512064"/>
          </a:xfrm>
          <a:prstGeom prst="rect">
            <a:avLst/>
          </a:prstGeom>
          <a:solidFill>
            <a:srgbClr val="E6EAF1"/>
          </a:solidFill>
          <a:ln/>
        </p:spPr>
        <p:txBody>
          <a:bodyPr/>
          <a:lstStyle/>
          <a:p>
            <a:endParaRPr lang="fr-FR"/>
          </a:p>
        </p:txBody>
      </p:sp>
      <p:sp>
        <p:nvSpPr>
          <p:cNvPr id="11" name="Text 9"/>
          <p:cNvSpPr txBox="1"/>
          <p:nvPr/>
        </p:nvSpPr>
        <p:spPr>
          <a:xfrm>
            <a:off x="4718304" y="1920240"/>
            <a:ext cx="1225296" cy="512064"/>
          </a:xfrm>
          <a:prstGeom prst="rect">
            <a:avLst/>
          </a:prstGeom>
          <a:noFill/>
          <a:ln/>
        </p:spPr>
        <p:txBody>
          <a:bodyPr wrap="square" lIns="0" tIns="0" rIns="0" bIns="0" rtlCol="0" anchor="ctr"/>
          <a:lstStyle/>
          <a:p>
            <a:pPr marL="0" indent="0" algn="ctr">
              <a:buNone/>
            </a:pPr>
            <a:r>
              <a:rPr lang="en-US" sz="1150" b="1" dirty="0">
                <a:solidFill>
                  <a:srgbClr val="1B2A4A"/>
                </a:solidFill>
                <a:latin typeface="Lato" pitchFamily="34" charset="0"/>
                <a:ea typeface="Lato" pitchFamily="34" charset="-122"/>
                <a:cs typeface="Lato" pitchFamily="34" charset="-120"/>
              </a:rPr>
              <a:t>Collecte</a:t>
            </a:r>
            <a:endParaRPr lang="en-US" sz="1150" dirty="0"/>
          </a:p>
        </p:txBody>
      </p:sp>
      <p:sp>
        <p:nvSpPr>
          <p:cNvPr id="12" name="Shape 10"/>
          <p:cNvSpPr/>
          <p:nvPr/>
        </p:nvSpPr>
        <p:spPr>
          <a:xfrm>
            <a:off x="6071616" y="1920240"/>
            <a:ext cx="1225296" cy="512064"/>
          </a:xfrm>
          <a:prstGeom prst="rect">
            <a:avLst/>
          </a:prstGeom>
          <a:solidFill>
            <a:srgbClr val="E6EAF1"/>
          </a:solidFill>
          <a:ln/>
        </p:spPr>
        <p:txBody>
          <a:bodyPr/>
          <a:lstStyle/>
          <a:p>
            <a:endParaRPr lang="fr-FR"/>
          </a:p>
        </p:txBody>
      </p:sp>
      <p:sp>
        <p:nvSpPr>
          <p:cNvPr id="13" name="Text 11"/>
          <p:cNvSpPr txBox="1"/>
          <p:nvPr/>
        </p:nvSpPr>
        <p:spPr>
          <a:xfrm>
            <a:off x="6071616" y="1920240"/>
            <a:ext cx="1225296" cy="512064"/>
          </a:xfrm>
          <a:prstGeom prst="rect">
            <a:avLst/>
          </a:prstGeom>
          <a:noFill/>
          <a:ln/>
        </p:spPr>
        <p:txBody>
          <a:bodyPr wrap="square" lIns="0" tIns="0" rIns="0" bIns="0" rtlCol="0" anchor="ctr"/>
          <a:lstStyle/>
          <a:p>
            <a:pPr marL="0" indent="0" algn="ctr">
              <a:buNone/>
            </a:pPr>
            <a:r>
              <a:rPr lang="en-US" sz="1150" b="1" dirty="0">
                <a:solidFill>
                  <a:srgbClr val="1B2A4A"/>
                </a:solidFill>
                <a:latin typeface="Lato" pitchFamily="34" charset="0"/>
                <a:ea typeface="Lato" pitchFamily="34" charset="-122"/>
                <a:cs typeface="Lato" pitchFamily="34" charset="-120"/>
              </a:rPr>
              <a:t>Calcul</a:t>
            </a:r>
            <a:endParaRPr lang="en-US" sz="1150" dirty="0"/>
          </a:p>
        </p:txBody>
      </p:sp>
      <p:sp>
        <p:nvSpPr>
          <p:cNvPr id="14" name="Shape 12"/>
          <p:cNvSpPr/>
          <p:nvPr/>
        </p:nvSpPr>
        <p:spPr>
          <a:xfrm>
            <a:off x="7424928" y="1920240"/>
            <a:ext cx="1225296" cy="512064"/>
          </a:xfrm>
          <a:prstGeom prst="rect">
            <a:avLst/>
          </a:prstGeom>
          <a:solidFill>
            <a:srgbClr val="E6EAF1"/>
          </a:solidFill>
          <a:ln/>
        </p:spPr>
        <p:txBody>
          <a:bodyPr/>
          <a:lstStyle/>
          <a:p>
            <a:endParaRPr lang="fr-FR"/>
          </a:p>
        </p:txBody>
      </p:sp>
      <p:sp>
        <p:nvSpPr>
          <p:cNvPr id="15" name="Text 13"/>
          <p:cNvSpPr txBox="1"/>
          <p:nvPr/>
        </p:nvSpPr>
        <p:spPr>
          <a:xfrm>
            <a:off x="7424928" y="1920240"/>
            <a:ext cx="1225296" cy="512064"/>
          </a:xfrm>
          <a:prstGeom prst="rect">
            <a:avLst/>
          </a:prstGeom>
          <a:noFill/>
          <a:ln/>
        </p:spPr>
        <p:txBody>
          <a:bodyPr wrap="square" lIns="0" tIns="0" rIns="0" bIns="0" rtlCol="0" anchor="ctr"/>
          <a:lstStyle/>
          <a:p>
            <a:pPr marL="0" indent="0" algn="ctr">
              <a:buNone/>
            </a:pPr>
            <a:r>
              <a:rPr lang="en-US" sz="1150" b="1" dirty="0">
                <a:solidFill>
                  <a:srgbClr val="1B2A4A"/>
                </a:solidFill>
                <a:latin typeface="Lato" pitchFamily="34" charset="0"/>
                <a:ea typeface="Lato" pitchFamily="34" charset="-122"/>
                <a:cs typeface="Lato" pitchFamily="34" charset="-120"/>
              </a:rPr>
              <a:t>Restitution</a:t>
            </a:r>
            <a:endParaRPr lang="en-US" sz="1150" dirty="0"/>
          </a:p>
        </p:txBody>
      </p:sp>
      <p:sp>
        <p:nvSpPr>
          <p:cNvPr id="16" name="Shape 14"/>
          <p:cNvSpPr/>
          <p:nvPr/>
        </p:nvSpPr>
        <p:spPr>
          <a:xfrm>
            <a:off x="8778240" y="1920240"/>
            <a:ext cx="1225296" cy="512064"/>
          </a:xfrm>
          <a:prstGeom prst="rect">
            <a:avLst/>
          </a:prstGeom>
          <a:solidFill>
            <a:srgbClr val="1B2A4A"/>
          </a:solidFill>
          <a:ln/>
        </p:spPr>
        <p:txBody>
          <a:bodyPr/>
          <a:lstStyle/>
          <a:p>
            <a:endParaRPr lang="fr-FR"/>
          </a:p>
        </p:txBody>
      </p:sp>
      <p:sp>
        <p:nvSpPr>
          <p:cNvPr id="17" name="Text 15"/>
          <p:cNvSpPr txBox="1"/>
          <p:nvPr/>
        </p:nvSpPr>
        <p:spPr>
          <a:xfrm>
            <a:off x="8778240" y="1920240"/>
            <a:ext cx="122529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Lato" pitchFamily="34" charset="0"/>
                <a:ea typeface="Lato" pitchFamily="34" charset="-122"/>
                <a:cs typeface="Lato" pitchFamily="34" charset="-120"/>
              </a:rPr>
              <a:t>Recette</a:t>
            </a:r>
            <a:endParaRPr lang="en-US" sz="1150" dirty="0"/>
          </a:p>
        </p:txBody>
      </p:sp>
      <p:sp>
        <p:nvSpPr>
          <p:cNvPr id="18" name="Shape 16"/>
          <p:cNvSpPr/>
          <p:nvPr/>
        </p:nvSpPr>
        <p:spPr>
          <a:xfrm>
            <a:off x="10131552" y="1920240"/>
            <a:ext cx="1225296" cy="512064"/>
          </a:xfrm>
          <a:prstGeom prst="rect">
            <a:avLst/>
          </a:prstGeom>
          <a:solidFill>
            <a:srgbClr val="1B2A4A"/>
          </a:solidFill>
          <a:ln/>
        </p:spPr>
        <p:txBody>
          <a:bodyPr/>
          <a:lstStyle/>
          <a:p>
            <a:endParaRPr lang="fr-FR"/>
          </a:p>
        </p:txBody>
      </p:sp>
      <p:sp>
        <p:nvSpPr>
          <p:cNvPr id="19" name="Text 17"/>
          <p:cNvSpPr txBox="1"/>
          <p:nvPr/>
        </p:nvSpPr>
        <p:spPr>
          <a:xfrm>
            <a:off x="10131552" y="1920240"/>
            <a:ext cx="1225296" cy="512064"/>
          </a:xfrm>
          <a:prstGeom prst="rect">
            <a:avLst/>
          </a:prstGeom>
          <a:noFill/>
          <a:ln/>
        </p:spPr>
        <p:txBody>
          <a:bodyPr wrap="square" lIns="0" tIns="0" rIns="0" bIns="0" rtlCol="0" anchor="ctr"/>
          <a:lstStyle/>
          <a:p>
            <a:pPr marL="0" indent="0" algn="ctr">
              <a:buNone/>
            </a:pPr>
            <a:r>
              <a:rPr lang="en-US" sz="1150" b="1" dirty="0">
                <a:solidFill>
                  <a:srgbClr val="FFFFFF"/>
                </a:solidFill>
                <a:latin typeface="Lato" pitchFamily="34" charset="0"/>
                <a:ea typeface="Lato" pitchFamily="34" charset="-122"/>
                <a:cs typeface="Lato" pitchFamily="34" charset="-120"/>
              </a:rPr>
              <a:t>Transfert</a:t>
            </a:r>
            <a:endParaRPr lang="en-US" sz="1150" dirty="0"/>
          </a:p>
        </p:txBody>
      </p:sp>
      <p:sp>
        <p:nvSpPr>
          <p:cNvPr id="20" name="Shape 18"/>
          <p:cNvSpPr/>
          <p:nvPr/>
        </p:nvSpPr>
        <p:spPr>
          <a:xfrm>
            <a:off x="3831336" y="2578608"/>
            <a:ext cx="292608" cy="292608"/>
          </a:xfrm>
          <a:prstGeom prst="diamond">
            <a:avLst/>
          </a:prstGeom>
          <a:solidFill>
            <a:srgbClr val="C5A55A"/>
          </a:solidFill>
          <a:ln/>
        </p:spPr>
        <p:txBody>
          <a:bodyPr/>
          <a:lstStyle/>
          <a:p>
            <a:endParaRPr lang="fr-FR"/>
          </a:p>
        </p:txBody>
      </p:sp>
      <p:sp>
        <p:nvSpPr>
          <p:cNvPr id="21" name="Text 19"/>
          <p:cNvSpPr txBox="1"/>
          <p:nvPr/>
        </p:nvSpPr>
        <p:spPr>
          <a:xfrm>
            <a:off x="3520440" y="2907792"/>
            <a:ext cx="914400" cy="256032"/>
          </a:xfrm>
          <a:prstGeom prst="rect">
            <a:avLst/>
          </a:prstGeom>
          <a:noFill/>
          <a:ln/>
        </p:spPr>
        <p:txBody>
          <a:bodyPr wrap="square" lIns="0" tIns="0" rIns="0" bIns="0" rtlCol="0" anchor="ctr"/>
          <a:lstStyle/>
          <a:p>
            <a:pPr marL="0" indent="0" algn="ctr">
              <a:buNone/>
            </a:pPr>
            <a:r>
              <a:rPr lang="en-US" sz="1050" b="1" dirty="0">
                <a:solidFill>
                  <a:srgbClr val="C5A55A"/>
                </a:solidFill>
                <a:latin typeface="Lato" pitchFamily="34" charset="0"/>
                <a:ea typeface="Lato" pitchFamily="34" charset="-122"/>
                <a:cs typeface="Lato" pitchFamily="34" charset="-120"/>
              </a:rPr>
              <a:t>J1</a:t>
            </a:r>
            <a:endParaRPr lang="en-US" sz="1050" dirty="0"/>
          </a:p>
        </p:txBody>
      </p:sp>
      <p:sp>
        <p:nvSpPr>
          <p:cNvPr id="22" name="Shape 20"/>
          <p:cNvSpPr/>
          <p:nvPr/>
        </p:nvSpPr>
        <p:spPr>
          <a:xfrm>
            <a:off x="5184648" y="2578608"/>
            <a:ext cx="292608" cy="292608"/>
          </a:xfrm>
          <a:prstGeom prst="diamond">
            <a:avLst/>
          </a:prstGeom>
          <a:solidFill>
            <a:srgbClr val="C5A55A"/>
          </a:solidFill>
          <a:ln/>
        </p:spPr>
        <p:txBody>
          <a:bodyPr/>
          <a:lstStyle/>
          <a:p>
            <a:endParaRPr lang="fr-FR"/>
          </a:p>
        </p:txBody>
      </p:sp>
      <p:sp>
        <p:nvSpPr>
          <p:cNvPr id="23" name="Text 21"/>
          <p:cNvSpPr txBox="1"/>
          <p:nvPr/>
        </p:nvSpPr>
        <p:spPr>
          <a:xfrm>
            <a:off x="4873752" y="2907792"/>
            <a:ext cx="914400" cy="256032"/>
          </a:xfrm>
          <a:prstGeom prst="rect">
            <a:avLst/>
          </a:prstGeom>
          <a:noFill/>
          <a:ln/>
        </p:spPr>
        <p:txBody>
          <a:bodyPr wrap="square" lIns="0" tIns="0" rIns="0" bIns="0" rtlCol="0" anchor="ctr"/>
          <a:lstStyle/>
          <a:p>
            <a:pPr marL="0" indent="0" algn="ctr">
              <a:buNone/>
            </a:pPr>
            <a:r>
              <a:rPr lang="en-US" sz="1050" b="1" dirty="0">
                <a:solidFill>
                  <a:srgbClr val="C5A55A"/>
                </a:solidFill>
                <a:latin typeface="Lato" pitchFamily="34" charset="0"/>
                <a:ea typeface="Lato" pitchFamily="34" charset="-122"/>
                <a:cs typeface="Lato" pitchFamily="34" charset="-120"/>
              </a:rPr>
              <a:t>J2</a:t>
            </a:r>
            <a:endParaRPr lang="en-US" sz="1050" dirty="0"/>
          </a:p>
        </p:txBody>
      </p:sp>
      <p:sp>
        <p:nvSpPr>
          <p:cNvPr id="24" name="Shape 22"/>
          <p:cNvSpPr/>
          <p:nvPr/>
        </p:nvSpPr>
        <p:spPr>
          <a:xfrm>
            <a:off x="6537960" y="2578608"/>
            <a:ext cx="292608" cy="292608"/>
          </a:xfrm>
          <a:prstGeom prst="diamond">
            <a:avLst/>
          </a:prstGeom>
          <a:solidFill>
            <a:srgbClr val="C5A55A"/>
          </a:solidFill>
          <a:ln/>
        </p:spPr>
        <p:txBody>
          <a:bodyPr/>
          <a:lstStyle/>
          <a:p>
            <a:endParaRPr lang="fr-FR"/>
          </a:p>
        </p:txBody>
      </p:sp>
      <p:sp>
        <p:nvSpPr>
          <p:cNvPr id="25" name="Text 23"/>
          <p:cNvSpPr txBox="1"/>
          <p:nvPr/>
        </p:nvSpPr>
        <p:spPr>
          <a:xfrm>
            <a:off x="6227064" y="2907792"/>
            <a:ext cx="914400" cy="256032"/>
          </a:xfrm>
          <a:prstGeom prst="rect">
            <a:avLst/>
          </a:prstGeom>
          <a:noFill/>
          <a:ln/>
        </p:spPr>
        <p:txBody>
          <a:bodyPr wrap="square" lIns="0" tIns="0" rIns="0" bIns="0" rtlCol="0" anchor="ctr"/>
          <a:lstStyle/>
          <a:p>
            <a:pPr marL="0" indent="0" algn="ctr">
              <a:buNone/>
            </a:pPr>
            <a:r>
              <a:rPr lang="en-US" sz="1050" b="1" dirty="0">
                <a:solidFill>
                  <a:srgbClr val="C5A55A"/>
                </a:solidFill>
                <a:latin typeface="Lato" pitchFamily="34" charset="0"/>
                <a:ea typeface="Lato" pitchFamily="34" charset="-122"/>
                <a:cs typeface="Lato" pitchFamily="34" charset="-120"/>
              </a:rPr>
              <a:t>J3</a:t>
            </a:r>
            <a:endParaRPr lang="en-US" sz="1050" dirty="0"/>
          </a:p>
        </p:txBody>
      </p:sp>
      <p:sp>
        <p:nvSpPr>
          <p:cNvPr id="26" name="Shape 24"/>
          <p:cNvSpPr/>
          <p:nvPr/>
        </p:nvSpPr>
        <p:spPr>
          <a:xfrm>
            <a:off x="9244584" y="2578608"/>
            <a:ext cx="292608" cy="292608"/>
          </a:xfrm>
          <a:prstGeom prst="diamond">
            <a:avLst/>
          </a:prstGeom>
          <a:solidFill>
            <a:srgbClr val="C5A55A"/>
          </a:solidFill>
          <a:ln/>
        </p:spPr>
        <p:txBody>
          <a:bodyPr/>
          <a:lstStyle/>
          <a:p>
            <a:endParaRPr lang="fr-FR"/>
          </a:p>
        </p:txBody>
      </p:sp>
      <p:sp>
        <p:nvSpPr>
          <p:cNvPr id="27" name="Text 25"/>
          <p:cNvSpPr txBox="1"/>
          <p:nvPr/>
        </p:nvSpPr>
        <p:spPr>
          <a:xfrm>
            <a:off x="8933688" y="2907792"/>
            <a:ext cx="914400" cy="256032"/>
          </a:xfrm>
          <a:prstGeom prst="rect">
            <a:avLst/>
          </a:prstGeom>
          <a:noFill/>
          <a:ln/>
        </p:spPr>
        <p:txBody>
          <a:bodyPr wrap="square" lIns="0" tIns="0" rIns="0" bIns="0" rtlCol="0" anchor="ctr"/>
          <a:lstStyle/>
          <a:p>
            <a:pPr marL="0" indent="0" algn="ctr">
              <a:buNone/>
            </a:pPr>
            <a:r>
              <a:rPr lang="en-US" sz="1050" b="1" dirty="0">
                <a:solidFill>
                  <a:srgbClr val="C5A55A"/>
                </a:solidFill>
                <a:latin typeface="Lato" pitchFamily="34" charset="0"/>
                <a:ea typeface="Lato" pitchFamily="34" charset="-122"/>
                <a:cs typeface="Lato" pitchFamily="34" charset="-120"/>
              </a:rPr>
              <a:t>J4</a:t>
            </a:r>
            <a:endParaRPr lang="en-US" sz="1050" dirty="0"/>
          </a:p>
        </p:txBody>
      </p:sp>
      <p:sp>
        <p:nvSpPr>
          <p:cNvPr id="28" name="Text 26"/>
          <p:cNvSpPr txBox="1"/>
          <p:nvPr/>
        </p:nvSpPr>
        <p:spPr>
          <a:xfrm>
            <a:off x="658368" y="1481328"/>
            <a:ext cx="2743200" cy="237744"/>
          </a:xfrm>
          <a:prstGeom prst="rect">
            <a:avLst/>
          </a:prstGeom>
          <a:noFill/>
          <a:ln/>
        </p:spPr>
        <p:txBody>
          <a:bodyPr wrap="square" lIns="0" tIns="0" rIns="0" bIns="0" rtlCol="0" anchor="ctr"/>
          <a:lstStyle/>
          <a:p>
            <a:pPr marL="0" indent="0">
              <a:buNone/>
            </a:pPr>
            <a:r>
              <a:rPr lang="en-US" sz="1050" b="1" kern="0" spc="120" dirty="0">
                <a:solidFill>
                  <a:srgbClr val="1B2A4A"/>
                </a:solidFill>
                <a:latin typeface="Lato" pitchFamily="34" charset="0"/>
                <a:ea typeface="Lato" pitchFamily="34" charset="-122"/>
                <a:cs typeface="Lato" pitchFamily="34" charset="-120"/>
              </a:rPr>
              <a:t>Phases séquentielles</a:t>
            </a:r>
            <a:endParaRPr lang="en-US" sz="1050" dirty="0"/>
          </a:p>
        </p:txBody>
      </p:sp>
      <p:sp>
        <p:nvSpPr>
          <p:cNvPr id="29" name="Text 27"/>
          <p:cNvSpPr txBox="1"/>
          <p:nvPr/>
        </p:nvSpPr>
        <p:spPr>
          <a:xfrm>
            <a:off x="4718304" y="1481328"/>
            <a:ext cx="2743200" cy="237744"/>
          </a:xfrm>
          <a:prstGeom prst="rect">
            <a:avLst/>
          </a:prstGeom>
          <a:noFill/>
          <a:ln/>
        </p:spPr>
        <p:txBody>
          <a:bodyPr wrap="square" lIns="0" tIns="0" rIns="0" bIns="0" rtlCol="0" anchor="ctr"/>
          <a:lstStyle/>
          <a:p>
            <a:pPr marL="0" indent="0">
              <a:buNone/>
            </a:pPr>
            <a:r>
              <a:rPr lang="en-US" sz="1050" b="1" kern="0" spc="120" dirty="0">
                <a:solidFill>
                  <a:srgbClr val="4A5568"/>
                </a:solidFill>
                <a:latin typeface="Lato" pitchFamily="34" charset="0"/>
                <a:ea typeface="Lato" pitchFamily="34" charset="-122"/>
                <a:cs typeface="Lato" pitchFamily="34" charset="-120"/>
              </a:rPr>
              <a:t>Phases itératives</a:t>
            </a:r>
            <a:endParaRPr lang="en-US" sz="1050" dirty="0"/>
          </a:p>
        </p:txBody>
      </p:sp>
      <p:sp>
        <p:nvSpPr>
          <p:cNvPr id="30" name="Text 28"/>
          <p:cNvSpPr txBox="1"/>
          <p:nvPr/>
        </p:nvSpPr>
        <p:spPr>
          <a:xfrm>
            <a:off x="9253728" y="1481328"/>
            <a:ext cx="2286000" cy="237744"/>
          </a:xfrm>
          <a:prstGeom prst="rect">
            <a:avLst/>
          </a:prstGeom>
          <a:noFill/>
          <a:ln/>
        </p:spPr>
        <p:txBody>
          <a:bodyPr wrap="square" lIns="0" tIns="0" rIns="0" bIns="0" rtlCol="0" anchor="ctr"/>
          <a:lstStyle/>
          <a:p>
            <a:pPr marL="0" indent="0" algn="r">
              <a:buNone/>
            </a:pPr>
            <a:r>
              <a:rPr lang="en-US" sz="1050" b="1" kern="0" spc="120" dirty="0">
                <a:solidFill>
                  <a:srgbClr val="C5A55A"/>
                </a:solidFill>
                <a:latin typeface="Lato" pitchFamily="34" charset="0"/>
                <a:ea typeface="Lato" pitchFamily="34" charset="-122"/>
                <a:cs typeface="Lato" pitchFamily="34" charset="-120"/>
              </a:rPr>
              <a:t>Jalons de validation</a:t>
            </a:r>
            <a:endParaRPr lang="en-US" sz="1050" dirty="0"/>
          </a:p>
        </p:txBody>
      </p:sp>
      <p:sp>
        <p:nvSpPr>
          <p:cNvPr id="31" name="Text 29"/>
          <p:cNvSpPr txBox="1"/>
          <p:nvPr/>
        </p:nvSpPr>
        <p:spPr>
          <a:xfrm>
            <a:off x="658368" y="3566160"/>
            <a:ext cx="2468880" cy="621792"/>
          </a:xfrm>
          <a:prstGeom prst="rect">
            <a:avLst/>
          </a:prstGeom>
          <a:noFill/>
          <a:ln/>
        </p:spPr>
        <p:txBody>
          <a:bodyPr wrap="square" lIns="0" tIns="0" rIns="0" bIns="0" rtlCol="0" anchor="ctr"/>
          <a:lstStyle/>
          <a:p>
            <a:pPr marL="0" indent="0" algn="l">
              <a:buNone/>
            </a:pPr>
            <a:r>
              <a:rPr lang="en-US" sz="4000" b="1" dirty="0">
                <a:solidFill>
                  <a:srgbClr val="C5A55A"/>
                </a:solidFill>
                <a:latin typeface="Lato" pitchFamily="34" charset="0"/>
                <a:ea typeface="Lato" pitchFamily="34" charset="-122"/>
                <a:cs typeface="Lato" pitchFamily="34" charset="-120"/>
              </a:rPr>
              <a:t>8</a:t>
            </a:r>
            <a:endParaRPr lang="en-US" sz="4000" dirty="0"/>
          </a:p>
        </p:txBody>
      </p:sp>
      <p:sp>
        <p:nvSpPr>
          <p:cNvPr id="32" name="Text 30"/>
          <p:cNvSpPr txBox="1"/>
          <p:nvPr/>
        </p:nvSpPr>
        <p:spPr>
          <a:xfrm>
            <a:off x="658368" y="4169664"/>
            <a:ext cx="246888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phases jalonnées</a:t>
            </a:r>
            <a:endParaRPr lang="en-US" sz="1150" dirty="0"/>
          </a:p>
        </p:txBody>
      </p:sp>
      <p:sp>
        <p:nvSpPr>
          <p:cNvPr id="33" name="Text 31"/>
          <p:cNvSpPr txBox="1"/>
          <p:nvPr/>
        </p:nvSpPr>
        <p:spPr>
          <a:xfrm>
            <a:off x="3401568" y="3566160"/>
            <a:ext cx="2468880" cy="621792"/>
          </a:xfrm>
          <a:prstGeom prst="rect">
            <a:avLst/>
          </a:prstGeom>
          <a:noFill/>
          <a:ln/>
        </p:spPr>
        <p:txBody>
          <a:bodyPr wrap="square" lIns="0" tIns="0" rIns="0" bIns="0" rtlCol="0" anchor="ctr"/>
          <a:lstStyle/>
          <a:p>
            <a:pPr marL="0" indent="0" algn="l">
              <a:buNone/>
            </a:pPr>
            <a:r>
              <a:rPr lang="en-US" sz="4000" b="1" dirty="0">
                <a:solidFill>
                  <a:srgbClr val="C5A55A"/>
                </a:solidFill>
                <a:latin typeface="Lato" pitchFamily="34" charset="0"/>
                <a:ea typeface="Lato" pitchFamily="34" charset="-122"/>
                <a:cs typeface="Lato" pitchFamily="34" charset="-120"/>
              </a:rPr>
              <a:t>4</a:t>
            </a:r>
            <a:endParaRPr lang="en-US" sz="4000" dirty="0"/>
          </a:p>
        </p:txBody>
      </p:sp>
      <p:sp>
        <p:nvSpPr>
          <p:cNvPr id="34" name="Text 32"/>
          <p:cNvSpPr txBox="1"/>
          <p:nvPr/>
        </p:nvSpPr>
        <p:spPr>
          <a:xfrm>
            <a:off x="3401568" y="4169664"/>
            <a:ext cx="246888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jalons de validation</a:t>
            </a:r>
            <a:endParaRPr lang="en-US" sz="1150" dirty="0"/>
          </a:p>
        </p:txBody>
      </p:sp>
      <p:sp>
        <p:nvSpPr>
          <p:cNvPr id="35" name="Text 33"/>
          <p:cNvSpPr txBox="1"/>
          <p:nvPr/>
        </p:nvSpPr>
        <p:spPr>
          <a:xfrm>
            <a:off x="6144768" y="3566160"/>
            <a:ext cx="2468880" cy="621792"/>
          </a:xfrm>
          <a:prstGeom prst="rect">
            <a:avLst/>
          </a:prstGeom>
          <a:noFill/>
          <a:ln/>
        </p:spPr>
        <p:txBody>
          <a:bodyPr wrap="square" lIns="0" tIns="0" rIns="0" bIns="0" rtlCol="0" anchor="ctr"/>
          <a:lstStyle/>
          <a:p>
            <a:pPr marL="0" indent="0" algn="l">
              <a:buNone/>
            </a:pPr>
            <a:r>
              <a:rPr lang="en-US" sz="4000" b="1" dirty="0">
                <a:solidFill>
                  <a:srgbClr val="C5A55A"/>
                </a:solidFill>
                <a:latin typeface="Lato" pitchFamily="34" charset="0"/>
                <a:ea typeface="Lato" pitchFamily="34" charset="-122"/>
                <a:cs typeface="Lato" pitchFamily="34" charset="-120"/>
              </a:rPr>
              <a:t>42</a:t>
            </a:r>
            <a:endParaRPr lang="en-US" sz="4000" dirty="0"/>
          </a:p>
        </p:txBody>
      </p:sp>
      <p:sp>
        <p:nvSpPr>
          <p:cNvPr id="36" name="Text 34"/>
          <p:cNvSpPr txBox="1"/>
          <p:nvPr/>
        </p:nvSpPr>
        <p:spPr>
          <a:xfrm>
            <a:off x="6144768" y="4169664"/>
            <a:ext cx="246888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jours-homme prévus</a:t>
            </a:r>
            <a:endParaRPr lang="en-US" sz="1150" dirty="0"/>
          </a:p>
        </p:txBody>
      </p:sp>
      <p:sp>
        <p:nvSpPr>
          <p:cNvPr id="37" name="Text 35"/>
          <p:cNvSpPr txBox="1"/>
          <p:nvPr/>
        </p:nvSpPr>
        <p:spPr>
          <a:xfrm>
            <a:off x="8887968" y="3566160"/>
            <a:ext cx="2468880" cy="621792"/>
          </a:xfrm>
          <a:prstGeom prst="rect">
            <a:avLst/>
          </a:prstGeom>
          <a:noFill/>
          <a:ln/>
        </p:spPr>
        <p:txBody>
          <a:bodyPr wrap="square" lIns="0" tIns="0" rIns="0" bIns="0" rtlCol="0" anchor="ctr"/>
          <a:lstStyle/>
          <a:p>
            <a:pPr marL="0" indent="0" algn="l">
              <a:buNone/>
            </a:pPr>
            <a:r>
              <a:rPr lang="en-US" sz="4000" b="1" dirty="0">
                <a:solidFill>
                  <a:srgbClr val="C5A55A"/>
                </a:solidFill>
                <a:latin typeface="Lato" pitchFamily="34" charset="0"/>
                <a:ea typeface="Lato" pitchFamily="34" charset="-122"/>
                <a:cs typeface="Lato" pitchFamily="34" charset="-120"/>
              </a:rPr>
              <a:t>1</a:t>
            </a:r>
            <a:endParaRPr lang="en-US" sz="4000" dirty="0"/>
          </a:p>
        </p:txBody>
      </p:sp>
      <p:sp>
        <p:nvSpPr>
          <p:cNvPr id="38" name="Text 36"/>
          <p:cNvSpPr txBox="1"/>
          <p:nvPr/>
        </p:nvSpPr>
        <p:spPr>
          <a:xfrm>
            <a:off x="8887968" y="4169664"/>
            <a:ext cx="246888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valideur métier désigné</a:t>
            </a:r>
            <a:endParaRPr lang="en-US" sz="1150" dirty="0"/>
          </a:p>
        </p:txBody>
      </p:sp>
      <p:sp>
        <p:nvSpPr>
          <p:cNvPr id="39" name="Shape 37"/>
          <p:cNvSpPr/>
          <p:nvPr/>
        </p:nvSpPr>
        <p:spPr>
          <a:xfrm>
            <a:off x="658368" y="4791456"/>
            <a:ext cx="5230368" cy="932688"/>
          </a:xfrm>
          <a:prstGeom prst="rect">
            <a:avLst/>
          </a:prstGeom>
          <a:solidFill>
            <a:srgbClr val="F2F4F8"/>
          </a:solidFill>
          <a:ln/>
        </p:spPr>
        <p:txBody>
          <a:bodyPr/>
          <a:lstStyle/>
          <a:p>
            <a:endParaRPr lang="fr-FR"/>
          </a:p>
        </p:txBody>
      </p:sp>
      <p:sp>
        <p:nvSpPr>
          <p:cNvPr id="40" name="Text 38"/>
          <p:cNvSpPr txBox="1"/>
          <p:nvPr/>
        </p:nvSpPr>
        <p:spPr>
          <a:xfrm>
            <a:off x="896112" y="4791456"/>
            <a:ext cx="4754880" cy="932688"/>
          </a:xfrm>
          <a:prstGeom prst="rect">
            <a:avLst/>
          </a:prstGeom>
          <a:noFill/>
          <a:ln/>
        </p:spPr>
        <p:txBody>
          <a:bodyPr wrap="square" lIns="0" tIns="0" rIns="0" bIns="0" rtlCol="0" anchor="ctr"/>
          <a:lstStyle/>
          <a:p>
            <a:pPr marL="0" indent="0">
              <a:lnSpc>
                <a:spcPct val="114000"/>
              </a:lnSpc>
              <a:buNone/>
            </a:pPr>
            <a:r>
              <a:rPr lang="en-US" sz="1250" b="1" dirty="0">
                <a:solidFill>
                  <a:srgbClr val="C5A55A"/>
                </a:solidFill>
                <a:latin typeface="Lato" pitchFamily="34" charset="0"/>
                <a:ea typeface="Lato" pitchFamily="34" charset="-122"/>
                <a:cs typeface="Lato" pitchFamily="34" charset="-120"/>
              </a:rPr>
              <a:t>Hybride :</a:t>
            </a:r>
          </a:p>
          <a:p>
            <a:pPr marL="0" indent="0">
              <a:lnSpc>
                <a:spcPct val="114000"/>
              </a:lnSpc>
              <a:buNone/>
            </a:pPr>
            <a:r>
              <a:rPr lang="en-US" sz="1250" dirty="0">
                <a:solidFill>
                  <a:srgbClr val="232A3A"/>
                </a:solidFill>
                <a:latin typeface="Lato" pitchFamily="34" charset="0"/>
                <a:ea typeface="Lato" pitchFamily="34" charset="-122"/>
                <a:cs typeface="Lato" pitchFamily="34" charset="-120"/>
              </a:rPr>
              <a:t>Le </a:t>
            </a:r>
            <a:r>
              <a:rPr lang="en-US" sz="1250" dirty="0" err="1">
                <a:solidFill>
                  <a:srgbClr val="232A3A"/>
                </a:solidFill>
                <a:latin typeface="Lato" pitchFamily="34" charset="0"/>
                <a:ea typeface="Lato" pitchFamily="34" charset="-122"/>
                <a:cs typeface="Lato" pitchFamily="34" charset="-120"/>
              </a:rPr>
              <a:t>projet</a:t>
            </a:r>
            <a:r>
              <a:rPr lang="en-US" sz="1250" dirty="0">
                <a:solidFill>
                  <a:srgbClr val="232A3A"/>
                </a:solidFill>
                <a:latin typeface="Lato" pitchFamily="34" charset="0"/>
                <a:ea typeface="Lato" pitchFamily="34" charset="-122"/>
                <a:cs typeface="Lato" pitchFamily="34" charset="-120"/>
              </a:rPr>
              <a:t> est </a:t>
            </a:r>
            <a:r>
              <a:rPr lang="en-US" sz="1250" dirty="0" err="1">
                <a:solidFill>
                  <a:srgbClr val="232A3A"/>
                </a:solidFill>
                <a:latin typeface="Lato" pitchFamily="34" charset="0"/>
                <a:ea typeface="Lato" pitchFamily="34" charset="-122"/>
                <a:cs typeface="Lato" pitchFamily="34" charset="-120"/>
              </a:rPr>
              <a:t>exploratoire</a:t>
            </a:r>
            <a:r>
              <a:rPr lang="en-US" sz="1250" dirty="0">
                <a:solidFill>
                  <a:srgbClr val="232A3A"/>
                </a:solidFill>
                <a:latin typeface="Lato" pitchFamily="34" charset="0"/>
                <a:ea typeface="Lato" pitchFamily="34" charset="-122"/>
                <a:cs typeface="Lato" pitchFamily="34" charset="-120"/>
              </a:rPr>
              <a:t>, figer les spécifications au départ n'était pas réaliste.</a:t>
            </a:r>
            <a:endParaRPr lang="en-US" sz="1250" dirty="0"/>
          </a:p>
        </p:txBody>
      </p:sp>
      <p:sp>
        <p:nvSpPr>
          <p:cNvPr id="41" name="Shape 39"/>
          <p:cNvSpPr/>
          <p:nvPr/>
        </p:nvSpPr>
        <p:spPr>
          <a:xfrm>
            <a:off x="6309360" y="4791456"/>
            <a:ext cx="5230368" cy="932688"/>
          </a:xfrm>
          <a:prstGeom prst="rect">
            <a:avLst/>
          </a:prstGeom>
          <a:solidFill>
            <a:srgbClr val="F2F4F8"/>
          </a:solidFill>
          <a:ln/>
        </p:spPr>
        <p:txBody>
          <a:bodyPr/>
          <a:lstStyle/>
          <a:p>
            <a:endParaRPr lang="fr-FR"/>
          </a:p>
        </p:txBody>
      </p:sp>
      <p:sp>
        <p:nvSpPr>
          <p:cNvPr id="42" name="Text 40"/>
          <p:cNvSpPr txBox="1"/>
          <p:nvPr/>
        </p:nvSpPr>
        <p:spPr>
          <a:xfrm>
            <a:off x="6547104" y="4791456"/>
            <a:ext cx="4754880" cy="932688"/>
          </a:xfrm>
          <a:prstGeom prst="rect">
            <a:avLst/>
          </a:prstGeom>
          <a:noFill/>
          <a:ln/>
        </p:spPr>
        <p:txBody>
          <a:bodyPr wrap="square" lIns="0" tIns="0" rIns="0" bIns="0" rtlCol="0" anchor="ctr"/>
          <a:lstStyle/>
          <a:p>
            <a:pPr marL="0" indent="0">
              <a:lnSpc>
                <a:spcPct val="114000"/>
              </a:lnSpc>
              <a:buNone/>
            </a:pPr>
            <a:r>
              <a:rPr lang="en-US" sz="1250" b="1" dirty="0">
                <a:solidFill>
                  <a:srgbClr val="C5A55A"/>
                </a:solidFill>
                <a:latin typeface="Lato" pitchFamily="34" charset="0"/>
                <a:ea typeface="Lato" pitchFamily="34" charset="-122"/>
                <a:cs typeface="Lato" pitchFamily="34" charset="-120"/>
              </a:rPr>
              <a:t>Gouvernance </a:t>
            </a:r>
            <a:r>
              <a:rPr lang="en-US" sz="1250" b="1" dirty="0" err="1">
                <a:solidFill>
                  <a:srgbClr val="C5A55A"/>
                </a:solidFill>
                <a:latin typeface="Lato" pitchFamily="34" charset="0"/>
                <a:ea typeface="Lato" pitchFamily="34" charset="-122"/>
                <a:cs typeface="Lato" pitchFamily="34" charset="-120"/>
              </a:rPr>
              <a:t>resserrée</a:t>
            </a:r>
            <a:r>
              <a:rPr lang="en-US" sz="1250" b="1" dirty="0">
                <a:solidFill>
                  <a:srgbClr val="C5A55A"/>
                </a:solidFill>
                <a:latin typeface="Lato" pitchFamily="34" charset="0"/>
                <a:ea typeface="Lato" pitchFamily="34" charset="-122"/>
                <a:cs typeface="Lato" pitchFamily="34" charset="-120"/>
              </a:rPr>
              <a:t> :</a:t>
            </a:r>
          </a:p>
          <a:p>
            <a:pPr marL="0" indent="0">
              <a:lnSpc>
                <a:spcPct val="114000"/>
              </a:lnSpc>
              <a:buNone/>
            </a:pPr>
            <a:r>
              <a:rPr lang="en-US" sz="1250" dirty="0">
                <a:solidFill>
                  <a:srgbClr val="232A3A"/>
                </a:solidFill>
                <a:latin typeface="Lato" pitchFamily="34" charset="0"/>
                <a:ea typeface="Lato" pitchFamily="34" charset="-122"/>
                <a:cs typeface="Lato" pitchFamily="34" charset="-120"/>
              </a:rPr>
              <a:t>Point hebdomadaire, journal de projet quotidien, demandes d'évolution consignées.</a:t>
            </a:r>
            <a:endParaRPr lang="en-US" sz="1250" dirty="0"/>
          </a:p>
        </p:txBody>
      </p:sp>
      <p:sp>
        <p:nvSpPr>
          <p:cNvPr id="43" name="Text 41"/>
          <p:cNvSpPr txBox="1"/>
          <p:nvPr/>
        </p:nvSpPr>
        <p:spPr>
          <a:xfrm>
            <a:off x="658368" y="5925312"/>
            <a:ext cx="10874959"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Indicateurs suivis : temps de priorisation, taux de couverture du périmètre instrumenté, nombre de cycles de collecte aboutis.</a:t>
            </a:r>
            <a:endParaRPr lang="en-US" sz="10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CC1F425F-E63F-4E6C-B4B7-E93A3A3A20FF}" type="slidenum">
              <a:rPr lang="fr-FR" sz="900" b="0">
                <a:solidFill>
                  <a:srgbClr val="4A5568"/>
                </a:solidFill>
                <a:latin typeface="Lato"/>
              </a:rPr>
              <a:t>19</a:t>
            </a:fld>
            <a:endParaRPr lang="fr-FR">
              <a:solidFill>
                <a:srgbClr val="4A556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Jalons prévisionnels et réalisés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753279041"/>
              </p:ext>
            </p:extLst>
          </p:nvPr>
        </p:nvGraphicFramePr>
        <p:xfrm>
          <a:off x="658368" y="1444752"/>
          <a:ext cx="10835640" cy="2228088"/>
        </p:xfrm>
        <a:graphic>
          <a:graphicData uri="http://schemas.openxmlformats.org/drawingml/2006/table">
            <a:tbl>
              <a:tblPr/>
              <a:tblGrid>
                <a:gridCol w="37490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33756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Jalon</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Prévu</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Réalisé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Cause de l'écart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20624">
                <a:tc>
                  <a:txBody>
                    <a:bodyPr/>
                    <a:lstStyle/>
                    <a:p>
                      <a:pPr marL="0" indent="0" algn="l">
                        <a:buNone/>
                      </a:pPr>
                      <a:r>
                        <a:rPr lang="en-US" sz="1250" dirty="0">
                          <a:solidFill>
                            <a:srgbClr val="232A3A"/>
                          </a:solidFill>
                          <a:latin typeface="Lato" pitchFamily="34" charset="0"/>
                          <a:ea typeface="Lato" pitchFamily="34" charset="-122"/>
                          <a:cs typeface="Lato" pitchFamily="34" charset="-120"/>
                        </a:rPr>
                        <a:t>Validation de la pile technique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S16</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b="1" dirty="0">
                          <a:solidFill>
                            <a:srgbClr val="4E7A5E"/>
                          </a:solidFill>
                          <a:latin typeface="Lato" pitchFamily="34" charset="0"/>
                          <a:ea typeface="Lato" pitchFamily="34" charset="-122"/>
                          <a:cs typeface="Lato" pitchFamily="34" charset="-120"/>
                        </a:rPr>
                        <a:t>S16</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tenu</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420624">
                <a:tc>
                  <a:txBody>
                    <a:bodyPr/>
                    <a:lstStyle/>
                    <a:p>
                      <a:pPr marL="0" indent="0" algn="l">
                        <a:buNone/>
                      </a:pPr>
                      <a:r>
                        <a:rPr lang="en-US" sz="1250" dirty="0">
                          <a:solidFill>
                            <a:srgbClr val="232A3A"/>
                          </a:solidFill>
                          <a:latin typeface="Lato" pitchFamily="34" charset="0"/>
                          <a:ea typeface="Lato" pitchFamily="34" charset="-122"/>
                          <a:cs typeface="Lato" pitchFamily="34" charset="-120"/>
                        </a:rPr>
                        <a:t>Cartographie pilote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S25</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A2543C"/>
                          </a:solidFill>
                          <a:latin typeface="Lato" pitchFamily="34" charset="0"/>
                          <a:ea typeface="Lato" pitchFamily="34" charset="-122"/>
                          <a:cs typeface="Lato" pitchFamily="34" charset="-120"/>
                        </a:rPr>
                        <a:t>S25 + 2 semaines</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indisponibilité de la supervision + donnée </a:t>
                      </a:r>
                      <a:r>
                        <a:rPr lang="en-US" sz="1250" dirty="0" err="1">
                          <a:solidFill>
                            <a:srgbClr val="232A3A"/>
                          </a:solidFill>
                          <a:latin typeface="Lato" pitchFamily="34" charset="0"/>
                          <a:ea typeface="Lato" pitchFamily="34" charset="-122"/>
                          <a:cs typeface="Lato" pitchFamily="34" charset="-120"/>
                        </a:rPr>
                        <a:t>manquante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dirty="0">
                          <a:solidFill>
                            <a:srgbClr val="232A3A"/>
                          </a:solidFill>
                          <a:latin typeface="Lato" pitchFamily="34" charset="0"/>
                          <a:ea typeface="Lato" pitchFamily="34" charset="-122"/>
                          <a:cs typeface="Lato" pitchFamily="34" charset="-120"/>
                        </a:rPr>
                        <a:t>Notation en continu</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S28</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b="1" dirty="0">
                          <a:solidFill>
                            <a:srgbClr val="4E7A5E"/>
                          </a:solidFill>
                          <a:latin typeface="Lato" pitchFamily="34" charset="0"/>
                          <a:ea typeface="Lato" pitchFamily="34" charset="-122"/>
                          <a:cs typeface="Lato" pitchFamily="34" charset="-120"/>
                        </a:rPr>
                        <a:t>S28</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tenu</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r h="420624">
                <a:tc>
                  <a:txBody>
                    <a:bodyPr/>
                    <a:lstStyle/>
                    <a:p>
                      <a:pPr marL="0" indent="0" algn="l">
                        <a:buNone/>
                      </a:pPr>
                      <a:r>
                        <a:rPr lang="en-US" sz="1250" dirty="0">
                          <a:solidFill>
                            <a:srgbClr val="232A3A"/>
                          </a:solidFill>
                          <a:latin typeface="Lato" pitchFamily="34" charset="0"/>
                          <a:ea typeface="Lato" pitchFamily="34" charset="-122"/>
                          <a:cs typeface="Lato" pitchFamily="34" charset="-120"/>
                        </a:rPr>
                        <a:t>Recette utilisateur formalisée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avant remise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A2543C"/>
                          </a:solidFill>
                          <a:latin typeface="Lato" pitchFamily="34" charset="0"/>
                          <a:ea typeface="Lato" pitchFamily="34" charset="-122"/>
                          <a:cs typeface="Lato" pitchFamily="34" charset="-120"/>
                        </a:rPr>
                        <a:t>après remise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32A3A"/>
                          </a:solidFill>
                          <a:latin typeface="Lato" pitchFamily="34" charset="0"/>
                          <a:ea typeface="Lato" pitchFamily="34" charset="-122"/>
                          <a:cs typeface="Lato" pitchFamily="34" charset="-120"/>
                        </a:rPr>
                        <a:t>charge reprise par l'activité courante</a:t>
                      </a:r>
                      <a:endParaRPr lang="en-US" sz="12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658368" y="3877056"/>
            <a:ext cx="3657600" cy="237744"/>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CHARGE CONSOMMÉE</a:t>
            </a:r>
            <a:endParaRPr lang="en-US" sz="1050" dirty="0"/>
          </a:p>
        </p:txBody>
      </p:sp>
      <p:sp>
        <p:nvSpPr>
          <p:cNvPr id="5" name="Shape 2"/>
          <p:cNvSpPr/>
          <p:nvPr/>
        </p:nvSpPr>
        <p:spPr>
          <a:xfrm>
            <a:off x="658368" y="4224528"/>
            <a:ext cx="4206240" cy="402336"/>
          </a:xfrm>
          <a:prstGeom prst="rect">
            <a:avLst/>
          </a:prstGeom>
          <a:solidFill>
            <a:srgbClr val="E6EAF1"/>
          </a:solidFill>
          <a:ln/>
        </p:spPr>
        <p:txBody>
          <a:bodyPr/>
          <a:lstStyle/>
          <a:p>
            <a:endParaRPr lang="fr-FR"/>
          </a:p>
        </p:txBody>
      </p:sp>
      <p:sp>
        <p:nvSpPr>
          <p:cNvPr id="6" name="Text 3"/>
          <p:cNvSpPr txBox="1"/>
          <p:nvPr/>
        </p:nvSpPr>
        <p:spPr>
          <a:xfrm>
            <a:off x="804672" y="4224528"/>
            <a:ext cx="2743200" cy="402336"/>
          </a:xfrm>
          <a:prstGeom prst="rect">
            <a:avLst/>
          </a:prstGeom>
          <a:noFill/>
          <a:ln/>
        </p:spPr>
        <p:txBody>
          <a:bodyPr wrap="square" lIns="0" tIns="0" rIns="0" bIns="0" rtlCol="0" anchor="ctr"/>
          <a:lstStyle/>
          <a:p>
            <a:pPr marL="0" indent="0">
              <a:buNone/>
            </a:pPr>
            <a:r>
              <a:rPr lang="en-US" sz="1200" b="1" dirty="0">
                <a:solidFill>
                  <a:srgbClr val="1B2A4A"/>
                </a:solidFill>
                <a:latin typeface="Lato" pitchFamily="34" charset="0"/>
                <a:ea typeface="Lato" pitchFamily="34" charset="-122"/>
                <a:cs typeface="Lato" pitchFamily="34" charset="-120"/>
              </a:rPr>
              <a:t>42 j-h prévus</a:t>
            </a:r>
            <a:endParaRPr lang="en-US" sz="1200" dirty="0"/>
          </a:p>
        </p:txBody>
      </p:sp>
      <p:sp>
        <p:nvSpPr>
          <p:cNvPr id="7" name="Shape 4"/>
          <p:cNvSpPr/>
          <p:nvPr/>
        </p:nvSpPr>
        <p:spPr>
          <a:xfrm>
            <a:off x="658368" y="4754880"/>
            <a:ext cx="2103120" cy="402336"/>
          </a:xfrm>
          <a:prstGeom prst="rect">
            <a:avLst/>
          </a:prstGeom>
          <a:solidFill>
            <a:srgbClr val="1B2A4A"/>
          </a:solidFill>
          <a:ln/>
        </p:spPr>
        <p:txBody>
          <a:bodyPr/>
          <a:lstStyle/>
          <a:p>
            <a:endParaRPr lang="fr-FR"/>
          </a:p>
        </p:txBody>
      </p:sp>
      <p:sp>
        <p:nvSpPr>
          <p:cNvPr id="8" name="Text 5"/>
          <p:cNvSpPr txBox="1"/>
          <p:nvPr/>
        </p:nvSpPr>
        <p:spPr>
          <a:xfrm>
            <a:off x="804672" y="4754880"/>
            <a:ext cx="1828800" cy="402336"/>
          </a:xfrm>
          <a:prstGeom prst="rect">
            <a:avLst/>
          </a:prstGeom>
          <a:noFill/>
          <a:ln/>
        </p:spPr>
        <p:txBody>
          <a:bodyPr wrap="square" lIns="0" tIns="0" rIns="0" bIns="0" rtlCol="0" anchor="ctr"/>
          <a:lstStyle/>
          <a:p>
            <a:pPr marL="0" indent="0">
              <a:buNone/>
            </a:pPr>
            <a:r>
              <a:rPr lang="en-US" sz="1200" b="1" dirty="0">
                <a:solidFill>
                  <a:srgbClr val="FFFFFF"/>
                </a:solidFill>
                <a:latin typeface="Lato" pitchFamily="34" charset="0"/>
                <a:ea typeface="Lato" pitchFamily="34" charset="-122"/>
                <a:cs typeface="Lato" pitchFamily="34" charset="-120"/>
              </a:rPr>
              <a:t>21 j-h réels</a:t>
            </a:r>
            <a:endParaRPr lang="en-US" sz="1200" dirty="0"/>
          </a:p>
        </p:txBody>
      </p:sp>
      <p:sp>
        <p:nvSpPr>
          <p:cNvPr id="9" name="Text 6"/>
          <p:cNvSpPr txBox="1"/>
          <p:nvPr/>
        </p:nvSpPr>
        <p:spPr>
          <a:xfrm>
            <a:off x="2907792" y="4754880"/>
            <a:ext cx="1463040" cy="402336"/>
          </a:xfrm>
          <a:prstGeom prst="rect">
            <a:avLst/>
          </a:prstGeom>
          <a:noFill/>
          <a:ln/>
        </p:spPr>
        <p:txBody>
          <a:bodyPr wrap="square" lIns="0" tIns="0" rIns="0" bIns="0" rtlCol="0" anchor="ctr"/>
          <a:lstStyle/>
          <a:p>
            <a:pPr marL="0" indent="0">
              <a:buNone/>
            </a:pPr>
            <a:r>
              <a:rPr lang="en-US" sz="1400" b="1" dirty="0">
                <a:solidFill>
                  <a:srgbClr val="A2543C"/>
                </a:solidFill>
                <a:latin typeface="Lato" pitchFamily="34" charset="0"/>
                <a:ea typeface="Lato" pitchFamily="34" charset="-122"/>
                <a:cs typeface="Lato" pitchFamily="34" charset="-120"/>
              </a:rPr>
              <a:t>− 50 %</a:t>
            </a:r>
            <a:endParaRPr lang="en-US" sz="1400" dirty="0"/>
          </a:p>
        </p:txBody>
      </p:sp>
      <p:sp>
        <p:nvSpPr>
          <p:cNvPr id="10" name="Shape 7"/>
          <p:cNvSpPr/>
          <p:nvPr/>
        </p:nvSpPr>
        <p:spPr>
          <a:xfrm>
            <a:off x="5138928" y="3913632"/>
            <a:ext cx="25603" cy="1371600"/>
          </a:xfrm>
          <a:prstGeom prst="rect">
            <a:avLst/>
          </a:prstGeom>
          <a:solidFill>
            <a:srgbClr val="E6EAF1"/>
          </a:solidFill>
          <a:ln/>
        </p:spPr>
        <p:txBody>
          <a:bodyPr/>
          <a:lstStyle/>
          <a:p>
            <a:endParaRPr lang="fr-FR"/>
          </a:p>
        </p:txBody>
      </p:sp>
      <p:sp>
        <p:nvSpPr>
          <p:cNvPr id="11" name="Text 8"/>
          <p:cNvSpPr txBox="1"/>
          <p:nvPr/>
        </p:nvSpPr>
        <p:spPr>
          <a:xfrm>
            <a:off x="5636768" y="4114800"/>
            <a:ext cx="2834640" cy="603504"/>
          </a:xfrm>
          <a:prstGeom prst="rect">
            <a:avLst/>
          </a:prstGeom>
          <a:noFill/>
          <a:ln/>
        </p:spPr>
        <p:txBody>
          <a:bodyPr wrap="square" lIns="0" tIns="0" rIns="0" bIns="0" rtlCol="0" anchor="ctr"/>
          <a:lstStyle/>
          <a:p>
            <a:pPr marL="0" indent="0" algn="l">
              <a:buNone/>
            </a:pPr>
            <a:r>
              <a:rPr lang="en-US" sz="3600" b="1" dirty="0">
                <a:solidFill>
                  <a:srgbClr val="C5A55A"/>
                </a:solidFill>
                <a:latin typeface="Lato" pitchFamily="34" charset="0"/>
                <a:ea typeface="Lato" pitchFamily="34" charset="-122"/>
                <a:cs typeface="Lato" pitchFamily="34" charset="-120"/>
              </a:rPr>
              <a:t>3 sur 4</a:t>
            </a:r>
            <a:endParaRPr lang="en-US" sz="3600" dirty="0"/>
          </a:p>
        </p:txBody>
      </p:sp>
      <p:sp>
        <p:nvSpPr>
          <p:cNvPr id="12" name="Text 9"/>
          <p:cNvSpPr txBox="1"/>
          <p:nvPr/>
        </p:nvSpPr>
        <p:spPr>
          <a:xfrm>
            <a:off x="5636768" y="4700016"/>
            <a:ext cx="283464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jalons tenus dans les délais prévus</a:t>
            </a:r>
            <a:endParaRPr lang="en-US" sz="1150" dirty="0"/>
          </a:p>
        </p:txBody>
      </p:sp>
      <p:sp>
        <p:nvSpPr>
          <p:cNvPr id="13" name="Text 10"/>
          <p:cNvSpPr txBox="1"/>
          <p:nvPr/>
        </p:nvSpPr>
        <p:spPr>
          <a:xfrm>
            <a:off x="8654288" y="4114800"/>
            <a:ext cx="2834640" cy="603504"/>
          </a:xfrm>
          <a:prstGeom prst="rect">
            <a:avLst/>
          </a:prstGeom>
          <a:noFill/>
          <a:ln/>
        </p:spPr>
        <p:txBody>
          <a:bodyPr wrap="square" lIns="0" tIns="0" rIns="0" bIns="0" rtlCol="0" anchor="ctr"/>
          <a:lstStyle/>
          <a:p>
            <a:pPr marL="0" indent="0" algn="l">
              <a:buNone/>
            </a:pPr>
            <a:r>
              <a:rPr lang="en-US" sz="3600" b="1" dirty="0">
                <a:solidFill>
                  <a:srgbClr val="C5A55A"/>
                </a:solidFill>
                <a:latin typeface="Lato" pitchFamily="34" charset="0"/>
                <a:ea typeface="Lato" pitchFamily="34" charset="-122"/>
                <a:cs typeface="Lato" pitchFamily="34" charset="-120"/>
              </a:rPr>
              <a:t>4 → 7,5</a:t>
            </a:r>
            <a:endParaRPr lang="en-US" sz="3600" dirty="0"/>
          </a:p>
        </p:txBody>
      </p:sp>
      <p:sp>
        <p:nvSpPr>
          <p:cNvPr id="14" name="Text 11"/>
          <p:cNvSpPr txBox="1"/>
          <p:nvPr/>
        </p:nvSpPr>
        <p:spPr>
          <a:xfrm>
            <a:off x="8654288" y="4700016"/>
            <a:ext cx="283464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jours nécessaires à la préparation des données</a:t>
            </a:r>
            <a:endParaRPr lang="en-US" sz="1150" dirty="0"/>
          </a:p>
        </p:txBody>
      </p:sp>
      <p:sp>
        <p:nvSpPr>
          <p:cNvPr id="18" name="Shape 30">
            <a:extLst>
              <a:ext uri="{FF2B5EF4-FFF2-40B4-BE49-F238E27FC236}">
                <a16:creationId xmlns:a16="http://schemas.microsoft.com/office/drawing/2014/main" id="{C0CB03E1-D7D5-83A2-0D9F-2EE6818C0F43}"/>
              </a:ext>
            </a:extLst>
          </p:cNvPr>
          <p:cNvSpPr/>
          <p:nvPr/>
        </p:nvSpPr>
        <p:spPr>
          <a:xfrm>
            <a:off x="658368" y="5319268"/>
            <a:ext cx="10874958" cy="402336"/>
          </a:xfrm>
          <a:prstGeom prst="rect">
            <a:avLst/>
          </a:prstGeom>
          <a:solidFill>
            <a:srgbClr val="1B2A4A"/>
          </a:solidFill>
          <a:ln/>
        </p:spPr>
        <p:txBody>
          <a:bodyPr/>
          <a:lstStyle/>
          <a:p>
            <a:r>
              <a:rPr lang="fr-FR" sz="1600" b="1" i="1" dirty="0">
                <a:solidFill>
                  <a:srgbClr val="FFFFFF"/>
                </a:solidFill>
                <a:latin typeface="Lato" panose="020F0502020204030203" pitchFamily="34" charset="0"/>
                <a:ea typeface="Lato" panose="020F0502020204030203" pitchFamily="34" charset="0"/>
                <a:cs typeface="Lato" panose="020F0502020204030203" pitchFamily="34" charset="0"/>
              </a:rPr>
              <a:t>Charge réduite de moitié par des missions clients prioritaires.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B509DB0E-1240-4F29-BFEE-B03287CD8123}" type="slidenum">
              <a:rPr lang="fr-FR" sz="900" b="0">
                <a:solidFill>
                  <a:srgbClr val="4A5568"/>
                </a:solidFill>
                <a:latin typeface="Lato"/>
              </a:rPr>
              <a:t>20</a:t>
            </a:fld>
            <a:endParaRPr lang="fr-FR">
              <a:solidFill>
                <a:srgbClr val="4A556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err="1">
                <a:solidFill>
                  <a:srgbClr val="1B2A4A"/>
                </a:solidFill>
                <a:latin typeface="Lato" pitchFamily="34" charset="0"/>
                <a:ea typeface="Lato" pitchFamily="34" charset="-122"/>
                <a:cs typeface="Lato" pitchFamily="34" charset="-120"/>
              </a:rPr>
              <a:t>Analyse de risque projet et manquements</a:t>
            </a:r>
            <a:endParaRPr lang="en-US" sz="3000" dirty="0"/>
          </a:p>
        </p:txBody>
      </p:sp>
      <p:sp>
        <p:nvSpPr>
          <p:cNvPr id="3" name="Shape 1"/>
          <p:cNvSpPr/>
          <p:nvPr/>
        </p:nvSpPr>
        <p:spPr>
          <a:xfrm>
            <a:off x="932688" y="1700784"/>
            <a:ext cx="694944" cy="694944"/>
          </a:xfrm>
          <a:prstGeom prst="rect">
            <a:avLst/>
          </a:prstGeom>
          <a:solidFill>
            <a:srgbClr val="F2F4F8"/>
          </a:solidFill>
          <a:ln/>
        </p:spPr>
        <p:txBody>
          <a:bodyPr/>
          <a:lstStyle/>
          <a:p>
            <a:endParaRPr lang="fr-FR"/>
          </a:p>
        </p:txBody>
      </p:sp>
      <p:sp>
        <p:nvSpPr>
          <p:cNvPr id="4" name="Shape 2"/>
          <p:cNvSpPr/>
          <p:nvPr/>
        </p:nvSpPr>
        <p:spPr>
          <a:xfrm>
            <a:off x="1664208" y="1700784"/>
            <a:ext cx="694944" cy="694944"/>
          </a:xfrm>
          <a:prstGeom prst="rect">
            <a:avLst/>
          </a:prstGeom>
          <a:solidFill>
            <a:srgbClr val="EDE7DC"/>
          </a:solidFill>
          <a:ln/>
        </p:spPr>
        <p:txBody>
          <a:bodyPr/>
          <a:lstStyle/>
          <a:p>
            <a:endParaRPr lang="fr-FR"/>
          </a:p>
        </p:txBody>
      </p:sp>
      <p:sp>
        <p:nvSpPr>
          <p:cNvPr id="5" name="Shape 3"/>
          <p:cNvSpPr/>
          <p:nvPr/>
        </p:nvSpPr>
        <p:spPr>
          <a:xfrm>
            <a:off x="2395728" y="1700784"/>
            <a:ext cx="694944" cy="694944"/>
          </a:xfrm>
          <a:prstGeom prst="rect">
            <a:avLst/>
          </a:prstGeom>
          <a:solidFill>
            <a:srgbClr val="E2D3BE"/>
          </a:solidFill>
          <a:ln/>
        </p:spPr>
        <p:txBody>
          <a:bodyPr/>
          <a:lstStyle/>
          <a:p>
            <a:endParaRPr lang="fr-FR"/>
          </a:p>
        </p:txBody>
      </p:sp>
      <p:sp>
        <p:nvSpPr>
          <p:cNvPr id="6" name="Shape 4"/>
          <p:cNvSpPr/>
          <p:nvPr/>
        </p:nvSpPr>
        <p:spPr>
          <a:xfrm>
            <a:off x="3127248" y="1700784"/>
            <a:ext cx="694944" cy="694944"/>
          </a:xfrm>
          <a:prstGeom prst="rect">
            <a:avLst/>
          </a:prstGeom>
          <a:solidFill>
            <a:srgbClr val="E2D3BE"/>
          </a:solidFill>
          <a:ln/>
        </p:spPr>
        <p:txBody>
          <a:bodyPr/>
          <a:lstStyle/>
          <a:p>
            <a:endParaRPr lang="fr-FR"/>
          </a:p>
        </p:txBody>
      </p:sp>
      <p:sp>
        <p:nvSpPr>
          <p:cNvPr id="7" name="Shape 5"/>
          <p:cNvSpPr/>
          <p:nvPr/>
        </p:nvSpPr>
        <p:spPr>
          <a:xfrm>
            <a:off x="932688" y="2432304"/>
            <a:ext cx="694944" cy="694944"/>
          </a:xfrm>
          <a:prstGeom prst="rect">
            <a:avLst/>
          </a:prstGeom>
          <a:solidFill>
            <a:srgbClr val="F2F4F8"/>
          </a:solidFill>
          <a:ln/>
        </p:spPr>
        <p:txBody>
          <a:bodyPr/>
          <a:lstStyle/>
          <a:p>
            <a:endParaRPr lang="fr-FR"/>
          </a:p>
        </p:txBody>
      </p:sp>
      <p:sp>
        <p:nvSpPr>
          <p:cNvPr id="8" name="Shape 6"/>
          <p:cNvSpPr/>
          <p:nvPr/>
        </p:nvSpPr>
        <p:spPr>
          <a:xfrm>
            <a:off x="1664208" y="2432304"/>
            <a:ext cx="694944" cy="694944"/>
          </a:xfrm>
          <a:prstGeom prst="rect">
            <a:avLst/>
          </a:prstGeom>
          <a:solidFill>
            <a:srgbClr val="EDE7DC"/>
          </a:solidFill>
          <a:ln/>
        </p:spPr>
        <p:txBody>
          <a:bodyPr/>
          <a:lstStyle/>
          <a:p>
            <a:endParaRPr lang="fr-FR"/>
          </a:p>
        </p:txBody>
      </p:sp>
      <p:sp>
        <p:nvSpPr>
          <p:cNvPr id="9" name="Shape 7"/>
          <p:cNvSpPr/>
          <p:nvPr/>
        </p:nvSpPr>
        <p:spPr>
          <a:xfrm>
            <a:off x="2395728" y="2432304"/>
            <a:ext cx="694944" cy="694944"/>
          </a:xfrm>
          <a:prstGeom prst="rect">
            <a:avLst/>
          </a:prstGeom>
          <a:solidFill>
            <a:srgbClr val="EDE7DC"/>
          </a:solidFill>
          <a:ln/>
        </p:spPr>
        <p:txBody>
          <a:bodyPr/>
          <a:lstStyle/>
          <a:p>
            <a:endParaRPr lang="fr-FR"/>
          </a:p>
        </p:txBody>
      </p:sp>
      <p:sp>
        <p:nvSpPr>
          <p:cNvPr id="10" name="Shape 8"/>
          <p:cNvSpPr/>
          <p:nvPr/>
        </p:nvSpPr>
        <p:spPr>
          <a:xfrm>
            <a:off x="3127248" y="2432304"/>
            <a:ext cx="694944" cy="694944"/>
          </a:xfrm>
          <a:prstGeom prst="rect">
            <a:avLst/>
          </a:prstGeom>
          <a:solidFill>
            <a:srgbClr val="E2D3BE"/>
          </a:solidFill>
          <a:ln/>
        </p:spPr>
        <p:txBody>
          <a:bodyPr/>
          <a:lstStyle/>
          <a:p>
            <a:endParaRPr lang="fr-FR"/>
          </a:p>
        </p:txBody>
      </p:sp>
      <p:sp>
        <p:nvSpPr>
          <p:cNvPr id="11" name="Shape 9"/>
          <p:cNvSpPr/>
          <p:nvPr/>
        </p:nvSpPr>
        <p:spPr>
          <a:xfrm>
            <a:off x="932688" y="3163824"/>
            <a:ext cx="694944" cy="694944"/>
          </a:xfrm>
          <a:prstGeom prst="rect">
            <a:avLst/>
          </a:prstGeom>
          <a:solidFill>
            <a:srgbClr val="F2F4F8"/>
          </a:solidFill>
          <a:ln/>
        </p:spPr>
        <p:txBody>
          <a:bodyPr/>
          <a:lstStyle/>
          <a:p>
            <a:endParaRPr lang="fr-FR"/>
          </a:p>
        </p:txBody>
      </p:sp>
      <p:sp>
        <p:nvSpPr>
          <p:cNvPr id="12" name="Shape 10"/>
          <p:cNvSpPr/>
          <p:nvPr/>
        </p:nvSpPr>
        <p:spPr>
          <a:xfrm>
            <a:off x="1664208" y="3163824"/>
            <a:ext cx="694944" cy="694944"/>
          </a:xfrm>
          <a:prstGeom prst="rect">
            <a:avLst/>
          </a:prstGeom>
          <a:solidFill>
            <a:srgbClr val="F2F4F8"/>
          </a:solidFill>
          <a:ln/>
        </p:spPr>
        <p:txBody>
          <a:bodyPr/>
          <a:lstStyle/>
          <a:p>
            <a:endParaRPr lang="fr-FR"/>
          </a:p>
        </p:txBody>
      </p:sp>
      <p:sp>
        <p:nvSpPr>
          <p:cNvPr id="13" name="Shape 11"/>
          <p:cNvSpPr/>
          <p:nvPr/>
        </p:nvSpPr>
        <p:spPr>
          <a:xfrm>
            <a:off x="2395728" y="3163824"/>
            <a:ext cx="694944" cy="694944"/>
          </a:xfrm>
          <a:prstGeom prst="rect">
            <a:avLst/>
          </a:prstGeom>
          <a:solidFill>
            <a:srgbClr val="EDE7DC"/>
          </a:solidFill>
          <a:ln/>
        </p:spPr>
        <p:txBody>
          <a:bodyPr/>
          <a:lstStyle/>
          <a:p>
            <a:endParaRPr lang="fr-FR"/>
          </a:p>
        </p:txBody>
      </p:sp>
      <p:sp>
        <p:nvSpPr>
          <p:cNvPr id="14" name="Shape 12"/>
          <p:cNvSpPr/>
          <p:nvPr/>
        </p:nvSpPr>
        <p:spPr>
          <a:xfrm>
            <a:off x="3127248" y="3163824"/>
            <a:ext cx="694944" cy="694944"/>
          </a:xfrm>
          <a:prstGeom prst="rect">
            <a:avLst/>
          </a:prstGeom>
          <a:solidFill>
            <a:srgbClr val="EDE7DC"/>
          </a:solidFill>
          <a:ln/>
        </p:spPr>
        <p:txBody>
          <a:bodyPr/>
          <a:lstStyle/>
          <a:p>
            <a:endParaRPr lang="fr-FR"/>
          </a:p>
        </p:txBody>
      </p:sp>
      <p:sp>
        <p:nvSpPr>
          <p:cNvPr id="15" name="Shape 13"/>
          <p:cNvSpPr/>
          <p:nvPr/>
        </p:nvSpPr>
        <p:spPr>
          <a:xfrm>
            <a:off x="932688" y="3895344"/>
            <a:ext cx="694944" cy="694944"/>
          </a:xfrm>
          <a:prstGeom prst="rect">
            <a:avLst/>
          </a:prstGeom>
          <a:solidFill>
            <a:srgbClr val="F2F4F8"/>
          </a:solidFill>
          <a:ln/>
        </p:spPr>
        <p:txBody>
          <a:bodyPr/>
          <a:lstStyle/>
          <a:p>
            <a:endParaRPr lang="fr-FR"/>
          </a:p>
        </p:txBody>
      </p:sp>
      <p:sp>
        <p:nvSpPr>
          <p:cNvPr id="16" name="Shape 14"/>
          <p:cNvSpPr/>
          <p:nvPr/>
        </p:nvSpPr>
        <p:spPr>
          <a:xfrm>
            <a:off x="1664208" y="3895344"/>
            <a:ext cx="694944" cy="694944"/>
          </a:xfrm>
          <a:prstGeom prst="rect">
            <a:avLst/>
          </a:prstGeom>
          <a:solidFill>
            <a:srgbClr val="F2F4F8"/>
          </a:solidFill>
          <a:ln/>
        </p:spPr>
        <p:txBody>
          <a:bodyPr/>
          <a:lstStyle/>
          <a:p>
            <a:endParaRPr lang="fr-FR"/>
          </a:p>
        </p:txBody>
      </p:sp>
      <p:sp>
        <p:nvSpPr>
          <p:cNvPr id="17" name="Shape 15"/>
          <p:cNvSpPr/>
          <p:nvPr/>
        </p:nvSpPr>
        <p:spPr>
          <a:xfrm>
            <a:off x="2395728" y="3895344"/>
            <a:ext cx="694944" cy="694944"/>
          </a:xfrm>
          <a:prstGeom prst="rect">
            <a:avLst/>
          </a:prstGeom>
          <a:solidFill>
            <a:srgbClr val="F2F4F8"/>
          </a:solidFill>
          <a:ln/>
        </p:spPr>
        <p:txBody>
          <a:bodyPr/>
          <a:lstStyle/>
          <a:p>
            <a:endParaRPr lang="fr-FR"/>
          </a:p>
        </p:txBody>
      </p:sp>
      <p:sp>
        <p:nvSpPr>
          <p:cNvPr id="18" name="Shape 16"/>
          <p:cNvSpPr/>
          <p:nvPr/>
        </p:nvSpPr>
        <p:spPr>
          <a:xfrm>
            <a:off x="3127248" y="3895344"/>
            <a:ext cx="694944" cy="694944"/>
          </a:xfrm>
          <a:prstGeom prst="rect">
            <a:avLst/>
          </a:prstGeom>
          <a:solidFill>
            <a:srgbClr val="F2F4F8"/>
          </a:solidFill>
          <a:ln/>
        </p:spPr>
        <p:txBody>
          <a:bodyPr/>
          <a:lstStyle/>
          <a:p>
            <a:endParaRPr lang="fr-FR"/>
          </a:p>
        </p:txBody>
      </p:sp>
      <p:sp>
        <p:nvSpPr>
          <p:cNvPr id="19" name="Shape 17"/>
          <p:cNvSpPr/>
          <p:nvPr/>
        </p:nvSpPr>
        <p:spPr>
          <a:xfrm>
            <a:off x="3255264" y="1828800"/>
            <a:ext cx="493776" cy="493776"/>
          </a:xfrm>
          <a:prstGeom prst="ellipse">
            <a:avLst/>
          </a:prstGeom>
          <a:solidFill>
            <a:srgbClr val="1B2A4A"/>
          </a:solidFill>
          <a:ln/>
        </p:spPr>
        <p:txBody>
          <a:bodyPr/>
          <a:lstStyle/>
          <a:p>
            <a:endParaRPr lang="fr-FR"/>
          </a:p>
        </p:txBody>
      </p:sp>
      <p:sp>
        <p:nvSpPr>
          <p:cNvPr id="20" name="Text 18"/>
          <p:cNvSpPr txBox="1"/>
          <p:nvPr/>
        </p:nvSpPr>
        <p:spPr>
          <a:xfrm>
            <a:off x="3255264" y="1828800"/>
            <a:ext cx="493776" cy="493776"/>
          </a:xfrm>
          <a:prstGeom prst="rect">
            <a:avLst/>
          </a:prstGeom>
          <a:noFill/>
          <a:ln/>
        </p:spPr>
        <p:txBody>
          <a:bodyPr wrap="square" lIns="0" tIns="0" rIns="0" bIns="0" rtlCol="0" anchor="ctr"/>
          <a:lstStyle/>
          <a:p>
            <a:pPr marL="0" indent="0" algn="ctr">
              <a:buNone/>
            </a:pPr>
            <a:r>
              <a:rPr lang="en-US" sz="1500" b="1" dirty="0">
                <a:solidFill>
                  <a:srgbClr val="C5A55A"/>
                </a:solidFill>
                <a:latin typeface="Lato" pitchFamily="34" charset="0"/>
                <a:ea typeface="Lato" pitchFamily="34" charset="-122"/>
                <a:cs typeface="Lato" pitchFamily="34" charset="-120"/>
              </a:rPr>
              <a:t>48</a:t>
            </a:r>
            <a:endParaRPr lang="en-US" sz="1500" dirty="0"/>
          </a:p>
        </p:txBody>
      </p:sp>
      <p:sp>
        <p:nvSpPr>
          <p:cNvPr id="21" name="Text 19"/>
          <p:cNvSpPr txBox="1"/>
          <p:nvPr/>
        </p:nvSpPr>
        <p:spPr>
          <a:xfrm>
            <a:off x="2956407" y="4617720"/>
            <a:ext cx="3108960" cy="256032"/>
          </a:xfrm>
          <a:prstGeom prst="rect">
            <a:avLst/>
          </a:prstGeom>
          <a:noFill/>
          <a:ln/>
        </p:spPr>
        <p:txBody>
          <a:bodyPr wrap="square" lIns="0" tIns="0" rIns="0" bIns="0" rtlCol="0" anchor="ctr"/>
          <a:lstStyle/>
          <a:p>
            <a:pPr marL="0" indent="0">
              <a:buNone/>
            </a:pPr>
            <a:r>
              <a:rPr lang="en-US" sz="950" b="1" kern="0" spc="140" dirty="0">
                <a:solidFill>
                  <a:srgbClr val="4A5568"/>
                </a:solidFill>
                <a:latin typeface="Lato" pitchFamily="34" charset="0"/>
                <a:ea typeface="Lato" pitchFamily="34" charset="-122"/>
                <a:cs typeface="Lato" pitchFamily="34" charset="-120"/>
              </a:rPr>
              <a:t>SÉVÉRITÉ →</a:t>
            </a:r>
            <a:endParaRPr lang="en-US" sz="950" dirty="0"/>
          </a:p>
        </p:txBody>
      </p:sp>
      <p:sp>
        <p:nvSpPr>
          <p:cNvPr id="22" name="Text 20"/>
          <p:cNvSpPr txBox="1"/>
          <p:nvPr/>
        </p:nvSpPr>
        <p:spPr>
          <a:xfrm>
            <a:off x="73152" y="4626864"/>
            <a:ext cx="3108960" cy="256032"/>
          </a:xfrm>
          <a:prstGeom prst="rect">
            <a:avLst/>
          </a:prstGeom>
          <a:noFill/>
          <a:ln/>
        </p:spPr>
        <p:txBody>
          <a:bodyPr wrap="square" lIns="0" tIns="0" rIns="0" bIns="0" rtlCol="0" anchor="ctr"/>
          <a:lstStyle/>
          <a:p>
            <a:pPr marL="0" indent="0">
              <a:buNone/>
            </a:pPr>
            <a:r>
              <a:rPr lang="en-US" sz="950" b="1" kern="0" spc="140" dirty="0">
                <a:solidFill>
                  <a:srgbClr val="4A5568"/>
                </a:solidFill>
                <a:latin typeface="Lato" pitchFamily="34" charset="0"/>
                <a:ea typeface="Lato" pitchFamily="34" charset="-122"/>
                <a:cs typeface="Lato" pitchFamily="34" charset="-120"/>
              </a:rPr>
              <a:t>PROBABILITÉ ↑</a:t>
            </a:r>
            <a:endParaRPr lang="en-US" sz="950" dirty="0"/>
          </a:p>
        </p:txBody>
      </p:sp>
      <p:sp>
        <p:nvSpPr>
          <p:cNvPr id="23" name="Text 21"/>
          <p:cNvSpPr txBox="1"/>
          <p:nvPr/>
        </p:nvSpPr>
        <p:spPr>
          <a:xfrm>
            <a:off x="4059936" y="1700784"/>
            <a:ext cx="5120640" cy="329184"/>
          </a:xfrm>
          <a:prstGeom prst="rect">
            <a:avLst/>
          </a:prstGeom>
          <a:noFill/>
          <a:ln/>
        </p:spPr>
        <p:txBody>
          <a:bodyPr wrap="square" lIns="0" tIns="0" rIns="0" bIns="0" rtlCol="0" anchor="ctr"/>
          <a:lstStyle/>
          <a:p>
            <a:pPr marL="0" indent="0">
              <a:buNone/>
            </a:pPr>
            <a:r>
              <a:rPr lang="en-US" sz="2000" b="1" dirty="0">
                <a:solidFill>
                  <a:srgbClr val="1B2A4A"/>
                </a:solidFill>
                <a:latin typeface="Lato" pitchFamily="34" charset="0"/>
                <a:ea typeface="Lato" pitchFamily="34" charset="-122"/>
                <a:cs typeface="Lato" pitchFamily="34" charset="-120"/>
              </a:rPr>
              <a:t>Le risque coté le plus haut s'est matérialisé</a:t>
            </a:r>
            <a:endParaRPr lang="en-US" sz="2000" dirty="0"/>
          </a:p>
        </p:txBody>
      </p:sp>
      <p:sp>
        <p:nvSpPr>
          <p:cNvPr id="24" name="Text 22"/>
          <p:cNvSpPr txBox="1"/>
          <p:nvPr/>
        </p:nvSpPr>
        <p:spPr>
          <a:xfrm>
            <a:off x="4059936" y="2084832"/>
            <a:ext cx="5120640" cy="822960"/>
          </a:xfrm>
          <a:prstGeom prst="rect">
            <a:avLst/>
          </a:prstGeom>
          <a:noFill/>
          <a:ln/>
        </p:spPr>
        <p:txBody>
          <a:bodyPr wrap="square" lIns="0" tIns="0" rIns="0" bIns="0" rtlCol="0" anchor="t"/>
          <a:lstStyle/>
          <a:p>
            <a:pPr marL="0" indent="0" algn="l">
              <a:lnSpc>
                <a:spcPct val="118000"/>
              </a:lnSpc>
              <a:buNone/>
            </a:pPr>
            <a:r>
              <a:rPr lang="en-US" sz="1250" i="1" dirty="0">
                <a:solidFill>
                  <a:srgbClr val="232A3A"/>
                </a:solidFill>
                <a:latin typeface="Lato" pitchFamily="34" charset="0"/>
                <a:ea typeface="Lato" pitchFamily="34" charset="-122"/>
                <a:cs typeface="Lato" pitchFamily="34" charset="-120"/>
              </a:rPr>
              <a:t>L'hétérogénéité des référentiels et l'absence de clé commune</a:t>
            </a:r>
          </a:p>
          <a:p>
            <a:pPr marL="0" indent="0" algn="l">
              <a:lnSpc>
                <a:spcPct val="118000"/>
              </a:lnSpc>
              <a:buNone/>
            </a:pPr>
            <a:r>
              <a:rPr lang="en-US" sz="1250" i="1" dirty="0"/>
              <a:t>Score 48 dans l'AMDEC — gravité × probabilité × détectabilité</a:t>
            </a:r>
          </a:p>
        </p:txBody>
      </p:sp>
      <p:sp>
        <p:nvSpPr>
          <p:cNvPr id="25" name="Text 23"/>
          <p:cNvSpPr txBox="1"/>
          <p:nvPr/>
        </p:nvSpPr>
        <p:spPr>
          <a:xfrm>
            <a:off x="4059936" y="3017520"/>
            <a:ext cx="7406640" cy="457200"/>
          </a:xfrm>
          <a:prstGeom prst="rect">
            <a:avLst/>
          </a:prstGeom>
          <a:noFill/>
          <a:ln/>
        </p:spPr>
        <p:txBody>
          <a:bodyPr wrap="square" lIns="0" tIns="0" rIns="0" bIns="0" rtlCol="0" anchor="ctr"/>
          <a:lstStyle/>
          <a:p>
            <a:pPr marL="0" indent="0">
              <a:lnSpc>
                <a:spcPct val="120000"/>
              </a:lnSpc>
              <a:buNone/>
            </a:pPr>
            <a:r>
              <a:rPr lang="en-US" sz="1050" b="1" kern="0" spc="140" dirty="0">
                <a:solidFill>
                  <a:srgbClr val="C5A55A"/>
                </a:solidFill>
                <a:latin typeface="Lato" pitchFamily="34" charset="0"/>
                <a:ea typeface="Lato" pitchFamily="34" charset="-122"/>
                <a:cs typeface="Lato" pitchFamily="34" charset="-120"/>
              </a:rPr>
              <a:t>DEUX RISQUES ABSENTS DE LA MATRICE ONT PRODUIT LES PLUS GROS DÉCALAGES</a:t>
            </a:r>
            <a:endParaRPr lang="en-US" sz="1050" dirty="0"/>
          </a:p>
        </p:txBody>
      </p:sp>
      <p:sp>
        <p:nvSpPr>
          <p:cNvPr id="26" name="Shape 24"/>
          <p:cNvSpPr/>
          <p:nvPr/>
        </p:nvSpPr>
        <p:spPr>
          <a:xfrm>
            <a:off x="4059936" y="3639312"/>
            <a:ext cx="82296" cy="82296"/>
          </a:xfrm>
          <a:prstGeom prst="ellipse">
            <a:avLst/>
          </a:prstGeom>
          <a:solidFill>
            <a:srgbClr val="C5A55A"/>
          </a:solidFill>
          <a:ln/>
        </p:spPr>
        <p:txBody>
          <a:bodyPr/>
          <a:lstStyle/>
          <a:p>
            <a:endParaRPr lang="fr-FR"/>
          </a:p>
        </p:txBody>
      </p:sp>
      <p:sp>
        <p:nvSpPr>
          <p:cNvPr id="27" name="Text 25"/>
          <p:cNvSpPr txBox="1"/>
          <p:nvPr/>
        </p:nvSpPr>
        <p:spPr>
          <a:xfrm>
            <a:off x="4297680" y="3566160"/>
            <a:ext cx="7223760" cy="292608"/>
          </a:xfrm>
          <a:prstGeom prst="rect">
            <a:avLst/>
          </a:prstGeom>
          <a:noFill/>
          <a:ln/>
        </p:spPr>
        <p:txBody>
          <a:bodyPr wrap="square" lIns="0" tIns="0" rIns="0" bIns="0" rtlCol="0" anchor="ctr"/>
          <a:lstStyle/>
          <a:p>
            <a:pPr marL="0" indent="0">
              <a:buNone/>
            </a:pPr>
            <a:r>
              <a:rPr lang="en-US" sz="1400" b="1" dirty="0">
                <a:solidFill>
                  <a:srgbClr val="1B2A4A"/>
                </a:solidFill>
                <a:latin typeface="Lato" pitchFamily="34" charset="0"/>
                <a:ea typeface="Lato" pitchFamily="34" charset="-122"/>
                <a:cs typeface="Lato" pitchFamily="34" charset="-120"/>
              </a:rPr>
              <a:t>Un environnement de départ supposé prêt</a:t>
            </a:r>
            <a:endParaRPr lang="en-US" sz="1400" dirty="0"/>
          </a:p>
        </p:txBody>
      </p:sp>
      <p:sp>
        <p:nvSpPr>
          <p:cNvPr id="28" name="Text 26"/>
          <p:cNvSpPr txBox="1"/>
          <p:nvPr/>
        </p:nvSpPr>
        <p:spPr>
          <a:xfrm>
            <a:off x="4297680" y="3877056"/>
            <a:ext cx="7223760" cy="64008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Les référentiels n'étaient pas alimentés au démarrage, malgré les engagements pris lors de l'audit préalable. Plusieurs jours de remise en état non planifiés.</a:t>
            </a:r>
            <a:endParaRPr lang="en-US" sz="1200" dirty="0"/>
          </a:p>
        </p:txBody>
      </p:sp>
      <p:sp>
        <p:nvSpPr>
          <p:cNvPr id="29" name="Shape 27"/>
          <p:cNvSpPr/>
          <p:nvPr/>
        </p:nvSpPr>
        <p:spPr>
          <a:xfrm>
            <a:off x="4059936" y="4773168"/>
            <a:ext cx="82296" cy="82296"/>
          </a:xfrm>
          <a:prstGeom prst="ellipse">
            <a:avLst/>
          </a:prstGeom>
          <a:solidFill>
            <a:srgbClr val="C5A55A"/>
          </a:solidFill>
          <a:ln/>
        </p:spPr>
        <p:txBody>
          <a:bodyPr/>
          <a:lstStyle/>
          <a:p>
            <a:endParaRPr lang="fr-FR"/>
          </a:p>
        </p:txBody>
      </p:sp>
      <p:sp>
        <p:nvSpPr>
          <p:cNvPr id="30" name="Text 28"/>
          <p:cNvSpPr txBox="1"/>
          <p:nvPr/>
        </p:nvSpPr>
        <p:spPr>
          <a:xfrm>
            <a:off x="4297680" y="4700016"/>
            <a:ext cx="7223760" cy="292608"/>
          </a:xfrm>
          <a:prstGeom prst="rect">
            <a:avLst/>
          </a:prstGeom>
          <a:noFill/>
          <a:ln/>
        </p:spPr>
        <p:txBody>
          <a:bodyPr wrap="square" lIns="0" tIns="0" rIns="0" bIns="0" rtlCol="0" anchor="ctr"/>
          <a:lstStyle/>
          <a:p>
            <a:pPr marL="0" indent="0">
              <a:buNone/>
            </a:pPr>
            <a:r>
              <a:rPr lang="en-US" sz="1400" b="1" dirty="0">
                <a:solidFill>
                  <a:srgbClr val="1B2A4A"/>
                </a:solidFill>
                <a:latin typeface="Lato" pitchFamily="34" charset="0"/>
                <a:ea typeface="Lato" pitchFamily="34" charset="-122"/>
                <a:cs typeface="Lato" pitchFamily="34" charset="-120"/>
              </a:rPr>
              <a:t>Une disponibilité inférieure au prévisionnel</a:t>
            </a:r>
            <a:endParaRPr lang="en-US" sz="1400" dirty="0"/>
          </a:p>
        </p:txBody>
      </p:sp>
      <p:sp>
        <p:nvSpPr>
          <p:cNvPr id="31" name="Text 29"/>
          <p:cNvSpPr txBox="1"/>
          <p:nvPr/>
        </p:nvSpPr>
        <p:spPr>
          <a:xfrm>
            <a:off x="4297680" y="5010912"/>
            <a:ext cx="7223760" cy="640080"/>
          </a:xfrm>
          <a:prstGeom prst="rect">
            <a:avLst/>
          </a:prstGeom>
          <a:noFill/>
          <a:ln/>
        </p:spPr>
        <p:txBody>
          <a:bodyPr wrap="square" lIns="0" tIns="0" rIns="0" bIns="0" rtlCol="0" anchor="t"/>
          <a:lstStyle/>
          <a:p>
            <a:pPr marL="0" indent="0" algn="l">
              <a:lnSpc>
                <a:spcPct val="118000"/>
              </a:lnSpc>
              <a:buNone/>
            </a:pPr>
            <a:r>
              <a:rPr lang="fr-FR" sz="1200" noProof="0" dirty="0">
                <a:solidFill>
                  <a:srgbClr val="4A5568"/>
                </a:solidFill>
                <a:latin typeface="Lato" pitchFamily="34" charset="0"/>
                <a:ea typeface="Lato" pitchFamily="34" charset="-122"/>
                <a:cs typeface="Lato" pitchFamily="34" charset="-120"/>
              </a:rPr>
              <a:t>Des missions clients jugées prioritaires ont réduit les créneaux hebdomadaires réservés au projet.</a:t>
            </a:r>
            <a:endParaRPr lang="fr-FR" sz="1200" noProof="0" dirty="0"/>
          </a:p>
        </p:txBody>
      </p:sp>
      <p:sp>
        <p:nvSpPr>
          <p:cNvPr id="32" name="Shape 30"/>
          <p:cNvSpPr/>
          <p:nvPr/>
        </p:nvSpPr>
        <p:spPr>
          <a:xfrm>
            <a:off x="658368" y="5870448"/>
            <a:ext cx="10874959" cy="941832"/>
          </a:xfrm>
          <a:prstGeom prst="rect">
            <a:avLst/>
          </a:prstGeom>
          <a:solidFill>
            <a:srgbClr val="1B2A4A"/>
          </a:solidFill>
          <a:ln/>
        </p:spPr>
        <p:txBody>
          <a:bodyPr/>
          <a:lstStyle/>
          <a:p>
            <a:endParaRPr lang="fr-FR"/>
          </a:p>
        </p:txBody>
      </p:sp>
      <p:sp>
        <p:nvSpPr>
          <p:cNvPr id="33" name="Text 31"/>
          <p:cNvSpPr txBox="1"/>
          <p:nvPr/>
        </p:nvSpPr>
        <p:spPr>
          <a:xfrm>
            <a:off x="914400" y="5870448"/>
            <a:ext cx="10362895" cy="877824"/>
          </a:xfrm>
          <a:prstGeom prst="rect">
            <a:avLst/>
          </a:prstGeom>
          <a:noFill/>
          <a:ln/>
        </p:spPr>
        <p:txBody>
          <a:bodyPr wrap="square" lIns="0" tIns="0" rIns="0" bIns="0" rtlCol="0" anchor="ctr"/>
          <a:lstStyle/>
          <a:p>
            <a:pPr marL="0" indent="0">
              <a:lnSpc>
                <a:spcPct val="106000"/>
              </a:lnSpc>
              <a:buNone/>
            </a:pPr>
            <a:r>
              <a:rPr lang="fr-FR" sz="1600" b="1" dirty="0">
                <a:solidFill>
                  <a:srgbClr val="FFFFFF"/>
                </a:solidFill>
                <a:latin typeface="Lato" pitchFamily="34" charset="0"/>
                <a:ea typeface="Lato" pitchFamily="34" charset="-122"/>
                <a:cs typeface="Lato" pitchFamily="34" charset="-120"/>
              </a:rPr>
              <a:t>Le produit avait été analysé, mais l’environnement non.</a:t>
            </a:r>
          </a:p>
          <a:p>
            <a:pPr marL="0" indent="0">
              <a:lnSpc>
                <a:spcPct val="106000"/>
              </a:lnSpc>
              <a:buNone/>
            </a:pPr>
            <a:r>
              <a:rPr lang="fr-FR" sz="1600" b="1" dirty="0">
                <a:solidFill>
                  <a:srgbClr val="FFFFFF"/>
                </a:solidFill>
                <a:latin typeface="Lato" pitchFamily="34" charset="0"/>
                <a:ea typeface="Lato" pitchFamily="34" charset="-122"/>
                <a:cs typeface="Lato" pitchFamily="34" charset="-120"/>
              </a:rPr>
              <a:t>Risques organisationnels </a:t>
            </a:r>
            <a:endParaRPr lang="en-US" sz="16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67C21BD-B812-4CAC-AE17-BF44C72618C6}" type="slidenum">
              <a:rPr lang="fr-FR" sz="900" b="0">
                <a:solidFill>
                  <a:srgbClr val="4A5568"/>
                </a:solidFill>
                <a:latin typeface="Lato"/>
              </a:rPr>
              <a:t>21</a:t>
            </a:fld>
            <a:endParaRPr lang="fr-FR">
              <a:solidFill>
                <a:srgbClr val="4A556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STRATÉGIE DE COMMUNICATION</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Une communication organisée par public</a:t>
            </a:r>
            <a:endParaRPr lang="en-US" sz="3000" dirty="0"/>
          </a:p>
        </p:txBody>
      </p:sp>
      <p:sp>
        <p:nvSpPr>
          <p:cNvPr id="4" name="Text 2"/>
          <p:cNvSpPr txBox="1"/>
          <p:nvPr/>
        </p:nvSpPr>
        <p:spPr>
          <a:xfrm>
            <a:off x="658368" y="1463040"/>
            <a:ext cx="182880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FRÉQUENCE</a:t>
            </a:r>
            <a:endParaRPr lang="en-US" sz="1000" dirty="0"/>
          </a:p>
        </p:txBody>
      </p:sp>
      <p:sp>
        <p:nvSpPr>
          <p:cNvPr id="5" name="Shape 3"/>
          <p:cNvSpPr/>
          <p:nvPr/>
        </p:nvSpPr>
        <p:spPr>
          <a:xfrm>
            <a:off x="658368" y="1847088"/>
            <a:ext cx="2468880" cy="512064"/>
          </a:xfrm>
          <a:prstGeom prst="rect">
            <a:avLst/>
          </a:prstGeom>
          <a:solidFill>
            <a:srgbClr val="1B2A4A"/>
          </a:solidFill>
          <a:ln/>
        </p:spPr>
        <p:txBody>
          <a:bodyPr/>
          <a:lstStyle/>
          <a:p>
            <a:endParaRPr lang="fr-FR"/>
          </a:p>
        </p:txBody>
      </p:sp>
      <p:sp>
        <p:nvSpPr>
          <p:cNvPr id="6" name="Text 4"/>
          <p:cNvSpPr txBox="1"/>
          <p:nvPr/>
        </p:nvSpPr>
        <p:spPr>
          <a:xfrm>
            <a:off x="804672" y="1847088"/>
            <a:ext cx="2194560" cy="512064"/>
          </a:xfrm>
          <a:prstGeom prst="rect">
            <a:avLst/>
          </a:prstGeom>
          <a:noFill/>
          <a:ln/>
        </p:spPr>
        <p:txBody>
          <a:bodyPr wrap="square" lIns="0" tIns="0" rIns="0" bIns="0" rtlCol="0" anchor="ctr"/>
          <a:lstStyle/>
          <a:p>
            <a:pPr marL="0" indent="0">
              <a:buNone/>
            </a:pPr>
            <a:r>
              <a:rPr lang="en-US" sz="1150" b="1" dirty="0">
                <a:solidFill>
                  <a:srgbClr val="FFFFFF"/>
                </a:solidFill>
                <a:latin typeface="Lato" pitchFamily="34" charset="0"/>
                <a:ea typeface="Lato" pitchFamily="34" charset="-122"/>
                <a:cs typeface="Lato" pitchFamily="34" charset="-120"/>
              </a:rPr>
              <a:t>quotidien</a:t>
            </a:r>
            <a:endParaRPr lang="en-US" sz="1150" dirty="0"/>
          </a:p>
        </p:txBody>
      </p:sp>
      <p:sp>
        <p:nvSpPr>
          <p:cNvPr id="7" name="Text 5"/>
          <p:cNvSpPr txBox="1"/>
          <p:nvPr/>
        </p:nvSpPr>
        <p:spPr>
          <a:xfrm>
            <a:off x="3566160" y="1810512"/>
            <a:ext cx="3200400" cy="310896"/>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Journal de projet</a:t>
            </a:r>
            <a:endParaRPr lang="en-US" sz="1450" dirty="0"/>
          </a:p>
        </p:txBody>
      </p:sp>
      <p:sp>
        <p:nvSpPr>
          <p:cNvPr id="8" name="Text 6"/>
          <p:cNvSpPr txBox="1"/>
          <p:nvPr/>
        </p:nvSpPr>
        <p:spPr>
          <a:xfrm>
            <a:off x="3566160" y="2121408"/>
            <a:ext cx="3566160" cy="36576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décisions, écarts, résultats de collecte</a:t>
            </a:r>
            <a:endParaRPr lang="en-US" sz="1200" dirty="0"/>
          </a:p>
        </p:txBody>
      </p:sp>
      <p:sp>
        <p:nvSpPr>
          <p:cNvPr id="9" name="Shape 7"/>
          <p:cNvSpPr/>
          <p:nvPr/>
        </p:nvSpPr>
        <p:spPr>
          <a:xfrm>
            <a:off x="658368" y="2706624"/>
            <a:ext cx="1777594" cy="512064"/>
          </a:xfrm>
          <a:prstGeom prst="rect">
            <a:avLst/>
          </a:prstGeom>
          <a:solidFill>
            <a:srgbClr val="E6EAF1"/>
          </a:solidFill>
          <a:ln/>
        </p:spPr>
        <p:txBody>
          <a:bodyPr/>
          <a:lstStyle/>
          <a:p>
            <a:endParaRPr lang="fr-FR"/>
          </a:p>
        </p:txBody>
      </p:sp>
      <p:sp>
        <p:nvSpPr>
          <p:cNvPr id="10" name="Text 8"/>
          <p:cNvSpPr txBox="1"/>
          <p:nvPr/>
        </p:nvSpPr>
        <p:spPr>
          <a:xfrm>
            <a:off x="804672" y="2706624"/>
            <a:ext cx="2194560" cy="512064"/>
          </a:xfrm>
          <a:prstGeom prst="rect">
            <a:avLst/>
          </a:prstGeom>
          <a:noFill/>
          <a:ln/>
        </p:spPr>
        <p:txBody>
          <a:bodyPr wrap="square" lIns="0" tIns="0" rIns="0" bIns="0" rtlCol="0" anchor="ctr"/>
          <a:lstStyle/>
          <a:p>
            <a:pPr marL="0" indent="0">
              <a:buNone/>
            </a:pPr>
            <a:r>
              <a:rPr lang="en-US" sz="1150" b="1" dirty="0">
                <a:solidFill>
                  <a:srgbClr val="1B2A4A"/>
                </a:solidFill>
                <a:latin typeface="Lato" pitchFamily="34" charset="0"/>
                <a:ea typeface="Lato" pitchFamily="34" charset="-122"/>
                <a:cs typeface="Lato" pitchFamily="34" charset="-120"/>
              </a:rPr>
              <a:t>hebdomadaire</a:t>
            </a:r>
            <a:endParaRPr lang="en-US" sz="1150" dirty="0"/>
          </a:p>
        </p:txBody>
      </p:sp>
      <p:sp>
        <p:nvSpPr>
          <p:cNvPr id="11" name="Text 9"/>
          <p:cNvSpPr txBox="1"/>
          <p:nvPr/>
        </p:nvSpPr>
        <p:spPr>
          <a:xfrm>
            <a:off x="3566160" y="2670048"/>
            <a:ext cx="3200400" cy="310896"/>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Maître d'apprentissage</a:t>
            </a:r>
            <a:endParaRPr lang="en-US" sz="1450" dirty="0"/>
          </a:p>
        </p:txBody>
      </p:sp>
      <p:sp>
        <p:nvSpPr>
          <p:cNvPr id="12" name="Text 10"/>
          <p:cNvSpPr txBox="1"/>
          <p:nvPr/>
        </p:nvSpPr>
        <p:spPr>
          <a:xfrm>
            <a:off x="3566160" y="2980944"/>
            <a:ext cx="3566160" cy="36576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avancement, blocages, décisions à prendre</a:t>
            </a:r>
            <a:endParaRPr lang="en-US" sz="1200" dirty="0"/>
          </a:p>
        </p:txBody>
      </p:sp>
      <p:sp>
        <p:nvSpPr>
          <p:cNvPr id="13" name="Shape 11"/>
          <p:cNvSpPr/>
          <p:nvPr/>
        </p:nvSpPr>
        <p:spPr>
          <a:xfrm>
            <a:off x="658368" y="3566160"/>
            <a:ext cx="1036930" cy="512064"/>
          </a:xfrm>
          <a:prstGeom prst="rect">
            <a:avLst/>
          </a:prstGeom>
          <a:solidFill>
            <a:srgbClr val="E6EAF1"/>
          </a:solidFill>
          <a:ln/>
        </p:spPr>
        <p:txBody>
          <a:bodyPr/>
          <a:lstStyle/>
          <a:p>
            <a:endParaRPr lang="fr-FR"/>
          </a:p>
        </p:txBody>
      </p:sp>
      <p:sp>
        <p:nvSpPr>
          <p:cNvPr id="14" name="Text 12"/>
          <p:cNvSpPr txBox="1"/>
          <p:nvPr/>
        </p:nvSpPr>
        <p:spPr>
          <a:xfrm>
            <a:off x="804672" y="3566160"/>
            <a:ext cx="2194560" cy="512064"/>
          </a:xfrm>
          <a:prstGeom prst="rect">
            <a:avLst/>
          </a:prstGeom>
          <a:noFill/>
          <a:ln/>
        </p:spPr>
        <p:txBody>
          <a:bodyPr wrap="square" lIns="0" tIns="0" rIns="0" bIns="0" rtlCol="0" anchor="ctr"/>
          <a:lstStyle/>
          <a:p>
            <a:pPr marL="0" indent="0">
              <a:buNone/>
            </a:pPr>
            <a:r>
              <a:rPr lang="en-US" sz="1150" b="1" dirty="0">
                <a:solidFill>
                  <a:srgbClr val="1B2A4A"/>
                </a:solidFill>
                <a:latin typeface="Lato" pitchFamily="34" charset="0"/>
                <a:ea typeface="Lato" pitchFamily="34" charset="-122"/>
                <a:cs typeface="Lato" pitchFamily="34" charset="-120"/>
              </a:rPr>
              <a:t>ponctuel</a:t>
            </a:r>
            <a:endParaRPr lang="en-US" sz="1150" dirty="0"/>
          </a:p>
        </p:txBody>
      </p:sp>
      <p:sp>
        <p:nvSpPr>
          <p:cNvPr id="15" name="Text 13"/>
          <p:cNvSpPr txBox="1"/>
          <p:nvPr/>
        </p:nvSpPr>
        <p:spPr>
          <a:xfrm>
            <a:off x="3566160" y="3529584"/>
            <a:ext cx="3200400" cy="310896"/>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Direction technique</a:t>
            </a:r>
            <a:endParaRPr lang="en-US" sz="1450" dirty="0"/>
          </a:p>
        </p:txBody>
      </p:sp>
      <p:sp>
        <p:nvSpPr>
          <p:cNvPr id="16" name="Text 14"/>
          <p:cNvSpPr txBox="1"/>
          <p:nvPr/>
        </p:nvSpPr>
        <p:spPr>
          <a:xfrm>
            <a:off x="3566160" y="3840480"/>
            <a:ext cx="3566160" cy="36576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arbitrages d'architecture et de périmètre</a:t>
            </a:r>
            <a:endParaRPr lang="en-US" sz="1200" dirty="0"/>
          </a:p>
        </p:txBody>
      </p:sp>
      <p:sp>
        <p:nvSpPr>
          <p:cNvPr id="17" name="Shape 15"/>
          <p:cNvSpPr/>
          <p:nvPr/>
        </p:nvSpPr>
        <p:spPr>
          <a:xfrm>
            <a:off x="658368" y="4425696"/>
            <a:ext cx="641909" cy="512064"/>
          </a:xfrm>
          <a:prstGeom prst="rect">
            <a:avLst/>
          </a:prstGeom>
          <a:solidFill>
            <a:srgbClr val="E6EAF1"/>
          </a:solidFill>
          <a:ln/>
        </p:spPr>
        <p:txBody>
          <a:bodyPr/>
          <a:lstStyle/>
          <a:p>
            <a:endParaRPr lang="fr-FR"/>
          </a:p>
        </p:txBody>
      </p:sp>
      <p:sp>
        <p:nvSpPr>
          <p:cNvPr id="18" name="Text 16"/>
          <p:cNvSpPr txBox="1"/>
          <p:nvPr/>
        </p:nvSpPr>
        <p:spPr>
          <a:xfrm>
            <a:off x="804672" y="4425696"/>
            <a:ext cx="2194560" cy="512064"/>
          </a:xfrm>
          <a:prstGeom prst="rect">
            <a:avLst/>
          </a:prstGeom>
          <a:noFill/>
          <a:ln/>
        </p:spPr>
        <p:txBody>
          <a:bodyPr wrap="square" lIns="0" tIns="0" rIns="0" bIns="0" rtlCol="0" anchor="ctr"/>
          <a:lstStyle/>
          <a:p>
            <a:pPr marL="0" indent="0">
              <a:buNone/>
            </a:pPr>
            <a:r>
              <a:rPr lang="en-US" sz="1150" b="1" dirty="0">
                <a:solidFill>
                  <a:srgbClr val="1B2A4A"/>
                </a:solidFill>
                <a:latin typeface="Lato" pitchFamily="34" charset="0"/>
                <a:ea typeface="Lato" pitchFamily="34" charset="-122"/>
                <a:cs typeface="Lato" pitchFamily="34" charset="-120"/>
              </a:rPr>
              <a:t>aux échéances</a:t>
            </a:r>
            <a:endParaRPr lang="en-US" sz="1150" dirty="0"/>
          </a:p>
        </p:txBody>
      </p:sp>
      <p:sp>
        <p:nvSpPr>
          <p:cNvPr id="19" name="Text 17"/>
          <p:cNvSpPr txBox="1"/>
          <p:nvPr/>
        </p:nvSpPr>
        <p:spPr>
          <a:xfrm>
            <a:off x="3566160" y="4389120"/>
            <a:ext cx="3200400" cy="310896"/>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Tuteur école</a:t>
            </a:r>
            <a:endParaRPr lang="en-US" sz="1450" dirty="0"/>
          </a:p>
        </p:txBody>
      </p:sp>
      <p:sp>
        <p:nvSpPr>
          <p:cNvPr id="20" name="Text 18"/>
          <p:cNvSpPr txBox="1"/>
          <p:nvPr/>
        </p:nvSpPr>
        <p:spPr>
          <a:xfrm>
            <a:off x="3566160" y="4700016"/>
            <a:ext cx="3566160" cy="36576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livrables académiques et points de suivi</a:t>
            </a:r>
            <a:endParaRPr lang="en-US" sz="1200" dirty="0"/>
          </a:p>
        </p:txBody>
      </p:sp>
      <p:grpSp>
        <p:nvGrpSpPr>
          <p:cNvPr id="35" name="Groupe 34">
            <a:extLst>
              <a:ext uri="{FF2B5EF4-FFF2-40B4-BE49-F238E27FC236}">
                <a16:creationId xmlns:a16="http://schemas.microsoft.com/office/drawing/2014/main" id="{958CD207-2075-79C2-043B-64E7A571BF55}"/>
              </a:ext>
            </a:extLst>
          </p:cNvPr>
          <p:cNvGrpSpPr/>
          <p:nvPr/>
        </p:nvGrpSpPr>
        <p:grpSpPr>
          <a:xfrm>
            <a:off x="7424928" y="1737361"/>
            <a:ext cx="4114800" cy="1517904"/>
            <a:chOff x="7424928" y="1737361"/>
            <a:chExt cx="4114800" cy="1517904"/>
          </a:xfrm>
        </p:grpSpPr>
        <p:sp>
          <p:nvSpPr>
            <p:cNvPr id="28" name="Shape 19">
              <a:extLst>
                <a:ext uri="{FF2B5EF4-FFF2-40B4-BE49-F238E27FC236}">
                  <a16:creationId xmlns:a16="http://schemas.microsoft.com/office/drawing/2014/main" id="{B6D6B69A-A908-2B5B-C70C-775E582E3738}"/>
                </a:ext>
              </a:extLst>
            </p:cNvPr>
            <p:cNvSpPr/>
            <p:nvPr/>
          </p:nvSpPr>
          <p:spPr>
            <a:xfrm>
              <a:off x="7424928" y="1737361"/>
              <a:ext cx="4114800" cy="1517904"/>
            </a:xfrm>
            <a:prstGeom prst="rect">
              <a:avLst/>
            </a:prstGeom>
            <a:solidFill>
              <a:srgbClr val="F2F4F8"/>
            </a:solidFill>
            <a:ln/>
          </p:spPr>
          <p:txBody>
            <a:bodyPr/>
            <a:lstStyle/>
            <a:p>
              <a:endParaRPr lang="fr-FR"/>
            </a:p>
          </p:txBody>
        </p:sp>
        <p:sp>
          <p:nvSpPr>
            <p:cNvPr id="30" name="Text 20">
              <a:extLst>
                <a:ext uri="{FF2B5EF4-FFF2-40B4-BE49-F238E27FC236}">
                  <a16:creationId xmlns:a16="http://schemas.microsoft.com/office/drawing/2014/main" id="{7805D95F-BC41-9CA4-8508-43B5240FF230}"/>
                </a:ext>
              </a:extLst>
            </p:cNvPr>
            <p:cNvSpPr txBox="1"/>
            <p:nvPr/>
          </p:nvSpPr>
          <p:spPr>
            <a:xfrm>
              <a:off x="7699248" y="1956816"/>
              <a:ext cx="3566160" cy="310896"/>
            </a:xfrm>
            <a:prstGeom prst="rect">
              <a:avLst/>
            </a:prstGeom>
            <a:noFill/>
            <a:ln/>
          </p:spPr>
          <p:txBody>
            <a:bodyPr wrap="square" lIns="0" tIns="0" rIns="0" bIns="0" rtlCol="0" anchor="ctr"/>
            <a:lstStyle/>
            <a:p>
              <a:pPr marL="0" indent="0">
                <a:buNone/>
              </a:pPr>
              <a:r>
                <a:rPr lang="fr-FR" sz="1500" b="1" noProof="0" dirty="0">
                  <a:solidFill>
                    <a:srgbClr val="C5A55A"/>
                  </a:solidFill>
                  <a:latin typeface="Lato" pitchFamily="34" charset="0"/>
                  <a:ea typeface="Lato" pitchFamily="34" charset="-122"/>
                  <a:cs typeface="Lato" pitchFamily="34" charset="-120"/>
                </a:rPr>
                <a:t>Traçabilité assurée</a:t>
              </a:r>
              <a:endParaRPr lang="fr-FR" sz="1500" noProof="0" dirty="0"/>
            </a:p>
          </p:txBody>
        </p:sp>
        <p:sp>
          <p:nvSpPr>
            <p:cNvPr id="32" name="Text 21">
              <a:extLst>
                <a:ext uri="{FF2B5EF4-FFF2-40B4-BE49-F238E27FC236}">
                  <a16:creationId xmlns:a16="http://schemas.microsoft.com/office/drawing/2014/main" id="{3416E979-0F36-4990-5268-AE74315B6C83}"/>
                </a:ext>
              </a:extLst>
            </p:cNvPr>
            <p:cNvSpPr txBox="1"/>
            <p:nvPr/>
          </p:nvSpPr>
          <p:spPr>
            <a:xfrm>
              <a:off x="7699248" y="2340864"/>
              <a:ext cx="3566160" cy="914400"/>
            </a:xfrm>
            <a:prstGeom prst="rect">
              <a:avLst/>
            </a:prstGeom>
            <a:noFill/>
            <a:ln/>
          </p:spPr>
          <p:txBody>
            <a:bodyPr wrap="square" lIns="0" tIns="0" rIns="0" bIns="0" rtlCol="0" anchor="t"/>
            <a:lstStyle/>
            <a:p>
              <a:pPr marL="0" indent="0" algn="l">
                <a:lnSpc>
                  <a:spcPct val="118000"/>
                </a:lnSpc>
                <a:buNone/>
              </a:pPr>
              <a:r>
                <a:rPr lang="en-US" sz="1400" i="1" dirty="0">
                  <a:solidFill>
                    <a:srgbClr val="232A3A"/>
                  </a:solidFill>
                  <a:latin typeface="Lato" pitchFamily="34" charset="0"/>
                  <a:ea typeface="Lato" pitchFamily="34" charset="-122"/>
                  <a:cs typeface="Lato" pitchFamily="34" charset="-120"/>
                </a:rPr>
                <a:t>Chaque chiffre et chaque décision du mémoire se rattache à une entrée datée du journal</a:t>
              </a:r>
              <a:endParaRPr lang="en-US" sz="1400" i="1" dirty="0"/>
            </a:p>
          </p:txBody>
        </p:sp>
        <p:sp>
          <p:nvSpPr>
            <p:cNvPr id="34" name="Shape 22">
              <a:extLst>
                <a:ext uri="{FF2B5EF4-FFF2-40B4-BE49-F238E27FC236}">
                  <a16:creationId xmlns:a16="http://schemas.microsoft.com/office/drawing/2014/main" id="{D5CCC028-41DE-DCB7-9F2C-8047E59E2AC7}"/>
                </a:ext>
              </a:extLst>
            </p:cNvPr>
            <p:cNvSpPr/>
            <p:nvPr/>
          </p:nvSpPr>
          <p:spPr>
            <a:xfrm>
              <a:off x="7699248" y="3138221"/>
              <a:ext cx="3566160" cy="25603"/>
            </a:xfrm>
            <a:prstGeom prst="rect">
              <a:avLst/>
            </a:prstGeom>
            <a:solidFill>
              <a:srgbClr val="E6EAF1"/>
            </a:solidFill>
            <a:ln/>
          </p:spPr>
          <p:txBody>
            <a:bodyPr/>
            <a:lstStyle/>
            <a:p>
              <a:endParaRPr lang="fr-FR"/>
            </a:p>
          </p:txBody>
        </p:sp>
      </p:grpSp>
      <p:grpSp>
        <p:nvGrpSpPr>
          <p:cNvPr id="36" name="Groupe 35">
            <a:extLst>
              <a:ext uri="{FF2B5EF4-FFF2-40B4-BE49-F238E27FC236}">
                <a16:creationId xmlns:a16="http://schemas.microsoft.com/office/drawing/2014/main" id="{8C5BAC4D-DFE8-D604-C774-65A3DD09ACFC}"/>
              </a:ext>
            </a:extLst>
          </p:cNvPr>
          <p:cNvGrpSpPr/>
          <p:nvPr/>
        </p:nvGrpSpPr>
        <p:grpSpPr>
          <a:xfrm>
            <a:off x="7418527" y="3685032"/>
            <a:ext cx="4114800" cy="1517904"/>
            <a:chOff x="7424928" y="1737361"/>
            <a:chExt cx="4114800" cy="1517904"/>
          </a:xfrm>
        </p:grpSpPr>
        <p:sp>
          <p:nvSpPr>
            <p:cNvPr id="37" name="Shape 19">
              <a:extLst>
                <a:ext uri="{FF2B5EF4-FFF2-40B4-BE49-F238E27FC236}">
                  <a16:creationId xmlns:a16="http://schemas.microsoft.com/office/drawing/2014/main" id="{CB627E84-43E2-DB0B-4FDC-452E5B25630E}"/>
                </a:ext>
              </a:extLst>
            </p:cNvPr>
            <p:cNvSpPr/>
            <p:nvPr/>
          </p:nvSpPr>
          <p:spPr>
            <a:xfrm>
              <a:off x="7424928" y="1737361"/>
              <a:ext cx="4114800" cy="1517904"/>
            </a:xfrm>
            <a:prstGeom prst="rect">
              <a:avLst/>
            </a:prstGeom>
            <a:solidFill>
              <a:srgbClr val="F2F4F8"/>
            </a:solidFill>
            <a:ln/>
          </p:spPr>
          <p:txBody>
            <a:bodyPr/>
            <a:lstStyle/>
            <a:p>
              <a:endParaRPr lang="fr-FR"/>
            </a:p>
          </p:txBody>
        </p:sp>
        <p:sp>
          <p:nvSpPr>
            <p:cNvPr id="38" name="Text 20">
              <a:extLst>
                <a:ext uri="{FF2B5EF4-FFF2-40B4-BE49-F238E27FC236}">
                  <a16:creationId xmlns:a16="http://schemas.microsoft.com/office/drawing/2014/main" id="{1D0B0B01-4C8E-3A9B-6A09-368662541D69}"/>
                </a:ext>
              </a:extLst>
            </p:cNvPr>
            <p:cNvSpPr txBox="1"/>
            <p:nvPr/>
          </p:nvSpPr>
          <p:spPr>
            <a:xfrm>
              <a:off x="7699248" y="1956816"/>
              <a:ext cx="3566160" cy="310896"/>
            </a:xfrm>
            <a:prstGeom prst="rect">
              <a:avLst/>
            </a:prstGeom>
            <a:noFill/>
            <a:ln/>
          </p:spPr>
          <p:txBody>
            <a:bodyPr wrap="square" lIns="0" tIns="0" rIns="0" bIns="0" rtlCol="0" anchor="ctr"/>
            <a:lstStyle/>
            <a:p>
              <a:pPr marL="0" indent="0">
                <a:buNone/>
              </a:pPr>
              <a:r>
                <a:rPr lang="fr-FR" sz="1500" b="1" noProof="0" dirty="0">
                  <a:solidFill>
                    <a:srgbClr val="C5A55A"/>
                  </a:solidFill>
                  <a:latin typeface="Lato" pitchFamily="34" charset="0"/>
                  <a:ea typeface="Lato" pitchFamily="34" charset="-122"/>
                  <a:cs typeface="Lato" pitchFamily="34" charset="-120"/>
                </a:rPr>
                <a:t>Communication adaptée</a:t>
              </a:r>
              <a:endParaRPr lang="fr-FR" sz="1500" noProof="0" dirty="0"/>
            </a:p>
          </p:txBody>
        </p:sp>
        <p:sp>
          <p:nvSpPr>
            <p:cNvPr id="39" name="Text 21">
              <a:extLst>
                <a:ext uri="{FF2B5EF4-FFF2-40B4-BE49-F238E27FC236}">
                  <a16:creationId xmlns:a16="http://schemas.microsoft.com/office/drawing/2014/main" id="{5F987151-18F4-CBFA-58FF-77B90B69E2D0}"/>
                </a:ext>
              </a:extLst>
            </p:cNvPr>
            <p:cNvSpPr txBox="1"/>
            <p:nvPr/>
          </p:nvSpPr>
          <p:spPr>
            <a:xfrm>
              <a:off x="7699248" y="2340864"/>
              <a:ext cx="3566160" cy="914400"/>
            </a:xfrm>
            <a:prstGeom prst="rect">
              <a:avLst/>
            </a:prstGeom>
            <a:noFill/>
            <a:ln/>
          </p:spPr>
          <p:txBody>
            <a:bodyPr wrap="square" lIns="0" tIns="0" rIns="0" bIns="0" rtlCol="0" anchor="t"/>
            <a:lstStyle/>
            <a:p>
              <a:pPr marL="0" indent="0" algn="l">
                <a:lnSpc>
                  <a:spcPct val="118000"/>
                </a:lnSpc>
                <a:buNone/>
              </a:pPr>
              <a:r>
                <a:rPr lang="fr-FR" sz="1400" i="1" noProof="0" dirty="0">
                  <a:solidFill>
                    <a:srgbClr val="232A3A"/>
                  </a:solidFill>
                  <a:latin typeface="Lato" pitchFamily="34" charset="0"/>
                  <a:ea typeface="Lato" pitchFamily="34" charset="-122"/>
                  <a:cs typeface="Lato" pitchFamily="34" charset="-120"/>
                </a:rPr>
                <a:t>Selon le niveau de technicité de l’audience</a:t>
              </a:r>
              <a:endParaRPr lang="fr-FR" sz="1400" i="1" noProof="0" dirty="0"/>
            </a:p>
          </p:txBody>
        </p:sp>
        <p:sp>
          <p:nvSpPr>
            <p:cNvPr id="40" name="Shape 22">
              <a:extLst>
                <a:ext uri="{FF2B5EF4-FFF2-40B4-BE49-F238E27FC236}">
                  <a16:creationId xmlns:a16="http://schemas.microsoft.com/office/drawing/2014/main" id="{4ADFB77C-1C17-B828-6EA7-032974848D62}"/>
                </a:ext>
              </a:extLst>
            </p:cNvPr>
            <p:cNvSpPr/>
            <p:nvPr/>
          </p:nvSpPr>
          <p:spPr>
            <a:xfrm>
              <a:off x="7699248" y="3138221"/>
              <a:ext cx="3566160" cy="25603"/>
            </a:xfrm>
            <a:prstGeom prst="rect">
              <a:avLst/>
            </a:prstGeom>
            <a:solidFill>
              <a:srgbClr val="E6EAF1"/>
            </a:solidFill>
            <a:ln/>
          </p:spPr>
          <p:txBody>
            <a:bodyPr/>
            <a:lstStyle/>
            <a:p>
              <a:endParaRPr lang="fr-FR"/>
            </a:p>
          </p:txBody>
        </p:sp>
      </p:grpSp>
      <p:sp>
        <p:nvSpPr>
          <p:cNvPr id="21" name="Shape 15"/>
          <p:cNvSpPr/>
          <p:nvPr/>
        </p:nvSpPr>
        <p:spPr>
          <a:xfrm>
            <a:off x="658368" y="5285232"/>
            <a:ext cx="641909" cy="512064"/>
          </a:xfrm>
          <a:prstGeom prst="rect">
            <a:avLst/>
          </a:prstGeom>
          <a:solidFill>
            <a:srgbClr val="E6EAF1"/>
          </a:solidFill>
          <a:ln/>
        </p:spPr>
        <p:txBody>
          <a:bodyPr/>
          <a:lstStyle/>
          <a:p>
            <a:endParaRPr lang="fr-FR"/>
          </a:p>
        </p:txBody>
      </p:sp>
      <p:sp>
        <p:nvSpPr>
          <p:cNvPr id="22" name="Text 16"/>
          <p:cNvSpPr txBox="1"/>
          <p:nvPr/>
        </p:nvSpPr>
        <p:spPr>
          <a:xfrm>
            <a:off x="804672" y="5285232"/>
            <a:ext cx="2194560" cy="512064"/>
          </a:xfrm>
          <a:prstGeom prst="rect">
            <a:avLst/>
          </a:prstGeom>
          <a:noFill/>
          <a:ln/>
        </p:spPr>
        <p:txBody>
          <a:bodyPr wrap="square" lIns="0" tIns="0" rIns="0" bIns="0" rtlCol="0" anchor="ctr"/>
          <a:lstStyle/>
          <a:p>
            <a:pPr marL="0" indent="0">
              <a:buNone/>
            </a:pPr>
            <a:r>
              <a:rPr lang="en-US" sz="1150" b="1" dirty="0">
                <a:solidFill>
                  <a:srgbClr val="1B2A4A"/>
                </a:solidFill>
                <a:latin typeface="Lato" pitchFamily="34" charset="0"/>
                <a:ea typeface="Lato" pitchFamily="34" charset="-122"/>
                <a:cs typeface="Lato" pitchFamily="34" charset="-120"/>
              </a:rPr>
              <a:t>aux jalons</a:t>
            </a:r>
            <a:endParaRPr lang="en-US" sz="1150" dirty="0"/>
          </a:p>
        </p:txBody>
      </p:sp>
      <p:sp>
        <p:nvSpPr>
          <p:cNvPr id="23" name="Text 17"/>
          <p:cNvSpPr txBox="1"/>
          <p:nvPr/>
        </p:nvSpPr>
        <p:spPr>
          <a:xfrm>
            <a:off x="3566160" y="5248656"/>
            <a:ext cx="3200400" cy="310896"/>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CODIR</a:t>
            </a:r>
            <a:endParaRPr lang="en-US" sz="1450" dirty="0"/>
          </a:p>
        </p:txBody>
      </p:sp>
      <p:sp>
        <p:nvSpPr>
          <p:cNvPr id="24" name="Text 18"/>
          <p:cNvSpPr txBox="1"/>
          <p:nvPr/>
        </p:nvSpPr>
        <p:spPr>
          <a:xfrm>
            <a:off x="3566160" y="5559552"/>
            <a:ext cx="3566160" cy="365760"/>
          </a:xfrm>
          <a:prstGeom prst="rect">
            <a:avLst/>
          </a:prstGeom>
          <a:noFill/>
          <a:ln/>
        </p:spPr>
        <p:txBody>
          <a:bodyPr wrap="square" lIns="0" tIns="0" rIns="0" bIns="0" rtlCol="0" anchor="t"/>
          <a:lstStyle/>
          <a:p>
            <a:pPr marL="0" indent="0" algn="l">
              <a:lnSpc>
                <a:spcPct val="118000"/>
              </a:lnSpc>
              <a:buNone/>
            </a:pPr>
            <a:r>
              <a:rPr lang="en-US" sz="1200" dirty="0">
                <a:solidFill>
                  <a:srgbClr val="4A5568"/>
                </a:solidFill>
                <a:latin typeface="Lato" pitchFamily="34" charset="0"/>
                <a:ea typeface="Lato" pitchFamily="34" charset="-122"/>
                <a:cs typeface="Lato" pitchFamily="34" charset="-120"/>
              </a:rPr>
              <a:t>comité de direction, tenu informé aux jalons</a:t>
            </a:r>
            <a:endParaRPr lang="en-US" sz="12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E832BD40-20D2-4719-8851-2AEC4E0C13D6}" type="slidenum">
              <a:rPr lang="fr-FR" sz="900" b="0">
                <a:solidFill>
                  <a:srgbClr val="4A5568"/>
                </a:solidFill>
                <a:latin typeface="Lato"/>
              </a:rPr>
              <a:t>22</a:t>
            </a:fld>
            <a:endParaRPr lang="fr-FR">
              <a:solidFill>
                <a:srgbClr val="4A556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CONDUITE DU CHANGEMENT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Adoption et transfert de l'outil</a:t>
            </a:r>
            <a:endParaRPr lang="en-US" sz="3000" dirty="0"/>
          </a:p>
        </p:txBody>
      </p:sp>
      <p:sp>
        <p:nvSpPr>
          <p:cNvPr id="4" name="Shape 2"/>
          <p:cNvSpPr/>
          <p:nvPr/>
        </p:nvSpPr>
        <p:spPr>
          <a:xfrm>
            <a:off x="658368" y="1225296"/>
            <a:ext cx="10874959" cy="512064"/>
          </a:xfrm>
          <a:prstGeom prst="rect">
            <a:avLst/>
          </a:prstGeom>
          <a:solidFill>
            <a:srgbClr val="1B2A4A"/>
          </a:solidFill>
          <a:ln/>
        </p:spPr>
        <p:txBody>
          <a:bodyPr/>
          <a:lstStyle/>
          <a:p>
            <a:endParaRPr lang="fr-FR"/>
          </a:p>
        </p:txBody>
      </p:sp>
      <p:sp>
        <p:nvSpPr>
          <p:cNvPr id="5" name="Text 3"/>
          <p:cNvSpPr txBox="1"/>
          <p:nvPr/>
        </p:nvSpPr>
        <p:spPr>
          <a:xfrm>
            <a:off x="914400" y="1225296"/>
            <a:ext cx="10362895" cy="512064"/>
          </a:xfrm>
          <a:prstGeom prst="rect">
            <a:avLst/>
          </a:prstGeom>
          <a:noFill/>
          <a:ln/>
        </p:spPr>
        <p:txBody>
          <a:bodyPr wrap="square" lIns="0" tIns="0" rIns="0" bIns="0" rtlCol="0" anchor="ctr"/>
          <a:lstStyle/>
          <a:p>
            <a:pPr marL="0" indent="0">
              <a:buNone/>
            </a:pPr>
            <a:r>
              <a:rPr lang="en-US" sz="1450" b="1" dirty="0">
                <a:solidFill>
                  <a:srgbClr val="C5A55A"/>
                </a:solidFill>
                <a:latin typeface="Lato" pitchFamily="34" charset="0"/>
                <a:ea typeface="Lato" pitchFamily="34" charset="-122"/>
                <a:cs typeface="Lato" pitchFamily="34" charset="-120"/>
              </a:rPr>
              <a:t>Le socle interne de 2023 est mort non </a:t>
            </a:r>
            <a:r>
              <a:rPr lang="en-US" sz="1450" b="1" dirty="0" err="1">
                <a:solidFill>
                  <a:srgbClr val="C5A55A"/>
                </a:solidFill>
                <a:latin typeface="Lato" pitchFamily="34" charset="0"/>
                <a:ea typeface="Lato" pitchFamily="34" charset="-122"/>
                <a:cs typeface="Lato" pitchFamily="34" charset="-120"/>
              </a:rPr>
              <a:t>déployé</a:t>
            </a:r>
            <a:r>
              <a:rPr lang="en-US" sz="1450" b="1" dirty="0">
                <a:solidFill>
                  <a:srgbClr val="C5A55A"/>
                </a:solidFill>
                <a:latin typeface="Lato" pitchFamily="34" charset="0"/>
                <a:ea typeface="Lato" pitchFamily="34" charset="-122"/>
                <a:cs typeface="Lato" pitchFamily="34" charset="-120"/>
              </a:rPr>
              <a:t> non </a:t>
            </a:r>
            <a:r>
              <a:rPr lang="en-US" sz="1450" b="1" dirty="0" err="1">
                <a:solidFill>
                  <a:srgbClr val="C5A55A"/>
                </a:solidFill>
                <a:latin typeface="Lato" pitchFamily="34" charset="0"/>
                <a:ea typeface="Lato" pitchFamily="34" charset="-122"/>
                <a:cs typeface="Lato" pitchFamily="34" charset="-120"/>
              </a:rPr>
              <a:t>documenté</a:t>
            </a:r>
            <a:r>
              <a:rPr lang="en-US" sz="1450" b="1" dirty="0">
                <a:solidFill>
                  <a:srgbClr val="C5A55A"/>
                </a:solidFill>
                <a:latin typeface="Lato" pitchFamily="34" charset="0"/>
                <a:ea typeface="Lato" pitchFamily="34" charset="-122"/>
                <a:cs typeface="Lato" pitchFamily="34" charset="-120"/>
              </a:rPr>
              <a:t>. </a:t>
            </a:r>
            <a:endParaRPr lang="en-US" sz="1450" dirty="0"/>
          </a:p>
        </p:txBody>
      </p:sp>
      <p:sp>
        <p:nvSpPr>
          <p:cNvPr id="6" name="Text 4"/>
          <p:cNvSpPr txBox="1"/>
          <p:nvPr/>
        </p:nvSpPr>
        <p:spPr>
          <a:xfrm>
            <a:off x="658368" y="1920240"/>
            <a:ext cx="594360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LA DOCUMENTATION LIVRÉE</a:t>
            </a:r>
            <a:endParaRPr lang="en-US" sz="1050" dirty="0"/>
          </a:p>
        </p:txBody>
      </p:sp>
      <p:sp>
        <p:nvSpPr>
          <p:cNvPr id="7" name="Shape 5"/>
          <p:cNvSpPr/>
          <p:nvPr/>
        </p:nvSpPr>
        <p:spPr>
          <a:xfrm>
            <a:off x="658368" y="2249424"/>
            <a:ext cx="2871216" cy="877824"/>
          </a:xfrm>
          <a:prstGeom prst="rect">
            <a:avLst/>
          </a:prstGeom>
          <a:solidFill>
            <a:srgbClr val="F2F4F8"/>
          </a:solidFill>
          <a:ln/>
        </p:spPr>
        <p:txBody>
          <a:bodyPr/>
          <a:lstStyle/>
          <a:p>
            <a:endParaRPr lang="fr-FR"/>
          </a:p>
        </p:txBody>
      </p:sp>
      <p:sp>
        <p:nvSpPr>
          <p:cNvPr id="8" name="Text 6"/>
          <p:cNvSpPr txBox="1"/>
          <p:nvPr/>
        </p:nvSpPr>
        <p:spPr>
          <a:xfrm>
            <a:off x="841248"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01</a:t>
            </a:r>
            <a:endParaRPr lang="en-US" sz="1500" dirty="0"/>
          </a:p>
        </p:txBody>
      </p:sp>
      <p:sp>
        <p:nvSpPr>
          <p:cNvPr id="9" name="Text 7"/>
          <p:cNvSpPr txBox="1"/>
          <p:nvPr/>
        </p:nvSpPr>
        <p:spPr>
          <a:xfrm>
            <a:off x="841248" y="2633472"/>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Guide d'exploitation</a:t>
            </a:r>
            <a:endParaRPr lang="en-US" sz="1350" dirty="0"/>
          </a:p>
        </p:txBody>
      </p:sp>
      <p:sp>
        <p:nvSpPr>
          <p:cNvPr id="10" name="Text 8"/>
          <p:cNvSpPr txBox="1"/>
          <p:nvPr/>
        </p:nvSpPr>
        <p:spPr>
          <a:xfrm>
            <a:off x="841248" y="287121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l'exploitant</a:t>
            </a:r>
            <a:endParaRPr lang="en-US" sz="1100" dirty="0"/>
          </a:p>
        </p:txBody>
      </p:sp>
      <p:sp>
        <p:nvSpPr>
          <p:cNvPr id="11" name="Shape 9"/>
          <p:cNvSpPr/>
          <p:nvPr/>
        </p:nvSpPr>
        <p:spPr>
          <a:xfrm>
            <a:off x="3712464" y="2249424"/>
            <a:ext cx="2871216" cy="877824"/>
          </a:xfrm>
          <a:prstGeom prst="rect">
            <a:avLst/>
          </a:prstGeom>
          <a:solidFill>
            <a:srgbClr val="F2F4F8"/>
          </a:solidFill>
          <a:ln/>
        </p:spPr>
        <p:txBody>
          <a:bodyPr/>
          <a:lstStyle/>
          <a:p>
            <a:endParaRPr lang="fr-FR"/>
          </a:p>
        </p:txBody>
      </p:sp>
      <p:sp>
        <p:nvSpPr>
          <p:cNvPr id="12" name="Text 10"/>
          <p:cNvSpPr txBox="1"/>
          <p:nvPr/>
        </p:nvSpPr>
        <p:spPr>
          <a:xfrm>
            <a:off x="3895344"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02</a:t>
            </a:r>
            <a:endParaRPr lang="en-US" sz="1500" dirty="0"/>
          </a:p>
        </p:txBody>
      </p:sp>
      <p:sp>
        <p:nvSpPr>
          <p:cNvPr id="13" name="Text 11"/>
          <p:cNvSpPr txBox="1"/>
          <p:nvPr/>
        </p:nvSpPr>
        <p:spPr>
          <a:xfrm>
            <a:off x="3895344" y="2633472"/>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Guide utilisateur</a:t>
            </a:r>
            <a:endParaRPr lang="en-US" sz="1350" dirty="0"/>
          </a:p>
        </p:txBody>
      </p:sp>
      <p:sp>
        <p:nvSpPr>
          <p:cNvPr id="14" name="Text 12"/>
          <p:cNvSpPr txBox="1"/>
          <p:nvPr/>
        </p:nvSpPr>
        <p:spPr>
          <a:xfrm>
            <a:off x="3895344" y="287121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consultant, RSSI</a:t>
            </a:r>
            <a:endParaRPr lang="en-US" sz="1100" dirty="0"/>
          </a:p>
        </p:txBody>
      </p:sp>
      <p:sp>
        <p:nvSpPr>
          <p:cNvPr id="15" name="Shape 13"/>
          <p:cNvSpPr/>
          <p:nvPr/>
        </p:nvSpPr>
        <p:spPr>
          <a:xfrm>
            <a:off x="658368" y="3273552"/>
            <a:ext cx="2871216" cy="877824"/>
          </a:xfrm>
          <a:prstGeom prst="rect">
            <a:avLst/>
          </a:prstGeom>
          <a:solidFill>
            <a:srgbClr val="F2F4F8"/>
          </a:solidFill>
          <a:ln/>
        </p:spPr>
        <p:txBody>
          <a:bodyPr/>
          <a:lstStyle/>
          <a:p>
            <a:endParaRPr lang="fr-FR"/>
          </a:p>
        </p:txBody>
      </p:sp>
      <p:sp>
        <p:nvSpPr>
          <p:cNvPr id="16" name="Text 14"/>
          <p:cNvSpPr txBox="1"/>
          <p:nvPr/>
        </p:nvSpPr>
        <p:spPr>
          <a:xfrm>
            <a:off x="841248"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03</a:t>
            </a:r>
            <a:endParaRPr lang="en-US" sz="1500" dirty="0"/>
          </a:p>
        </p:txBody>
      </p:sp>
      <p:sp>
        <p:nvSpPr>
          <p:cNvPr id="17" name="Text 15"/>
          <p:cNvSpPr txBox="1"/>
          <p:nvPr/>
        </p:nvSpPr>
        <p:spPr>
          <a:xfrm>
            <a:off x="841248" y="3657600"/>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Configuration des outils</a:t>
            </a:r>
            <a:endParaRPr lang="en-US" sz="1350" dirty="0"/>
          </a:p>
        </p:txBody>
      </p:sp>
      <p:sp>
        <p:nvSpPr>
          <p:cNvPr id="18" name="Text 16"/>
          <p:cNvSpPr txBox="1"/>
          <p:nvPr/>
        </p:nvSpPr>
        <p:spPr>
          <a:xfrm>
            <a:off x="841248" y="389534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l'intégrateur</a:t>
            </a:r>
            <a:endParaRPr lang="en-US" sz="1100" dirty="0"/>
          </a:p>
        </p:txBody>
      </p:sp>
      <p:sp>
        <p:nvSpPr>
          <p:cNvPr id="19" name="Shape 17"/>
          <p:cNvSpPr/>
          <p:nvPr/>
        </p:nvSpPr>
        <p:spPr>
          <a:xfrm>
            <a:off x="3712464" y="3273552"/>
            <a:ext cx="2871216" cy="877824"/>
          </a:xfrm>
          <a:prstGeom prst="rect">
            <a:avLst/>
          </a:prstGeom>
          <a:solidFill>
            <a:srgbClr val="F2F4F8"/>
          </a:solidFill>
          <a:ln/>
        </p:spPr>
        <p:txBody>
          <a:bodyPr/>
          <a:lstStyle/>
          <a:p>
            <a:endParaRPr lang="fr-FR"/>
          </a:p>
        </p:txBody>
      </p:sp>
      <p:sp>
        <p:nvSpPr>
          <p:cNvPr id="20" name="Text 18"/>
          <p:cNvSpPr txBox="1"/>
          <p:nvPr/>
        </p:nvSpPr>
        <p:spPr>
          <a:xfrm>
            <a:off x="3895344"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04</a:t>
            </a:r>
            <a:endParaRPr lang="en-US" sz="1500" dirty="0"/>
          </a:p>
        </p:txBody>
      </p:sp>
      <p:sp>
        <p:nvSpPr>
          <p:cNvPr id="21" name="Text 19"/>
          <p:cNvSpPr txBox="1"/>
          <p:nvPr/>
        </p:nvSpPr>
        <p:spPr>
          <a:xfrm>
            <a:off x="3895344" y="3657600"/>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Architecture</a:t>
            </a:r>
            <a:endParaRPr lang="en-US" sz="1350" dirty="0"/>
          </a:p>
        </p:txBody>
      </p:sp>
      <p:sp>
        <p:nvSpPr>
          <p:cNvPr id="22" name="Text 20"/>
          <p:cNvSpPr txBox="1"/>
          <p:nvPr/>
        </p:nvSpPr>
        <p:spPr>
          <a:xfrm>
            <a:off x="3895344" y="389534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le repreneur du code</a:t>
            </a:r>
            <a:endParaRPr lang="en-US" sz="1100" dirty="0"/>
          </a:p>
        </p:txBody>
      </p:sp>
      <p:sp>
        <p:nvSpPr>
          <p:cNvPr id="23" name="Shape 21"/>
          <p:cNvSpPr/>
          <p:nvPr/>
        </p:nvSpPr>
        <p:spPr>
          <a:xfrm>
            <a:off x="658368" y="4297680"/>
            <a:ext cx="2871216" cy="877824"/>
          </a:xfrm>
          <a:prstGeom prst="rect">
            <a:avLst/>
          </a:prstGeom>
          <a:solidFill>
            <a:srgbClr val="F2F4F8"/>
          </a:solidFill>
          <a:ln/>
        </p:spPr>
        <p:txBody>
          <a:bodyPr/>
          <a:lstStyle/>
          <a:p>
            <a:endParaRPr lang="fr-FR"/>
          </a:p>
        </p:txBody>
      </p:sp>
      <p:sp>
        <p:nvSpPr>
          <p:cNvPr id="24" name="Text 22"/>
          <p:cNvSpPr txBox="1"/>
          <p:nvPr/>
        </p:nvSpPr>
        <p:spPr>
          <a:xfrm>
            <a:off x="841248"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05</a:t>
            </a:r>
            <a:endParaRPr lang="en-US" sz="1500" dirty="0"/>
          </a:p>
        </p:txBody>
      </p:sp>
      <p:sp>
        <p:nvSpPr>
          <p:cNvPr id="25" name="Text 23"/>
          <p:cNvSpPr txBox="1"/>
          <p:nvPr/>
        </p:nvSpPr>
        <p:spPr>
          <a:xfrm>
            <a:off x="841248" y="4681728"/>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Paramètres et calibrage</a:t>
            </a:r>
            <a:endParaRPr lang="en-US" sz="1350" dirty="0"/>
          </a:p>
        </p:txBody>
      </p:sp>
      <p:sp>
        <p:nvSpPr>
          <p:cNvPr id="26" name="Text 24"/>
          <p:cNvSpPr txBox="1"/>
          <p:nvPr/>
        </p:nvSpPr>
        <p:spPr>
          <a:xfrm>
            <a:off x="841248" y="4919472"/>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l'expert métier</a:t>
            </a:r>
            <a:endParaRPr lang="en-US" sz="1100" dirty="0"/>
          </a:p>
        </p:txBody>
      </p:sp>
      <p:sp>
        <p:nvSpPr>
          <p:cNvPr id="27" name="Shape 25"/>
          <p:cNvSpPr/>
          <p:nvPr/>
        </p:nvSpPr>
        <p:spPr>
          <a:xfrm>
            <a:off x="3712464" y="4297680"/>
            <a:ext cx="2871216" cy="877824"/>
          </a:xfrm>
          <a:prstGeom prst="rect">
            <a:avLst/>
          </a:prstGeom>
          <a:solidFill>
            <a:srgbClr val="F2F4F8"/>
          </a:solidFill>
          <a:ln/>
        </p:spPr>
        <p:txBody>
          <a:bodyPr/>
          <a:lstStyle/>
          <a:p>
            <a:endParaRPr lang="fr-FR"/>
          </a:p>
        </p:txBody>
      </p:sp>
      <p:sp>
        <p:nvSpPr>
          <p:cNvPr id="28" name="Text 26"/>
          <p:cNvSpPr txBox="1"/>
          <p:nvPr/>
        </p:nvSpPr>
        <p:spPr>
          <a:xfrm>
            <a:off x="3895344"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06</a:t>
            </a:r>
            <a:endParaRPr lang="en-US" sz="1500" dirty="0"/>
          </a:p>
        </p:txBody>
      </p:sp>
      <p:sp>
        <p:nvSpPr>
          <p:cNvPr id="29" name="Text 27"/>
          <p:cNvSpPr txBox="1"/>
          <p:nvPr/>
        </p:nvSpPr>
        <p:spPr>
          <a:xfrm>
            <a:off x="3895344" y="4681728"/>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Passation, feuille de route</a:t>
            </a:r>
            <a:endParaRPr lang="en-US" sz="1350" dirty="0"/>
          </a:p>
        </p:txBody>
      </p:sp>
      <p:sp>
        <p:nvSpPr>
          <p:cNvPr id="30" name="Text 28"/>
          <p:cNvSpPr txBox="1"/>
          <p:nvPr/>
        </p:nvSpPr>
        <p:spPr>
          <a:xfrm>
            <a:off x="3895344" y="4919472"/>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la direction</a:t>
            </a:r>
            <a:endParaRPr lang="en-US" sz="1100" dirty="0"/>
          </a:p>
        </p:txBody>
      </p:sp>
      <p:sp>
        <p:nvSpPr>
          <p:cNvPr id="31" name="Shape 29"/>
          <p:cNvSpPr/>
          <p:nvPr/>
        </p:nvSpPr>
        <p:spPr>
          <a:xfrm>
            <a:off x="6803136" y="1975104"/>
            <a:ext cx="25603" cy="3200400"/>
          </a:xfrm>
          <a:prstGeom prst="rect">
            <a:avLst/>
          </a:prstGeom>
          <a:solidFill>
            <a:srgbClr val="E6EAF1"/>
          </a:solidFill>
          <a:ln/>
        </p:spPr>
        <p:txBody>
          <a:bodyPr/>
          <a:lstStyle/>
          <a:p>
            <a:endParaRPr lang="fr-FR"/>
          </a:p>
        </p:txBody>
      </p:sp>
      <p:sp>
        <p:nvSpPr>
          <p:cNvPr id="32" name="Text 30"/>
          <p:cNvSpPr txBox="1"/>
          <p:nvPr/>
        </p:nvSpPr>
        <p:spPr>
          <a:xfrm>
            <a:off x="7187184" y="1920240"/>
            <a:ext cx="429768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L'ADOPTION VÉRIFIÉE</a:t>
            </a:r>
            <a:endParaRPr lang="en-US" sz="1050" dirty="0"/>
          </a:p>
        </p:txBody>
      </p:sp>
      <p:sp>
        <p:nvSpPr>
          <p:cNvPr id="33" name="Text 31"/>
          <p:cNvSpPr txBox="1"/>
          <p:nvPr/>
        </p:nvSpPr>
        <p:spPr>
          <a:xfrm>
            <a:off x="7187184" y="2249424"/>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5</a:t>
            </a:r>
            <a:endParaRPr lang="en-US" sz="4000" dirty="0"/>
          </a:p>
        </p:txBody>
      </p:sp>
      <p:sp>
        <p:nvSpPr>
          <p:cNvPr id="34" name="Text 32"/>
          <p:cNvSpPr txBox="1"/>
          <p:nvPr/>
        </p:nvSpPr>
        <p:spPr>
          <a:xfrm>
            <a:off x="8613648" y="2249424"/>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fiches d'incident, écrites depuis des pannes réellement survenues</a:t>
            </a:r>
            <a:endParaRPr lang="en-US" sz="1300" dirty="0"/>
          </a:p>
        </p:txBody>
      </p:sp>
      <p:sp>
        <p:nvSpPr>
          <p:cNvPr id="35" name="Text 33"/>
          <p:cNvSpPr txBox="1"/>
          <p:nvPr/>
        </p:nvSpPr>
        <p:spPr>
          <a:xfrm>
            <a:off x="7187184" y="3273552"/>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1</a:t>
            </a:r>
            <a:endParaRPr lang="en-US" sz="4000" dirty="0"/>
          </a:p>
        </p:txBody>
      </p:sp>
      <p:sp>
        <p:nvSpPr>
          <p:cNvPr id="36" name="Text 34"/>
          <p:cNvSpPr txBox="1"/>
          <p:nvPr/>
        </p:nvSpPr>
        <p:spPr>
          <a:xfrm>
            <a:off x="8613648" y="3273552"/>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commande pour redéployer la chaîne complète</a:t>
            </a:r>
            <a:endParaRPr lang="en-US" sz="1300" dirty="0"/>
          </a:p>
        </p:txBody>
      </p:sp>
      <p:sp>
        <p:nvSpPr>
          <p:cNvPr id="37" name="Text 35"/>
          <p:cNvSpPr txBox="1"/>
          <p:nvPr/>
        </p:nvSpPr>
        <p:spPr>
          <a:xfrm>
            <a:off x="7187184" y="4297680"/>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6 / 6</a:t>
            </a:r>
            <a:endParaRPr lang="en-US" sz="4000" dirty="0"/>
          </a:p>
        </p:txBody>
      </p:sp>
      <p:sp>
        <p:nvSpPr>
          <p:cNvPr id="38" name="Text 36"/>
          <p:cNvSpPr txBox="1"/>
          <p:nvPr/>
        </p:nvSpPr>
        <p:spPr>
          <a:xfrm>
            <a:off x="8613648" y="4297680"/>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points du protocole de recette validés au jalon J4</a:t>
            </a:r>
            <a:endParaRPr lang="en-US" sz="1300" dirty="0"/>
          </a:p>
        </p:txBody>
      </p:sp>
      <p:sp>
        <p:nvSpPr>
          <p:cNvPr id="39" name="Shape 37"/>
          <p:cNvSpPr/>
          <p:nvPr/>
        </p:nvSpPr>
        <p:spPr>
          <a:xfrm>
            <a:off x="658368" y="5486400"/>
            <a:ext cx="10874959" cy="566928"/>
          </a:xfrm>
          <a:prstGeom prst="rect">
            <a:avLst/>
          </a:prstGeom>
          <a:solidFill>
            <a:srgbClr val="1B2A4A"/>
          </a:solidFill>
          <a:ln/>
        </p:spPr>
        <p:txBody>
          <a:bodyPr/>
          <a:lstStyle/>
          <a:p>
            <a:endParaRPr lang="fr-FR"/>
          </a:p>
        </p:txBody>
      </p:sp>
      <p:sp>
        <p:nvSpPr>
          <p:cNvPr id="40" name="Text 38"/>
          <p:cNvSpPr txBox="1"/>
          <p:nvPr/>
        </p:nvSpPr>
        <p:spPr>
          <a:xfrm>
            <a:off x="914400" y="5486400"/>
            <a:ext cx="10362895" cy="566928"/>
          </a:xfrm>
          <a:prstGeom prst="rect">
            <a:avLst/>
          </a:prstGeom>
          <a:noFill/>
          <a:ln/>
        </p:spPr>
        <p:txBody>
          <a:bodyPr wrap="square" lIns="0" tIns="0" rIns="0" bIns="0" rtlCol="0" anchor="ctr"/>
          <a:lstStyle/>
          <a:p>
            <a:pPr marL="0" indent="0">
              <a:lnSpc>
                <a:spcPct val="106000"/>
              </a:lnSpc>
              <a:buNone/>
            </a:pPr>
            <a:r>
              <a:rPr lang="en-US" sz="1250" b="1" dirty="0">
                <a:solidFill>
                  <a:srgbClr val="FFFFFF"/>
                </a:solidFill>
                <a:latin typeface="Lato" pitchFamily="34" charset="0"/>
                <a:ea typeface="Lato" pitchFamily="34" charset="-122"/>
                <a:cs typeface="Lato" pitchFamily="34" charset="-120"/>
              </a:rPr>
              <a:t>Retour sur investissement estimé par le valideur : le temps de priorisation divisé par quatre à cinq.</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B677D11C-9D20-4801-8567-1A84A58A779B}" type="slidenum">
              <a:rPr lang="fr-FR" sz="900" b="0">
                <a:solidFill>
                  <a:srgbClr val="4A5568"/>
                </a:solidFill>
                <a:latin typeface="Lato"/>
              </a:rPr>
              <a:t>23</a:t>
            </a:fld>
            <a:endParaRPr lang="fr-FR">
              <a:solidFill>
                <a:srgbClr val="4A556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CE QUE J'AI ARBITRÉ EN COURS DE PROJET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noProof="0" dirty="0">
                <a:solidFill>
                  <a:srgbClr val="1B2A4A"/>
                </a:solidFill>
                <a:latin typeface="Lato" pitchFamily="34" charset="0"/>
                <a:ea typeface="Lato" pitchFamily="34" charset="-122"/>
                <a:cs typeface="Lato" pitchFamily="34" charset="-120"/>
              </a:rPr>
              <a:t>Aléas majeurs rencontrés et décisions prises</a:t>
            </a:r>
            <a:endParaRPr lang="fr-FR" sz="3000" noProof="0" dirty="0"/>
          </a:p>
        </p:txBody>
      </p:sp>
      <p:graphicFrame>
        <p:nvGraphicFramePr>
          <p:cNvPr id="4" name="Table 0"/>
          <p:cNvGraphicFramePr>
            <a:graphicFrameLocks noGrp="1"/>
          </p:cNvGraphicFramePr>
          <p:nvPr>
            <p:extLst>
              <p:ext uri="{D42A27DB-BD31-4B8C-83A1-F6EECF244321}">
                <p14:modId xmlns:p14="http://schemas.microsoft.com/office/powerpoint/2010/main" val="3176954366"/>
              </p:ext>
            </p:extLst>
          </p:nvPr>
        </p:nvGraphicFramePr>
        <p:xfrm>
          <a:off x="658368" y="1389888"/>
          <a:ext cx="10872216" cy="1645920"/>
        </p:xfrm>
        <a:graphic>
          <a:graphicData uri="http://schemas.openxmlformats.org/drawingml/2006/table">
            <a:tbl>
              <a:tblPr/>
              <a:tblGrid>
                <a:gridCol w="324612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3282696">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L'aléa</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fr-FR" sz="1200" b="1" noProof="0" dirty="0">
                          <a:solidFill>
                            <a:srgbClr val="FFFFFF"/>
                          </a:solidFill>
                          <a:latin typeface="Lato" pitchFamily="34" charset="0"/>
                          <a:ea typeface="Lato" pitchFamily="34" charset="-122"/>
                          <a:cs typeface="Lato" pitchFamily="34" charset="-120"/>
                        </a:rPr>
                        <a:t>Remédiation</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L'effet</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48640">
                <a:tc>
                  <a:txBody>
                    <a:bodyPr/>
                    <a:lstStyle/>
                    <a:p>
                      <a:pPr marL="0" indent="0" algn="l">
                        <a:buNone/>
                      </a:pPr>
                      <a:r>
                        <a:rPr lang="en-US" sz="1200" b="0" dirty="0">
                          <a:solidFill>
                            <a:srgbClr val="C5A55A"/>
                          </a:solidFill>
                          <a:latin typeface="Lato" pitchFamily="34" charset="0"/>
                          <a:ea typeface="Lato" pitchFamily="34" charset="-122"/>
                          <a:cs typeface="Lato" pitchFamily="34" charset="-120"/>
                        </a:rPr>
                        <a:t>Référentiels non alimentés au démarrage : leur tenue suppose des rôles non dédiés</a:t>
                      </a:r>
                      <a:endParaRPr lang="en-US" sz="1200" b="0" dirty="0">
                        <a:solidFill>
                          <a:srgbClr val="C5A55A"/>
                        </a:solidFill>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fr-FR" sz="1200" b="1" noProof="0" dirty="0">
                          <a:solidFill>
                            <a:srgbClr val="1B2A4A"/>
                          </a:solidFill>
                          <a:latin typeface="Lato" pitchFamily="34" charset="0"/>
                          <a:ea typeface="Lato" pitchFamily="34" charset="-122"/>
                          <a:cs typeface="Lato" pitchFamily="34" charset="-120"/>
                        </a:rPr>
                        <a:t>Périmètre resserré de 20 à 4 machines</a:t>
                      </a:r>
                    </a:p>
                    <a:p>
                      <a:pPr marL="0" indent="0" algn="l">
                        <a:buNone/>
                      </a:pPr>
                      <a:r>
                        <a:rPr lang="fr-FR" sz="1200" b="1" noProof="0" dirty="0">
                          <a:solidFill>
                            <a:srgbClr val="1B2A4A"/>
                          </a:solidFill>
                          <a:latin typeface="Lato" pitchFamily="34" charset="0"/>
                          <a:ea typeface="Lato" pitchFamily="34" charset="-122"/>
                          <a:cs typeface="Lato" pitchFamily="34" charset="-120"/>
                        </a:rPr>
                        <a:t>Arbitrage validé avec le maître d'apprentissage</a:t>
                      </a:r>
                      <a:endParaRPr lang="fr-FR" sz="1200" noProof="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100 % du périmètre </a:t>
                      </a:r>
                      <a:r>
                        <a:rPr lang="en-US" sz="1200" b="1" dirty="0" err="1">
                          <a:solidFill>
                            <a:srgbClr val="93783C"/>
                          </a:solidFill>
                          <a:latin typeface="Lato" pitchFamily="34" charset="0"/>
                          <a:ea typeface="Lato" pitchFamily="34" charset="-122"/>
                          <a:cs typeface="Lato" pitchFamily="34" charset="-120"/>
                        </a:rPr>
                        <a:t>révisé</a:t>
                      </a:r>
                      <a:r>
                        <a:rPr lang="en-US" sz="1200" b="1" dirty="0">
                          <a:solidFill>
                            <a:srgbClr val="93783C"/>
                          </a:solidFill>
                          <a:latin typeface="Lato" pitchFamily="34" charset="0"/>
                          <a:ea typeface="Lato" pitchFamily="34" charset="-122"/>
                          <a:cs typeface="Lato" pitchFamily="34" charset="-120"/>
                        </a:rPr>
                        <a:t> </a:t>
                      </a:r>
                      <a:r>
                        <a:rPr lang="en-US" sz="1200" b="1" dirty="0" err="1">
                          <a:solidFill>
                            <a:srgbClr val="93783C"/>
                          </a:solidFill>
                          <a:latin typeface="Lato" pitchFamily="34" charset="0"/>
                          <a:ea typeface="Lato" pitchFamily="34" charset="-122"/>
                          <a:cs typeface="Lato" pitchFamily="34" charset="-120"/>
                        </a:rPr>
                        <a:t>couvert</a:t>
                      </a:r>
                      <a:endParaRPr lang="en-US" sz="1200" b="1" dirty="0">
                        <a:solidFill>
                          <a:srgbClr val="93783C"/>
                        </a:solidFill>
                        <a:latin typeface="Lato" pitchFamily="34" charset="0"/>
                        <a:ea typeface="Lato" pitchFamily="34" charset="-122"/>
                        <a:cs typeface="Lato" pitchFamily="34" charset="-120"/>
                      </a:endParaRPr>
                    </a:p>
                    <a:p>
                      <a:pPr marL="0" indent="0" algn="l">
                        <a:buNone/>
                      </a:pPr>
                      <a:r>
                        <a:rPr lang="en-US" sz="1200" b="1" dirty="0">
                          <a:solidFill>
                            <a:srgbClr val="93783C"/>
                          </a:solidFill>
                          <a:latin typeface="Lato" pitchFamily="34" charset="0"/>
                          <a:ea typeface="Lato" pitchFamily="34" charset="-122"/>
                          <a:cs typeface="Lato" pitchFamily="34" charset="-120"/>
                        </a:rPr>
                        <a:t>Retard J2</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548640">
                <a:tc>
                  <a:txBody>
                    <a:bodyPr/>
                    <a:lstStyle/>
                    <a:p>
                      <a:pPr marL="0" indent="0" algn="l">
                        <a:buNone/>
                      </a:pPr>
                      <a:r>
                        <a:rPr lang="en-US" sz="1200" b="0" dirty="0">
                          <a:solidFill>
                            <a:srgbClr val="C5A55A"/>
                          </a:solidFill>
                          <a:latin typeface="Lato" pitchFamily="34" charset="0"/>
                          <a:ea typeface="Lato" pitchFamily="34" charset="-122"/>
                          <a:cs typeface="Lato" pitchFamily="34" charset="-120"/>
                        </a:rPr>
                        <a:t>Outil de supervision indisponible</a:t>
                      </a:r>
                      <a:endParaRPr lang="en-US" sz="1200" b="0" dirty="0">
                        <a:solidFill>
                          <a:srgbClr val="C5A55A"/>
                        </a:solidFill>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fr-FR" sz="1200" b="1" noProof="0" dirty="0">
                          <a:solidFill>
                            <a:srgbClr val="1B2A4A"/>
                          </a:solidFill>
                          <a:latin typeface="Lato" pitchFamily="34" charset="0"/>
                          <a:ea typeface="Lato" pitchFamily="34" charset="-122"/>
                          <a:cs typeface="Lato" pitchFamily="34" charset="-120"/>
                        </a:rPr>
                        <a:t>Accès rétabli avant de reprendre la collecte</a:t>
                      </a:r>
                      <a:endParaRPr lang="fr-FR" sz="1200" noProof="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jalon J2 </a:t>
                      </a:r>
                      <a:r>
                        <a:rPr lang="en-US" sz="1200" b="1" dirty="0" err="1">
                          <a:solidFill>
                            <a:srgbClr val="93783C"/>
                          </a:solidFill>
                          <a:latin typeface="Lato" pitchFamily="34" charset="0"/>
                          <a:ea typeface="Lato" pitchFamily="34" charset="-122"/>
                          <a:cs typeface="Lato" pitchFamily="34" charset="-120"/>
                        </a:rPr>
                        <a:t>décalé</a:t>
                      </a:r>
                      <a:r>
                        <a:rPr lang="en-US" sz="1200" b="1" dirty="0">
                          <a:solidFill>
                            <a:srgbClr val="93783C"/>
                          </a:solidFill>
                          <a:latin typeface="Lato" pitchFamily="34" charset="0"/>
                          <a:ea typeface="Lato" pitchFamily="34" charset="-122"/>
                          <a:cs typeface="Lato" pitchFamily="34" charset="-120"/>
                        </a:rPr>
                        <a:t> </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658368" y="5504688"/>
            <a:ext cx="10874959" cy="566928"/>
          </a:xfrm>
          <a:prstGeom prst="rect">
            <a:avLst/>
          </a:prstGeom>
          <a:solidFill>
            <a:srgbClr val="1B2A4A"/>
          </a:solidFill>
          <a:ln/>
        </p:spPr>
        <p:txBody>
          <a:bodyPr/>
          <a:lstStyle/>
          <a:p>
            <a:endParaRPr lang="fr-FR"/>
          </a:p>
        </p:txBody>
      </p:sp>
      <p:sp>
        <p:nvSpPr>
          <p:cNvPr id="6" name="Text 3"/>
          <p:cNvSpPr txBox="1"/>
          <p:nvPr/>
        </p:nvSpPr>
        <p:spPr>
          <a:xfrm>
            <a:off x="1436914" y="5504688"/>
            <a:ext cx="9840381" cy="566928"/>
          </a:xfrm>
          <a:prstGeom prst="rect">
            <a:avLst/>
          </a:prstGeom>
          <a:noFill/>
          <a:ln/>
        </p:spPr>
        <p:txBody>
          <a:bodyPr wrap="square" lIns="0" tIns="0" rIns="0" bIns="0" rtlCol="0" anchor="ctr"/>
          <a:lstStyle/>
          <a:p>
            <a:pPr marL="0" indent="0">
              <a:lnSpc>
                <a:spcPct val="106000"/>
              </a:lnSpc>
              <a:buNone/>
            </a:pPr>
            <a:r>
              <a:rPr lang="en-US" sz="1250" b="1" dirty="0">
                <a:solidFill>
                  <a:srgbClr val="FFFFFF"/>
                </a:solidFill>
                <a:latin typeface="Lato" pitchFamily="34" charset="0"/>
                <a:ea typeface="Lato" pitchFamily="34" charset="-122"/>
                <a:cs typeface="Lato" pitchFamily="34" charset="-120"/>
              </a:rPr>
              <a:t>Aucun aléa n'a été subi sans arbitrage.</a:t>
            </a:r>
          </a:p>
          <a:p>
            <a:pPr marL="0" indent="0">
              <a:lnSpc>
                <a:spcPct val="106000"/>
              </a:lnSpc>
              <a:buNone/>
            </a:pPr>
            <a:r>
              <a:rPr lang="en-US" sz="1250" b="1" dirty="0">
                <a:solidFill>
                  <a:srgbClr val="FFFFFF"/>
                </a:solidFill>
                <a:latin typeface="Lato" pitchFamily="34" charset="0"/>
                <a:ea typeface="Lato" pitchFamily="34" charset="-122"/>
                <a:cs typeface="Lato" pitchFamily="34" charset="-120"/>
              </a:rPr>
              <a:t>Les six aléas complets figurent en annexe.</a:t>
            </a:r>
            <a:endParaRPr lang="en-US" sz="1250" dirty="0"/>
          </a:p>
        </p:txBody>
      </p:sp>
      <p:pic>
        <p:nvPicPr>
          <p:cNvPr id="8" name="Graphique 7" descr="Informations contour">
            <a:extLst>
              <a:ext uri="{FF2B5EF4-FFF2-40B4-BE49-F238E27FC236}">
                <a16:creationId xmlns:a16="http://schemas.microsoft.com/office/drawing/2014/main" id="{56175BA1-0B47-D71E-A6EA-2948A87C73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1464" y="5504688"/>
            <a:ext cx="532354" cy="532354"/>
          </a:xfrm>
          <a:prstGeom prst="rect">
            <a:avLst/>
          </a:prstGeom>
        </p:spPr>
      </p:pic>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61AED52D-F4BA-4B81-B9AD-C4FFE24FAC60}" type="slidenum">
              <a:rPr lang="fr-FR" sz="900" b="0">
                <a:solidFill>
                  <a:srgbClr val="4A5568"/>
                </a:solidFill>
                <a:latin typeface="Lato"/>
              </a:rPr>
              <a:t>24</a:t>
            </a:fld>
            <a:endParaRPr lang="fr-FR">
              <a:solidFill>
                <a:srgbClr val="4A556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4</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4</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Solution mise en œuvre</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C25E6650-7E52-4ED6-B7DD-3DA9020936EB}" type="slidenum">
              <a:rPr lang="fr-FR" sz="900" b="0">
                <a:solidFill>
                  <a:srgbClr val="AEB7C6"/>
                </a:solidFill>
                <a:latin typeface="Lato"/>
              </a:rPr>
              <a:t>25</a:t>
            </a:fld>
            <a:endParaRPr lang="fr-FR">
              <a:solidFill>
                <a:srgbClr val="AEB7C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Architecture du démonstrateur</a:t>
            </a:r>
            <a:endParaRPr lang="en-US" sz="3000" dirty="0"/>
          </a:p>
        </p:txBody>
      </p:sp>
      <p:sp>
        <p:nvSpPr>
          <p:cNvPr id="3" name="Shape 1"/>
          <p:cNvSpPr/>
          <p:nvPr/>
        </p:nvSpPr>
        <p:spPr>
          <a:xfrm>
            <a:off x="658368" y="1517904"/>
            <a:ext cx="1956816" cy="1243584"/>
          </a:xfrm>
          <a:prstGeom prst="rect">
            <a:avLst/>
          </a:prstGeom>
          <a:solidFill>
            <a:srgbClr val="F2F4F8"/>
          </a:solidFill>
          <a:ln/>
        </p:spPr>
        <p:txBody>
          <a:bodyPr/>
          <a:lstStyle/>
          <a:p>
            <a:endParaRPr lang="fr-FR"/>
          </a:p>
        </p:txBody>
      </p:sp>
      <p:sp>
        <p:nvSpPr>
          <p:cNvPr id="4" name="Text 2"/>
          <p:cNvSpPr txBox="1"/>
          <p:nvPr/>
        </p:nvSpPr>
        <p:spPr>
          <a:xfrm>
            <a:off x="822960" y="1627632"/>
            <a:ext cx="457200" cy="274320"/>
          </a:xfrm>
          <a:prstGeom prst="rect">
            <a:avLst/>
          </a:prstGeom>
          <a:noFill/>
          <a:ln/>
        </p:spPr>
        <p:txBody>
          <a:bodyPr wrap="square" lIns="0" tIns="0" rIns="0" bIns="0" rtlCol="0" anchor="ctr"/>
          <a:lstStyle/>
          <a:p>
            <a:pPr marL="0" indent="0">
              <a:buNone/>
            </a:pPr>
            <a:r>
              <a:rPr lang="en-US" sz="1100" b="1" dirty="0">
                <a:solidFill>
                  <a:srgbClr val="C5A55A"/>
                </a:solidFill>
                <a:latin typeface="Lato" pitchFamily="34" charset="0"/>
                <a:ea typeface="Lato" pitchFamily="34" charset="-122"/>
                <a:cs typeface="Lato" pitchFamily="34" charset="-120"/>
              </a:rPr>
              <a:t>1</a:t>
            </a:r>
            <a:endParaRPr lang="en-US" sz="1100" dirty="0"/>
          </a:p>
        </p:txBody>
      </p:sp>
      <p:sp>
        <p:nvSpPr>
          <p:cNvPr id="5" name="Text 3"/>
          <p:cNvSpPr txBox="1"/>
          <p:nvPr/>
        </p:nvSpPr>
        <p:spPr>
          <a:xfrm>
            <a:off x="822960" y="1901952"/>
            <a:ext cx="1627632"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Collecte</a:t>
            </a:r>
            <a:endParaRPr lang="en-US" sz="1450" dirty="0"/>
          </a:p>
        </p:txBody>
      </p:sp>
      <p:sp>
        <p:nvSpPr>
          <p:cNvPr id="6" name="Text 4"/>
          <p:cNvSpPr txBox="1"/>
          <p:nvPr/>
        </p:nvSpPr>
        <p:spPr>
          <a:xfrm>
            <a:off x="822960" y="2212848"/>
            <a:ext cx="1627632" cy="475488"/>
          </a:xfrm>
          <a:prstGeom prst="rect">
            <a:avLst/>
          </a:prstGeom>
          <a:noFill/>
          <a:ln/>
        </p:spPr>
        <p:txBody>
          <a:bodyPr wrap="square" lIns="0" tIns="0" rIns="0" bIns="0" rtlCol="0" anchor="ctr"/>
          <a:lstStyle/>
          <a:p>
            <a:pPr marL="0" indent="0">
              <a:lnSpc>
                <a:spcPct val="110000"/>
              </a:lnSpc>
              <a:buNone/>
            </a:pPr>
            <a:r>
              <a:rPr lang="en-US" sz="1100" dirty="0">
                <a:solidFill>
                  <a:srgbClr val="4A5568"/>
                </a:solidFill>
                <a:latin typeface="Lato" pitchFamily="34" charset="0"/>
                <a:ea typeface="Lato" pitchFamily="34" charset="-122"/>
                <a:cs typeface="Lato" pitchFamily="34" charset="-120"/>
              </a:rPr>
              <a:t>iTop, Wazuh,</a:t>
            </a:r>
            <a:endParaRPr lang="en-US" sz="1100" dirty="0"/>
          </a:p>
          <a:p>
            <a:pPr marL="0" indent="0">
              <a:lnSpc>
                <a:spcPct val="110000"/>
              </a:lnSpc>
              <a:buNone/>
            </a:pPr>
            <a:r>
              <a:rPr lang="en-US" sz="1100" dirty="0">
                <a:solidFill>
                  <a:srgbClr val="4A5568"/>
                </a:solidFill>
                <a:latin typeface="Lato" pitchFamily="34" charset="0"/>
                <a:ea typeface="Lato" pitchFamily="34" charset="-122"/>
                <a:cs typeface="Lato" pitchFamily="34" charset="-120"/>
              </a:rPr>
              <a:t>CISO Assistant</a:t>
            </a:r>
            <a:endParaRPr lang="en-US" sz="1100" dirty="0"/>
          </a:p>
        </p:txBody>
      </p:sp>
      <p:sp>
        <p:nvSpPr>
          <p:cNvPr id="7" name="Text 5"/>
          <p:cNvSpPr txBox="1"/>
          <p:nvPr/>
        </p:nvSpPr>
        <p:spPr>
          <a:xfrm>
            <a:off x="2596896" y="197510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8" name="Shape 6"/>
          <p:cNvSpPr/>
          <p:nvPr/>
        </p:nvSpPr>
        <p:spPr>
          <a:xfrm>
            <a:off x="2889504" y="1517904"/>
            <a:ext cx="1956816" cy="1243584"/>
          </a:xfrm>
          <a:prstGeom prst="rect">
            <a:avLst/>
          </a:prstGeom>
          <a:solidFill>
            <a:srgbClr val="F2F4F8"/>
          </a:solidFill>
          <a:ln/>
        </p:spPr>
        <p:txBody>
          <a:bodyPr/>
          <a:lstStyle/>
          <a:p>
            <a:endParaRPr lang="fr-FR"/>
          </a:p>
        </p:txBody>
      </p:sp>
      <p:sp>
        <p:nvSpPr>
          <p:cNvPr id="9" name="Text 7"/>
          <p:cNvSpPr txBox="1"/>
          <p:nvPr/>
        </p:nvSpPr>
        <p:spPr>
          <a:xfrm>
            <a:off x="3054096" y="1627632"/>
            <a:ext cx="457200" cy="274320"/>
          </a:xfrm>
          <a:prstGeom prst="rect">
            <a:avLst/>
          </a:prstGeom>
          <a:noFill/>
          <a:ln/>
        </p:spPr>
        <p:txBody>
          <a:bodyPr wrap="square" lIns="0" tIns="0" rIns="0" bIns="0" rtlCol="0" anchor="ctr"/>
          <a:lstStyle/>
          <a:p>
            <a:pPr marL="0" indent="0">
              <a:buNone/>
            </a:pPr>
            <a:r>
              <a:rPr lang="en-US" sz="1100" b="1" dirty="0">
                <a:solidFill>
                  <a:srgbClr val="C5A55A"/>
                </a:solidFill>
                <a:latin typeface="Lato" pitchFamily="34" charset="0"/>
                <a:ea typeface="Lato" pitchFamily="34" charset="-122"/>
                <a:cs typeface="Lato" pitchFamily="34" charset="-120"/>
              </a:rPr>
              <a:t>2</a:t>
            </a:r>
            <a:endParaRPr lang="en-US" sz="1100" dirty="0"/>
          </a:p>
        </p:txBody>
      </p:sp>
      <p:sp>
        <p:nvSpPr>
          <p:cNvPr id="10" name="Text 8"/>
          <p:cNvSpPr txBox="1"/>
          <p:nvPr/>
        </p:nvSpPr>
        <p:spPr>
          <a:xfrm>
            <a:off x="3054096" y="1901952"/>
            <a:ext cx="1627632"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Réconciliation</a:t>
            </a:r>
            <a:endParaRPr lang="en-US" sz="1450" dirty="0"/>
          </a:p>
        </p:txBody>
      </p:sp>
      <p:sp>
        <p:nvSpPr>
          <p:cNvPr id="11" name="Text 9"/>
          <p:cNvSpPr txBox="1"/>
          <p:nvPr/>
        </p:nvSpPr>
        <p:spPr>
          <a:xfrm>
            <a:off x="3054096" y="2212848"/>
            <a:ext cx="1627632" cy="475488"/>
          </a:xfrm>
          <a:prstGeom prst="rect">
            <a:avLst/>
          </a:prstGeom>
          <a:noFill/>
          <a:ln/>
        </p:spPr>
        <p:txBody>
          <a:bodyPr wrap="square" lIns="0" tIns="0" rIns="0" bIns="0" rtlCol="0" anchor="ctr"/>
          <a:lstStyle/>
          <a:p>
            <a:pPr marL="0" indent="0">
              <a:lnSpc>
                <a:spcPct val="110000"/>
              </a:lnSpc>
              <a:buNone/>
            </a:pPr>
            <a:r>
              <a:rPr lang="en-US" sz="1100" dirty="0">
                <a:solidFill>
                  <a:srgbClr val="4A5568"/>
                </a:solidFill>
                <a:latin typeface="Lato" pitchFamily="34" charset="0"/>
                <a:ea typeface="Lato" pitchFamily="34" charset="-122"/>
                <a:cs typeface="Lato" pitchFamily="34" charset="-120"/>
              </a:rPr>
              <a:t>appariement des</a:t>
            </a:r>
            <a:endParaRPr lang="en-US" sz="1100" dirty="0"/>
          </a:p>
          <a:p>
            <a:pPr marL="0" indent="0">
              <a:lnSpc>
                <a:spcPct val="110000"/>
              </a:lnSpc>
              <a:buNone/>
            </a:pPr>
            <a:r>
              <a:rPr lang="en-US" sz="1100" dirty="0">
                <a:solidFill>
                  <a:srgbClr val="4A5568"/>
                </a:solidFill>
                <a:latin typeface="Lato" pitchFamily="34" charset="0"/>
                <a:ea typeface="Lato" pitchFamily="34" charset="-122"/>
                <a:cs typeface="Lato" pitchFamily="34" charset="-120"/>
              </a:rPr>
              <a:t>noms d'actifs</a:t>
            </a:r>
            <a:endParaRPr lang="en-US" sz="1100" dirty="0"/>
          </a:p>
        </p:txBody>
      </p:sp>
      <p:sp>
        <p:nvSpPr>
          <p:cNvPr id="12" name="Text 10"/>
          <p:cNvSpPr txBox="1"/>
          <p:nvPr/>
        </p:nvSpPr>
        <p:spPr>
          <a:xfrm>
            <a:off x="4828032" y="197510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13" name="Shape 11"/>
          <p:cNvSpPr/>
          <p:nvPr/>
        </p:nvSpPr>
        <p:spPr>
          <a:xfrm>
            <a:off x="5120640" y="1517904"/>
            <a:ext cx="1956816" cy="1243584"/>
          </a:xfrm>
          <a:prstGeom prst="rect">
            <a:avLst/>
          </a:prstGeom>
          <a:solidFill>
            <a:srgbClr val="F2F4F8"/>
          </a:solidFill>
          <a:ln/>
        </p:spPr>
        <p:txBody>
          <a:bodyPr/>
          <a:lstStyle/>
          <a:p>
            <a:endParaRPr lang="fr-FR"/>
          </a:p>
        </p:txBody>
      </p:sp>
      <p:sp>
        <p:nvSpPr>
          <p:cNvPr id="14" name="Text 12"/>
          <p:cNvSpPr txBox="1"/>
          <p:nvPr/>
        </p:nvSpPr>
        <p:spPr>
          <a:xfrm>
            <a:off x="5285232" y="1627632"/>
            <a:ext cx="457200" cy="274320"/>
          </a:xfrm>
          <a:prstGeom prst="rect">
            <a:avLst/>
          </a:prstGeom>
          <a:noFill/>
          <a:ln/>
        </p:spPr>
        <p:txBody>
          <a:bodyPr wrap="square" lIns="0" tIns="0" rIns="0" bIns="0" rtlCol="0" anchor="ctr"/>
          <a:lstStyle/>
          <a:p>
            <a:pPr marL="0" indent="0">
              <a:buNone/>
            </a:pPr>
            <a:r>
              <a:rPr lang="en-US" sz="1100" b="1" dirty="0">
                <a:solidFill>
                  <a:srgbClr val="C5A55A"/>
                </a:solidFill>
                <a:latin typeface="Lato" pitchFamily="34" charset="0"/>
                <a:ea typeface="Lato" pitchFamily="34" charset="-122"/>
                <a:cs typeface="Lato" pitchFamily="34" charset="-120"/>
              </a:rPr>
              <a:t>3</a:t>
            </a:r>
            <a:endParaRPr lang="en-US" sz="1100" dirty="0"/>
          </a:p>
        </p:txBody>
      </p:sp>
      <p:sp>
        <p:nvSpPr>
          <p:cNvPr id="15" name="Text 13"/>
          <p:cNvSpPr txBox="1"/>
          <p:nvPr/>
        </p:nvSpPr>
        <p:spPr>
          <a:xfrm>
            <a:off x="5285232" y="1901952"/>
            <a:ext cx="1627632"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Calcul</a:t>
            </a:r>
            <a:endParaRPr lang="en-US" sz="1450" dirty="0"/>
          </a:p>
        </p:txBody>
      </p:sp>
      <p:sp>
        <p:nvSpPr>
          <p:cNvPr id="16" name="Text 14"/>
          <p:cNvSpPr txBox="1"/>
          <p:nvPr/>
        </p:nvSpPr>
        <p:spPr>
          <a:xfrm>
            <a:off x="5285232" y="2212848"/>
            <a:ext cx="1627632" cy="475488"/>
          </a:xfrm>
          <a:prstGeom prst="rect">
            <a:avLst/>
          </a:prstGeom>
          <a:noFill/>
          <a:ln/>
        </p:spPr>
        <p:txBody>
          <a:bodyPr wrap="square" lIns="0" tIns="0" rIns="0" bIns="0" rtlCol="0" anchor="ctr"/>
          <a:lstStyle/>
          <a:p>
            <a:pPr marL="0" indent="0">
              <a:lnSpc>
                <a:spcPct val="110000"/>
              </a:lnSpc>
              <a:buNone/>
            </a:pPr>
            <a:r>
              <a:rPr lang="en-US" sz="1100" dirty="0">
                <a:solidFill>
                  <a:srgbClr val="4A5568"/>
                </a:solidFill>
                <a:latin typeface="Lato" pitchFamily="34" charset="0"/>
                <a:ea typeface="Lato" pitchFamily="34" charset="-122"/>
                <a:cs typeface="Lato" pitchFamily="34" charset="-120"/>
              </a:rPr>
              <a:t>notation contextualisée,</a:t>
            </a:r>
            <a:endParaRPr lang="en-US" sz="1100" dirty="0"/>
          </a:p>
          <a:p>
            <a:pPr marL="0" indent="0">
              <a:lnSpc>
                <a:spcPct val="110000"/>
              </a:lnSpc>
              <a:buNone/>
            </a:pPr>
            <a:r>
              <a:rPr lang="en-US" sz="1100" dirty="0">
                <a:solidFill>
                  <a:srgbClr val="4A5568"/>
                </a:solidFill>
                <a:latin typeface="Lato" pitchFamily="34" charset="0"/>
                <a:ea typeface="Lato" pitchFamily="34" charset="-122"/>
                <a:cs typeface="Lato" pitchFamily="34" charset="-120"/>
              </a:rPr>
              <a:t>par vulnérabilité</a:t>
            </a:r>
            <a:endParaRPr lang="en-US" sz="1100" dirty="0"/>
          </a:p>
        </p:txBody>
      </p:sp>
      <p:sp>
        <p:nvSpPr>
          <p:cNvPr id="17" name="Text 15"/>
          <p:cNvSpPr txBox="1"/>
          <p:nvPr/>
        </p:nvSpPr>
        <p:spPr>
          <a:xfrm>
            <a:off x="7059168" y="197510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18" name="Shape 16"/>
          <p:cNvSpPr/>
          <p:nvPr/>
        </p:nvSpPr>
        <p:spPr>
          <a:xfrm>
            <a:off x="7351776" y="1517904"/>
            <a:ext cx="1956816" cy="1243584"/>
          </a:xfrm>
          <a:prstGeom prst="rect">
            <a:avLst/>
          </a:prstGeom>
          <a:solidFill>
            <a:srgbClr val="1B2A4A"/>
          </a:solidFill>
          <a:ln/>
        </p:spPr>
        <p:txBody>
          <a:bodyPr/>
          <a:lstStyle/>
          <a:p>
            <a:endParaRPr lang="fr-FR"/>
          </a:p>
        </p:txBody>
      </p:sp>
      <p:sp>
        <p:nvSpPr>
          <p:cNvPr id="19" name="Text 17"/>
          <p:cNvSpPr txBox="1"/>
          <p:nvPr/>
        </p:nvSpPr>
        <p:spPr>
          <a:xfrm>
            <a:off x="7516368" y="1627632"/>
            <a:ext cx="457200" cy="274320"/>
          </a:xfrm>
          <a:prstGeom prst="rect">
            <a:avLst/>
          </a:prstGeom>
          <a:noFill/>
          <a:ln/>
        </p:spPr>
        <p:txBody>
          <a:bodyPr wrap="square" lIns="0" tIns="0" rIns="0" bIns="0" rtlCol="0" anchor="ctr"/>
          <a:lstStyle/>
          <a:p>
            <a:pPr marL="0" indent="0">
              <a:buNone/>
            </a:pPr>
            <a:r>
              <a:rPr lang="en-US" sz="1100" b="1" dirty="0">
                <a:solidFill>
                  <a:srgbClr val="C5A55A"/>
                </a:solidFill>
                <a:latin typeface="Lato" pitchFamily="34" charset="0"/>
                <a:ea typeface="Lato" pitchFamily="34" charset="-122"/>
                <a:cs typeface="Lato" pitchFamily="34" charset="-120"/>
              </a:rPr>
              <a:t>4</a:t>
            </a:r>
            <a:endParaRPr lang="en-US" sz="1100" dirty="0"/>
          </a:p>
        </p:txBody>
      </p:sp>
      <p:sp>
        <p:nvSpPr>
          <p:cNvPr id="20" name="Text 18"/>
          <p:cNvSpPr txBox="1"/>
          <p:nvPr/>
        </p:nvSpPr>
        <p:spPr>
          <a:xfrm>
            <a:off x="7516368" y="1901952"/>
            <a:ext cx="1627632" cy="292608"/>
          </a:xfrm>
          <a:prstGeom prst="rect">
            <a:avLst/>
          </a:prstGeom>
          <a:noFill/>
          <a:ln/>
        </p:spPr>
        <p:txBody>
          <a:bodyPr wrap="square" lIns="0" tIns="0" rIns="0" bIns="0" rtlCol="0" anchor="ctr"/>
          <a:lstStyle/>
          <a:p>
            <a:pPr marL="0" indent="0">
              <a:buNone/>
            </a:pPr>
            <a:r>
              <a:rPr lang="en-US" sz="1450" b="1" dirty="0">
                <a:solidFill>
                  <a:srgbClr val="FFFFFF"/>
                </a:solidFill>
                <a:latin typeface="Lato" pitchFamily="34" charset="0"/>
                <a:ea typeface="Lato" pitchFamily="34" charset="-122"/>
                <a:cs typeface="Lato" pitchFamily="34" charset="-120"/>
              </a:rPr>
              <a:t>Historisation</a:t>
            </a:r>
            <a:endParaRPr lang="en-US" sz="1450" dirty="0"/>
          </a:p>
        </p:txBody>
      </p:sp>
      <p:sp>
        <p:nvSpPr>
          <p:cNvPr id="21" name="Text 19"/>
          <p:cNvSpPr txBox="1"/>
          <p:nvPr/>
        </p:nvSpPr>
        <p:spPr>
          <a:xfrm>
            <a:off x="7516368" y="2212848"/>
            <a:ext cx="1627632" cy="475488"/>
          </a:xfrm>
          <a:prstGeom prst="rect">
            <a:avLst/>
          </a:prstGeom>
          <a:noFill/>
          <a:ln/>
        </p:spPr>
        <p:txBody>
          <a:bodyPr wrap="square" lIns="0" tIns="0" rIns="0" bIns="0" rtlCol="0" anchor="ctr"/>
          <a:lstStyle/>
          <a:p>
            <a:pPr marL="0" indent="0">
              <a:lnSpc>
                <a:spcPct val="110000"/>
              </a:lnSpc>
              <a:buNone/>
            </a:pPr>
            <a:r>
              <a:rPr lang="en-US" sz="1100" dirty="0">
                <a:solidFill>
                  <a:srgbClr val="AEB7C6"/>
                </a:solidFill>
                <a:latin typeface="Lato" pitchFamily="34" charset="0"/>
                <a:ea typeface="Lato" pitchFamily="34" charset="-122"/>
                <a:cs typeface="Lato" pitchFamily="34" charset="-120"/>
              </a:rPr>
              <a:t>base locale,</a:t>
            </a:r>
            <a:endParaRPr lang="en-US" sz="1100" dirty="0"/>
          </a:p>
          <a:p>
            <a:pPr marL="0" indent="0">
              <a:lnSpc>
                <a:spcPct val="110000"/>
              </a:lnSpc>
              <a:buNone/>
            </a:pPr>
            <a:r>
              <a:rPr lang="en-US" sz="1100" dirty="0">
                <a:solidFill>
                  <a:srgbClr val="AEB7C6"/>
                </a:solidFill>
                <a:latin typeface="Lato" pitchFamily="34" charset="0"/>
                <a:ea typeface="Lato" pitchFamily="34" charset="-122"/>
                <a:cs typeface="Lato" pitchFamily="34" charset="-120"/>
              </a:rPr>
              <a:t>un cycle par heure</a:t>
            </a:r>
            <a:endParaRPr lang="en-US" sz="1100" dirty="0"/>
          </a:p>
        </p:txBody>
      </p:sp>
      <p:sp>
        <p:nvSpPr>
          <p:cNvPr id="22" name="Text 20"/>
          <p:cNvSpPr txBox="1"/>
          <p:nvPr/>
        </p:nvSpPr>
        <p:spPr>
          <a:xfrm>
            <a:off x="9290304" y="197510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23" name="Shape 21"/>
          <p:cNvSpPr/>
          <p:nvPr/>
        </p:nvSpPr>
        <p:spPr>
          <a:xfrm>
            <a:off x="9582912" y="1517904"/>
            <a:ext cx="1956816" cy="1243584"/>
          </a:xfrm>
          <a:prstGeom prst="rect">
            <a:avLst/>
          </a:prstGeom>
          <a:solidFill>
            <a:srgbClr val="F2F4F8"/>
          </a:solidFill>
          <a:ln/>
        </p:spPr>
        <p:txBody>
          <a:bodyPr/>
          <a:lstStyle/>
          <a:p>
            <a:endParaRPr lang="fr-FR"/>
          </a:p>
        </p:txBody>
      </p:sp>
      <p:sp>
        <p:nvSpPr>
          <p:cNvPr id="24" name="Text 22"/>
          <p:cNvSpPr txBox="1"/>
          <p:nvPr/>
        </p:nvSpPr>
        <p:spPr>
          <a:xfrm>
            <a:off x="9747504" y="1627632"/>
            <a:ext cx="457200" cy="274320"/>
          </a:xfrm>
          <a:prstGeom prst="rect">
            <a:avLst/>
          </a:prstGeom>
          <a:noFill/>
          <a:ln/>
        </p:spPr>
        <p:txBody>
          <a:bodyPr wrap="square" lIns="0" tIns="0" rIns="0" bIns="0" rtlCol="0" anchor="ctr"/>
          <a:lstStyle/>
          <a:p>
            <a:pPr marL="0" indent="0">
              <a:buNone/>
            </a:pPr>
            <a:r>
              <a:rPr lang="en-US" sz="1100" b="1" dirty="0">
                <a:solidFill>
                  <a:srgbClr val="C5A55A"/>
                </a:solidFill>
                <a:latin typeface="Lato" pitchFamily="34" charset="0"/>
                <a:ea typeface="Lato" pitchFamily="34" charset="-122"/>
                <a:cs typeface="Lato" pitchFamily="34" charset="-120"/>
              </a:rPr>
              <a:t>5</a:t>
            </a:r>
            <a:endParaRPr lang="en-US" sz="1100" dirty="0"/>
          </a:p>
        </p:txBody>
      </p:sp>
      <p:sp>
        <p:nvSpPr>
          <p:cNvPr id="25" name="Text 23"/>
          <p:cNvSpPr txBox="1"/>
          <p:nvPr/>
        </p:nvSpPr>
        <p:spPr>
          <a:xfrm>
            <a:off x="9747504" y="1901952"/>
            <a:ext cx="1627632" cy="292608"/>
          </a:xfrm>
          <a:prstGeom prst="rect">
            <a:avLst/>
          </a:prstGeom>
          <a:noFill/>
          <a:ln/>
        </p:spPr>
        <p:txBody>
          <a:bodyPr wrap="square" lIns="0" tIns="0" rIns="0" bIns="0" rtlCol="0" anchor="ctr"/>
          <a:lstStyle/>
          <a:p>
            <a:pPr marL="0" indent="0">
              <a:buNone/>
            </a:pPr>
            <a:r>
              <a:rPr lang="en-US" sz="1450" b="1" dirty="0">
                <a:solidFill>
                  <a:srgbClr val="1B2A4A"/>
                </a:solidFill>
                <a:latin typeface="Lato" pitchFamily="34" charset="0"/>
                <a:ea typeface="Lato" pitchFamily="34" charset="-122"/>
                <a:cs typeface="Lato" pitchFamily="34" charset="-120"/>
              </a:rPr>
              <a:t>Restitution</a:t>
            </a:r>
            <a:endParaRPr lang="en-US" sz="1450" dirty="0"/>
          </a:p>
        </p:txBody>
      </p:sp>
      <p:sp>
        <p:nvSpPr>
          <p:cNvPr id="26" name="Text 24"/>
          <p:cNvSpPr txBox="1"/>
          <p:nvPr/>
        </p:nvSpPr>
        <p:spPr>
          <a:xfrm>
            <a:off x="9747504" y="2212848"/>
            <a:ext cx="1627632" cy="475488"/>
          </a:xfrm>
          <a:prstGeom prst="rect">
            <a:avLst/>
          </a:prstGeom>
          <a:noFill/>
          <a:ln/>
        </p:spPr>
        <p:txBody>
          <a:bodyPr wrap="square" lIns="0" tIns="0" rIns="0" bIns="0" rtlCol="0" anchor="ctr"/>
          <a:lstStyle/>
          <a:p>
            <a:pPr marL="0" indent="0">
              <a:lnSpc>
                <a:spcPct val="110000"/>
              </a:lnSpc>
              <a:buNone/>
            </a:pPr>
            <a:r>
              <a:rPr lang="en-US" sz="1100" dirty="0">
                <a:solidFill>
                  <a:srgbClr val="4A5568"/>
                </a:solidFill>
                <a:latin typeface="Lato" pitchFamily="34" charset="0"/>
                <a:ea typeface="Lato" pitchFamily="34" charset="-122"/>
                <a:cs typeface="Lato" pitchFamily="34" charset="-120"/>
              </a:rPr>
              <a:t>tableau de bord</a:t>
            </a:r>
            <a:endParaRPr lang="en-US" sz="1100" dirty="0"/>
          </a:p>
          <a:p>
            <a:pPr marL="0" indent="0">
              <a:lnSpc>
                <a:spcPct val="110000"/>
              </a:lnSpc>
              <a:buNone/>
            </a:pPr>
            <a:r>
              <a:rPr lang="en-US" sz="1100" dirty="0">
                <a:solidFill>
                  <a:srgbClr val="4A5568"/>
                </a:solidFill>
                <a:latin typeface="Lato" pitchFamily="34" charset="0"/>
                <a:ea typeface="Lato" pitchFamily="34" charset="-122"/>
                <a:cs typeface="Lato" pitchFamily="34" charset="-120"/>
              </a:rPr>
              <a:t>hiérarchisé</a:t>
            </a:r>
            <a:endParaRPr lang="en-US" sz="1100" dirty="0"/>
          </a:p>
        </p:txBody>
      </p:sp>
      <p:sp>
        <p:nvSpPr>
          <p:cNvPr id="27" name="Text 25"/>
          <p:cNvSpPr txBox="1"/>
          <p:nvPr/>
        </p:nvSpPr>
        <p:spPr>
          <a:xfrm>
            <a:off x="658368" y="3035808"/>
            <a:ext cx="5852160" cy="566928"/>
          </a:xfrm>
          <a:prstGeom prst="rect">
            <a:avLst/>
          </a:prstGeom>
          <a:noFill/>
          <a:ln/>
        </p:spPr>
        <p:txBody>
          <a:bodyPr wrap="square" lIns="0" tIns="0" rIns="0" bIns="0" rtlCol="0" anchor="ctr"/>
          <a:lstStyle/>
          <a:p>
            <a:pPr marL="0" indent="0">
              <a:lnSpc>
                <a:spcPct val="110000"/>
              </a:lnSpc>
              <a:buNone/>
            </a:pPr>
            <a:r>
              <a:rPr lang="en-US" sz="1600" b="1" dirty="0" err="1">
                <a:solidFill>
                  <a:srgbClr val="C5A55A"/>
                </a:solidFill>
                <a:latin typeface="Lato" pitchFamily="34" charset="0"/>
                <a:ea typeface="Lato" pitchFamily="34" charset="-122"/>
                <a:cs typeface="Lato" pitchFamily="34" charset="-120"/>
              </a:rPr>
              <a:t>Méthode</a:t>
            </a:r>
            <a:r>
              <a:rPr lang="en-US" sz="1600" b="1" dirty="0">
                <a:solidFill>
                  <a:srgbClr val="C5A55A"/>
                </a:solidFill>
                <a:latin typeface="Lato" pitchFamily="34" charset="0"/>
                <a:ea typeface="Lato" pitchFamily="34" charset="-122"/>
                <a:cs typeface="Lato" pitchFamily="34" charset="-120"/>
              </a:rPr>
              <a:t> de </a:t>
            </a:r>
            <a:r>
              <a:rPr lang="en-US" sz="1600" b="1" dirty="0" err="1">
                <a:solidFill>
                  <a:srgbClr val="C5A55A"/>
                </a:solidFill>
                <a:latin typeface="Lato" pitchFamily="34" charset="0"/>
                <a:ea typeface="Lato" pitchFamily="34" charset="-122"/>
                <a:cs typeface="Lato" pitchFamily="34" charset="-120"/>
              </a:rPr>
              <a:t>calcul</a:t>
            </a:r>
            <a:r>
              <a:rPr lang="en-US" sz="1600" b="1" dirty="0">
                <a:solidFill>
                  <a:srgbClr val="C5A55A"/>
                </a:solidFill>
                <a:latin typeface="Lato" pitchFamily="34" charset="0"/>
                <a:ea typeface="Lato" pitchFamily="34" charset="-122"/>
                <a:cs typeface="Lato" pitchFamily="34" charset="-120"/>
              </a:rPr>
              <a:t> interchangeable</a:t>
            </a:r>
            <a:endParaRPr lang="en-US" sz="1600" dirty="0"/>
          </a:p>
        </p:txBody>
      </p:sp>
      <p:sp>
        <p:nvSpPr>
          <p:cNvPr id="28" name="Text 26"/>
          <p:cNvSpPr txBox="1"/>
          <p:nvPr/>
        </p:nvSpPr>
        <p:spPr>
          <a:xfrm>
            <a:off x="658368" y="3675888"/>
            <a:ext cx="5852160" cy="1371600"/>
          </a:xfrm>
          <a:prstGeom prst="rect">
            <a:avLst/>
          </a:prstGeom>
          <a:noFill/>
          <a:ln/>
        </p:spPr>
        <p:txBody>
          <a:bodyPr wrap="square" lIns="0" tIns="0" rIns="0" bIns="0" rtlCol="0" anchor="t"/>
          <a:lstStyle/>
          <a:p>
            <a:pPr marL="0" indent="0" algn="l">
              <a:lnSpc>
                <a:spcPct val="118000"/>
              </a:lnSpc>
              <a:buNone/>
            </a:pPr>
            <a:r>
              <a:rPr lang="en-US" sz="1300" dirty="0">
                <a:solidFill>
                  <a:srgbClr val="232A3A"/>
                </a:solidFill>
                <a:latin typeface="Lato" pitchFamily="34" charset="0"/>
                <a:ea typeface="Lato" pitchFamily="34" charset="-122"/>
                <a:cs typeface="Lato" pitchFamily="34" charset="-120"/>
              </a:rPr>
              <a:t>Les données </a:t>
            </a:r>
            <a:r>
              <a:rPr lang="en-US" sz="1300" dirty="0" err="1">
                <a:solidFill>
                  <a:srgbClr val="232A3A"/>
                </a:solidFill>
                <a:latin typeface="Lato" pitchFamily="34" charset="0"/>
                <a:ea typeface="Lato" pitchFamily="34" charset="-122"/>
                <a:cs typeface="Lato" pitchFamily="34" charset="-120"/>
              </a:rPr>
              <a:t>sont</a:t>
            </a:r>
            <a:r>
              <a:rPr lang="en-US" sz="1300" dirty="0">
                <a:solidFill>
                  <a:srgbClr val="232A3A"/>
                </a:solidFill>
                <a:latin typeface="Lato" pitchFamily="34" charset="0"/>
                <a:ea typeface="Lato" pitchFamily="34" charset="-122"/>
                <a:cs typeface="Lato" pitchFamily="34" charset="-120"/>
              </a:rPr>
              <a:t> </a:t>
            </a:r>
            <a:r>
              <a:rPr lang="en-US" sz="1300" dirty="0" err="1">
                <a:solidFill>
                  <a:srgbClr val="232A3A"/>
                </a:solidFill>
                <a:latin typeface="Lato" pitchFamily="34" charset="0"/>
                <a:ea typeface="Lato" pitchFamily="34" charset="-122"/>
                <a:cs typeface="Lato" pitchFamily="34" charset="-120"/>
              </a:rPr>
              <a:t>écrites</a:t>
            </a:r>
            <a:r>
              <a:rPr lang="en-US" sz="1300" dirty="0">
                <a:solidFill>
                  <a:srgbClr val="232A3A"/>
                </a:solidFill>
                <a:latin typeface="Lato" pitchFamily="34" charset="0"/>
                <a:ea typeface="Lato" pitchFamily="34" charset="-122"/>
                <a:cs typeface="Lato" pitchFamily="34" charset="-120"/>
              </a:rPr>
              <a:t> brutes dans la base et </a:t>
            </a:r>
            <a:r>
              <a:rPr lang="en-US" sz="1300" dirty="0" err="1">
                <a:solidFill>
                  <a:srgbClr val="232A3A"/>
                </a:solidFill>
                <a:latin typeface="Lato" pitchFamily="34" charset="0"/>
                <a:ea typeface="Lato" pitchFamily="34" charset="-122"/>
                <a:cs typeface="Lato" pitchFamily="34" charset="-120"/>
              </a:rPr>
              <a:t>calculées</a:t>
            </a:r>
            <a:r>
              <a:rPr lang="en-US" sz="1300" dirty="0">
                <a:solidFill>
                  <a:srgbClr val="232A3A"/>
                </a:solidFill>
                <a:latin typeface="Lato" pitchFamily="34" charset="0"/>
                <a:ea typeface="Lato" pitchFamily="34" charset="-122"/>
                <a:cs typeface="Lato" pitchFamily="34" charset="-120"/>
              </a:rPr>
              <a:t> après</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784848" y="3072384"/>
          <a:ext cx="4754880" cy="2194560"/>
        </p:xfrm>
        <a:graphic>
          <a:graphicData uri="http://schemas.openxmlformats.org/drawingml/2006/table">
            <a:tbl>
              <a:tblPr/>
              <a:tblGrid>
                <a:gridCol w="1417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548640">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Composant</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Technologie</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Motif du choix</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48640">
                <a:tc>
                  <a:txBody>
                    <a:bodyPr/>
                    <a:lstStyle/>
                    <a:p>
                      <a:pPr marL="0" indent="0" algn="l">
                        <a:buNone/>
                      </a:pPr>
                      <a:r>
                        <a:rPr lang="en-US" sz="1050" dirty="0">
                          <a:solidFill>
                            <a:srgbClr val="232A3A"/>
                          </a:solidFill>
                          <a:latin typeface="Lato" pitchFamily="34" charset="0"/>
                          <a:ea typeface="Lato" pitchFamily="34" charset="-122"/>
                          <a:cs typeface="Lato" pitchFamily="34" charset="-120"/>
                        </a:rPr>
                        <a:t>Collecteurs et calcul</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Python</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langage déjà employé dans les scripts du cabinet</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548640">
                <a:tc>
                  <a:txBody>
                    <a:bodyPr/>
                    <a:lstStyle/>
                    <a:p>
                      <a:pPr marL="0" indent="0" algn="l">
                        <a:buNone/>
                      </a:pPr>
                      <a:r>
                        <a:rPr lang="en-US" sz="1050" dirty="0">
                          <a:solidFill>
                            <a:srgbClr val="232A3A"/>
                          </a:solidFill>
                          <a:latin typeface="Lato" pitchFamily="34" charset="0"/>
                          <a:ea typeface="Lato" pitchFamily="34" charset="-122"/>
                          <a:cs typeface="Lato" pitchFamily="34" charset="-120"/>
                        </a:rPr>
                        <a:t>Stockage</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SQLite</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base embarquée, aucun serveur à administrer</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050" dirty="0">
                          <a:solidFill>
                            <a:srgbClr val="232A3A"/>
                          </a:solidFill>
                          <a:latin typeface="Lato" pitchFamily="34" charset="0"/>
                          <a:ea typeface="Lato" pitchFamily="34" charset="-122"/>
                          <a:cs typeface="Lato" pitchFamily="34" charset="-120"/>
                        </a:rPr>
                        <a:t>Restitution</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Application monofichier</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050" dirty="0">
                          <a:solidFill>
                            <a:srgbClr val="232A3A"/>
                          </a:solidFill>
                          <a:latin typeface="Lato" pitchFamily="34" charset="0"/>
                          <a:ea typeface="Lato" pitchFamily="34" charset="-122"/>
                          <a:cs typeface="Lato" pitchFamily="34" charset="-120"/>
                        </a:rPr>
                        <a:t>démonstration autonome, sans dépendance de build</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bl>
          </a:graphicData>
        </a:graphic>
      </p:graphicFrame>
      <p:sp>
        <p:nvSpPr>
          <p:cNvPr id="952" name="Kicker 952"/>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L'IMPLÉMENTATION TECHNIQUE DU SCHÉMA CIBLE</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93EF006-ABAC-4D0D-A658-A5D93BFD1A2B}" type="slidenum">
              <a:rPr lang="fr-FR" sz="900" b="0">
                <a:solidFill>
                  <a:srgbClr val="4A5568"/>
                </a:solidFill>
                <a:latin typeface="Lato"/>
              </a:rPr>
              <a:t>26</a:t>
            </a:fld>
            <a:endParaRPr lang="fr-FR">
              <a:solidFill>
                <a:srgbClr val="4A556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Formule de notation contextualisée</a:t>
            </a:r>
            <a:endParaRPr lang="en-US" sz="3000" dirty="0"/>
          </a:p>
        </p:txBody>
      </p:sp>
      <p:sp>
        <p:nvSpPr>
          <p:cNvPr id="3" name="Shape 1"/>
          <p:cNvSpPr/>
          <p:nvPr/>
        </p:nvSpPr>
        <p:spPr>
          <a:xfrm>
            <a:off x="658368" y="1426464"/>
            <a:ext cx="10874959" cy="1133856"/>
          </a:xfrm>
          <a:prstGeom prst="rect">
            <a:avLst/>
          </a:prstGeom>
          <a:solidFill>
            <a:srgbClr val="1B2A4A"/>
          </a:solidFill>
          <a:ln/>
        </p:spPr>
        <p:txBody>
          <a:bodyPr/>
          <a:lstStyle/>
          <a:p>
            <a:endParaRPr lang="fr-FR"/>
          </a:p>
        </p:txBody>
      </p:sp>
      <p:sp>
        <p:nvSpPr>
          <p:cNvPr id="4" name="Text 2"/>
          <p:cNvSpPr txBox="1"/>
          <p:nvPr/>
        </p:nvSpPr>
        <p:spPr>
          <a:xfrm>
            <a:off x="658368" y="1426464"/>
            <a:ext cx="10874959" cy="1133856"/>
          </a:xfrm>
          <a:prstGeom prst="rect">
            <a:avLst/>
          </a:prstGeom>
          <a:noFill/>
          <a:ln/>
        </p:spPr>
        <p:txBody>
          <a:bodyPr wrap="square" lIns="0" tIns="0" rIns="0" bIns="0" rtlCol="0" anchor="ctr"/>
          <a:lstStyle/>
          <a:p>
            <a:pPr marL="0" indent="0" algn="ctr">
              <a:buNone/>
            </a:pPr>
            <a:r>
              <a:rPr lang="en-US" sz="3000" b="1" dirty="0">
                <a:solidFill>
                  <a:srgbClr val="FFFFFF"/>
                </a:solidFill>
                <a:latin typeface="Lato" pitchFamily="34" charset="0"/>
                <a:ea typeface="Lato" pitchFamily="34" charset="-122"/>
                <a:cs typeface="Lato" pitchFamily="34" charset="-120"/>
              </a:rPr>
              <a:t>Score  =  </a:t>
            </a:r>
            <a:r>
              <a:rPr lang="en-US" sz="3000" b="1" dirty="0">
                <a:solidFill>
                  <a:srgbClr val="C5A55A"/>
                </a:solidFill>
                <a:latin typeface="Lato" pitchFamily="34" charset="0"/>
                <a:ea typeface="Lato" pitchFamily="34" charset="-122"/>
                <a:cs typeface="Lato" pitchFamily="34" charset="-120"/>
              </a:rPr>
              <a:t>CVSS</a:t>
            </a:r>
            <a:r>
              <a:rPr lang="en-US" sz="3000" b="1" dirty="0">
                <a:solidFill>
                  <a:srgbClr val="FFFFFF"/>
                </a:solidFill>
                <a:latin typeface="Lato" pitchFamily="34" charset="0"/>
                <a:ea typeface="Lato" pitchFamily="34" charset="-122"/>
                <a:cs typeface="Lato" pitchFamily="34" charset="-120"/>
              </a:rPr>
              <a:t>  ×  ( 0,7 × </a:t>
            </a:r>
            <a:r>
              <a:rPr lang="en-US" sz="3000" b="1" dirty="0">
                <a:solidFill>
                  <a:srgbClr val="C5A55A"/>
                </a:solidFill>
                <a:latin typeface="Lato" pitchFamily="34" charset="0"/>
                <a:ea typeface="Lato" pitchFamily="34" charset="-122"/>
                <a:cs typeface="Lato" pitchFamily="34" charset="-120"/>
              </a:rPr>
              <a:t>(C + D + I)</a:t>
            </a:r>
            <a:r>
              <a:rPr lang="en-US" sz="3000" b="1" dirty="0">
                <a:solidFill>
                  <a:srgbClr val="FFFFFF"/>
                </a:solidFill>
                <a:latin typeface="Lato" pitchFamily="34" charset="0"/>
                <a:ea typeface="Lato" pitchFamily="34" charset="-122"/>
                <a:cs typeface="Lato" pitchFamily="34" charset="-120"/>
              </a:rPr>
              <a:t>  +  0,9 × </a:t>
            </a:r>
            <a:r>
              <a:rPr lang="en-US" sz="3000" b="1" dirty="0">
                <a:solidFill>
                  <a:srgbClr val="C5A55A"/>
                </a:solidFill>
                <a:latin typeface="Lato" pitchFamily="34" charset="0"/>
                <a:ea typeface="Lato" pitchFamily="34" charset="-122"/>
                <a:cs typeface="Lato" pitchFamily="34" charset="-120"/>
              </a:rPr>
              <a:t>VM</a:t>
            </a:r>
            <a:r>
              <a:rPr lang="en-US" sz="3000" b="1" dirty="0">
                <a:solidFill>
                  <a:srgbClr val="FFFFFF"/>
                </a:solidFill>
                <a:latin typeface="Lato" pitchFamily="34" charset="0"/>
                <a:ea typeface="Lato" pitchFamily="34" charset="-122"/>
                <a:cs typeface="Lato" pitchFamily="34" charset="-120"/>
              </a:rPr>
              <a:t> ) </a:t>
            </a:r>
            <a:endParaRPr lang="en-US" sz="3000" dirty="0"/>
          </a:p>
        </p:txBody>
      </p:sp>
      <p:sp>
        <p:nvSpPr>
          <p:cNvPr id="5" name="Shape 3"/>
          <p:cNvSpPr/>
          <p:nvPr/>
        </p:nvSpPr>
        <p:spPr>
          <a:xfrm>
            <a:off x="2286000" y="2560320"/>
            <a:ext cx="0" cy="310896"/>
          </a:xfrm>
          <a:prstGeom prst="line">
            <a:avLst/>
          </a:prstGeom>
          <a:noFill/>
          <a:ln w="20320">
            <a:solidFill>
              <a:srgbClr val="C5A55A"/>
            </a:solidFill>
            <a:prstDash val="solid"/>
          </a:ln>
        </p:spPr>
        <p:txBody>
          <a:bodyPr/>
          <a:lstStyle/>
          <a:p>
            <a:endParaRPr lang="fr-FR"/>
          </a:p>
        </p:txBody>
      </p:sp>
      <p:sp>
        <p:nvSpPr>
          <p:cNvPr id="6" name="Text 4"/>
          <p:cNvSpPr txBox="1"/>
          <p:nvPr/>
        </p:nvSpPr>
        <p:spPr>
          <a:xfrm>
            <a:off x="65836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CVSS</a:t>
            </a:r>
            <a:endParaRPr lang="en-US" sz="2100" dirty="0"/>
          </a:p>
        </p:txBody>
      </p:sp>
      <p:sp>
        <p:nvSpPr>
          <p:cNvPr id="7" name="Text 5"/>
          <p:cNvSpPr txBox="1"/>
          <p:nvPr/>
        </p:nvSpPr>
        <p:spPr>
          <a:xfrm>
            <a:off x="65836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Gravité intrinsèque</a:t>
            </a:r>
            <a:endParaRPr lang="en-US" sz="1400" dirty="0"/>
          </a:p>
        </p:txBody>
      </p:sp>
      <p:sp>
        <p:nvSpPr>
          <p:cNvPr id="8" name="Text 6"/>
          <p:cNvSpPr txBox="1"/>
          <p:nvPr/>
        </p:nvSpPr>
        <p:spPr>
          <a:xfrm>
            <a:off x="82296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CVSS (Common Vulnerability Scoring System) : note de 0 (aucune) à 10 (critique), calculée à partir de l'exploitabilité et de l'impact.</a:t>
            </a:r>
            <a:endParaRPr lang="en-US" sz="1250" dirty="0"/>
          </a:p>
        </p:txBody>
      </p:sp>
      <p:sp>
        <p:nvSpPr>
          <p:cNvPr id="9" name="Shape 7"/>
          <p:cNvSpPr/>
          <p:nvPr/>
        </p:nvSpPr>
        <p:spPr>
          <a:xfrm>
            <a:off x="5989320" y="2560320"/>
            <a:ext cx="0" cy="310896"/>
          </a:xfrm>
          <a:prstGeom prst="line">
            <a:avLst/>
          </a:prstGeom>
          <a:noFill/>
          <a:ln w="20320">
            <a:solidFill>
              <a:srgbClr val="C5A55A"/>
            </a:solidFill>
            <a:prstDash val="solid"/>
          </a:ln>
        </p:spPr>
        <p:txBody>
          <a:bodyPr/>
          <a:lstStyle/>
          <a:p>
            <a:endParaRPr lang="fr-FR"/>
          </a:p>
        </p:txBody>
      </p:sp>
      <p:sp>
        <p:nvSpPr>
          <p:cNvPr id="10" name="Text 8"/>
          <p:cNvSpPr txBox="1"/>
          <p:nvPr/>
        </p:nvSpPr>
        <p:spPr>
          <a:xfrm>
            <a:off x="4361688" y="2944368"/>
            <a:ext cx="3291840" cy="384048"/>
          </a:xfrm>
          <a:prstGeom prst="rect">
            <a:avLst/>
          </a:prstGeom>
          <a:noFill/>
          <a:ln/>
        </p:spPr>
        <p:txBody>
          <a:bodyPr wrap="square" lIns="0" tIns="0" rIns="0" bIns="0" rtlCol="0" anchor="ctr"/>
          <a:lstStyle/>
          <a:p>
            <a:pPr marL="0" indent="0" algn="ctr">
              <a:buNone/>
            </a:pPr>
            <a:r>
              <a:rPr lang="en-US" sz="2100" b="1" dirty="0">
                <a:solidFill>
                  <a:srgbClr val="1B2A4A"/>
                </a:solidFill>
                <a:latin typeface="Lato" pitchFamily="34" charset="0"/>
                <a:ea typeface="Lato" pitchFamily="34" charset="-122"/>
                <a:cs typeface="Lato" pitchFamily="34" charset="-120"/>
              </a:rPr>
              <a:t>C</a:t>
            </a:r>
            <a:r>
              <a:rPr lang="en-US" sz="2100" b="1" dirty="0">
                <a:solidFill>
                  <a:srgbClr val="C5A55A"/>
                </a:solidFill>
                <a:latin typeface="Lato" pitchFamily="34" charset="0"/>
                <a:ea typeface="Lato" pitchFamily="34" charset="-122"/>
                <a:cs typeface="Lato" pitchFamily="34" charset="-120"/>
              </a:rPr>
              <a:t> + </a:t>
            </a:r>
            <a:r>
              <a:rPr lang="en-US" sz="2100" b="1" dirty="0">
                <a:solidFill>
                  <a:srgbClr val="C5A55A"/>
                </a:solidFill>
                <a:latin typeface="Lato" pitchFamily="34" charset="0"/>
                <a:ea typeface="Lato" pitchFamily="34" charset="-122"/>
                <a:cs typeface="Lato" pitchFamily="34" charset="-120"/>
              </a:rPr>
              <a:t>D</a:t>
            </a:r>
            <a:r>
              <a:rPr lang="en-US" sz="2100" b="1" dirty="0">
                <a:solidFill>
                  <a:srgbClr val="C5A55A"/>
                </a:solidFill>
                <a:latin typeface="Lato" pitchFamily="34" charset="0"/>
                <a:ea typeface="Lato" pitchFamily="34" charset="-122"/>
                <a:cs typeface="Lato" pitchFamily="34" charset="-120"/>
              </a:rPr>
              <a:t> + </a:t>
            </a:r>
            <a:r>
              <a:rPr lang="en-US" sz="2100" b="1" dirty="0">
                <a:solidFill>
                  <a:srgbClr val="4A5568"/>
                </a:solidFill>
                <a:latin typeface="Lato" pitchFamily="34" charset="0"/>
                <a:ea typeface="Lato" pitchFamily="34" charset="-122"/>
                <a:cs typeface="Lato" pitchFamily="34" charset="-120"/>
              </a:rPr>
              <a:t>I</a:t>
            </a:r>
            <a:endParaRPr lang="en-US" sz="2100" dirty="0"/>
          </a:p>
        </p:txBody>
      </p:sp>
      <p:sp>
        <p:nvSpPr>
          <p:cNvPr id="11" name="Text 9"/>
          <p:cNvSpPr txBox="1"/>
          <p:nvPr/>
        </p:nvSpPr>
        <p:spPr>
          <a:xfrm>
            <a:off x="436168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Criticité de l'actif support</a:t>
            </a:r>
            <a:endParaRPr lang="en-US" sz="1400" dirty="0"/>
          </a:p>
        </p:txBody>
      </p:sp>
      <p:sp>
        <p:nvSpPr>
          <p:cNvPr id="12" name="Text 10"/>
          <p:cNvSpPr txBox="1"/>
          <p:nvPr/>
        </p:nvSpPr>
        <p:spPr>
          <a:xfrm>
            <a:off x="4526280" y="3803904"/>
            <a:ext cx="2962656" cy="1005840"/>
          </a:xfrm>
          <a:prstGeom prst="rect">
            <a:avLst/>
          </a:prstGeom>
          <a:noFill/>
          <a:ln/>
        </p:spPr>
        <p:txBody>
          <a:bodyPr wrap="square" lIns="0" tIns="0" rIns="0" bIns="0" rtlCol="0" anchor="t"/>
          <a:lstStyle/>
          <a:p>
            <a:pPr marL="0" indent="0" algn="ctr">
              <a:lnSpc>
                <a:spcPct val="118000"/>
              </a:lnSpc>
              <a:buNone/>
            </a:pPr>
            <a:r>
              <a:rPr lang="en-US" sz="1250" b="1" dirty="0">
                <a:solidFill>
                  <a:srgbClr val="1B2A4A"/>
                </a:solidFill>
                <a:latin typeface="Lato" pitchFamily="34" charset="0"/>
                <a:ea typeface="Lato" pitchFamily="34" charset="-122"/>
                <a:cs typeface="Lato" pitchFamily="34" charset="-120"/>
              </a:rPr>
              <a:t>Confidentialité</a:t>
            </a:r>
            <a:r>
              <a:rPr lang="en-US" sz="1250" dirty="0">
                <a:solidFill>
                  <a:srgbClr val="4A5568"/>
                </a:solidFill>
                <a:latin typeface="Lato" pitchFamily="34" charset="0"/>
                <a:ea typeface="Lato" pitchFamily="34" charset="-122"/>
                <a:cs typeface="Lato" pitchFamily="34" charset="-120"/>
              </a:rPr>
              <a:t>, </a:t>
            </a:r>
            <a:r>
              <a:rPr lang="en-US" sz="1250" b="1" dirty="0">
                <a:solidFill>
                  <a:srgbClr val="C5A55A"/>
                </a:solidFill>
                <a:latin typeface="Lato" pitchFamily="34" charset="0"/>
                <a:ea typeface="Lato" pitchFamily="34" charset="-122"/>
                <a:cs typeface="Lato" pitchFamily="34" charset="-120"/>
              </a:rPr>
              <a:t>disponibilité</a:t>
            </a:r>
            <a:r>
              <a:rPr lang="en-US" sz="1250" dirty="0">
                <a:solidFill>
                  <a:srgbClr val="4A5568"/>
                </a:solidFill>
                <a:latin typeface="Lato" pitchFamily="34" charset="0"/>
                <a:ea typeface="Lato" pitchFamily="34" charset="-122"/>
                <a:cs typeface="Lato" pitchFamily="34" charset="-120"/>
              </a:rPr>
              <a:t>, </a:t>
            </a:r>
            <a:r>
              <a:rPr lang="en-US" sz="1250" b="1" dirty="0">
                <a:solidFill>
                  <a:srgbClr val="4A5568"/>
                </a:solidFill>
                <a:latin typeface="Lato" pitchFamily="34" charset="0"/>
                <a:ea typeface="Lato" pitchFamily="34" charset="-122"/>
                <a:cs typeface="Lato" pitchFamily="34" charset="-120"/>
              </a:rPr>
              <a:t>intégrité</a:t>
            </a:r>
            <a:r>
              <a:rPr lang="en-US" sz="1250" dirty="0">
                <a:solidFill>
                  <a:srgbClr val="4A5568"/>
                </a:solidFill>
                <a:latin typeface="Lato" pitchFamily="34" charset="0"/>
                <a:ea typeface="Lato" pitchFamily="34" charset="-122"/>
                <a:cs typeface="Lato" pitchFamily="34" charset="-120"/>
              </a:rPr>
              <a:t>, de 0 à 4 chacune. Exemple : le Portainer en cloud est coté 4-4-4, soit 12, le maximum.</a:t>
            </a:r>
            <a:endParaRPr lang="en-US" sz="1250" dirty="0"/>
          </a:p>
        </p:txBody>
      </p:sp>
      <p:sp>
        <p:nvSpPr>
          <p:cNvPr id="13" name="Shape 11"/>
          <p:cNvSpPr/>
          <p:nvPr/>
        </p:nvSpPr>
        <p:spPr>
          <a:xfrm>
            <a:off x="9692640" y="2560320"/>
            <a:ext cx="0" cy="310896"/>
          </a:xfrm>
          <a:prstGeom prst="line">
            <a:avLst/>
          </a:prstGeom>
          <a:noFill/>
          <a:ln w="20320">
            <a:solidFill>
              <a:srgbClr val="C5A55A"/>
            </a:solidFill>
            <a:prstDash val="solid"/>
          </a:ln>
        </p:spPr>
        <p:txBody>
          <a:bodyPr/>
          <a:lstStyle/>
          <a:p>
            <a:endParaRPr lang="fr-FR"/>
          </a:p>
        </p:txBody>
      </p:sp>
      <p:sp>
        <p:nvSpPr>
          <p:cNvPr id="14" name="Text 12"/>
          <p:cNvSpPr txBox="1"/>
          <p:nvPr/>
        </p:nvSpPr>
        <p:spPr>
          <a:xfrm>
            <a:off x="806500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VM</a:t>
            </a:r>
            <a:endParaRPr lang="en-US" sz="2100" dirty="0"/>
          </a:p>
        </p:txBody>
      </p:sp>
      <p:sp>
        <p:nvSpPr>
          <p:cNvPr id="15" name="Text 13"/>
          <p:cNvSpPr txBox="1"/>
          <p:nvPr/>
        </p:nvSpPr>
        <p:spPr>
          <a:xfrm>
            <a:off x="806500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Valeur métier portée</a:t>
            </a:r>
            <a:endParaRPr lang="en-US" sz="1400" dirty="0"/>
          </a:p>
        </p:txBody>
      </p:sp>
      <p:sp>
        <p:nvSpPr>
          <p:cNvPr id="16" name="Text 14"/>
          <p:cNvSpPr txBox="1"/>
          <p:nvPr/>
        </p:nvSpPr>
        <p:spPr>
          <a:xfrm>
            <a:off x="822960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Criticité de l'activité que la machine sert, notée de 0 à 4 comme chaque composante du CDI. C'est l'apport de cette version par rapport à celle de 2023.</a:t>
            </a:r>
            <a:endParaRPr lang="en-US" sz="1250" dirty="0"/>
          </a:p>
        </p:txBody>
      </p:sp>
      <p:sp>
        <p:nvSpPr>
          <p:cNvPr id="17" name="Shape 15"/>
          <p:cNvSpPr/>
          <p:nvPr/>
        </p:nvSpPr>
        <p:spPr>
          <a:xfrm>
            <a:off x="658368" y="4956048"/>
            <a:ext cx="10874959" cy="841248"/>
          </a:xfrm>
          <a:prstGeom prst="rect">
            <a:avLst/>
          </a:prstGeom>
          <a:solidFill>
            <a:srgbClr val="F2F4F8"/>
          </a:solidFill>
          <a:ln/>
        </p:spPr>
        <p:txBody>
          <a:bodyPr/>
          <a:lstStyle/>
          <a:p>
            <a:endParaRPr lang="fr-FR"/>
          </a:p>
        </p:txBody>
      </p:sp>
      <p:sp>
        <p:nvSpPr>
          <p:cNvPr id="18" name="Text 16"/>
          <p:cNvSpPr txBox="1"/>
          <p:nvPr/>
        </p:nvSpPr>
        <p:spPr>
          <a:xfrm>
            <a:off x="932688" y="4956048"/>
            <a:ext cx="10326319" cy="841248"/>
          </a:xfrm>
          <a:prstGeom prst="rect">
            <a:avLst/>
          </a:prstGeom>
          <a:noFill/>
          <a:ln/>
        </p:spPr>
        <p:txBody>
          <a:bodyPr wrap="square" lIns="0" tIns="0" rIns="0" bIns="0" rtlCol="0" anchor="ctr"/>
          <a:lstStyle/>
          <a:p>
            <a:pPr marL="0" indent="0">
              <a:lnSpc>
                <a:spcPct val="114000"/>
              </a:lnSpc>
              <a:buNone/>
            </a:pPr>
            <a:r>
              <a:rPr lang="en-US" sz="1300" b="1" dirty="0">
                <a:solidFill>
                  <a:srgbClr val="C5A55A"/>
                </a:solidFill>
                <a:latin typeface="Lato" pitchFamily="34" charset="0"/>
                <a:ea typeface="Lato" pitchFamily="34" charset="-122"/>
                <a:cs typeface="Lato" pitchFamily="34" charset="-120"/>
              </a:rPr>
              <a:t>Donnée manquante : le terme prend une valeur neutre et la formule redonne le résultat de la version antérieure. Une donnée absente ne fabrique pas un risque.</a:t>
            </a:r>
            <a:endParaRPr lang="en-US" sz="1300" dirty="0"/>
          </a:p>
        </p:txBody>
      </p:sp>
      <p:sp>
        <p:nvSpPr>
          <p:cNvPr id="952" name="Kicker 952"/>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BRIQUE 3 · LA NOTATION CONTEXTUALISÉE</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0ECF1578-D7BE-4838-8174-D377E96AE7CE}" type="slidenum">
              <a:rPr lang="fr-FR" sz="900" b="0">
                <a:solidFill>
                  <a:srgbClr val="4A5568"/>
                </a:solidFill>
                <a:latin typeface="Lato"/>
              </a:rPr>
              <a:t>27</a:t>
            </a:fld>
            <a:endParaRPr lang="fr-FR">
              <a:solidFill>
                <a:srgbClr val="4A556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BRIQUE 2 · PRINCIPALE CONTRIBUTION TECHNIQUE DU PROJET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Réconciliation des référentiels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 y="1572768"/>
          <a:ext cx="7635240" cy="1828800"/>
        </p:xfrm>
        <a:graphic>
          <a:graphicData uri="http://schemas.openxmlformats.org/drawingml/2006/table">
            <a:tbl>
              <a:tblPr/>
              <a:tblGrid>
                <a:gridCol w="192024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457200">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Dans l'inventaire</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Dans la supervision</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Dans la gouvernance</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050" b="1" dirty="0">
                          <a:solidFill>
                            <a:srgbClr val="FFFFFF"/>
                          </a:solidFill>
                          <a:latin typeface="Lato" pitchFamily="34" charset="0"/>
                          <a:ea typeface="Lato" pitchFamily="34" charset="-122"/>
                          <a:cs typeface="Lato" pitchFamily="34" charset="-120"/>
                        </a:rPr>
                        <a:t>Nature de l'écart</a:t>
                      </a:r>
                      <a:endParaRPr lang="en-US" sz="10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LPC-VM-SUPERVISION</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lpb-zabbix</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LPC-VM-ZABBIX</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b="1" dirty="0">
                          <a:solidFill>
                            <a:srgbClr val="1B2A4A"/>
                          </a:solidFill>
                          <a:latin typeface="Lato" pitchFamily="34" charset="0"/>
                          <a:ea typeface="Lato" pitchFamily="34" charset="-122"/>
                          <a:cs typeface="Lato" pitchFamily="34" charset="-120"/>
                        </a:rPr>
                        <a:t>fonction ou logiciel</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LPC-VM-BASTION</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srv-bastion</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LPC-VM-BASTIO</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A4A"/>
                          </a:solidFill>
                          <a:latin typeface="Lato" pitchFamily="34" charset="0"/>
                          <a:ea typeface="Lato" pitchFamily="34" charset="-122"/>
                          <a:cs typeface="Lato" pitchFamily="34" charset="-120"/>
                        </a:rPr>
                        <a:t>erreur de saisie</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232A3A"/>
                          </a:solidFill>
                          <a:latin typeface="Lato" pitchFamily="34" charset="0"/>
                          <a:ea typeface="Lato" pitchFamily="34" charset="-122"/>
                          <a:cs typeface="Lato" pitchFamily="34" charset="-120"/>
                        </a:rPr>
                        <a:t>PB-VM-PORTAINER</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lpb-srv-portainer-azure</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dirty="0">
                          <a:solidFill>
                            <a:srgbClr val="232A3A"/>
                          </a:solidFill>
                          <a:latin typeface="Lato" pitchFamily="34" charset="0"/>
                          <a:ea typeface="Lato" pitchFamily="34" charset="-122"/>
                          <a:cs typeface="Lato" pitchFamily="34" charset="-120"/>
                        </a:rPr>
                        <a:t>lpb-srv-portainer-azure</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100" b="1" dirty="0">
                          <a:solidFill>
                            <a:srgbClr val="1B2A4A"/>
                          </a:solidFill>
                          <a:latin typeface="Lato" pitchFamily="34" charset="0"/>
                          <a:ea typeface="Lato" pitchFamily="34" charset="-122"/>
                          <a:cs typeface="Lato" pitchFamily="34" charset="-120"/>
                        </a:rPr>
                        <a:t>doublon d'inventaire</a:t>
                      </a:r>
                      <a:endParaRPr lang="en-US" sz="11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658368" y="3529584"/>
            <a:ext cx="7635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Trois cas réels du parc.</a:t>
            </a:r>
            <a:endParaRPr lang="en-US" sz="1050" dirty="0"/>
          </a:p>
        </p:txBody>
      </p:sp>
      <p:sp>
        <p:nvSpPr>
          <p:cNvPr id="6" name="Shape 3"/>
          <p:cNvSpPr/>
          <p:nvPr/>
        </p:nvSpPr>
        <p:spPr>
          <a:xfrm>
            <a:off x="8613648" y="1572768"/>
            <a:ext cx="2926080" cy="2212848"/>
          </a:xfrm>
          <a:prstGeom prst="rect">
            <a:avLst/>
          </a:prstGeom>
          <a:solidFill>
            <a:srgbClr val="F2F4F8"/>
          </a:solidFill>
          <a:ln/>
        </p:spPr>
        <p:txBody>
          <a:bodyPr/>
          <a:lstStyle/>
          <a:p>
            <a:endParaRPr lang="fr-FR"/>
          </a:p>
        </p:txBody>
      </p:sp>
      <p:sp>
        <p:nvSpPr>
          <p:cNvPr id="7" name="Text 4"/>
          <p:cNvSpPr txBox="1"/>
          <p:nvPr/>
        </p:nvSpPr>
        <p:spPr>
          <a:xfrm>
            <a:off x="8869680" y="1773936"/>
            <a:ext cx="2468880" cy="310896"/>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Méthode retenue</a:t>
            </a:r>
            <a:endParaRPr lang="en-US" sz="1500" dirty="0"/>
          </a:p>
        </p:txBody>
      </p:sp>
      <p:sp>
        <p:nvSpPr>
          <p:cNvPr id="8" name="Text 5"/>
          <p:cNvSpPr txBox="1"/>
          <p:nvPr/>
        </p:nvSpPr>
        <p:spPr>
          <a:xfrm>
            <a:off x="8869680" y="2157984"/>
            <a:ext cx="2468880" cy="914400"/>
          </a:xfrm>
          <a:prstGeom prst="rect">
            <a:avLst/>
          </a:prstGeom>
          <a:noFill/>
          <a:ln/>
        </p:spPr>
        <p:txBody>
          <a:bodyPr wrap="square" lIns="0" tIns="0" rIns="0" bIns="0" rtlCol="0" anchor="t"/>
          <a:lstStyle/>
          <a:p>
            <a:pPr marL="0" indent="0" algn="l">
              <a:lnSpc>
                <a:spcPct val="118000"/>
              </a:lnSpc>
              <a:buNone/>
            </a:pPr>
            <a:r>
              <a:rPr lang="en-US" sz="1200" dirty="0">
                <a:solidFill>
                  <a:srgbClr val="232A3A"/>
                </a:solidFill>
                <a:latin typeface="Lato" pitchFamily="34" charset="0"/>
                <a:ea typeface="Lato" pitchFamily="34" charset="-122"/>
                <a:cs typeface="Lato" pitchFamily="34" charset="-120"/>
              </a:rPr>
              <a:t>Recouvrement de mots avec identification de </a:t>
            </a:r>
            <a:r>
              <a:rPr lang="en-US" sz="1200" dirty="0" err="1">
                <a:solidFill>
                  <a:srgbClr val="232A3A"/>
                </a:solidFill>
                <a:latin typeface="Lato" pitchFamily="34" charset="0"/>
                <a:ea typeface="Lato" pitchFamily="34" charset="-122"/>
                <a:cs typeface="Lato" pitchFamily="34" charset="-120"/>
              </a:rPr>
              <a:t>préfixe</a:t>
            </a:r>
            <a:r>
              <a:rPr lang="en-US" sz="1200" dirty="0">
                <a:solidFill>
                  <a:srgbClr val="232A3A"/>
                </a:solidFill>
                <a:latin typeface="Lato" pitchFamily="34" charset="0"/>
                <a:ea typeface="Lato" pitchFamily="34" charset="-122"/>
                <a:cs typeface="Lato" pitchFamily="34" charset="-120"/>
              </a:rPr>
              <a:t> et sous-</a:t>
            </a:r>
            <a:r>
              <a:rPr lang="en-US" sz="1200" dirty="0" err="1">
                <a:solidFill>
                  <a:srgbClr val="232A3A"/>
                </a:solidFill>
                <a:latin typeface="Lato" pitchFamily="34" charset="0"/>
                <a:ea typeface="Lato" pitchFamily="34" charset="-122"/>
                <a:cs typeface="Lato" pitchFamily="34" charset="-120"/>
              </a:rPr>
              <a:t>chaîne</a:t>
            </a:r>
            <a:r>
              <a:rPr lang="en-US" sz="1200" dirty="0">
                <a:solidFill>
                  <a:srgbClr val="232A3A"/>
                </a:solidFill>
                <a:latin typeface="Lato" pitchFamily="34" charset="0"/>
                <a:ea typeface="Lato" pitchFamily="34" charset="-122"/>
                <a:cs typeface="Lato" pitchFamily="34" charset="-120"/>
              </a:rPr>
              <a:t> + </a:t>
            </a:r>
            <a:r>
              <a:rPr lang="en-US" sz="1200" dirty="0" err="1">
                <a:solidFill>
                  <a:srgbClr val="232A3A"/>
                </a:solidFill>
                <a:latin typeface="Lato" pitchFamily="34" charset="0"/>
                <a:ea typeface="Lato" pitchFamily="34" charset="-122"/>
                <a:cs typeface="Lato" pitchFamily="34" charset="-120"/>
              </a:rPr>
              <a:t>fichier</a:t>
            </a:r>
            <a:r>
              <a:rPr lang="en-US" sz="1200" dirty="0">
                <a:solidFill>
                  <a:srgbClr val="232A3A"/>
                </a:solidFill>
                <a:latin typeface="Lato" pitchFamily="34" charset="0"/>
                <a:ea typeface="Lato" pitchFamily="34" charset="-122"/>
                <a:cs typeface="Lato" pitchFamily="34" charset="-120"/>
              </a:rPr>
              <a:t> </a:t>
            </a:r>
            <a:r>
              <a:rPr lang="en-US" sz="1200" dirty="0" err="1">
                <a:solidFill>
                  <a:srgbClr val="232A3A"/>
                </a:solidFill>
                <a:latin typeface="Lato" pitchFamily="34" charset="0"/>
                <a:ea typeface="Lato" pitchFamily="34" charset="-122"/>
                <a:cs typeface="Lato" pitchFamily="34" charset="-120"/>
              </a:rPr>
              <a:t>d'exceptions</a:t>
            </a:r>
            <a:endParaRPr lang="en-US" sz="1200" dirty="0"/>
          </a:p>
        </p:txBody>
      </p:sp>
      <p:sp>
        <p:nvSpPr>
          <p:cNvPr id="9" name="Shape 6"/>
          <p:cNvSpPr/>
          <p:nvPr/>
        </p:nvSpPr>
        <p:spPr>
          <a:xfrm>
            <a:off x="658368" y="4023360"/>
            <a:ext cx="10874959" cy="1005840"/>
          </a:xfrm>
          <a:prstGeom prst="rect">
            <a:avLst/>
          </a:prstGeom>
          <a:solidFill>
            <a:srgbClr val="1B2A4A"/>
          </a:solidFill>
          <a:ln/>
        </p:spPr>
        <p:txBody>
          <a:bodyPr/>
          <a:lstStyle/>
          <a:p>
            <a:endParaRPr lang="fr-FR"/>
          </a:p>
        </p:txBody>
      </p:sp>
      <p:sp>
        <p:nvSpPr>
          <p:cNvPr id="10" name="Text 7"/>
          <p:cNvSpPr txBox="1"/>
          <p:nvPr/>
        </p:nvSpPr>
        <p:spPr>
          <a:xfrm>
            <a:off x="950976" y="4023360"/>
            <a:ext cx="10289743" cy="1005840"/>
          </a:xfrm>
          <a:prstGeom prst="rect">
            <a:avLst/>
          </a:prstGeom>
          <a:noFill/>
          <a:ln/>
        </p:spPr>
        <p:txBody>
          <a:bodyPr wrap="square" lIns="0" tIns="0" rIns="0" bIns="0" rtlCol="0" anchor="ctr"/>
          <a:lstStyle/>
          <a:p>
            <a:pPr marL="0" indent="0">
              <a:lnSpc>
                <a:spcPct val="116000"/>
              </a:lnSpc>
              <a:buNone/>
            </a:pPr>
            <a:r>
              <a:rPr lang="en-US" sz="1500" b="1" dirty="0">
                <a:solidFill>
                  <a:srgbClr val="FFFFFF"/>
                </a:solidFill>
                <a:latin typeface="Lato" pitchFamily="34" charset="0"/>
                <a:ea typeface="Lato" pitchFamily="34" charset="-122"/>
                <a:cs typeface="Lato" pitchFamily="34" charset="-120"/>
              </a:rPr>
              <a:t>Un actif que l'algorithme ne sait pas relier est désigné explicitement, jamais écarté silencieusement.</a:t>
            </a:r>
            <a:endParaRPr lang="en-US" sz="15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10C44A5A-831D-415D-8B98-7A5E99506B2F}" type="slidenum">
              <a:rPr lang="fr-FR" sz="900" b="0">
                <a:solidFill>
                  <a:srgbClr val="4A5568"/>
                </a:solidFill>
                <a:latin typeface="Lato"/>
              </a:rPr>
              <a:t>28</a:t>
            </a:fld>
            <a:endParaRPr lang="fr-FR">
              <a:solidFill>
                <a:srgbClr val="4A556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État de fonctionnement du démonstrateur</a:t>
            </a:r>
            <a:endParaRPr lang="en-US" sz="3000" dirty="0"/>
          </a:p>
        </p:txBody>
      </p:sp>
      <p:sp>
        <p:nvSpPr>
          <p:cNvPr id="3" name="Text 1"/>
          <p:cNvSpPr txBox="1"/>
          <p:nvPr/>
        </p:nvSpPr>
        <p:spPr>
          <a:xfrm>
            <a:off x="6583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75</a:t>
            </a:r>
            <a:endParaRPr lang="en-US" sz="4200" dirty="0"/>
          </a:p>
        </p:txBody>
      </p:sp>
      <p:sp>
        <p:nvSpPr>
          <p:cNvPr id="4" name="Text 2"/>
          <p:cNvSpPr txBox="1"/>
          <p:nvPr/>
        </p:nvSpPr>
        <p:spPr>
          <a:xfrm>
            <a:off x="6583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cycles de collecte aboutis</a:t>
            </a:r>
            <a:endParaRPr lang="en-US" sz="1150" dirty="0"/>
          </a:p>
        </p:txBody>
      </p:sp>
      <p:sp>
        <p:nvSpPr>
          <p:cNvPr id="5" name="Text 3"/>
          <p:cNvSpPr txBox="1"/>
          <p:nvPr/>
        </p:nvSpPr>
        <p:spPr>
          <a:xfrm>
            <a:off x="34015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106 207</a:t>
            </a:r>
            <a:endParaRPr lang="en-US" sz="4200" dirty="0"/>
          </a:p>
        </p:txBody>
      </p:sp>
      <p:sp>
        <p:nvSpPr>
          <p:cNvPr id="6" name="Text 4"/>
          <p:cNvSpPr txBox="1"/>
          <p:nvPr/>
        </p:nvSpPr>
        <p:spPr>
          <a:xfrm>
            <a:off x="34015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vulnérabilités enregistrées</a:t>
            </a:r>
            <a:endParaRPr lang="en-US" sz="1150" dirty="0"/>
          </a:p>
        </p:txBody>
      </p:sp>
      <p:sp>
        <p:nvSpPr>
          <p:cNvPr id="7" name="Text 5"/>
          <p:cNvSpPr txBox="1"/>
          <p:nvPr/>
        </p:nvSpPr>
        <p:spPr>
          <a:xfrm>
            <a:off x="61447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4</a:t>
            </a:r>
            <a:endParaRPr lang="en-US" sz="4200" dirty="0"/>
          </a:p>
        </p:txBody>
      </p:sp>
      <p:sp>
        <p:nvSpPr>
          <p:cNvPr id="8" name="Text 6"/>
          <p:cNvSpPr txBox="1"/>
          <p:nvPr/>
        </p:nvSpPr>
        <p:spPr>
          <a:xfrm>
            <a:off x="61447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machines instrumentées</a:t>
            </a:r>
            <a:endParaRPr lang="en-US" sz="1150" dirty="0"/>
          </a:p>
        </p:txBody>
      </p:sp>
      <p:sp>
        <p:nvSpPr>
          <p:cNvPr id="9" name="Text 7"/>
          <p:cNvSpPr txBox="1"/>
          <p:nvPr/>
        </p:nvSpPr>
        <p:spPr>
          <a:xfrm>
            <a:off x="88879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100 %</a:t>
            </a:r>
            <a:endParaRPr lang="en-US" sz="4200" dirty="0"/>
          </a:p>
        </p:txBody>
      </p:sp>
      <p:sp>
        <p:nvSpPr>
          <p:cNvPr id="10" name="Text 8"/>
          <p:cNvSpPr txBox="1"/>
          <p:nvPr/>
        </p:nvSpPr>
        <p:spPr>
          <a:xfrm>
            <a:off x="88879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du périmètre révisé couvert</a:t>
            </a:r>
            <a:endParaRPr lang="en-US" sz="1150" dirty="0"/>
          </a:p>
        </p:txBody>
      </p:sp>
      <p:sp>
        <p:nvSpPr>
          <p:cNvPr id="14" name="Shape 12"/>
          <p:cNvSpPr/>
          <p:nvPr/>
        </p:nvSpPr>
        <p:spPr>
          <a:xfrm>
            <a:off x="7699248" y="2706624"/>
            <a:ext cx="3840480" cy="2834640"/>
          </a:xfrm>
          <a:prstGeom prst="rect">
            <a:avLst/>
          </a:prstGeom>
          <a:solidFill>
            <a:srgbClr val="1B2A4A"/>
          </a:solidFill>
          <a:ln/>
        </p:spPr>
        <p:txBody>
          <a:bodyPr/>
          <a:lstStyle/>
          <a:p>
            <a:endParaRPr lang="fr-FR"/>
          </a:p>
        </p:txBody>
      </p:sp>
      <p:sp>
        <p:nvSpPr>
          <p:cNvPr id="15" name="Text 13"/>
          <p:cNvSpPr txBox="1"/>
          <p:nvPr/>
        </p:nvSpPr>
        <p:spPr>
          <a:xfrm>
            <a:off x="7955280" y="2944368"/>
            <a:ext cx="3383280" cy="603504"/>
          </a:xfrm>
          <a:prstGeom prst="rect">
            <a:avLst/>
          </a:prstGeom>
          <a:noFill/>
          <a:ln/>
        </p:spPr>
        <p:txBody>
          <a:bodyPr wrap="square" lIns="0" tIns="0" rIns="0" bIns="0" rtlCol="0" anchor="ctr"/>
          <a:lstStyle/>
          <a:p>
            <a:pPr marL="0" indent="0">
              <a:lnSpc>
                <a:spcPct val="110000"/>
              </a:lnSpc>
              <a:buNone/>
            </a:pPr>
            <a:r>
              <a:rPr lang="en-US" sz="1600" b="1" dirty="0">
                <a:solidFill>
                  <a:srgbClr val="C5A55A"/>
                </a:solidFill>
                <a:latin typeface="Lato" pitchFamily="34" charset="0"/>
                <a:ea typeface="Lato" pitchFamily="34" charset="-122"/>
                <a:cs typeface="Lato" pitchFamily="34" charset="-120"/>
              </a:rPr>
              <a:t>Pourquoi 4 machines et non 20</a:t>
            </a:r>
            <a:endParaRPr lang="en-US" sz="1600" dirty="0"/>
          </a:p>
        </p:txBody>
      </p:sp>
      <p:sp>
        <p:nvSpPr>
          <p:cNvPr id="16" name="Text 14"/>
          <p:cNvSpPr txBox="1"/>
          <p:nvPr/>
        </p:nvSpPr>
        <p:spPr>
          <a:xfrm>
            <a:off x="7955280" y="3657600"/>
            <a:ext cx="3383280" cy="822960"/>
          </a:xfrm>
          <a:prstGeom prst="rect">
            <a:avLst/>
          </a:prstGeom>
          <a:noFill/>
          <a:ln/>
        </p:spPr>
        <p:txBody>
          <a:bodyPr wrap="square" lIns="0" tIns="0" rIns="0" bIns="0" rtlCol="0" anchor="t"/>
          <a:lstStyle/>
          <a:p>
            <a:pPr marL="0" indent="0" algn="l">
              <a:lnSpc>
                <a:spcPct val="118000"/>
              </a:lnSpc>
              <a:buNone/>
            </a:pPr>
            <a:r>
              <a:rPr lang="en-US" sz="1300" dirty="0">
                <a:solidFill>
                  <a:srgbClr val="D5DAE4"/>
                </a:solidFill>
                <a:latin typeface="Lato" pitchFamily="34" charset="0"/>
                <a:ea typeface="Lato" pitchFamily="34" charset="-122"/>
                <a:cs typeface="Lato" pitchFamily="34" charset="-120"/>
              </a:rPr>
              <a:t>Périmètre resserré après constat que les référentiels n'étaient pas alimentés au niveau attendu.</a:t>
            </a:r>
            <a:endParaRPr lang="en-US" sz="1300" dirty="0"/>
          </a:p>
        </p:txBody>
      </p:sp>
      <p:sp>
        <p:nvSpPr>
          <p:cNvPr id="17" name="Shape 15"/>
          <p:cNvSpPr/>
          <p:nvPr/>
        </p:nvSpPr>
        <p:spPr>
          <a:xfrm>
            <a:off x="7955280" y="4517136"/>
            <a:ext cx="3383280" cy="25603"/>
          </a:xfrm>
          <a:prstGeom prst="rect">
            <a:avLst/>
          </a:prstGeom>
          <a:solidFill>
            <a:srgbClr val="34456B"/>
          </a:solidFill>
          <a:ln/>
        </p:spPr>
        <p:txBody>
          <a:bodyPr/>
          <a:lstStyle/>
          <a:p>
            <a:endParaRPr lang="fr-FR"/>
          </a:p>
        </p:txBody>
      </p:sp>
      <p:sp>
        <p:nvSpPr>
          <p:cNvPr id="18" name="Text 16"/>
          <p:cNvSpPr txBox="1"/>
          <p:nvPr/>
        </p:nvSpPr>
        <p:spPr>
          <a:xfrm>
            <a:off x="7955280" y="4700016"/>
            <a:ext cx="3383280" cy="640080"/>
          </a:xfrm>
          <a:prstGeom prst="rect">
            <a:avLst/>
          </a:prstGeom>
          <a:noFill/>
          <a:ln/>
        </p:spPr>
        <p:txBody>
          <a:bodyPr wrap="square" lIns="0" tIns="0" rIns="0" bIns="0" rtlCol="0" anchor="ctr"/>
          <a:lstStyle/>
          <a:p>
            <a:pPr marL="0" indent="0">
              <a:lnSpc>
                <a:spcPct val="116000"/>
              </a:lnSpc>
              <a:buNone/>
            </a:pPr>
            <a:r>
              <a:rPr lang="en-US" sz="1300" b="1" dirty="0">
                <a:solidFill>
                  <a:srgbClr val="FFFFFF"/>
                </a:solidFill>
                <a:latin typeface="Lato" pitchFamily="34" charset="0"/>
                <a:ea typeface="Lato" pitchFamily="34" charset="-122"/>
                <a:cs typeface="Lato" pitchFamily="34" charset="-120"/>
              </a:rPr>
              <a:t>Chaîne complète opérationnelle sur ce périmètre. Les données de la démonstration sont des données de test.</a:t>
            </a:r>
            <a:endParaRPr lang="en-US" sz="1300" dirty="0"/>
          </a:p>
        </p:txBody>
      </p:sp>
      <p:sp>
        <p:nvSpPr>
          <p:cNvPr id="901" name="Rounded Rectangle 900"/>
          <p:cNvSpPr/>
          <p:nvPr/>
        </p:nvSpPr>
        <p:spPr>
          <a:xfrm>
            <a:off x="658368" y="2950000"/>
            <a:ext cx="6800000" cy="1150000"/>
          </a:xfrm>
          <a:prstGeom prst="round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2" name="TextBox 901"/>
          <p:cNvSpPr txBox="1"/>
          <p:nvPr/>
        </p:nvSpPr>
        <p:spPr>
          <a:xfrm>
            <a:off x="950976" y="3080000"/>
            <a:ext cx="6215392" cy="240000"/>
          </a:xfrm>
          <a:prstGeom prst="rect">
            <a:avLst/>
          </a:prstGeom>
          <a:noFill/>
        </p:spPr>
        <p:txBody>
          <a:bodyPr wrap="square" lIns="0" tIns="0" rIns="0" bIns="0" anchor="t">
            <a:spAutoFit/>
          </a:bodyPr>
          <a:lstStyle/>
          <a:p>
            <a:pPr algn="l"/>
            <a:r>
              <a:rPr sz="1000" b="1" i="0" spc="120">
                <a:solidFill>
                  <a:srgbClr val="C5A55A"/>
                </a:solidFill>
                <a:latin typeface="Lato"/>
              </a:rPr>
              <a:t>LA DÉMONSTRATION QUI SUIT</a:t>
            </a:r>
          </a:p>
        </p:txBody>
      </p:sp>
      <p:sp>
        <p:nvSpPr>
          <p:cNvPr id="903" name="TextBox 902"/>
          <p:cNvSpPr txBox="1"/>
          <p:nvPr/>
        </p:nvSpPr>
        <p:spPr>
          <a:xfrm>
            <a:off x="950976" y="3370000"/>
            <a:ext cx="6215392" cy="620000"/>
          </a:xfrm>
          <a:prstGeom prst="rect">
            <a:avLst/>
          </a:prstGeom>
          <a:noFill/>
        </p:spPr>
        <p:txBody>
          <a:bodyPr wrap="square" lIns="0" tIns="0" rIns="0" bIns="0" anchor="t">
            <a:spAutoFit/>
          </a:bodyPr>
          <a:lstStyle/>
          <a:p>
            <a:pPr algn="l"/>
            <a:r>
              <a:rPr sz="1250" b="0" i="0">
                <a:solidFill>
                  <a:srgbClr val="232A3A"/>
                </a:solidFill>
                <a:latin typeface="Lato"/>
              </a:rPr>
              <a:t>Six vues, dont la boucle jouée en direct sur la matrice de risques.</a:t>
            </a:r>
          </a:p>
        </p:txBody>
      </p:sp>
      <p:sp>
        <p:nvSpPr>
          <p:cNvPr id="953" name="Kicker 953"/>
          <p:cNvSpPr txBox="1"/>
          <p:nvPr/>
        </p:nvSpPr>
        <p:spPr>
          <a:xfrm>
            <a:off x="658368" y="146304"/>
            <a:ext cx="10874959" cy="256032"/>
          </a:xfrm>
          <a:prstGeom prst="rect">
            <a:avLst/>
          </a:prstGeom>
          <a:noFill/>
          <a:ln/>
        </p:spPr>
        <p:txBody>
          <a:bodyPr wrap="square" lIns="0" tIns="0" rIns="0" bIns="0" rtlCol="0" anchor="ctr"/>
          <a:lstStyle/>
          <a:p>
            <a:pPr marL="0" indent="0">
              <a:buNone/>
            </a:pPr>
            <a:r>
              <a:rPr lang="fr-FR" sz="1100" b="1" kern="0" spc="220" dirty="0">
                <a:solidFill>
                  <a:srgbClr val="C5A55A"/>
                </a:solidFill>
                <a:latin typeface="Lato" pitchFamily="34" charset="0"/>
              </a:rPr>
              <a:t>BRIQUE 1 · LA COLLECTE, EN FONCTIONNEMENT</a:t>
            </a:r>
          </a:p>
        </p:txBody>
      </p:sp>
      <p:sp>
        <p:nvSpPr>
          <p:cNvPr id="955" name="Note cycles"/>
          <p:cNvSpPr txBox="1"/>
          <p:nvPr/>
        </p:nvSpPr>
        <p:spPr>
          <a:xfrm>
            <a:off x="658368" y="4300000"/>
            <a:ext cx="6800000" cy="600000"/>
          </a:xfrm>
          <a:prstGeom prst="rect">
            <a:avLst/>
          </a:prstGeom>
          <a:noFill/>
          <a:ln/>
        </p:spPr>
        <p:txBody>
          <a:bodyPr wrap="square" lIns="0" tIns="0" rIns="0" bIns="0" anchor="t">
            <a:spAutoFit/>
          </a:bodyPr>
          <a:lstStyle/>
          <a:p>
            <a:pPr marL="0" indent="0">
              <a:buNone/>
            </a:pPr>
            <a:r>
              <a:rPr lang="fr-FR" sz="1150" b="0" i="1" dirty="0">
                <a:solidFill>
                  <a:srgbClr val="4A5568"/>
                </a:solidFill>
                <a:latin typeface="Lato" pitchFamily="34" charset="0"/>
              </a:rPr>
              <a:t>Chiffres au cycle 75, le 28/08/2026. Le rapport a été déposé au cycle 66, en juillet : le démonstrateur a continué de tourner depuis.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C2368F2-3A92-472A-A321-34ECBBFC6A74}" type="slidenum">
              <a:rPr lang="fr-FR" sz="900" b="0">
                <a:solidFill>
                  <a:srgbClr val="4A5568"/>
                </a:solidFill>
                <a:latin typeface="Lato"/>
              </a:rPr>
              <a:t>29</a:t>
            </a:fld>
            <a:endParaRPr lang="fr-FR">
              <a:solidFill>
                <a:srgbClr val="4A556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LE TABLEAU DE BORD</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Ce que l'exploitant ouvre le matin</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Un seul écran : l'état du parc, la répartition par criticité, et la tendance depuis la première collecte.</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30</a:t>
            </a:fld>
            <a:endParaRPr lang="fr-FR">
              <a:solidFill>
                <a:srgbClr val="4A556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BRIQUE 4 — LE PLAN D'ACTION PRIORISÉ</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Une file triée par ce que la machine porte</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Chaque ligne affiche la chaîne complète : CVSS, criticité de l'actif, valeur métier, facteur d'exposition, score final.</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31</a:t>
            </a:fld>
            <a:endParaRPr lang="fr-FR">
              <a:solidFill>
                <a:srgbClr val="4A556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LE CALCUL, ACTIF PAR ACTIF</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Le score s'explique, ligne à ligne</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C:4 + D:4 + I:4 = 12, valeur métier 4, donc score = CVSS × 12,0. Et le suivi : persistantes, résolues, nouvelles.</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32</a:t>
            </a:fld>
            <a:endParaRPr lang="fr-FR">
              <a:solidFill>
                <a:srgbClr val="4A556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LA MATRICE DE RISQUES</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Les scénarios EBIOS RM, à leur position du jour</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Position courante, position d'origine, plancher : chaque scénario est situé, et chaque écart doit s'expliquer.</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14" name="Cadre 914"/>
          <p:cNvSpPr/>
          <p:nvPr/>
        </p:nvSpPr>
        <p:spPr>
          <a:xfrm>
            <a:off x="3470687" y="3400937"/>
            <a:ext cx="397188" cy="474688"/>
          </a:xfrm>
          <a:prstGeom prst="roundRect">
            <a:avLst>
              <a:gd name="adj" fmla="val 8000"/>
            </a:avLst>
          </a:prstGeom>
          <a:noFill/>
          <a:ln w="34925">
            <a:solidFill>
              <a:srgbClr val="C5A55A"/>
            </a:solidFill>
          </a:ln>
        </p:spPr>
        <p:txBody>
          <a:bodyPr/>
          <a:lstStyle/>
          <a:p>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33</a:t>
            </a:fld>
            <a:endParaRPr lang="fr-FR">
              <a:solidFill>
                <a:srgbClr val="4A556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BRIQUE 5 — LA BOUCLE</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Une CVE critique tombe, le risque monte</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CVE-2026-70321, CVSS 9,8, sur un actif du scénario R-04 : la vraisemblance passe de V=2 à V=3, l'origine reste en pointillés.</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14" name="Cadre 914"/>
          <p:cNvSpPr/>
          <p:nvPr/>
        </p:nvSpPr>
        <p:spPr>
          <a:xfrm>
            <a:off x="3431937" y="3400937"/>
            <a:ext cx="1608125" cy="474688"/>
          </a:xfrm>
          <a:prstGeom prst="roundRect">
            <a:avLst>
              <a:gd name="adj" fmla="val 8000"/>
            </a:avLst>
          </a:prstGeom>
          <a:noFill/>
          <a:ln w="34925">
            <a:solidFill>
              <a:srgbClr val="C5A55A"/>
            </a:solidFill>
          </a:ln>
        </p:spPr>
        <p:txBody>
          <a:bodyPr/>
          <a:lstStyle/>
          <a:p>
            <a:endParaRPr/>
          </a:p>
        </p:txBody>
      </p:sp>
      <p:sp>
        <p:nvSpPr>
          <p:cNvPr id="915" name="TextBox 915"/>
          <p:cNvSpPr txBox="1"/>
          <p:nvPr/>
        </p:nvSpPr>
        <p:spPr>
          <a:xfrm>
            <a:off x="3431937" y="2674375"/>
            <a:ext cx="1608125" cy="240000"/>
          </a:xfrm>
          <a:prstGeom prst="rect">
            <a:avLst/>
          </a:prstGeom>
          <a:noFill/>
        </p:spPr>
        <p:txBody>
          <a:bodyPr wrap="square" lIns="0" tIns="0" rIns="0" bIns="0" anchor="t">
            <a:spAutoFit/>
          </a:bodyPr>
          <a:lstStyle/>
          <a:p>
            <a:pPr algn="ctr">
              <a:buNone/>
            </a:pPr>
            <a:r>
              <a:rPr lang="fr-FR" sz="1100" b="1" dirty="0">
                <a:solidFill>
                  <a:srgbClr val="C5A55A"/>
                </a:solidFill>
                <a:latin typeface="Lato" pitchFamily="34" charset="0"/>
              </a:rPr>
              <a:t>R-04 : V=2  ›  V=3</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34</a:t>
            </a:fld>
            <a:endParaRPr lang="fr-FR">
              <a:solidFill>
                <a:srgbClr val="4A5568"/>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DÉMONSTRATION · LA VEILLE</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Ce qu'aucun agent installé ne couvre</a:t>
            </a:r>
          </a:p>
        </p:txBody>
      </p:sp>
      <p:sp>
        <p:nvSpPr>
          <p:cNvPr id="912" name="TextBox 912"/>
          <p:cNvSpPr txBox="1"/>
          <p:nvPr/>
        </p:nvSpPr>
        <p:spPr>
          <a:xfrm>
            <a:off x="658368" y="910000"/>
            <a:ext cx="10874959" cy="169277"/>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16 actifs SaaS interrogés directement chez le NVD, toutes les heures, hors périmètre du scan interne</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35</a:t>
            </a:fld>
            <a:endParaRPr lang="fr-FR">
              <a:solidFill>
                <a:srgbClr val="4A5568"/>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5</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5</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Mise à l'épreuve et résultats</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FEE218AA-CF8F-4800-8996-EB76A23EF409}" type="slidenum">
              <a:rPr lang="fr-FR" sz="900" b="0">
                <a:solidFill>
                  <a:srgbClr val="AEB7C6"/>
                </a:solidFill>
                <a:latin typeface="Lato"/>
              </a:rPr>
              <a:t>36</a:t>
            </a:fld>
            <a:endParaRPr lang="fr-FR">
              <a:solidFill>
                <a:srgbClr val="AEB7C6"/>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658368"/>
            <a:ext cx="1463040" cy="1280160"/>
          </a:xfrm>
          <a:prstGeom prst="rect">
            <a:avLst/>
          </a:prstGeom>
          <a:noFill/>
          <a:ln/>
        </p:spPr>
        <p:txBody>
          <a:bodyPr wrap="square" lIns="0" tIns="0" rIns="0" bIns="0" rtlCol="0" anchor="ctr"/>
          <a:lstStyle/>
          <a:p>
            <a:pPr marL="0" indent="0">
              <a:buNone/>
            </a:pPr>
            <a:r>
              <a:rPr lang="en-US" sz="12000" b="1" dirty="0">
                <a:solidFill>
                  <a:srgbClr val="34456B"/>
                </a:solidFill>
                <a:latin typeface="Lato" pitchFamily="34" charset="0"/>
                <a:ea typeface="Lato" pitchFamily="34" charset="-122"/>
                <a:cs typeface="Lato" pitchFamily="34" charset="-120"/>
              </a:rPr>
              <a:t>“</a:t>
            </a:r>
            <a:endParaRPr lang="en-US" sz="12000" dirty="0"/>
          </a:p>
        </p:txBody>
      </p:sp>
      <p:sp>
        <p:nvSpPr>
          <p:cNvPr id="3" name="Text 1"/>
          <p:cNvSpPr txBox="1"/>
          <p:nvPr/>
        </p:nvSpPr>
        <p:spPr>
          <a:xfrm>
            <a:off x="1755648" y="969264"/>
            <a:ext cx="9509760" cy="1554480"/>
          </a:xfrm>
          <a:prstGeom prst="rect">
            <a:avLst/>
          </a:prstGeom>
          <a:noFill/>
          <a:ln/>
        </p:spPr>
        <p:txBody>
          <a:bodyPr wrap="square" lIns="0" tIns="0" rIns="0" bIns="0" rtlCol="0" anchor="ctr"/>
          <a:lstStyle/>
          <a:p>
            <a:pPr marL="0" indent="0">
              <a:lnSpc>
                <a:spcPct val="122000"/>
              </a:lnSpc>
              <a:buNone/>
            </a:pPr>
            <a:r>
              <a:rPr lang="en-US" sz="2300" i="1" dirty="0">
                <a:solidFill>
                  <a:srgbClr val="FFFFFF"/>
                </a:solidFill>
                <a:latin typeface="Lato" pitchFamily="34" charset="0"/>
                <a:ea typeface="Lato" pitchFamily="34" charset="-122"/>
                <a:cs typeface="Lato" pitchFamily="34" charset="-120"/>
              </a:rPr>
              <a:t>Les deux axes d'amélioration retenus lors de la phase de recette, à savoir la modulation du score en fonction de l'exposition réseau et l'affinage de la valeur métier, seront expérimentés d'ici la soutenance.</a:t>
            </a:r>
            <a:endParaRPr lang="en-US" sz="2300" dirty="0"/>
          </a:p>
        </p:txBody>
      </p:sp>
      <p:sp>
        <p:nvSpPr>
          <p:cNvPr id="4" name="Text 2"/>
          <p:cNvSpPr txBox="1"/>
          <p:nvPr/>
        </p:nvSpPr>
        <p:spPr>
          <a:xfrm>
            <a:off x="1755648" y="2615184"/>
            <a:ext cx="7315200" cy="292608"/>
          </a:xfrm>
          <a:prstGeom prst="rect">
            <a:avLst/>
          </a:prstGeom>
          <a:noFill/>
          <a:ln/>
        </p:spPr>
        <p:txBody>
          <a:bodyPr wrap="square" lIns="0" tIns="0" rIns="0" bIns="0" rtlCol="0" anchor="ctr"/>
          <a:lstStyle/>
          <a:p>
            <a:pPr marL="0" indent="0">
              <a:buNone/>
            </a:pPr>
            <a:r>
              <a:rPr lang="en-US" sz="1200" b="1" kern="0" spc="120" dirty="0">
                <a:solidFill>
                  <a:srgbClr val="C5A55A"/>
                </a:solidFill>
                <a:latin typeface="Lato" pitchFamily="34" charset="0"/>
                <a:ea typeface="Lato" pitchFamily="34" charset="-122"/>
                <a:cs typeface="Lato" pitchFamily="34" charset="-120"/>
              </a:rPr>
              <a:t>Conclusion du </a:t>
            </a:r>
            <a:r>
              <a:rPr lang="en-US" sz="1200" b="1" kern="0" spc="120" dirty="0" err="1">
                <a:solidFill>
                  <a:srgbClr val="C5A55A"/>
                </a:solidFill>
                <a:latin typeface="Lato" pitchFamily="34" charset="0"/>
                <a:ea typeface="Lato" pitchFamily="34" charset="-122"/>
                <a:cs typeface="Lato" pitchFamily="34" charset="-120"/>
              </a:rPr>
              <a:t>mémoire</a:t>
            </a:r>
            <a:r>
              <a:rPr lang="en-US" sz="1200" b="1" kern="0" spc="120" dirty="0">
                <a:solidFill>
                  <a:srgbClr val="C5A55A"/>
                </a:solidFill>
                <a:latin typeface="Lato" pitchFamily="34" charset="0"/>
                <a:ea typeface="Lato" pitchFamily="34" charset="-122"/>
                <a:cs typeface="Lato" pitchFamily="34" charset="-120"/>
              </a:rPr>
              <a:t> remis le 23 juillet 2026</a:t>
            </a:r>
            <a:endParaRPr lang="en-US" sz="1200" dirty="0"/>
          </a:p>
        </p:txBody>
      </p:sp>
      <p:sp>
        <p:nvSpPr>
          <p:cNvPr id="5" name="Shape 3"/>
          <p:cNvSpPr/>
          <p:nvPr/>
        </p:nvSpPr>
        <p:spPr>
          <a:xfrm>
            <a:off x="658368" y="3310128"/>
            <a:ext cx="5230368" cy="2176272"/>
          </a:xfrm>
          <a:prstGeom prst="rect">
            <a:avLst/>
          </a:prstGeom>
          <a:solidFill>
            <a:srgbClr val="16233D"/>
          </a:solidFill>
          <a:ln/>
        </p:spPr>
        <p:txBody>
          <a:bodyPr/>
          <a:lstStyle/>
          <a:p>
            <a:endParaRPr lang="fr-FR"/>
          </a:p>
        </p:txBody>
      </p:sp>
      <p:sp>
        <p:nvSpPr>
          <p:cNvPr id="6" name="Text 4"/>
          <p:cNvSpPr txBox="1"/>
          <p:nvPr/>
        </p:nvSpPr>
        <p:spPr>
          <a:xfrm>
            <a:off x="932688"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1</a:t>
            </a:r>
            <a:endParaRPr lang="en-US" sz="3200" dirty="0"/>
          </a:p>
        </p:txBody>
      </p:sp>
      <p:sp>
        <p:nvSpPr>
          <p:cNvPr id="7" name="Text 5"/>
          <p:cNvSpPr txBox="1"/>
          <p:nvPr/>
        </p:nvSpPr>
        <p:spPr>
          <a:xfrm>
            <a:off x="944880"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 modulation par l'exposition réseau</a:t>
            </a:r>
            <a:endParaRPr lang="en-US" sz="1650" dirty="0"/>
          </a:p>
        </p:txBody>
      </p:sp>
      <p:sp>
        <p:nvSpPr>
          <p:cNvPr id="8" name="Text 6"/>
          <p:cNvSpPr txBox="1"/>
          <p:nvPr/>
        </p:nvSpPr>
        <p:spPr>
          <a:xfrm>
            <a:off x="932688"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Testé et en service : un facteur multiplicatif selon la zone réseau (interne, poste nomade, exposé sur Internet), calibré sans réécrire les cycles déjà enregistrés.</a:t>
            </a:r>
            <a:endParaRPr lang="en-US" sz="1250" dirty="0"/>
          </a:p>
        </p:txBody>
      </p:sp>
      <p:sp>
        <p:nvSpPr>
          <p:cNvPr id="9" name="Shape 7"/>
          <p:cNvSpPr/>
          <p:nvPr/>
        </p:nvSpPr>
        <p:spPr>
          <a:xfrm>
            <a:off x="6309360" y="3310128"/>
            <a:ext cx="5230368" cy="2176272"/>
          </a:xfrm>
          <a:prstGeom prst="rect">
            <a:avLst/>
          </a:prstGeom>
          <a:solidFill>
            <a:srgbClr val="16233D"/>
          </a:solidFill>
          <a:ln/>
        </p:spPr>
        <p:txBody>
          <a:bodyPr/>
          <a:lstStyle/>
          <a:p>
            <a:endParaRPr lang="fr-FR"/>
          </a:p>
        </p:txBody>
      </p:sp>
      <p:sp>
        <p:nvSpPr>
          <p:cNvPr id="10" name="Text 8"/>
          <p:cNvSpPr txBox="1"/>
          <p:nvPr/>
        </p:nvSpPr>
        <p:spPr>
          <a:xfrm>
            <a:off x="6583680" y="3456432"/>
            <a:ext cx="731520" cy="548640"/>
          </a:xfrm>
          <a:prstGeom prst="rect">
            <a:avLst/>
          </a:prstGeom>
          <a:noFill/>
          <a:ln/>
        </p:spPr>
        <p:txBody>
          <a:bodyPr wrap="square" lIns="0" tIns="0" rIns="0" bIns="0" rtlCol="0" anchor="ctr"/>
          <a:lstStyle/>
          <a:p>
            <a:pPr marL="0" indent="0">
              <a:buNone/>
            </a:pPr>
            <a:r>
              <a:rPr lang="en-US" sz="3200" b="1" dirty="0">
                <a:solidFill>
                  <a:srgbClr val="C5A55A"/>
                </a:solidFill>
                <a:latin typeface="Lato" pitchFamily="34" charset="0"/>
                <a:ea typeface="Lato" pitchFamily="34" charset="-122"/>
                <a:cs typeface="Lato" pitchFamily="34" charset="-120"/>
              </a:rPr>
              <a:t>2</a:t>
            </a:r>
            <a:endParaRPr lang="en-US" sz="3200" dirty="0"/>
          </a:p>
        </p:txBody>
      </p:sp>
      <p:sp>
        <p:nvSpPr>
          <p:cNvPr id="11" name="Text 9"/>
          <p:cNvSpPr txBox="1"/>
          <p:nvPr/>
        </p:nvSpPr>
        <p:spPr>
          <a:xfrm>
            <a:off x="6595872" y="3925465"/>
            <a:ext cx="4663440" cy="603504"/>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Lato" pitchFamily="34" charset="0"/>
                <a:ea typeface="Lato" pitchFamily="34" charset="-122"/>
                <a:cs typeface="Lato" pitchFamily="34" charset="-120"/>
              </a:rPr>
              <a:t>L'affinage de la valeur métier</a:t>
            </a:r>
            <a:endParaRPr lang="en-US" sz="1650" dirty="0"/>
          </a:p>
        </p:txBody>
      </p:sp>
      <p:sp>
        <p:nvSpPr>
          <p:cNvPr id="12" name="Text 10"/>
          <p:cNvSpPr txBox="1"/>
          <p:nvPr/>
        </p:nvSpPr>
        <p:spPr>
          <a:xfrm>
            <a:off x="6583680" y="4521439"/>
            <a:ext cx="4663440" cy="640080"/>
          </a:xfrm>
          <a:prstGeom prst="rect">
            <a:avLst/>
          </a:prstGeom>
          <a:noFill/>
          <a:ln/>
        </p:spPr>
        <p:txBody>
          <a:bodyPr wrap="square" lIns="0" tIns="0" rIns="0" bIns="0" rtlCol="0" anchor="t"/>
          <a:lstStyle/>
          <a:p>
            <a:pPr marL="0" indent="0" algn="l">
              <a:lnSpc>
                <a:spcPct val="118000"/>
              </a:lnSpc>
              <a:buNone/>
            </a:pPr>
            <a:r>
              <a:rPr lang="en-US" sz="1250" dirty="0">
                <a:solidFill>
                  <a:srgbClr val="AEB7C6"/>
                </a:solidFill>
                <a:latin typeface="Lato" pitchFamily="34" charset="0"/>
                <a:ea typeface="Lato" pitchFamily="34" charset="-122"/>
                <a:cs typeface="Lato" pitchFamily="34" charset="-120"/>
              </a:rPr>
              <a:t>Non mené : le questionnaire annoncé n'a pas été conduit. La règle en place reste celle du code — la plus élevée des activités portées par l'actif. La mesure qui suit montre que le verrou est dans la cotation elle-même.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AD33927-EE63-4E1C-892E-747CA2C3777D}" type="slidenum">
              <a:rPr lang="fr-FR" sz="900" b="0">
                <a:solidFill>
                  <a:srgbClr val="AEB7C6"/>
                </a:solidFill>
                <a:latin typeface="Lato"/>
              </a:rPr>
              <a:t>37</a:t>
            </a:fld>
            <a:endParaRPr lang="fr-FR">
              <a:solidFill>
                <a:srgbClr val="AEB7C6"/>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PRINCIPE ET PARAMÉTRAGE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Le facteur d'exposition réseau</a:t>
            </a:r>
            <a:endParaRPr lang="en-US" sz="3000" dirty="0"/>
          </a:p>
        </p:txBody>
      </p:sp>
      <p:sp>
        <p:nvSpPr>
          <p:cNvPr id="4" name="Text 2"/>
          <p:cNvSpPr txBox="1"/>
          <p:nvPr/>
        </p:nvSpPr>
        <p:spPr>
          <a:xfrm>
            <a:off x="658368" y="1207008"/>
            <a:ext cx="8229600" cy="310896"/>
          </a:xfrm>
          <a:prstGeom prst="rect">
            <a:avLst/>
          </a:prstGeom>
          <a:noFill/>
          <a:ln/>
        </p:spPr>
        <p:txBody>
          <a:bodyPr wrap="square" lIns="0" tIns="0" rIns="0" bIns="0" rtlCol="0" anchor="ctr"/>
          <a:lstStyle/>
          <a:p>
            <a:pPr marL="0" indent="0">
              <a:buNone/>
            </a:pPr>
            <a:r>
              <a:rPr lang="en-US" sz="1400" dirty="0">
                <a:solidFill>
                  <a:srgbClr val="232A3A"/>
                </a:solidFill>
                <a:latin typeface="Lato" pitchFamily="34" charset="0"/>
                <a:ea typeface="Lato" pitchFamily="34" charset="-122"/>
                <a:cs typeface="Lato" pitchFamily="34" charset="-120"/>
              </a:rPr>
              <a:t>La notation est multipliée par un facteur déterminé par l'emplacement réseau de la machine.</a:t>
            </a:r>
            <a:endParaRPr lang="en-US" sz="1400" dirty="0"/>
          </a:p>
        </p:txBody>
      </p:sp>
      <p:sp>
        <p:nvSpPr>
          <p:cNvPr id="5" name="Shape 3"/>
          <p:cNvSpPr/>
          <p:nvPr/>
        </p:nvSpPr>
        <p:spPr>
          <a:xfrm>
            <a:off x="932688" y="3054096"/>
            <a:ext cx="9966960" cy="25603"/>
          </a:xfrm>
          <a:prstGeom prst="rect">
            <a:avLst/>
          </a:prstGeom>
          <a:solidFill>
            <a:srgbClr val="E6EAF1"/>
          </a:solidFill>
          <a:ln/>
        </p:spPr>
        <p:txBody>
          <a:bodyPr/>
          <a:lstStyle/>
          <a:p>
            <a:endParaRPr lang="fr-FR"/>
          </a:p>
        </p:txBody>
      </p:sp>
      <p:sp>
        <p:nvSpPr>
          <p:cNvPr id="600" name="Bar 0,75"/>
          <p:cNvSpPr/>
          <p:nvPr/>
        </p:nvSpPr>
        <p:spPr>
          <a:xfrm>
            <a:off x="658368" y="2743200"/>
            <a:ext cx="621792" cy="310896"/>
          </a:xfrm>
          <a:prstGeom prst="rect">
            <a:avLst/>
          </a:prstGeom>
          <a:solidFill>
            <a:srgbClr val="8A93A6"/>
          </a:solidFill>
          <a:ln/>
        </p:spPr>
        <p:txBody>
          <a:bodyPr/>
          <a:lstStyle/>
          <a:p>
            <a:endParaRPr lang="fr-FR"/>
          </a:p>
        </p:txBody>
      </p:sp>
      <p:sp>
        <p:nvSpPr>
          <p:cNvPr id="601" name="Val 0,75"/>
          <p:cNvSpPr txBox="1"/>
          <p:nvPr/>
        </p:nvSpPr>
        <p:spPr>
          <a:xfrm>
            <a:off x="402336" y="235915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0,75</a:t>
            </a:r>
          </a:p>
        </p:txBody>
      </p:sp>
      <p:sp>
        <p:nvSpPr>
          <p:cNvPr id="602" name="Lab 0,75"/>
          <p:cNvSpPr txBox="1"/>
          <p:nvPr/>
        </p:nvSpPr>
        <p:spPr>
          <a:xfrm>
            <a:off x="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Sous-réseau isolé</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aucun routage sortant</a:t>
            </a:r>
          </a:p>
        </p:txBody>
      </p:sp>
      <p:sp>
        <p:nvSpPr>
          <p:cNvPr id="603" name="Bar 0,90"/>
          <p:cNvSpPr/>
          <p:nvPr/>
        </p:nvSpPr>
        <p:spPr>
          <a:xfrm>
            <a:off x="2644444" y="2523744"/>
            <a:ext cx="621792" cy="530352"/>
          </a:xfrm>
          <a:prstGeom prst="rect">
            <a:avLst/>
          </a:prstGeom>
          <a:solidFill>
            <a:srgbClr val="8A93A6"/>
          </a:solidFill>
          <a:ln/>
        </p:spPr>
        <p:txBody>
          <a:bodyPr/>
          <a:lstStyle/>
          <a:p>
            <a:endParaRPr lang="fr-FR"/>
          </a:p>
        </p:txBody>
      </p:sp>
      <p:sp>
        <p:nvSpPr>
          <p:cNvPr id="604" name="Val 0,90"/>
          <p:cNvSpPr txBox="1"/>
          <p:nvPr/>
        </p:nvSpPr>
        <p:spPr>
          <a:xfrm>
            <a:off x="2388412" y="2139696"/>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0,90</a:t>
            </a:r>
          </a:p>
        </p:txBody>
      </p:sp>
      <p:sp>
        <p:nvSpPr>
          <p:cNvPr id="605" name="Lab 0,90"/>
          <p:cNvSpPr txBox="1"/>
          <p:nvPr/>
        </p:nvSpPr>
        <p:spPr>
          <a:xfrm>
            <a:off x="1986076"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interne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derrière le pare-feu</a:t>
            </a:r>
          </a:p>
        </p:txBody>
      </p:sp>
      <p:sp>
        <p:nvSpPr>
          <p:cNvPr id="606" name="Bar 1,00"/>
          <p:cNvSpPr/>
          <p:nvPr/>
        </p:nvSpPr>
        <p:spPr>
          <a:xfrm>
            <a:off x="4630520" y="2304288"/>
            <a:ext cx="621792" cy="749808"/>
          </a:xfrm>
          <a:prstGeom prst="rect">
            <a:avLst/>
          </a:prstGeom>
          <a:solidFill>
            <a:srgbClr val="E6EAF1"/>
          </a:solidFill>
          <a:ln/>
        </p:spPr>
        <p:txBody>
          <a:bodyPr/>
          <a:lstStyle/>
          <a:p>
            <a:endParaRPr lang="fr-FR"/>
          </a:p>
        </p:txBody>
      </p:sp>
      <p:sp>
        <p:nvSpPr>
          <p:cNvPr id="607" name="Val 1,00"/>
          <p:cNvSpPr txBox="1"/>
          <p:nvPr/>
        </p:nvSpPr>
        <p:spPr>
          <a:xfrm>
            <a:off x="4374488" y="1920240"/>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1,00</a:t>
            </a:r>
          </a:p>
        </p:txBody>
      </p:sp>
      <p:sp>
        <p:nvSpPr>
          <p:cNvPr id="608" name="Lab 1,00"/>
          <p:cNvSpPr txBox="1"/>
          <p:nvPr/>
        </p:nvSpPr>
        <p:spPr>
          <a:xfrm>
            <a:off x="3972152"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Emplacement</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non renseigné</a:t>
            </a:r>
          </a:p>
        </p:txBody>
      </p:sp>
      <p:sp>
        <p:nvSpPr>
          <p:cNvPr id="609" name="Bar 1,15"/>
          <p:cNvSpPr/>
          <p:nvPr/>
        </p:nvSpPr>
        <p:spPr>
          <a:xfrm>
            <a:off x="6616596" y="2084832"/>
            <a:ext cx="621792" cy="969264"/>
          </a:xfrm>
          <a:prstGeom prst="rect">
            <a:avLst/>
          </a:prstGeom>
          <a:solidFill>
            <a:srgbClr val="1B2A4A"/>
          </a:solidFill>
          <a:ln/>
        </p:spPr>
        <p:txBody>
          <a:bodyPr/>
          <a:lstStyle/>
          <a:p>
            <a:endParaRPr lang="fr-FR"/>
          </a:p>
        </p:txBody>
      </p:sp>
      <p:sp>
        <p:nvSpPr>
          <p:cNvPr id="610" name="Val 1,15"/>
          <p:cNvSpPr txBox="1"/>
          <p:nvPr/>
        </p:nvSpPr>
        <p:spPr>
          <a:xfrm>
            <a:off x="6360564" y="1700784"/>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1,15</a:t>
            </a:r>
          </a:p>
        </p:txBody>
      </p:sp>
      <p:sp>
        <p:nvSpPr>
          <p:cNvPr id="611" name="Lab 1,15"/>
          <p:cNvSpPr txBox="1"/>
          <p:nvPr/>
        </p:nvSpPr>
        <p:spPr>
          <a:xfrm>
            <a:off x="5958228"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Point d'entrée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d'administration</a:t>
            </a:r>
          </a:p>
        </p:txBody>
      </p:sp>
      <p:sp>
        <p:nvSpPr>
          <p:cNvPr id="612" name="Bar 1,20"/>
          <p:cNvSpPr/>
          <p:nvPr/>
        </p:nvSpPr>
        <p:spPr>
          <a:xfrm>
            <a:off x="8602672" y="1865376"/>
            <a:ext cx="621792" cy="1188720"/>
          </a:xfrm>
          <a:prstGeom prst="rect">
            <a:avLst/>
          </a:prstGeom>
          <a:solidFill>
            <a:srgbClr val="1B2A4A"/>
          </a:solidFill>
          <a:ln/>
        </p:spPr>
        <p:txBody>
          <a:bodyPr/>
          <a:lstStyle/>
          <a:p>
            <a:endParaRPr lang="fr-FR"/>
          </a:p>
        </p:txBody>
      </p:sp>
      <p:sp>
        <p:nvSpPr>
          <p:cNvPr id="613" name="Val 1,20"/>
          <p:cNvSpPr txBox="1"/>
          <p:nvPr/>
        </p:nvSpPr>
        <p:spPr>
          <a:xfrm>
            <a:off x="8346640" y="1481328"/>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1,20</a:t>
            </a:r>
          </a:p>
        </p:txBody>
      </p:sp>
      <p:sp>
        <p:nvSpPr>
          <p:cNvPr id="614" name="Lab 1,20"/>
          <p:cNvSpPr txBox="1"/>
          <p:nvPr/>
        </p:nvSpPr>
        <p:spPr>
          <a:xfrm>
            <a:off x="7944304"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Poste nomade,</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réseau variable</a:t>
            </a:r>
          </a:p>
        </p:txBody>
      </p:sp>
      <p:sp>
        <p:nvSpPr>
          <p:cNvPr id="615" name="Bar 1,25"/>
          <p:cNvSpPr/>
          <p:nvPr/>
        </p:nvSpPr>
        <p:spPr>
          <a:xfrm>
            <a:off x="10588748" y="1645920"/>
            <a:ext cx="621792" cy="1408176"/>
          </a:xfrm>
          <a:prstGeom prst="rect">
            <a:avLst/>
          </a:prstGeom>
          <a:solidFill>
            <a:srgbClr val="1B2A4A"/>
          </a:solidFill>
          <a:ln/>
        </p:spPr>
        <p:txBody>
          <a:bodyPr/>
          <a:lstStyle/>
          <a:p>
            <a:endParaRPr lang="fr-FR"/>
          </a:p>
        </p:txBody>
      </p:sp>
      <p:sp>
        <p:nvSpPr>
          <p:cNvPr id="616" name="Val 1,25"/>
          <p:cNvSpPr txBox="1"/>
          <p:nvPr/>
        </p:nvSpPr>
        <p:spPr>
          <a:xfrm>
            <a:off x="10332716" y="1261872"/>
            <a:ext cx="1133856" cy="310896"/>
          </a:xfrm>
          <a:prstGeom prst="rect">
            <a:avLst/>
          </a:prstGeom>
          <a:noFill/>
          <a:ln/>
        </p:spPr>
        <p:txBody>
          <a:bodyPr wrap="square" lIns="0" tIns="0" rIns="0" bIns="0" rtlCol="0" anchor="ctr"/>
          <a:lstStyle/>
          <a:p>
            <a:pPr marL="0" indent="0" algn="ctr">
              <a:buNone/>
            </a:pPr>
            <a:r>
              <a:rPr lang="en-US" sz="1500" b="1" dirty="0">
                <a:solidFill>
                  <a:srgbClr val="1B2A4A"/>
                </a:solidFill>
                <a:latin typeface="Lato" pitchFamily="34" charset="0"/>
                <a:ea typeface="Lato" pitchFamily="34" charset="-122"/>
                <a:cs typeface="Lato" pitchFamily="34" charset="-120"/>
              </a:rPr>
              <a:t>1,25</a:t>
            </a:r>
          </a:p>
        </p:txBody>
      </p:sp>
      <p:sp>
        <p:nvSpPr>
          <p:cNvPr id="617" name="Lab 1,25"/>
          <p:cNvSpPr txBox="1"/>
          <p:nvPr/>
        </p:nvSpPr>
        <p:spPr>
          <a:xfrm>
            <a:off x="9930380" y="3200400"/>
            <a:ext cx="1938528" cy="603504"/>
          </a:xfrm>
          <a:prstGeom prst="rect">
            <a:avLst/>
          </a:prstGeom>
          <a:noFill/>
          <a:ln/>
        </p:spPr>
        <p:txBody>
          <a:bodyPr wrap="square" lIns="0" tIns="0" rIns="0" bIns="0" rtlCol="0" anchor="ctr"/>
          <a:lstStyle/>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Hébergement cloud,</a:t>
            </a:r>
          </a:p>
          <a:p>
            <a:pPr marL="0" indent="0" algn="ctr">
              <a:lnSpc>
                <a:spcPct val="110000"/>
              </a:lnSpc>
              <a:buNone/>
            </a:pPr>
            <a:r>
              <a:rPr lang="en-US" sz="1100" dirty="0">
                <a:solidFill>
                  <a:srgbClr val="4A5568"/>
                </a:solidFill>
                <a:latin typeface="Lato" pitchFamily="34" charset="0"/>
                <a:ea typeface="Lato" pitchFamily="34" charset="-122"/>
                <a:cs typeface="Lato" pitchFamily="34" charset="-120"/>
              </a:rPr>
              <a:t>exposé sur Internet</a:t>
            </a:r>
          </a:p>
        </p:txBody>
      </p:sp>
      <p:sp>
        <p:nvSpPr>
          <p:cNvPr id="21" name="Text 19"/>
          <p:cNvSpPr txBox="1"/>
          <p:nvPr/>
        </p:nvSpPr>
        <p:spPr>
          <a:xfrm>
            <a:off x="877824" y="4059936"/>
            <a:ext cx="2194560" cy="256032"/>
          </a:xfrm>
          <a:prstGeom prst="rect">
            <a:avLst/>
          </a:prstGeom>
          <a:noFill/>
          <a:ln/>
        </p:spPr>
        <p:txBody>
          <a:bodyPr wrap="square" lIns="0" tIns="0" rIns="0" bIns="0" rtlCol="0" anchor="ctr"/>
          <a:lstStyle/>
          <a:p>
            <a:pPr marL="0" indent="0">
              <a:buNone/>
            </a:pPr>
            <a:r>
              <a:rPr lang="en-US" sz="1000" b="1" kern="0" spc="120" dirty="0">
                <a:solidFill>
                  <a:srgbClr val="4A5568"/>
                </a:solidFill>
                <a:latin typeface="Lato" pitchFamily="34" charset="0"/>
                <a:ea typeface="Lato" pitchFamily="34" charset="-122"/>
                <a:cs typeface="Lato" pitchFamily="34" charset="-120"/>
              </a:rPr>
              <a:t>atténuation ←</a:t>
            </a:r>
            <a:endParaRPr lang="en-US" sz="1000" dirty="0"/>
          </a:p>
        </p:txBody>
      </p:sp>
      <p:sp>
        <p:nvSpPr>
          <p:cNvPr id="22" name="Text 20"/>
          <p:cNvSpPr txBox="1"/>
          <p:nvPr/>
        </p:nvSpPr>
        <p:spPr>
          <a:xfrm>
            <a:off x="8705088" y="4059936"/>
            <a:ext cx="2194560" cy="256032"/>
          </a:xfrm>
          <a:prstGeom prst="rect">
            <a:avLst/>
          </a:prstGeom>
          <a:noFill/>
          <a:ln/>
        </p:spPr>
        <p:txBody>
          <a:bodyPr wrap="square" lIns="0" tIns="0" rIns="0" bIns="0" rtlCol="0" anchor="ctr"/>
          <a:lstStyle/>
          <a:p>
            <a:pPr marL="0" indent="0" algn="r">
              <a:buNone/>
            </a:pPr>
            <a:r>
              <a:rPr lang="en-US" sz="1000" b="1" kern="0" spc="120" dirty="0">
                <a:solidFill>
                  <a:srgbClr val="4A5568"/>
                </a:solidFill>
                <a:latin typeface="Lato" pitchFamily="34" charset="0"/>
                <a:ea typeface="Lato" pitchFamily="34" charset="-122"/>
                <a:cs typeface="Lato" pitchFamily="34" charset="-120"/>
              </a:rPr>
              <a:t>→ aggravation</a:t>
            </a:r>
            <a:endParaRPr lang="en-US" sz="1000" dirty="0"/>
          </a:p>
        </p:txBody>
      </p:sp>
      <p:sp>
        <p:nvSpPr>
          <p:cNvPr id="23" name="Shape 21"/>
          <p:cNvSpPr/>
          <p:nvPr/>
        </p:nvSpPr>
        <p:spPr>
          <a:xfrm>
            <a:off x="658368" y="4443984"/>
            <a:ext cx="5230368" cy="859536"/>
          </a:xfrm>
          <a:prstGeom prst="rect">
            <a:avLst/>
          </a:prstGeom>
          <a:solidFill>
            <a:srgbClr val="F2F4F8"/>
          </a:solidFill>
          <a:ln/>
        </p:spPr>
        <p:txBody>
          <a:bodyPr/>
          <a:lstStyle/>
          <a:p>
            <a:endParaRPr lang="fr-FR"/>
          </a:p>
        </p:txBody>
      </p:sp>
      <p:sp>
        <p:nvSpPr>
          <p:cNvPr id="24" name="Shape 22"/>
          <p:cNvSpPr/>
          <p:nvPr/>
        </p:nvSpPr>
        <p:spPr>
          <a:xfrm>
            <a:off x="914400" y="4828032"/>
            <a:ext cx="82296" cy="82296"/>
          </a:xfrm>
          <a:prstGeom prst="ellipse">
            <a:avLst/>
          </a:prstGeom>
          <a:solidFill>
            <a:srgbClr val="C5A55A"/>
          </a:solidFill>
          <a:ln/>
        </p:spPr>
        <p:txBody>
          <a:bodyPr/>
          <a:lstStyle/>
          <a:p>
            <a:endParaRPr lang="fr-FR"/>
          </a:p>
        </p:txBody>
      </p:sp>
      <p:sp>
        <p:nvSpPr>
          <p:cNvPr id="25" name="Text 23"/>
          <p:cNvSpPr txBox="1"/>
          <p:nvPr/>
        </p:nvSpPr>
        <p:spPr>
          <a:xfrm>
            <a:off x="117043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Un emplacement non renseigné donne un facteur neutre, donc une notation </a:t>
            </a:r>
            <a:r>
              <a:rPr lang="en-US" sz="1200" dirty="0" err="1">
                <a:solidFill>
                  <a:srgbClr val="232A3A"/>
                </a:solidFill>
                <a:latin typeface="Lato" pitchFamily="34" charset="0"/>
                <a:ea typeface="Lato" pitchFamily="34" charset="-122"/>
                <a:cs typeface="Lato" pitchFamily="34" charset="-120"/>
              </a:rPr>
              <a:t>inchangée</a:t>
            </a:r>
            <a:r>
              <a:rPr lang="en-US" sz="1200" dirty="0">
                <a:solidFill>
                  <a:srgbClr val="232A3A"/>
                </a:solidFill>
                <a:latin typeface="Lato" pitchFamily="34" charset="0"/>
                <a:ea typeface="Lato" pitchFamily="34" charset="-122"/>
                <a:cs typeface="Lato" pitchFamily="34" charset="-120"/>
              </a:rPr>
              <a:t>.</a:t>
            </a:r>
            <a:endParaRPr lang="en-US" sz="1200" dirty="0"/>
          </a:p>
        </p:txBody>
      </p:sp>
      <p:sp>
        <p:nvSpPr>
          <p:cNvPr id="26" name="Shape 24"/>
          <p:cNvSpPr/>
          <p:nvPr/>
        </p:nvSpPr>
        <p:spPr>
          <a:xfrm>
            <a:off x="6190488" y="4443984"/>
            <a:ext cx="5230368" cy="859536"/>
          </a:xfrm>
          <a:prstGeom prst="rect">
            <a:avLst/>
          </a:prstGeom>
          <a:solidFill>
            <a:srgbClr val="F2F4F8"/>
          </a:solidFill>
          <a:ln/>
        </p:spPr>
        <p:txBody>
          <a:bodyPr/>
          <a:lstStyle/>
          <a:p>
            <a:endParaRPr lang="fr-FR"/>
          </a:p>
        </p:txBody>
      </p:sp>
      <p:sp>
        <p:nvSpPr>
          <p:cNvPr id="27" name="Shape 25"/>
          <p:cNvSpPr/>
          <p:nvPr/>
        </p:nvSpPr>
        <p:spPr>
          <a:xfrm>
            <a:off x="6446520" y="4828032"/>
            <a:ext cx="82296" cy="82296"/>
          </a:xfrm>
          <a:prstGeom prst="ellipse">
            <a:avLst/>
          </a:prstGeom>
          <a:solidFill>
            <a:srgbClr val="C5A55A"/>
          </a:solidFill>
          <a:ln/>
        </p:spPr>
        <p:txBody>
          <a:bodyPr/>
          <a:lstStyle/>
          <a:p>
            <a:endParaRPr lang="fr-FR"/>
          </a:p>
        </p:txBody>
      </p:sp>
      <p:sp>
        <p:nvSpPr>
          <p:cNvPr id="28" name="Text 26"/>
          <p:cNvSpPr txBox="1"/>
          <p:nvPr/>
        </p:nvSpPr>
        <p:spPr>
          <a:xfrm>
            <a:off x="6702552" y="4443984"/>
            <a:ext cx="4517136" cy="859536"/>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six paliers sont déclarés dans un fichier de configuration </a:t>
            </a:r>
            <a:r>
              <a:rPr lang="en-US" sz="1200" dirty="0" err="1">
                <a:solidFill>
                  <a:srgbClr val="232A3A"/>
                </a:solidFill>
                <a:latin typeface="Lato" pitchFamily="34" charset="0"/>
                <a:ea typeface="Lato" pitchFamily="34" charset="-122"/>
                <a:cs typeface="Lato" pitchFamily="34" charset="-120"/>
              </a:rPr>
              <a:t>afin</a:t>
            </a:r>
            <a:r>
              <a:rPr lang="en-US" sz="1200" dirty="0">
                <a:solidFill>
                  <a:srgbClr val="232A3A"/>
                </a:solidFill>
                <a:latin typeface="Lato" pitchFamily="34" charset="0"/>
                <a:ea typeface="Lato" pitchFamily="34" charset="-122"/>
                <a:cs typeface="Lato" pitchFamily="34" charset="-120"/>
              </a:rPr>
              <a:t> que leur calibrage relève du métier.</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87770027-EF53-441B-9D16-26101A5FE043}" type="slidenum">
              <a:rPr lang="fr-FR" sz="900" b="0">
                <a:solidFill>
                  <a:srgbClr val="4A5568"/>
                </a:solidFill>
                <a:latin typeface="Lato"/>
              </a:rPr>
              <a:t>38</a:t>
            </a:fld>
            <a:endParaRPr lang="fr-FR">
              <a:solidFill>
                <a:srgbClr val="4A5568"/>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1 — AUCUNE INVERSION</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le classement des actifs</a:t>
            </a:r>
            <a:endParaRPr lang="en-US" sz="3000" dirty="0"/>
          </a:p>
        </p:txBody>
      </p:sp>
      <p:sp>
        <p:nvSpPr>
          <p:cNvPr id="4" name="Text 2"/>
          <p:cNvSpPr txBox="1"/>
          <p:nvPr/>
        </p:nvSpPr>
        <p:spPr>
          <a:xfrm>
            <a:off x="658368" y="1481328"/>
            <a:ext cx="4023360" cy="256032"/>
          </a:xfrm>
          <a:prstGeom prst="rect">
            <a:avLst/>
          </a:prstGeom>
          <a:noFill/>
          <a:ln/>
        </p:spPr>
        <p:txBody>
          <a:bodyPr wrap="square" lIns="0" tIns="0" rIns="0" bIns="0" rtlCol="0" anchor="ctr"/>
          <a:lstStyle/>
          <a:p>
            <a:pPr marL="0" indent="0">
              <a:buNone/>
            </a:pPr>
            <a:r>
              <a:rPr lang="en-US" sz="1050" b="1" kern="0" spc="160" dirty="0">
                <a:solidFill>
                  <a:srgbClr val="4A5568"/>
                </a:solidFill>
                <a:latin typeface="Lato" pitchFamily="34" charset="0"/>
                <a:ea typeface="Lato" pitchFamily="34" charset="-122"/>
                <a:cs typeface="Lato" pitchFamily="34" charset="-120"/>
              </a:rPr>
              <a:t>NOTATION D'ORIGINE</a:t>
            </a:r>
            <a:endParaRPr lang="en-US" sz="1050" dirty="0"/>
          </a:p>
        </p:txBody>
      </p:sp>
      <p:sp>
        <p:nvSpPr>
          <p:cNvPr id="5" name="Text 3"/>
          <p:cNvSpPr txBox="1"/>
          <p:nvPr/>
        </p:nvSpPr>
        <p:spPr>
          <a:xfrm>
            <a:off x="6620256" y="1481328"/>
            <a:ext cx="4937760" cy="256032"/>
          </a:xfrm>
          <a:prstGeom prst="rect">
            <a:avLst/>
          </a:prstGeom>
          <a:noFill/>
          <a:ln/>
        </p:spPr>
        <p:txBody>
          <a:bodyPr wrap="square" lIns="0" tIns="0" rIns="0" bIns="0" rtlCol="0" anchor="ctr"/>
          <a:lstStyle/>
          <a:p>
            <a:pPr marL="0" indent="0">
              <a:buNone/>
            </a:pPr>
            <a:r>
              <a:rPr lang="en-US" sz="1050" b="1" kern="0" spc="160" dirty="0">
                <a:solidFill>
                  <a:srgbClr val="C5A55A"/>
                </a:solidFill>
                <a:latin typeface="Lato" pitchFamily="34" charset="0"/>
                <a:ea typeface="Lato" pitchFamily="34" charset="-122"/>
                <a:cs typeface="Lato" pitchFamily="34" charset="-120"/>
              </a:rPr>
              <a:t>AVEC LE FACTEUR D'EXPOSITION</a:t>
            </a:r>
            <a:endParaRPr lang="en-US" sz="1050" dirty="0"/>
          </a:p>
        </p:txBody>
      </p:sp>
      <p:sp>
        <p:nvSpPr>
          <p:cNvPr id="6" name="Shape 4"/>
          <p:cNvSpPr/>
          <p:nvPr/>
        </p:nvSpPr>
        <p:spPr>
          <a:xfrm>
            <a:off x="658368" y="1883664"/>
            <a:ext cx="4443984" cy="585216"/>
          </a:xfrm>
          <a:prstGeom prst="rect">
            <a:avLst/>
          </a:prstGeom>
          <a:solidFill>
            <a:srgbClr val="F2F4F8"/>
          </a:solidFill>
          <a:ln/>
        </p:spPr>
        <p:txBody>
          <a:bodyPr/>
          <a:lstStyle/>
          <a:p>
            <a:endParaRPr lang="fr-FR"/>
          </a:p>
        </p:txBody>
      </p:sp>
      <p:sp>
        <p:nvSpPr>
          <p:cNvPr id="7" name="Shape 5"/>
          <p:cNvSpPr/>
          <p:nvPr/>
        </p:nvSpPr>
        <p:spPr>
          <a:xfrm>
            <a:off x="786384" y="1975104"/>
            <a:ext cx="402336" cy="402336"/>
          </a:xfrm>
          <a:prstGeom prst="rect">
            <a:avLst/>
          </a:prstGeom>
          <a:solidFill>
            <a:srgbClr val="1B2A4A"/>
          </a:solidFill>
          <a:ln/>
        </p:spPr>
        <p:txBody>
          <a:bodyPr/>
          <a:lstStyle/>
          <a:p>
            <a:endParaRPr lang="fr-FR"/>
          </a:p>
        </p:txBody>
      </p:sp>
      <p:sp>
        <p:nvSpPr>
          <p:cNvPr id="8" name="Text 6"/>
          <p:cNvSpPr txBox="1"/>
          <p:nvPr/>
        </p:nvSpPr>
        <p:spPr>
          <a:xfrm>
            <a:off x="786384" y="1975104"/>
            <a:ext cx="402336" cy="402336"/>
          </a:xfrm>
          <a:prstGeom prst="rect">
            <a:avLst/>
          </a:prstGeom>
          <a:noFill/>
          <a:ln/>
        </p:spPr>
        <p:txBody>
          <a:bodyPr wrap="square" lIns="0" tIns="0" rIns="0" bIns="0" rtlCol="0" anchor="ctr"/>
          <a:lstStyle/>
          <a:p>
            <a:pPr marL="0" indent="0" algn="ctr">
              <a:buNone/>
            </a:pPr>
            <a:r>
              <a:rPr lang="en-US" sz="1800" b="1" dirty="0">
                <a:solidFill>
                  <a:srgbClr val="C5A55A"/>
                </a:solidFill>
                <a:latin typeface="Lato" pitchFamily="34" charset="0"/>
                <a:ea typeface="Lato" pitchFamily="34" charset="-122"/>
                <a:cs typeface="Lato" pitchFamily="34" charset="-120"/>
              </a:rPr>
              <a:t>1</a:t>
            </a:r>
            <a:endParaRPr lang="en-US" sz="1800" dirty="0"/>
          </a:p>
        </p:txBody>
      </p:sp>
      <p:sp>
        <p:nvSpPr>
          <p:cNvPr id="9" name="Text 7"/>
          <p:cNvSpPr txBox="1"/>
          <p:nvPr/>
        </p:nvSpPr>
        <p:spPr>
          <a:xfrm>
            <a:off x="1298448" y="1883664"/>
            <a:ext cx="2651760" cy="585216"/>
          </a:xfrm>
          <a:prstGeom prst="rect">
            <a:avLst/>
          </a:prstGeom>
          <a:noFill/>
          <a:ln/>
        </p:spPr>
        <p:txBody>
          <a:bodyPr wrap="square" lIns="0" tIns="0" rIns="0" bIns="0" rtlCol="0" anchor="ctr"/>
          <a:lstStyle/>
          <a:p>
            <a:pPr marL="0" indent="0">
              <a:buNone/>
            </a:pPr>
            <a:r>
              <a:rPr lang="en-US" sz="1200" dirty="0">
                <a:solidFill>
                  <a:srgbClr val="232A3A"/>
                </a:solidFill>
                <a:latin typeface="Lato" pitchFamily="34" charset="0"/>
                <a:ea typeface="Lato" pitchFamily="34" charset="-122"/>
                <a:cs typeface="Lato" pitchFamily="34" charset="-120"/>
              </a:rPr>
              <a:t>Portainer, hébergé en cloud</a:t>
            </a:r>
            <a:endParaRPr lang="en-US" sz="1200" dirty="0"/>
          </a:p>
        </p:txBody>
      </p:sp>
      <p:sp>
        <p:nvSpPr>
          <p:cNvPr id="10" name="Text 8"/>
          <p:cNvSpPr txBox="1"/>
          <p:nvPr/>
        </p:nvSpPr>
        <p:spPr>
          <a:xfrm>
            <a:off x="3950208" y="1883664"/>
            <a:ext cx="1024128" cy="585216"/>
          </a:xfrm>
          <a:prstGeom prst="rect">
            <a:avLst/>
          </a:prstGeom>
          <a:noFill/>
          <a:ln/>
        </p:spPr>
        <p:txBody>
          <a:bodyPr wrap="square" lIns="0" tIns="0" rIns="0" bIns="0" rtlCol="0" anchor="ctr"/>
          <a:lstStyle/>
          <a:p>
            <a:pPr marL="0" indent="0" algn="r">
              <a:buNone/>
            </a:pPr>
            <a:r>
              <a:rPr lang="en-US" sz="1500" b="1" dirty="0">
                <a:solidFill>
                  <a:srgbClr val="1B2A4A"/>
                </a:solidFill>
                <a:latin typeface="Lato" pitchFamily="34" charset="0"/>
                <a:ea typeface="Lato" pitchFamily="34" charset="-122"/>
                <a:cs typeface="Lato" pitchFamily="34" charset="-120"/>
              </a:rPr>
              <a:t>117,6</a:t>
            </a:r>
            <a:endParaRPr lang="en-US" sz="1500" dirty="0"/>
          </a:p>
        </p:txBody>
      </p:sp>
      <p:sp>
        <p:nvSpPr>
          <p:cNvPr id="11" name="Shape 9"/>
          <p:cNvSpPr/>
          <p:nvPr/>
        </p:nvSpPr>
        <p:spPr>
          <a:xfrm>
            <a:off x="5138928" y="2176272"/>
            <a:ext cx="2103120" cy="0"/>
          </a:xfrm>
          <a:prstGeom prst="line">
            <a:avLst/>
          </a:prstGeom>
          <a:noFill/>
          <a:ln w="17780">
            <a:solidFill>
              <a:srgbClr val="E6EAF1"/>
            </a:solidFill>
            <a:prstDash val="solid"/>
          </a:ln>
        </p:spPr>
        <p:txBody>
          <a:bodyPr/>
          <a:lstStyle/>
          <a:p>
            <a:endParaRPr lang="fr-FR"/>
          </a:p>
        </p:txBody>
      </p:sp>
      <p:sp>
        <p:nvSpPr>
          <p:cNvPr id="12" name="Shape 10"/>
          <p:cNvSpPr/>
          <p:nvPr/>
        </p:nvSpPr>
        <p:spPr>
          <a:xfrm>
            <a:off x="6620256" y="1883664"/>
            <a:ext cx="4919472" cy="585216"/>
          </a:xfrm>
          <a:prstGeom prst="rect">
            <a:avLst/>
          </a:prstGeom>
          <a:solidFill>
            <a:srgbClr val="1B2A4A"/>
          </a:solidFill>
          <a:ln/>
        </p:spPr>
        <p:txBody>
          <a:bodyPr/>
          <a:lstStyle/>
          <a:p>
            <a:endParaRPr lang="fr-FR"/>
          </a:p>
        </p:txBody>
      </p:sp>
      <p:sp>
        <p:nvSpPr>
          <p:cNvPr id="13" name="Shape 11"/>
          <p:cNvSpPr/>
          <p:nvPr/>
        </p:nvSpPr>
        <p:spPr>
          <a:xfrm>
            <a:off x="6748272" y="1975104"/>
            <a:ext cx="402336" cy="402336"/>
          </a:xfrm>
          <a:prstGeom prst="rect">
            <a:avLst/>
          </a:prstGeom>
          <a:solidFill>
            <a:srgbClr val="C5A55A"/>
          </a:solidFill>
          <a:ln/>
        </p:spPr>
        <p:txBody>
          <a:bodyPr/>
          <a:lstStyle/>
          <a:p>
            <a:endParaRPr lang="fr-FR"/>
          </a:p>
        </p:txBody>
      </p:sp>
      <p:sp>
        <p:nvSpPr>
          <p:cNvPr id="14" name="Text 12"/>
          <p:cNvSpPr txBox="1"/>
          <p:nvPr/>
        </p:nvSpPr>
        <p:spPr>
          <a:xfrm>
            <a:off x="6748272" y="1975104"/>
            <a:ext cx="402336" cy="402336"/>
          </a:xfrm>
          <a:prstGeom prst="rect">
            <a:avLst/>
          </a:prstGeom>
          <a:noFill/>
          <a:ln/>
        </p:spPr>
        <p:txBody>
          <a:bodyPr wrap="square" lIns="0" tIns="0" rIns="0" bIns="0" rtlCol="0" anchor="ctr"/>
          <a:lstStyle/>
          <a:p>
            <a:pPr marL="0" indent="0" algn="ctr">
              <a:buNone/>
            </a:pPr>
            <a:r>
              <a:rPr lang="en-US" sz="1800" b="1" dirty="0">
                <a:solidFill>
                  <a:srgbClr val="1B2A4A"/>
                </a:solidFill>
                <a:latin typeface="Lato" pitchFamily="34" charset="0"/>
                <a:ea typeface="Lato" pitchFamily="34" charset="-122"/>
                <a:cs typeface="Lato" pitchFamily="34" charset="-120"/>
              </a:rPr>
              <a:t>1</a:t>
            </a:r>
            <a:endParaRPr lang="en-US" sz="1800" dirty="0"/>
          </a:p>
        </p:txBody>
      </p:sp>
      <p:sp>
        <p:nvSpPr>
          <p:cNvPr id="15" name="Text 13"/>
          <p:cNvSpPr txBox="1"/>
          <p:nvPr/>
        </p:nvSpPr>
        <p:spPr>
          <a:xfrm>
            <a:off x="7260336" y="1883664"/>
            <a:ext cx="2834640" cy="585216"/>
          </a:xfrm>
          <a:prstGeom prst="rect">
            <a:avLst/>
          </a:prstGeom>
          <a:noFill/>
          <a:ln/>
        </p:spPr>
        <p:txBody>
          <a:bodyPr wrap="square" lIns="0" tIns="0" rIns="0" bIns="0" rtlCol="0" anchor="ctr"/>
          <a:lstStyle/>
          <a:p>
            <a:pPr marL="0" indent="0">
              <a:buNone/>
            </a:pPr>
            <a:r>
              <a:rPr lang="en-US" sz="1200" dirty="0">
                <a:solidFill>
                  <a:srgbClr val="D5DAE4"/>
                </a:solidFill>
                <a:latin typeface="Lato" pitchFamily="34" charset="0"/>
                <a:ea typeface="Lato" pitchFamily="34" charset="-122"/>
                <a:cs typeface="Lato" pitchFamily="34" charset="-120"/>
              </a:rPr>
              <a:t>Portainer, hébergé en cloud</a:t>
            </a:r>
            <a:endParaRPr lang="en-US" sz="1200" dirty="0"/>
          </a:p>
        </p:txBody>
      </p:sp>
      <p:sp>
        <p:nvSpPr>
          <p:cNvPr id="16" name="Text 14"/>
          <p:cNvSpPr txBox="1"/>
          <p:nvPr/>
        </p:nvSpPr>
        <p:spPr>
          <a:xfrm>
            <a:off x="10149840" y="1883664"/>
            <a:ext cx="1225296" cy="585216"/>
          </a:xfrm>
          <a:prstGeom prst="rect">
            <a:avLst/>
          </a:prstGeom>
          <a:noFill/>
          <a:ln/>
        </p:spPr>
        <p:txBody>
          <a:bodyPr wrap="square" lIns="0" tIns="0" rIns="0" bIns="0" rtlCol="0" anchor="ctr"/>
          <a:lstStyle/>
          <a:p>
            <a:pPr marL="0" indent="0" algn="r">
              <a:buNone/>
            </a:pPr>
            <a:r>
              <a:rPr lang="en-US" sz="1500" b="1" dirty="0">
                <a:solidFill>
                  <a:srgbClr val="C5A55A"/>
                </a:solidFill>
                <a:latin typeface="Lato" pitchFamily="34" charset="0"/>
                <a:ea typeface="Lato" pitchFamily="34" charset="-122"/>
                <a:cs typeface="Lato" pitchFamily="34" charset="-120"/>
              </a:rPr>
              <a:t>147,0</a:t>
            </a:r>
            <a:endParaRPr lang="en-US" sz="1500" dirty="0"/>
          </a:p>
        </p:txBody>
      </p:sp>
      <p:sp>
        <p:nvSpPr>
          <p:cNvPr id="17" name="Shape 15"/>
          <p:cNvSpPr/>
          <p:nvPr/>
        </p:nvSpPr>
        <p:spPr>
          <a:xfrm>
            <a:off x="658368" y="2670048"/>
            <a:ext cx="4443984" cy="585216"/>
          </a:xfrm>
          <a:prstGeom prst="rect">
            <a:avLst/>
          </a:prstGeom>
          <a:solidFill>
            <a:srgbClr val="F2F4F8"/>
          </a:solidFill>
          <a:ln/>
        </p:spPr>
        <p:txBody>
          <a:bodyPr/>
          <a:lstStyle/>
          <a:p>
            <a:endParaRPr lang="fr-FR"/>
          </a:p>
        </p:txBody>
      </p:sp>
      <p:sp>
        <p:nvSpPr>
          <p:cNvPr id="18" name="Shape 16"/>
          <p:cNvSpPr/>
          <p:nvPr/>
        </p:nvSpPr>
        <p:spPr>
          <a:xfrm>
            <a:off x="786384" y="2761488"/>
            <a:ext cx="402336" cy="402336"/>
          </a:xfrm>
          <a:prstGeom prst="rect">
            <a:avLst/>
          </a:prstGeom>
          <a:solidFill>
            <a:srgbClr val="1B2A4A"/>
          </a:solidFill>
          <a:ln/>
        </p:spPr>
        <p:txBody>
          <a:bodyPr/>
          <a:lstStyle/>
          <a:p>
            <a:endParaRPr lang="fr-FR"/>
          </a:p>
        </p:txBody>
      </p:sp>
      <p:sp>
        <p:nvSpPr>
          <p:cNvPr id="19" name="Text 17"/>
          <p:cNvSpPr txBox="1"/>
          <p:nvPr/>
        </p:nvSpPr>
        <p:spPr>
          <a:xfrm>
            <a:off x="786384" y="2761488"/>
            <a:ext cx="402336" cy="402336"/>
          </a:xfrm>
          <a:prstGeom prst="rect">
            <a:avLst/>
          </a:prstGeom>
          <a:noFill/>
          <a:ln/>
        </p:spPr>
        <p:txBody>
          <a:bodyPr wrap="square" lIns="0" tIns="0" rIns="0" bIns="0" rtlCol="0" anchor="ctr"/>
          <a:lstStyle/>
          <a:p>
            <a:pPr marL="0" indent="0" algn="ctr">
              <a:buNone/>
            </a:pPr>
            <a:r>
              <a:rPr lang="en-US" sz="1800" b="1" dirty="0">
                <a:solidFill>
                  <a:srgbClr val="C5A55A"/>
                </a:solidFill>
                <a:latin typeface="Lato" pitchFamily="34" charset="0"/>
                <a:ea typeface="Lato" pitchFamily="34" charset="-122"/>
                <a:cs typeface="Lato" pitchFamily="34" charset="-120"/>
              </a:rPr>
              <a:t>2</a:t>
            </a:r>
            <a:endParaRPr lang="en-US" sz="1800" dirty="0"/>
          </a:p>
        </p:txBody>
      </p:sp>
      <p:sp>
        <p:nvSpPr>
          <p:cNvPr id="20" name="Text 18"/>
          <p:cNvSpPr txBox="1"/>
          <p:nvPr/>
        </p:nvSpPr>
        <p:spPr>
          <a:xfrm>
            <a:off x="1298448" y="2670048"/>
            <a:ext cx="2651760" cy="585216"/>
          </a:xfrm>
          <a:prstGeom prst="rect">
            <a:avLst/>
          </a:prstGeom>
          <a:noFill/>
          <a:ln/>
        </p:spPr>
        <p:txBody>
          <a:bodyPr wrap="square" lIns="0" tIns="0" rIns="0" bIns="0" rtlCol="0" anchor="ctr"/>
          <a:lstStyle/>
          <a:p>
            <a:pPr marL="0" indent="0">
              <a:buNone/>
            </a:pPr>
            <a:r>
              <a:rPr lang="en-US" sz="1200" dirty="0">
                <a:solidFill>
                  <a:srgbClr val="232A3A"/>
                </a:solidFill>
                <a:latin typeface="Lato" pitchFamily="34" charset="0"/>
                <a:ea typeface="Lato" pitchFamily="34" charset="-122"/>
                <a:cs typeface="Lato" pitchFamily="34" charset="-120"/>
              </a:rPr>
              <a:t>Bastion d'administration</a:t>
            </a:r>
            <a:endParaRPr lang="en-US" sz="1200" dirty="0"/>
          </a:p>
        </p:txBody>
      </p:sp>
      <p:sp>
        <p:nvSpPr>
          <p:cNvPr id="21" name="Text 19"/>
          <p:cNvSpPr txBox="1"/>
          <p:nvPr/>
        </p:nvSpPr>
        <p:spPr>
          <a:xfrm>
            <a:off x="3950208" y="2670048"/>
            <a:ext cx="1024128" cy="585216"/>
          </a:xfrm>
          <a:prstGeom prst="rect">
            <a:avLst/>
          </a:prstGeom>
          <a:noFill/>
          <a:ln/>
        </p:spPr>
        <p:txBody>
          <a:bodyPr wrap="square" lIns="0" tIns="0" rIns="0" bIns="0" rtlCol="0" anchor="ctr"/>
          <a:lstStyle/>
          <a:p>
            <a:pPr marL="0" indent="0" algn="r">
              <a:buNone/>
            </a:pPr>
            <a:r>
              <a:rPr lang="en-US" sz="1500" b="1" dirty="0">
                <a:solidFill>
                  <a:srgbClr val="1B2A4A"/>
                </a:solidFill>
                <a:latin typeface="Lato" pitchFamily="34" charset="0"/>
                <a:ea typeface="Lato" pitchFamily="34" charset="-122"/>
                <a:cs typeface="Lato" pitchFamily="34" charset="-120"/>
              </a:rPr>
              <a:t>100,0</a:t>
            </a:r>
            <a:endParaRPr lang="en-US" sz="1500" dirty="0"/>
          </a:p>
        </p:txBody>
      </p:sp>
      <p:sp>
        <p:nvSpPr>
          <p:cNvPr id="22" name="Shape 20"/>
          <p:cNvSpPr/>
          <p:nvPr/>
        </p:nvSpPr>
        <p:spPr>
          <a:xfrm>
            <a:off x="5138928" y="2962656"/>
            <a:ext cx="2103120" cy="0"/>
          </a:xfrm>
          <a:prstGeom prst="line">
            <a:avLst/>
          </a:prstGeom>
          <a:noFill/>
          <a:ln w="17780">
            <a:solidFill>
              <a:srgbClr val="E6EAF1"/>
            </a:solidFill>
            <a:prstDash val="solid"/>
          </a:ln>
        </p:spPr>
        <p:txBody>
          <a:bodyPr/>
          <a:lstStyle/>
          <a:p>
            <a:endParaRPr lang="fr-FR"/>
          </a:p>
        </p:txBody>
      </p:sp>
      <p:sp>
        <p:nvSpPr>
          <p:cNvPr id="23" name="Shape 21"/>
          <p:cNvSpPr/>
          <p:nvPr/>
        </p:nvSpPr>
        <p:spPr>
          <a:xfrm>
            <a:off x="6620256" y="2670048"/>
            <a:ext cx="4919472" cy="585216"/>
          </a:xfrm>
          <a:prstGeom prst="rect">
            <a:avLst/>
          </a:prstGeom>
          <a:solidFill>
            <a:srgbClr val="1B2A4A"/>
          </a:solidFill>
          <a:ln/>
        </p:spPr>
        <p:txBody>
          <a:bodyPr/>
          <a:lstStyle/>
          <a:p>
            <a:endParaRPr lang="fr-FR"/>
          </a:p>
        </p:txBody>
      </p:sp>
      <p:sp>
        <p:nvSpPr>
          <p:cNvPr id="24" name="Shape 22"/>
          <p:cNvSpPr/>
          <p:nvPr/>
        </p:nvSpPr>
        <p:spPr>
          <a:xfrm>
            <a:off x="6748272" y="2761488"/>
            <a:ext cx="402336" cy="402336"/>
          </a:xfrm>
          <a:prstGeom prst="rect">
            <a:avLst/>
          </a:prstGeom>
          <a:solidFill>
            <a:srgbClr val="C5A55A"/>
          </a:solidFill>
          <a:ln/>
        </p:spPr>
        <p:txBody>
          <a:bodyPr/>
          <a:lstStyle/>
          <a:p>
            <a:endParaRPr lang="fr-FR"/>
          </a:p>
        </p:txBody>
      </p:sp>
      <p:sp>
        <p:nvSpPr>
          <p:cNvPr id="25" name="Text 23"/>
          <p:cNvSpPr txBox="1"/>
          <p:nvPr/>
        </p:nvSpPr>
        <p:spPr>
          <a:xfrm>
            <a:off x="6748272" y="2761488"/>
            <a:ext cx="402336" cy="402336"/>
          </a:xfrm>
          <a:prstGeom prst="rect">
            <a:avLst/>
          </a:prstGeom>
          <a:noFill/>
          <a:ln/>
        </p:spPr>
        <p:txBody>
          <a:bodyPr wrap="square" lIns="0" tIns="0" rIns="0" bIns="0" rtlCol="0" anchor="ctr"/>
          <a:lstStyle/>
          <a:p>
            <a:pPr marL="0" indent="0" algn="ctr">
              <a:buNone/>
            </a:pPr>
            <a:r>
              <a:rPr lang="en-US" sz="1800" b="1" dirty="0">
                <a:solidFill>
                  <a:srgbClr val="1B2A4A"/>
                </a:solidFill>
                <a:latin typeface="Lato" pitchFamily="34" charset="0"/>
                <a:ea typeface="Lato" pitchFamily="34" charset="-122"/>
                <a:cs typeface="Lato" pitchFamily="34" charset="-120"/>
              </a:rPr>
              <a:t>2</a:t>
            </a:r>
            <a:endParaRPr lang="en-US" sz="1800" dirty="0"/>
          </a:p>
        </p:txBody>
      </p:sp>
      <p:sp>
        <p:nvSpPr>
          <p:cNvPr id="26" name="Text 24"/>
          <p:cNvSpPr txBox="1"/>
          <p:nvPr/>
        </p:nvSpPr>
        <p:spPr>
          <a:xfrm>
            <a:off x="7260336" y="2670048"/>
            <a:ext cx="2834640" cy="585216"/>
          </a:xfrm>
          <a:prstGeom prst="rect">
            <a:avLst/>
          </a:prstGeom>
          <a:noFill/>
          <a:ln/>
        </p:spPr>
        <p:txBody>
          <a:bodyPr wrap="square" lIns="0" tIns="0" rIns="0" bIns="0" rtlCol="0" anchor="ctr"/>
          <a:lstStyle/>
          <a:p>
            <a:pPr marL="0" indent="0">
              <a:buNone/>
            </a:pPr>
            <a:r>
              <a:rPr lang="en-US" sz="1200" dirty="0">
                <a:solidFill>
                  <a:srgbClr val="D5DAE4"/>
                </a:solidFill>
                <a:latin typeface="Lato" pitchFamily="34" charset="0"/>
                <a:ea typeface="Lato" pitchFamily="34" charset="-122"/>
                <a:cs typeface="Lato" pitchFamily="34" charset="-120"/>
              </a:rPr>
              <a:t>Bastion d'administration</a:t>
            </a:r>
            <a:endParaRPr lang="en-US" sz="1200" dirty="0"/>
          </a:p>
        </p:txBody>
      </p:sp>
      <p:sp>
        <p:nvSpPr>
          <p:cNvPr id="27" name="Text 25"/>
          <p:cNvSpPr txBox="1"/>
          <p:nvPr/>
        </p:nvSpPr>
        <p:spPr>
          <a:xfrm>
            <a:off x="10149840" y="2670048"/>
            <a:ext cx="1225296" cy="585216"/>
          </a:xfrm>
          <a:prstGeom prst="rect">
            <a:avLst/>
          </a:prstGeom>
          <a:noFill/>
          <a:ln/>
        </p:spPr>
        <p:txBody>
          <a:bodyPr wrap="square" lIns="0" tIns="0" rIns="0" bIns="0" rtlCol="0" anchor="ctr"/>
          <a:lstStyle/>
          <a:p>
            <a:pPr marL="0" indent="0" algn="r">
              <a:buNone/>
            </a:pPr>
            <a:r>
              <a:rPr lang="en-US" sz="1500" b="1" dirty="0">
                <a:solidFill>
                  <a:srgbClr val="C5A55A"/>
                </a:solidFill>
                <a:latin typeface="Lato" pitchFamily="34" charset="0"/>
                <a:ea typeface="Lato" pitchFamily="34" charset="-122"/>
                <a:cs typeface="Lato" pitchFamily="34" charset="-120"/>
              </a:rPr>
              <a:t>115,0</a:t>
            </a:r>
            <a:endParaRPr lang="en-US" sz="1500" dirty="0"/>
          </a:p>
        </p:txBody>
      </p:sp>
      <p:sp>
        <p:nvSpPr>
          <p:cNvPr id="28" name="Shape 26"/>
          <p:cNvSpPr/>
          <p:nvPr/>
        </p:nvSpPr>
        <p:spPr>
          <a:xfrm>
            <a:off x="658368" y="3456432"/>
            <a:ext cx="4443984" cy="585216"/>
          </a:xfrm>
          <a:prstGeom prst="rect">
            <a:avLst/>
          </a:prstGeom>
          <a:solidFill>
            <a:srgbClr val="F2F4F8"/>
          </a:solidFill>
          <a:ln/>
        </p:spPr>
        <p:txBody>
          <a:bodyPr/>
          <a:lstStyle/>
          <a:p>
            <a:endParaRPr lang="fr-FR"/>
          </a:p>
        </p:txBody>
      </p:sp>
      <p:sp>
        <p:nvSpPr>
          <p:cNvPr id="29" name="Shape 27"/>
          <p:cNvSpPr/>
          <p:nvPr/>
        </p:nvSpPr>
        <p:spPr>
          <a:xfrm>
            <a:off x="786384" y="3547872"/>
            <a:ext cx="402336" cy="402336"/>
          </a:xfrm>
          <a:prstGeom prst="rect">
            <a:avLst/>
          </a:prstGeom>
          <a:solidFill>
            <a:srgbClr val="1B2A4A"/>
          </a:solidFill>
          <a:ln/>
        </p:spPr>
        <p:txBody>
          <a:bodyPr/>
          <a:lstStyle/>
          <a:p>
            <a:endParaRPr lang="fr-FR"/>
          </a:p>
        </p:txBody>
      </p:sp>
      <p:sp>
        <p:nvSpPr>
          <p:cNvPr id="30" name="Text 28"/>
          <p:cNvSpPr txBox="1"/>
          <p:nvPr/>
        </p:nvSpPr>
        <p:spPr>
          <a:xfrm>
            <a:off x="786384" y="3547872"/>
            <a:ext cx="402336" cy="402336"/>
          </a:xfrm>
          <a:prstGeom prst="rect">
            <a:avLst/>
          </a:prstGeom>
          <a:noFill/>
          <a:ln/>
        </p:spPr>
        <p:txBody>
          <a:bodyPr wrap="square" lIns="0" tIns="0" rIns="0" bIns="0" rtlCol="0" anchor="ctr"/>
          <a:lstStyle/>
          <a:p>
            <a:pPr marL="0" indent="0" algn="ctr">
              <a:buNone/>
            </a:pPr>
            <a:r>
              <a:rPr lang="en-US" sz="1800" b="1" dirty="0">
                <a:solidFill>
                  <a:srgbClr val="C5A55A"/>
                </a:solidFill>
                <a:latin typeface="Lato" pitchFamily="34" charset="0"/>
                <a:ea typeface="Lato" pitchFamily="34" charset="-122"/>
                <a:cs typeface="Lato" pitchFamily="34" charset="-120"/>
              </a:rPr>
              <a:t>3</a:t>
            </a:r>
            <a:endParaRPr lang="en-US" sz="1800" dirty="0"/>
          </a:p>
        </p:txBody>
      </p:sp>
      <p:sp>
        <p:nvSpPr>
          <p:cNvPr id="31" name="Text 29"/>
          <p:cNvSpPr txBox="1"/>
          <p:nvPr/>
        </p:nvSpPr>
        <p:spPr>
          <a:xfrm>
            <a:off x="1298448" y="3456432"/>
            <a:ext cx="2651760" cy="585216"/>
          </a:xfrm>
          <a:prstGeom prst="rect">
            <a:avLst/>
          </a:prstGeom>
          <a:noFill/>
          <a:ln/>
        </p:spPr>
        <p:txBody>
          <a:bodyPr wrap="square" lIns="0" tIns="0" rIns="0" bIns="0" rtlCol="0" anchor="ctr"/>
          <a:lstStyle/>
          <a:p>
            <a:pPr marL="0" indent="0">
              <a:buNone/>
            </a:pPr>
            <a:r>
              <a:rPr lang="en-US" sz="1200" dirty="0">
                <a:solidFill>
                  <a:srgbClr val="232A3A"/>
                </a:solidFill>
                <a:latin typeface="Lato" pitchFamily="34" charset="0"/>
                <a:ea typeface="Lato" pitchFamily="34" charset="-122"/>
                <a:cs typeface="Lato" pitchFamily="34" charset="-120"/>
              </a:rPr>
              <a:t>Administration à distance</a:t>
            </a:r>
            <a:endParaRPr lang="en-US" sz="1200" dirty="0"/>
          </a:p>
        </p:txBody>
      </p:sp>
      <p:sp>
        <p:nvSpPr>
          <p:cNvPr id="32" name="Text 30"/>
          <p:cNvSpPr txBox="1"/>
          <p:nvPr/>
        </p:nvSpPr>
        <p:spPr>
          <a:xfrm>
            <a:off x="3950208" y="3456432"/>
            <a:ext cx="1024128" cy="585216"/>
          </a:xfrm>
          <a:prstGeom prst="rect">
            <a:avLst/>
          </a:prstGeom>
          <a:noFill/>
          <a:ln/>
        </p:spPr>
        <p:txBody>
          <a:bodyPr wrap="square" lIns="0" tIns="0" rIns="0" bIns="0" rtlCol="0" anchor="ctr"/>
          <a:lstStyle/>
          <a:p>
            <a:pPr marL="0" indent="0" algn="r">
              <a:buNone/>
            </a:pPr>
            <a:r>
              <a:rPr lang="en-US" sz="1500" b="1" dirty="0">
                <a:solidFill>
                  <a:srgbClr val="1B2A4A"/>
                </a:solidFill>
                <a:latin typeface="Lato" pitchFamily="34" charset="0"/>
                <a:ea typeface="Lato" pitchFamily="34" charset="-122"/>
                <a:cs typeface="Lato" pitchFamily="34" charset="-120"/>
              </a:rPr>
              <a:t>78,4</a:t>
            </a:r>
            <a:endParaRPr lang="en-US" sz="1500" dirty="0"/>
          </a:p>
        </p:txBody>
      </p:sp>
      <p:sp>
        <p:nvSpPr>
          <p:cNvPr id="33" name="Shape 31"/>
          <p:cNvSpPr/>
          <p:nvPr/>
        </p:nvSpPr>
        <p:spPr>
          <a:xfrm>
            <a:off x="5138928" y="3749040"/>
            <a:ext cx="2103120" cy="0"/>
          </a:xfrm>
          <a:prstGeom prst="line">
            <a:avLst/>
          </a:prstGeom>
          <a:noFill/>
          <a:ln w="17780">
            <a:solidFill>
              <a:srgbClr val="E6EAF1"/>
            </a:solidFill>
            <a:prstDash val="solid"/>
          </a:ln>
        </p:spPr>
        <p:txBody>
          <a:bodyPr/>
          <a:lstStyle/>
          <a:p>
            <a:endParaRPr lang="fr-FR"/>
          </a:p>
        </p:txBody>
      </p:sp>
      <p:sp>
        <p:nvSpPr>
          <p:cNvPr id="34" name="Shape 32"/>
          <p:cNvSpPr/>
          <p:nvPr/>
        </p:nvSpPr>
        <p:spPr>
          <a:xfrm>
            <a:off x="6620256" y="3456432"/>
            <a:ext cx="4919472" cy="585216"/>
          </a:xfrm>
          <a:prstGeom prst="rect">
            <a:avLst/>
          </a:prstGeom>
          <a:solidFill>
            <a:srgbClr val="1B2A4A"/>
          </a:solidFill>
          <a:ln/>
        </p:spPr>
        <p:txBody>
          <a:bodyPr/>
          <a:lstStyle/>
          <a:p>
            <a:endParaRPr lang="fr-FR"/>
          </a:p>
        </p:txBody>
      </p:sp>
      <p:sp>
        <p:nvSpPr>
          <p:cNvPr id="35" name="Shape 33"/>
          <p:cNvSpPr/>
          <p:nvPr/>
        </p:nvSpPr>
        <p:spPr>
          <a:xfrm>
            <a:off x="6748272" y="3547872"/>
            <a:ext cx="402336" cy="402336"/>
          </a:xfrm>
          <a:prstGeom prst="rect">
            <a:avLst/>
          </a:prstGeom>
          <a:solidFill>
            <a:srgbClr val="C5A55A"/>
          </a:solidFill>
          <a:ln/>
        </p:spPr>
        <p:txBody>
          <a:bodyPr/>
          <a:lstStyle/>
          <a:p>
            <a:endParaRPr lang="fr-FR"/>
          </a:p>
        </p:txBody>
      </p:sp>
      <p:sp>
        <p:nvSpPr>
          <p:cNvPr id="36" name="Text 34"/>
          <p:cNvSpPr txBox="1"/>
          <p:nvPr/>
        </p:nvSpPr>
        <p:spPr>
          <a:xfrm>
            <a:off x="6748272" y="3547872"/>
            <a:ext cx="402336" cy="402336"/>
          </a:xfrm>
          <a:prstGeom prst="rect">
            <a:avLst/>
          </a:prstGeom>
          <a:noFill/>
          <a:ln/>
        </p:spPr>
        <p:txBody>
          <a:bodyPr wrap="square" lIns="0" tIns="0" rIns="0" bIns="0" rtlCol="0" anchor="ctr"/>
          <a:lstStyle/>
          <a:p>
            <a:pPr marL="0" indent="0" algn="ctr">
              <a:buNone/>
            </a:pPr>
            <a:r>
              <a:rPr lang="en-US" sz="1800" b="1" dirty="0">
                <a:solidFill>
                  <a:srgbClr val="1B2A4A"/>
                </a:solidFill>
                <a:latin typeface="Lato" pitchFamily="34" charset="0"/>
                <a:ea typeface="Lato" pitchFamily="34" charset="-122"/>
                <a:cs typeface="Lato" pitchFamily="34" charset="-120"/>
              </a:rPr>
              <a:t>3</a:t>
            </a:r>
            <a:endParaRPr lang="en-US" sz="1800" dirty="0"/>
          </a:p>
        </p:txBody>
      </p:sp>
      <p:sp>
        <p:nvSpPr>
          <p:cNvPr id="37" name="Text 35"/>
          <p:cNvSpPr txBox="1"/>
          <p:nvPr/>
        </p:nvSpPr>
        <p:spPr>
          <a:xfrm>
            <a:off x="7260336" y="3456432"/>
            <a:ext cx="2834640" cy="585216"/>
          </a:xfrm>
          <a:prstGeom prst="rect">
            <a:avLst/>
          </a:prstGeom>
          <a:noFill/>
          <a:ln/>
        </p:spPr>
        <p:txBody>
          <a:bodyPr wrap="square" lIns="0" tIns="0" rIns="0" bIns="0" rtlCol="0" anchor="ctr"/>
          <a:lstStyle/>
          <a:p>
            <a:pPr marL="0" indent="0">
              <a:buNone/>
            </a:pPr>
            <a:r>
              <a:rPr lang="en-US" sz="1200" dirty="0">
                <a:solidFill>
                  <a:srgbClr val="D5DAE4"/>
                </a:solidFill>
                <a:latin typeface="Lato" pitchFamily="34" charset="0"/>
                <a:ea typeface="Lato" pitchFamily="34" charset="-122"/>
                <a:cs typeface="Lato" pitchFamily="34" charset="-120"/>
              </a:rPr>
              <a:t>Administration à distance</a:t>
            </a:r>
            <a:endParaRPr lang="en-US" sz="1200" dirty="0"/>
          </a:p>
        </p:txBody>
      </p:sp>
      <p:sp>
        <p:nvSpPr>
          <p:cNvPr id="38" name="Text 36"/>
          <p:cNvSpPr txBox="1"/>
          <p:nvPr/>
        </p:nvSpPr>
        <p:spPr>
          <a:xfrm>
            <a:off x="10149840" y="3456432"/>
            <a:ext cx="1225296" cy="585216"/>
          </a:xfrm>
          <a:prstGeom prst="rect">
            <a:avLst/>
          </a:prstGeom>
          <a:noFill/>
          <a:ln/>
        </p:spPr>
        <p:txBody>
          <a:bodyPr wrap="square" lIns="0" tIns="0" rIns="0" bIns="0" rtlCol="0" anchor="ctr"/>
          <a:lstStyle/>
          <a:p>
            <a:pPr marL="0" indent="0" algn="r">
              <a:buNone/>
            </a:pPr>
            <a:r>
              <a:rPr lang="en-US" sz="1500" b="1" dirty="0">
                <a:solidFill>
                  <a:srgbClr val="C5A55A"/>
                </a:solidFill>
                <a:latin typeface="Lato" pitchFamily="34" charset="0"/>
                <a:ea typeface="Lato" pitchFamily="34" charset="-122"/>
                <a:cs typeface="Lato" pitchFamily="34" charset="-120"/>
              </a:rPr>
              <a:t>70,6</a:t>
            </a:r>
            <a:endParaRPr lang="en-US" sz="1500" dirty="0"/>
          </a:p>
        </p:txBody>
      </p:sp>
      <p:sp>
        <p:nvSpPr>
          <p:cNvPr id="39" name="Shape 37"/>
          <p:cNvSpPr/>
          <p:nvPr/>
        </p:nvSpPr>
        <p:spPr>
          <a:xfrm>
            <a:off x="658368" y="4242816"/>
            <a:ext cx="4443984" cy="585216"/>
          </a:xfrm>
          <a:prstGeom prst="rect">
            <a:avLst/>
          </a:prstGeom>
          <a:solidFill>
            <a:srgbClr val="F2F4F8"/>
          </a:solidFill>
          <a:ln/>
        </p:spPr>
        <p:txBody>
          <a:bodyPr/>
          <a:lstStyle/>
          <a:p>
            <a:endParaRPr lang="fr-FR"/>
          </a:p>
        </p:txBody>
      </p:sp>
      <p:sp>
        <p:nvSpPr>
          <p:cNvPr id="40" name="Shape 38"/>
          <p:cNvSpPr/>
          <p:nvPr/>
        </p:nvSpPr>
        <p:spPr>
          <a:xfrm>
            <a:off x="786384" y="4334256"/>
            <a:ext cx="402336" cy="402336"/>
          </a:xfrm>
          <a:prstGeom prst="rect">
            <a:avLst/>
          </a:prstGeom>
          <a:solidFill>
            <a:srgbClr val="1B2A4A"/>
          </a:solidFill>
          <a:ln/>
        </p:spPr>
        <p:txBody>
          <a:bodyPr/>
          <a:lstStyle/>
          <a:p>
            <a:endParaRPr lang="fr-FR"/>
          </a:p>
        </p:txBody>
      </p:sp>
      <p:sp>
        <p:nvSpPr>
          <p:cNvPr id="41" name="Text 39"/>
          <p:cNvSpPr txBox="1"/>
          <p:nvPr/>
        </p:nvSpPr>
        <p:spPr>
          <a:xfrm>
            <a:off x="786384" y="4334256"/>
            <a:ext cx="402336" cy="402336"/>
          </a:xfrm>
          <a:prstGeom prst="rect">
            <a:avLst/>
          </a:prstGeom>
          <a:noFill/>
          <a:ln/>
        </p:spPr>
        <p:txBody>
          <a:bodyPr wrap="square" lIns="0" tIns="0" rIns="0" bIns="0" rtlCol="0" anchor="ctr"/>
          <a:lstStyle/>
          <a:p>
            <a:pPr marL="0" indent="0" algn="ctr">
              <a:buNone/>
            </a:pPr>
            <a:r>
              <a:rPr lang="en-US" sz="1800" b="1" dirty="0">
                <a:solidFill>
                  <a:srgbClr val="C5A55A"/>
                </a:solidFill>
                <a:latin typeface="Lato" pitchFamily="34" charset="0"/>
                <a:ea typeface="Lato" pitchFamily="34" charset="-122"/>
                <a:cs typeface="Lato" pitchFamily="34" charset="-120"/>
              </a:rPr>
              <a:t>4</a:t>
            </a:r>
            <a:endParaRPr lang="en-US" sz="1800" dirty="0"/>
          </a:p>
        </p:txBody>
      </p:sp>
      <p:sp>
        <p:nvSpPr>
          <p:cNvPr id="42" name="Text 40"/>
          <p:cNvSpPr txBox="1"/>
          <p:nvPr/>
        </p:nvSpPr>
        <p:spPr>
          <a:xfrm>
            <a:off x="1298448" y="4242816"/>
            <a:ext cx="2651760" cy="585216"/>
          </a:xfrm>
          <a:prstGeom prst="rect">
            <a:avLst/>
          </a:prstGeom>
          <a:noFill/>
          <a:ln/>
        </p:spPr>
        <p:txBody>
          <a:bodyPr wrap="square" lIns="0" tIns="0" rIns="0" bIns="0" rtlCol="0" anchor="ctr"/>
          <a:lstStyle/>
          <a:p>
            <a:pPr marL="0" indent="0">
              <a:buNone/>
            </a:pPr>
            <a:r>
              <a:rPr lang="en-US" sz="1200" dirty="0">
                <a:solidFill>
                  <a:srgbClr val="232A3A"/>
                </a:solidFill>
                <a:latin typeface="Lato" pitchFamily="34" charset="0"/>
                <a:ea typeface="Lato" pitchFamily="34" charset="-122"/>
                <a:cs typeface="Lato" pitchFamily="34" charset="-120"/>
              </a:rPr>
              <a:t>Supervision</a:t>
            </a:r>
            <a:endParaRPr lang="en-US" sz="1200" dirty="0"/>
          </a:p>
        </p:txBody>
      </p:sp>
      <p:sp>
        <p:nvSpPr>
          <p:cNvPr id="43" name="Text 41"/>
          <p:cNvSpPr txBox="1"/>
          <p:nvPr/>
        </p:nvSpPr>
        <p:spPr>
          <a:xfrm>
            <a:off x="3950208" y="4242816"/>
            <a:ext cx="1024128" cy="585216"/>
          </a:xfrm>
          <a:prstGeom prst="rect">
            <a:avLst/>
          </a:prstGeom>
          <a:noFill/>
          <a:ln/>
        </p:spPr>
        <p:txBody>
          <a:bodyPr wrap="square" lIns="0" tIns="0" rIns="0" bIns="0" rtlCol="0" anchor="ctr"/>
          <a:lstStyle/>
          <a:p>
            <a:pPr marL="0" indent="0" algn="r">
              <a:buNone/>
            </a:pPr>
            <a:r>
              <a:rPr lang="en-US" sz="1500" b="1" dirty="0">
                <a:solidFill>
                  <a:srgbClr val="1B2A4A"/>
                </a:solidFill>
                <a:latin typeface="Lato" pitchFamily="34" charset="0"/>
                <a:ea typeface="Lato" pitchFamily="34" charset="-122"/>
                <a:cs typeface="Lato" pitchFamily="34" charset="-120"/>
              </a:rPr>
              <a:t>78,4</a:t>
            </a:r>
            <a:endParaRPr lang="en-US" sz="1500" dirty="0"/>
          </a:p>
        </p:txBody>
      </p:sp>
      <p:sp>
        <p:nvSpPr>
          <p:cNvPr id="44" name="Shape 42"/>
          <p:cNvSpPr/>
          <p:nvPr/>
        </p:nvSpPr>
        <p:spPr>
          <a:xfrm>
            <a:off x="5138928" y="4535424"/>
            <a:ext cx="2103120" cy="0"/>
          </a:xfrm>
          <a:prstGeom prst="line">
            <a:avLst/>
          </a:prstGeom>
          <a:noFill/>
          <a:ln w="17780">
            <a:solidFill>
              <a:srgbClr val="E6EAF1"/>
            </a:solidFill>
            <a:prstDash val="solid"/>
          </a:ln>
        </p:spPr>
        <p:txBody>
          <a:bodyPr/>
          <a:lstStyle/>
          <a:p>
            <a:endParaRPr lang="fr-FR"/>
          </a:p>
        </p:txBody>
      </p:sp>
      <p:sp>
        <p:nvSpPr>
          <p:cNvPr id="45" name="Shape 43"/>
          <p:cNvSpPr/>
          <p:nvPr/>
        </p:nvSpPr>
        <p:spPr>
          <a:xfrm>
            <a:off x="6620256" y="4242816"/>
            <a:ext cx="4919472" cy="585216"/>
          </a:xfrm>
          <a:prstGeom prst="rect">
            <a:avLst/>
          </a:prstGeom>
          <a:solidFill>
            <a:srgbClr val="1B2A4A"/>
          </a:solidFill>
          <a:ln/>
        </p:spPr>
        <p:txBody>
          <a:bodyPr/>
          <a:lstStyle/>
          <a:p>
            <a:endParaRPr lang="fr-FR"/>
          </a:p>
        </p:txBody>
      </p:sp>
      <p:sp>
        <p:nvSpPr>
          <p:cNvPr id="46" name="Shape 44"/>
          <p:cNvSpPr/>
          <p:nvPr/>
        </p:nvSpPr>
        <p:spPr>
          <a:xfrm>
            <a:off x="6748272" y="4334256"/>
            <a:ext cx="402336" cy="402336"/>
          </a:xfrm>
          <a:prstGeom prst="rect">
            <a:avLst/>
          </a:prstGeom>
          <a:solidFill>
            <a:srgbClr val="C5A55A"/>
          </a:solidFill>
          <a:ln/>
        </p:spPr>
        <p:txBody>
          <a:bodyPr/>
          <a:lstStyle/>
          <a:p>
            <a:endParaRPr lang="fr-FR"/>
          </a:p>
        </p:txBody>
      </p:sp>
      <p:sp>
        <p:nvSpPr>
          <p:cNvPr id="47" name="Text 45"/>
          <p:cNvSpPr txBox="1"/>
          <p:nvPr/>
        </p:nvSpPr>
        <p:spPr>
          <a:xfrm>
            <a:off x="6748272" y="4334256"/>
            <a:ext cx="402336" cy="402336"/>
          </a:xfrm>
          <a:prstGeom prst="rect">
            <a:avLst/>
          </a:prstGeom>
          <a:noFill/>
          <a:ln/>
        </p:spPr>
        <p:txBody>
          <a:bodyPr wrap="square" lIns="0" tIns="0" rIns="0" bIns="0" rtlCol="0" anchor="ctr"/>
          <a:lstStyle/>
          <a:p>
            <a:pPr marL="0" indent="0" algn="ctr">
              <a:buNone/>
            </a:pPr>
            <a:r>
              <a:rPr lang="en-US" sz="1800" b="1" dirty="0">
                <a:solidFill>
                  <a:srgbClr val="1B2A4A"/>
                </a:solidFill>
                <a:latin typeface="Lato" pitchFamily="34" charset="0"/>
                <a:ea typeface="Lato" pitchFamily="34" charset="-122"/>
                <a:cs typeface="Lato" pitchFamily="34" charset="-120"/>
              </a:rPr>
              <a:t>4</a:t>
            </a:r>
            <a:endParaRPr lang="en-US" sz="1800" dirty="0"/>
          </a:p>
        </p:txBody>
      </p:sp>
      <p:sp>
        <p:nvSpPr>
          <p:cNvPr id="48" name="Text 46"/>
          <p:cNvSpPr txBox="1"/>
          <p:nvPr/>
        </p:nvSpPr>
        <p:spPr>
          <a:xfrm>
            <a:off x="7260336" y="4242816"/>
            <a:ext cx="2834640" cy="585216"/>
          </a:xfrm>
          <a:prstGeom prst="rect">
            <a:avLst/>
          </a:prstGeom>
          <a:noFill/>
          <a:ln/>
        </p:spPr>
        <p:txBody>
          <a:bodyPr wrap="square" lIns="0" tIns="0" rIns="0" bIns="0" rtlCol="0" anchor="ctr"/>
          <a:lstStyle/>
          <a:p>
            <a:pPr marL="0" indent="0">
              <a:buNone/>
            </a:pPr>
            <a:r>
              <a:rPr lang="en-US" sz="1200" dirty="0">
                <a:solidFill>
                  <a:srgbClr val="D5DAE4"/>
                </a:solidFill>
                <a:latin typeface="Lato" pitchFamily="34" charset="0"/>
                <a:ea typeface="Lato" pitchFamily="34" charset="-122"/>
                <a:cs typeface="Lato" pitchFamily="34" charset="-120"/>
              </a:rPr>
              <a:t>Supervision</a:t>
            </a:r>
            <a:endParaRPr lang="en-US" sz="1200" dirty="0"/>
          </a:p>
        </p:txBody>
      </p:sp>
      <p:sp>
        <p:nvSpPr>
          <p:cNvPr id="49" name="Text 47"/>
          <p:cNvSpPr txBox="1"/>
          <p:nvPr/>
        </p:nvSpPr>
        <p:spPr>
          <a:xfrm>
            <a:off x="10149840" y="4242816"/>
            <a:ext cx="1225296" cy="585216"/>
          </a:xfrm>
          <a:prstGeom prst="rect">
            <a:avLst/>
          </a:prstGeom>
          <a:noFill/>
          <a:ln/>
        </p:spPr>
        <p:txBody>
          <a:bodyPr wrap="square" lIns="0" tIns="0" rIns="0" bIns="0" rtlCol="0" anchor="ctr"/>
          <a:lstStyle/>
          <a:p>
            <a:pPr marL="0" indent="0" algn="r">
              <a:buNone/>
            </a:pPr>
            <a:r>
              <a:rPr lang="en-US" sz="1500" b="1" dirty="0">
                <a:solidFill>
                  <a:srgbClr val="C5A55A"/>
                </a:solidFill>
                <a:latin typeface="Lato" pitchFamily="34" charset="0"/>
                <a:ea typeface="Lato" pitchFamily="34" charset="-122"/>
                <a:cs typeface="Lato" pitchFamily="34" charset="-120"/>
              </a:rPr>
              <a:t>70,6</a:t>
            </a:r>
            <a:endParaRPr lang="en-US" sz="15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5CE933B9-1B2C-4331-BAC3-714673B9FE72}" type="slidenum">
              <a:rPr lang="fr-FR" sz="900" b="0">
                <a:solidFill>
                  <a:srgbClr val="4A5568"/>
                </a:solidFill>
                <a:latin typeface="Lato"/>
              </a:rPr>
              <a:t>39</a:t>
            </a:fld>
            <a:endParaRPr lang="fr-FR">
              <a:solidFill>
                <a:srgbClr val="4A5568"/>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RÉSULTAT MESURÉ — L'ORDRE DE TRAITEMENT CHANGE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Effets sur la hiérarchisation des vulnérabilités</a:t>
            </a:r>
            <a:endParaRPr lang="en-US" sz="3000" dirty="0"/>
          </a:p>
        </p:txBody>
      </p:sp>
      <p:graphicFrame>
        <p:nvGraphicFramePr>
          <p:cNvPr id="4" name="Chart 0"/>
          <p:cNvGraphicFramePr/>
          <p:nvPr/>
        </p:nvGraphicFramePr>
        <p:xfrm>
          <a:off x="658368" y="1517904"/>
          <a:ext cx="6492240" cy="3127248"/>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58368" y="4700016"/>
            <a:ext cx="6492240"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Répartition des 11 516 lignes de notation selon le mouvement de leur niveau de criticité.</a:t>
            </a:r>
            <a:endParaRPr lang="en-US" sz="1050" dirty="0"/>
          </a:p>
        </p:txBody>
      </p:sp>
      <p:sp>
        <p:nvSpPr>
          <p:cNvPr id="6" name="Text 3"/>
          <p:cNvSpPr txBox="1"/>
          <p:nvPr/>
        </p:nvSpPr>
        <p:spPr>
          <a:xfrm>
            <a:off x="7333488" y="1554480"/>
            <a:ext cx="4206240" cy="822960"/>
          </a:xfrm>
          <a:prstGeom prst="rect">
            <a:avLst/>
          </a:prstGeom>
          <a:noFill/>
          <a:ln/>
        </p:spPr>
        <p:txBody>
          <a:bodyPr wrap="square" lIns="0" tIns="0" rIns="0" bIns="0" rtlCol="0" anchor="ctr"/>
          <a:lstStyle/>
          <a:p>
            <a:pPr marL="0" indent="0" algn="l">
              <a:buNone/>
            </a:pPr>
            <a:r>
              <a:rPr lang="en-US" sz="5200" b="1" dirty="0">
                <a:solidFill>
                  <a:srgbClr val="C5A55A"/>
                </a:solidFill>
                <a:latin typeface="Lato" pitchFamily="34" charset="0"/>
                <a:ea typeface="Lato" pitchFamily="34" charset="-122"/>
                <a:cs typeface="Lato" pitchFamily="34" charset="-120"/>
              </a:rPr>
              <a:t>55,6 %</a:t>
            </a:r>
            <a:endParaRPr lang="en-US" sz="5200" dirty="0"/>
          </a:p>
        </p:txBody>
      </p:sp>
      <p:sp>
        <p:nvSpPr>
          <p:cNvPr id="7" name="Text 4"/>
          <p:cNvSpPr txBox="1"/>
          <p:nvPr/>
        </p:nvSpPr>
        <p:spPr>
          <a:xfrm>
            <a:off x="7333488" y="2359152"/>
            <a:ext cx="420624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des vulnérabilités changent de niveau de criticité</a:t>
            </a:r>
            <a:endParaRPr lang="en-US" sz="1300" dirty="0"/>
          </a:p>
        </p:txBody>
      </p:sp>
      <p:sp>
        <p:nvSpPr>
          <p:cNvPr id="8" name="Shape 5"/>
          <p:cNvSpPr/>
          <p:nvPr/>
        </p:nvSpPr>
        <p:spPr>
          <a:xfrm>
            <a:off x="7333488" y="3255264"/>
            <a:ext cx="4206240" cy="1316736"/>
          </a:xfrm>
          <a:prstGeom prst="rect">
            <a:avLst/>
          </a:prstGeom>
          <a:solidFill>
            <a:srgbClr val="F2F4F8"/>
          </a:solidFill>
          <a:ln/>
        </p:spPr>
        <p:txBody>
          <a:bodyPr/>
          <a:lstStyle/>
          <a:p>
            <a:endParaRPr lang="fr-FR"/>
          </a:p>
        </p:txBody>
      </p:sp>
      <p:sp>
        <p:nvSpPr>
          <p:cNvPr id="9" name="Text 6"/>
          <p:cNvSpPr txBox="1"/>
          <p:nvPr/>
        </p:nvSpPr>
        <p:spPr>
          <a:xfrm>
            <a:off x="7589520" y="3438144"/>
            <a:ext cx="3657600" cy="402336"/>
          </a:xfrm>
          <a:prstGeom prst="rect">
            <a:avLst/>
          </a:prstGeom>
          <a:noFill/>
          <a:ln/>
        </p:spPr>
        <p:txBody>
          <a:bodyPr wrap="square" lIns="0" tIns="0" rIns="0" bIns="0" rtlCol="0" anchor="ctr"/>
          <a:lstStyle/>
          <a:p>
            <a:pPr marL="0" indent="0">
              <a:buNone/>
            </a:pPr>
            <a:r>
              <a:rPr lang="en-US" sz="2200" b="1" dirty="0">
                <a:solidFill>
                  <a:srgbClr val="1B2A4A"/>
                </a:solidFill>
                <a:latin typeface="Lato" pitchFamily="34" charset="0"/>
                <a:ea typeface="Lato" pitchFamily="34" charset="-122"/>
                <a:cs typeface="Lato" pitchFamily="34" charset="-120"/>
              </a:rPr>
              <a:t>100 / 100</a:t>
            </a:r>
            <a:endParaRPr lang="en-US" sz="2200" dirty="0"/>
          </a:p>
        </p:txBody>
      </p:sp>
      <p:sp>
        <p:nvSpPr>
          <p:cNvPr id="10" name="Text 7"/>
          <p:cNvSpPr txBox="1"/>
          <p:nvPr/>
        </p:nvSpPr>
        <p:spPr>
          <a:xfrm>
            <a:off x="7589520" y="3858768"/>
            <a:ext cx="3694176" cy="640080"/>
          </a:xfrm>
          <a:prstGeom prst="rect">
            <a:avLst/>
          </a:prstGeom>
          <a:noFill/>
          <a:ln/>
        </p:spPr>
        <p:txBody>
          <a:bodyPr wrap="square" lIns="0" tIns="0" rIns="0" bIns="0" rtlCol="0" anchor="ctr"/>
          <a:lstStyle/>
          <a:p>
            <a:pPr marL="0" indent="0">
              <a:lnSpc>
                <a:spcPct val="114000"/>
              </a:lnSpc>
              <a:buNone/>
            </a:pPr>
            <a:r>
              <a:rPr lang="en-US" sz="1200" dirty="0">
                <a:solidFill>
                  <a:srgbClr val="232A3A"/>
                </a:solidFill>
                <a:latin typeface="Lato" pitchFamily="34" charset="0"/>
                <a:ea typeface="Lato" pitchFamily="34" charset="-122"/>
                <a:cs typeface="Lato" pitchFamily="34" charset="-120"/>
              </a:rPr>
              <a:t>Les cent vulnérabilités les mieux notées demeurent identiques : les priorités hautes ne sont pas diluées.</a:t>
            </a:r>
            <a:endParaRPr lang="en-US" sz="1200" dirty="0"/>
          </a:p>
        </p:txBody>
      </p:sp>
      <p:sp>
        <p:nvSpPr>
          <p:cNvPr id="11" name="Shape 8"/>
          <p:cNvSpPr/>
          <p:nvPr/>
        </p:nvSpPr>
        <p:spPr>
          <a:xfrm>
            <a:off x="658368" y="5175504"/>
            <a:ext cx="10874959" cy="786384"/>
          </a:xfrm>
          <a:prstGeom prst="rect">
            <a:avLst/>
          </a:prstGeom>
          <a:solidFill>
            <a:srgbClr val="1B2A4A"/>
          </a:solidFill>
          <a:ln/>
        </p:spPr>
        <p:txBody>
          <a:bodyPr/>
          <a:lstStyle/>
          <a:p>
            <a:endParaRPr lang="fr-FR"/>
          </a:p>
        </p:txBody>
      </p:sp>
      <p:sp>
        <p:nvSpPr>
          <p:cNvPr id="12" name="Text 9"/>
          <p:cNvSpPr txBox="1"/>
          <p:nvPr/>
        </p:nvSpPr>
        <p:spPr>
          <a:xfrm>
            <a:off x="914400" y="5175504"/>
            <a:ext cx="10362895" cy="786384"/>
          </a:xfrm>
          <a:prstGeom prst="rect">
            <a:avLst/>
          </a:prstGeom>
          <a:noFill/>
          <a:ln/>
        </p:spPr>
        <p:txBody>
          <a:bodyPr wrap="square" lIns="0" tIns="0" rIns="0" bIns="0" rtlCol="0" anchor="ctr"/>
          <a:lstStyle/>
          <a:p>
            <a:pPr marL="0" indent="0">
              <a:lnSpc>
                <a:spcPct val="106000"/>
              </a:lnSpc>
              <a:buNone/>
            </a:pPr>
            <a:r>
              <a:rPr lang="en-US" sz="1600" b="1" dirty="0">
                <a:solidFill>
                  <a:srgbClr val="C5A55A"/>
                </a:solidFill>
                <a:latin typeface="Lato" pitchFamily="34" charset="0"/>
                <a:ea typeface="Lato" pitchFamily="34" charset="-122"/>
                <a:cs typeface="Lato" pitchFamily="34" charset="-120"/>
              </a:rPr>
              <a:t>Le facteur ne modifie pas le classement des actifs, mais il modifie l'ordre de </a:t>
            </a:r>
            <a:r>
              <a:rPr lang="en-US" sz="1600" b="1" dirty="0" err="1">
                <a:solidFill>
                  <a:srgbClr val="C5A55A"/>
                </a:solidFill>
                <a:latin typeface="Lato" pitchFamily="34" charset="0"/>
                <a:ea typeface="Lato" pitchFamily="34" charset="-122"/>
                <a:cs typeface="Lato" pitchFamily="34" charset="-120"/>
              </a:rPr>
              <a:t>traitement</a:t>
            </a:r>
            <a:endParaRPr lang="en-US" sz="1600" dirty="0">
              <a:solidFill>
                <a:srgbClr val="C5A55A"/>
              </a:solidFill>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5A95159-9C63-4D7D-A1B2-940D31E40AD8}" type="slidenum">
              <a:rPr lang="fr-FR" sz="900" b="0">
                <a:solidFill>
                  <a:srgbClr val="4A5568"/>
                </a:solidFill>
                <a:latin typeface="Lato"/>
              </a:rPr>
              <a:t>40</a:t>
            </a:fld>
            <a:endParaRPr lang="fr-FR">
              <a:solidFill>
                <a:srgbClr val="4A5568"/>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AMÉLIORATION DE LA SENSIBILITÉ DE LA FORMULE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Trente jeux de </a:t>
            </a:r>
            <a:r>
              <a:rPr lang="en-US" sz="3000" b="1" dirty="0" err="1">
                <a:solidFill>
                  <a:srgbClr val="1B2A4A"/>
                </a:solidFill>
                <a:latin typeface="Lato" pitchFamily="34" charset="0"/>
                <a:ea typeface="Lato" pitchFamily="34" charset="-122"/>
                <a:cs typeface="Lato" pitchFamily="34" charset="-120"/>
              </a:rPr>
              <a:t>pondérations</a:t>
            </a:r>
            <a:r>
              <a:rPr lang="en-US" sz="3000" b="1" dirty="0">
                <a:solidFill>
                  <a:srgbClr val="1B2A4A"/>
                </a:solidFill>
                <a:latin typeface="Lato" pitchFamily="34" charset="0"/>
                <a:ea typeface="Lato" pitchFamily="34" charset="-122"/>
                <a:cs typeface="Lato" pitchFamily="34" charset="-120"/>
              </a:rPr>
              <a:t> </a:t>
            </a:r>
            <a:r>
              <a:rPr lang="en-US" sz="3000" b="1" dirty="0" err="1">
                <a:solidFill>
                  <a:srgbClr val="1B2A4A"/>
                </a:solidFill>
                <a:latin typeface="Lato" pitchFamily="34" charset="0"/>
                <a:ea typeface="Lato" pitchFamily="34" charset="-122"/>
                <a:cs typeface="Lato" pitchFamily="34" charset="-120"/>
              </a:rPr>
              <a:t>testés</a:t>
            </a:r>
            <a:endParaRPr lang="en-US" sz="3000" dirty="0"/>
          </a:p>
        </p:txBody>
      </p:sp>
      <p:sp>
        <p:nvSpPr>
          <p:cNvPr id="4" name="Text 2"/>
          <p:cNvSpPr txBox="1"/>
          <p:nvPr/>
        </p:nvSpPr>
        <p:spPr>
          <a:xfrm>
            <a:off x="1572768"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0,3</a:t>
            </a:r>
            <a:endParaRPr lang="en-US" sz="1100" dirty="0"/>
          </a:p>
        </p:txBody>
      </p:sp>
      <p:sp>
        <p:nvSpPr>
          <p:cNvPr id="5" name="Text 3"/>
          <p:cNvSpPr txBox="1"/>
          <p:nvPr/>
        </p:nvSpPr>
        <p:spPr>
          <a:xfrm>
            <a:off x="2414016"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0,5</a:t>
            </a:r>
            <a:endParaRPr lang="en-US" sz="1100" dirty="0"/>
          </a:p>
        </p:txBody>
      </p:sp>
      <p:sp>
        <p:nvSpPr>
          <p:cNvPr id="6" name="Text 4"/>
          <p:cNvSpPr txBox="1"/>
          <p:nvPr/>
        </p:nvSpPr>
        <p:spPr>
          <a:xfrm>
            <a:off x="3255264"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0,7</a:t>
            </a:r>
            <a:endParaRPr lang="en-US" sz="1100" dirty="0"/>
          </a:p>
        </p:txBody>
      </p:sp>
      <p:sp>
        <p:nvSpPr>
          <p:cNvPr id="7" name="Text 5"/>
          <p:cNvSpPr txBox="1"/>
          <p:nvPr/>
        </p:nvSpPr>
        <p:spPr>
          <a:xfrm>
            <a:off x="4096512"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0,9</a:t>
            </a:r>
            <a:endParaRPr lang="en-US" sz="1100" dirty="0"/>
          </a:p>
        </p:txBody>
      </p:sp>
      <p:sp>
        <p:nvSpPr>
          <p:cNvPr id="8" name="Text 6"/>
          <p:cNvSpPr txBox="1"/>
          <p:nvPr/>
        </p:nvSpPr>
        <p:spPr>
          <a:xfrm>
            <a:off x="4937760"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1,1</a:t>
            </a:r>
            <a:endParaRPr lang="en-US" sz="1100" dirty="0"/>
          </a:p>
        </p:txBody>
      </p:sp>
      <p:sp>
        <p:nvSpPr>
          <p:cNvPr id="9" name="Text 7"/>
          <p:cNvSpPr txBox="1"/>
          <p:nvPr/>
        </p:nvSpPr>
        <p:spPr>
          <a:xfrm>
            <a:off x="5779008" y="1591056"/>
            <a:ext cx="841248" cy="274320"/>
          </a:xfrm>
          <a:prstGeom prst="rect">
            <a:avLst/>
          </a:prstGeom>
          <a:noFill/>
          <a:ln/>
        </p:spPr>
        <p:txBody>
          <a:bodyPr wrap="square" lIns="0" tIns="0" rIns="0" bIns="0" rtlCol="0" anchor="ctr"/>
          <a:lstStyle/>
          <a:p>
            <a:pPr marL="0" indent="0" algn="ctr">
              <a:buNone/>
            </a:pPr>
            <a:r>
              <a:rPr lang="en-US" sz="1100" b="1" dirty="0">
                <a:solidFill>
                  <a:srgbClr val="4A5568"/>
                </a:solidFill>
                <a:latin typeface="Lato" pitchFamily="34" charset="0"/>
                <a:ea typeface="Lato" pitchFamily="34" charset="-122"/>
                <a:cs typeface="Lato" pitchFamily="34" charset="-120"/>
              </a:rPr>
              <a:t>1,3</a:t>
            </a:r>
            <a:endParaRPr lang="en-US" sz="1100" dirty="0"/>
          </a:p>
        </p:txBody>
      </p:sp>
      <p:sp>
        <p:nvSpPr>
          <p:cNvPr id="10" name="Text 8"/>
          <p:cNvSpPr txBox="1"/>
          <p:nvPr/>
        </p:nvSpPr>
        <p:spPr>
          <a:xfrm>
            <a:off x="859536" y="1920240"/>
            <a:ext cx="603504" cy="566928"/>
          </a:xfrm>
          <a:prstGeom prst="rect">
            <a:avLst/>
          </a:prstGeom>
          <a:noFill/>
          <a:ln/>
        </p:spPr>
        <p:txBody>
          <a:bodyPr wrap="square" lIns="0" tIns="0" rIns="0" bIns="0" rtlCol="0" anchor="ctr"/>
          <a:lstStyle/>
          <a:p>
            <a:pPr marL="0" indent="0" algn="r">
              <a:buNone/>
            </a:pPr>
            <a:r>
              <a:rPr lang="en-US" sz="1100" b="1" dirty="0">
                <a:solidFill>
                  <a:srgbClr val="4A5568"/>
                </a:solidFill>
                <a:latin typeface="Lato" pitchFamily="34" charset="0"/>
                <a:ea typeface="Lato" pitchFamily="34" charset="-122"/>
                <a:cs typeface="Lato" pitchFamily="34" charset="-120"/>
              </a:rPr>
              <a:t>0,3</a:t>
            </a:r>
            <a:endParaRPr lang="en-US" sz="1100" dirty="0"/>
          </a:p>
        </p:txBody>
      </p:sp>
      <p:sp>
        <p:nvSpPr>
          <p:cNvPr id="11" name="Text 9"/>
          <p:cNvSpPr txBox="1"/>
          <p:nvPr/>
        </p:nvSpPr>
        <p:spPr>
          <a:xfrm>
            <a:off x="859536" y="2487168"/>
            <a:ext cx="603504" cy="566928"/>
          </a:xfrm>
          <a:prstGeom prst="rect">
            <a:avLst/>
          </a:prstGeom>
          <a:noFill/>
          <a:ln/>
        </p:spPr>
        <p:txBody>
          <a:bodyPr wrap="square" lIns="0" tIns="0" rIns="0" bIns="0" rtlCol="0" anchor="ctr"/>
          <a:lstStyle/>
          <a:p>
            <a:pPr marL="0" indent="0" algn="r">
              <a:buNone/>
            </a:pPr>
            <a:r>
              <a:rPr lang="en-US" sz="1100" b="1" dirty="0">
                <a:solidFill>
                  <a:srgbClr val="4A5568"/>
                </a:solidFill>
                <a:latin typeface="Lato" pitchFamily="34" charset="0"/>
                <a:ea typeface="Lato" pitchFamily="34" charset="-122"/>
                <a:cs typeface="Lato" pitchFamily="34" charset="-120"/>
              </a:rPr>
              <a:t>0,5</a:t>
            </a:r>
            <a:endParaRPr lang="en-US" sz="1100" dirty="0"/>
          </a:p>
        </p:txBody>
      </p:sp>
      <p:sp>
        <p:nvSpPr>
          <p:cNvPr id="12" name="Text 10"/>
          <p:cNvSpPr txBox="1"/>
          <p:nvPr/>
        </p:nvSpPr>
        <p:spPr>
          <a:xfrm>
            <a:off x="859536" y="3054096"/>
            <a:ext cx="603504" cy="566928"/>
          </a:xfrm>
          <a:prstGeom prst="rect">
            <a:avLst/>
          </a:prstGeom>
          <a:noFill/>
          <a:ln/>
        </p:spPr>
        <p:txBody>
          <a:bodyPr wrap="square" lIns="0" tIns="0" rIns="0" bIns="0" rtlCol="0" anchor="ctr"/>
          <a:lstStyle/>
          <a:p>
            <a:pPr marL="0" indent="0" algn="r">
              <a:buNone/>
            </a:pPr>
            <a:r>
              <a:rPr lang="en-US" sz="1100" b="1" dirty="0">
                <a:solidFill>
                  <a:srgbClr val="4A5568"/>
                </a:solidFill>
                <a:latin typeface="Lato" pitchFamily="34" charset="0"/>
                <a:ea typeface="Lato" pitchFamily="34" charset="-122"/>
                <a:cs typeface="Lato" pitchFamily="34" charset="-120"/>
              </a:rPr>
              <a:t>0,7</a:t>
            </a:r>
            <a:endParaRPr lang="en-US" sz="1100" dirty="0"/>
          </a:p>
        </p:txBody>
      </p:sp>
      <p:sp>
        <p:nvSpPr>
          <p:cNvPr id="13" name="Text 11"/>
          <p:cNvSpPr txBox="1"/>
          <p:nvPr/>
        </p:nvSpPr>
        <p:spPr>
          <a:xfrm>
            <a:off x="859536" y="3621024"/>
            <a:ext cx="603504" cy="566928"/>
          </a:xfrm>
          <a:prstGeom prst="rect">
            <a:avLst/>
          </a:prstGeom>
          <a:noFill/>
          <a:ln/>
        </p:spPr>
        <p:txBody>
          <a:bodyPr wrap="square" lIns="0" tIns="0" rIns="0" bIns="0" rtlCol="0" anchor="ctr"/>
          <a:lstStyle/>
          <a:p>
            <a:pPr marL="0" indent="0" algn="r">
              <a:buNone/>
            </a:pPr>
            <a:r>
              <a:rPr lang="en-US" sz="1100" b="1" dirty="0">
                <a:solidFill>
                  <a:srgbClr val="4A5568"/>
                </a:solidFill>
                <a:latin typeface="Lato" pitchFamily="34" charset="0"/>
                <a:ea typeface="Lato" pitchFamily="34" charset="-122"/>
                <a:cs typeface="Lato" pitchFamily="34" charset="-120"/>
              </a:rPr>
              <a:t>0,9</a:t>
            </a:r>
            <a:endParaRPr lang="en-US" sz="1100" dirty="0"/>
          </a:p>
        </p:txBody>
      </p:sp>
      <p:sp>
        <p:nvSpPr>
          <p:cNvPr id="14" name="Text 12"/>
          <p:cNvSpPr txBox="1"/>
          <p:nvPr/>
        </p:nvSpPr>
        <p:spPr>
          <a:xfrm>
            <a:off x="859536" y="4187952"/>
            <a:ext cx="603504" cy="566928"/>
          </a:xfrm>
          <a:prstGeom prst="rect">
            <a:avLst/>
          </a:prstGeom>
          <a:noFill/>
          <a:ln/>
        </p:spPr>
        <p:txBody>
          <a:bodyPr wrap="square" lIns="0" tIns="0" rIns="0" bIns="0" rtlCol="0" anchor="ctr"/>
          <a:lstStyle/>
          <a:p>
            <a:pPr marL="0" indent="0" algn="r">
              <a:buNone/>
            </a:pPr>
            <a:r>
              <a:rPr lang="en-US" sz="1100" b="1" dirty="0">
                <a:solidFill>
                  <a:srgbClr val="4A5568"/>
                </a:solidFill>
                <a:latin typeface="Lato" pitchFamily="34" charset="0"/>
                <a:ea typeface="Lato" pitchFamily="34" charset="-122"/>
                <a:cs typeface="Lato" pitchFamily="34" charset="-120"/>
              </a:rPr>
              <a:t>1,0</a:t>
            </a:r>
            <a:endParaRPr lang="en-US" sz="1100" dirty="0"/>
          </a:p>
        </p:txBody>
      </p:sp>
      <p:sp>
        <p:nvSpPr>
          <p:cNvPr id="15" name="Shape 13"/>
          <p:cNvSpPr/>
          <p:nvPr/>
        </p:nvSpPr>
        <p:spPr>
          <a:xfrm>
            <a:off x="1572768" y="1920240"/>
            <a:ext cx="795528" cy="521208"/>
          </a:xfrm>
          <a:prstGeom prst="rect">
            <a:avLst/>
          </a:prstGeom>
          <a:solidFill>
            <a:srgbClr val="F2F4F8"/>
          </a:solidFill>
          <a:ln/>
        </p:spPr>
        <p:txBody>
          <a:bodyPr/>
          <a:lstStyle/>
          <a:p>
            <a:endParaRPr lang="fr-FR"/>
          </a:p>
        </p:txBody>
      </p:sp>
      <p:sp>
        <p:nvSpPr>
          <p:cNvPr id="16" name="Text 14"/>
          <p:cNvSpPr txBox="1"/>
          <p:nvPr/>
        </p:nvSpPr>
        <p:spPr>
          <a:xfrm>
            <a:off x="1572768"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17" name="Shape 15"/>
          <p:cNvSpPr/>
          <p:nvPr/>
        </p:nvSpPr>
        <p:spPr>
          <a:xfrm>
            <a:off x="2414016" y="1920240"/>
            <a:ext cx="795528" cy="521208"/>
          </a:xfrm>
          <a:prstGeom prst="rect">
            <a:avLst/>
          </a:prstGeom>
          <a:solidFill>
            <a:srgbClr val="F2F4F8"/>
          </a:solidFill>
          <a:ln/>
        </p:spPr>
        <p:txBody>
          <a:bodyPr/>
          <a:lstStyle/>
          <a:p>
            <a:endParaRPr lang="fr-FR"/>
          </a:p>
        </p:txBody>
      </p:sp>
      <p:sp>
        <p:nvSpPr>
          <p:cNvPr id="18" name="Text 16"/>
          <p:cNvSpPr txBox="1"/>
          <p:nvPr/>
        </p:nvSpPr>
        <p:spPr>
          <a:xfrm>
            <a:off x="2414016"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19" name="Shape 17"/>
          <p:cNvSpPr/>
          <p:nvPr/>
        </p:nvSpPr>
        <p:spPr>
          <a:xfrm>
            <a:off x="3255264" y="1920240"/>
            <a:ext cx="795528" cy="521208"/>
          </a:xfrm>
          <a:prstGeom prst="rect">
            <a:avLst/>
          </a:prstGeom>
          <a:solidFill>
            <a:srgbClr val="F2F4F8"/>
          </a:solidFill>
          <a:ln/>
        </p:spPr>
        <p:txBody>
          <a:bodyPr/>
          <a:lstStyle/>
          <a:p>
            <a:endParaRPr lang="fr-FR"/>
          </a:p>
        </p:txBody>
      </p:sp>
      <p:sp>
        <p:nvSpPr>
          <p:cNvPr id="20" name="Text 18"/>
          <p:cNvSpPr txBox="1"/>
          <p:nvPr/>
        </p:nvSpPr>
        <p:spPr>
          <a:xfrm>
            <a:off x="3255264"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21" name="Shape 19"/>
          <p:cNvSpPr/>
          <p:nvPr/>
        </p:nvSpPr>
        <p:spPr>
          <a:xfrm>
            <a:off x="4096512" y="1920240"/>
            <a:ext cx="795528" cy="521208"/>
          </a:xfrm>
          <a:prstGeom prst="rect">
            <a:avLst/>
          </a:prstGeom>
          <a:solidFill>
            <a:srgbClr val="F2F4F8"/>
          </a:solidFill>
          <a:ln/>
        </p:spPr>
        <p:txBody>
          <a:bodyPr/>
          <a:lstStyle/>
          <a:p>
            <a:endParaRPr lang="fr-FR"/>
          </a:p>
        </p:txBody>
      </p:sp>
      <p:sp>
        <p:nvSpPr>
          <p:cNvPr id="22" name="Text 20"/>
          <p:cNvSpPr txBox="1"/>
          <p:nvPr/>
        </p:nvSpPr>
        <p:spPr>
          <a:xfrm>
            <a:off x="4096512"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23" name="Shape 21"/>
          <p:cNvSpPr/>
          <p:nvPr/>
        </p:nvSpPr>
        <p:spPr>
          <a:xfrm>
            <a:off x="4937760" y="1920240"/>
            <a:ext cx="795528" cy="521208"/>
          </a:xfrm>
          <a:prstGeom prst="rect">
            <a:avLst/>
          </a:prstGeom>
          <a:solidFill>
            <a:srgbClr val="F2F4F8"/>
          </a:solidFill>
          <a:ln/>
        </p:spPr>
        <p:txBody>
          <a:bodyPr/>
          <a:lstStyle/>
          <a:p>
            <a:endParaRPr lang="fr-FR"/>
          </a:p>
        </p:txBody>
      </p:sp>
      <p:sp>
        <p:nvSpPr>
          <p:cNvPr id="24" name="Text 22"/>
          <p:cNvSpPr txBox="1"/>
          <p:nvPr/>
        </p:nvSpPr>
        <p:spPr>
          <a:xfrm>
            <a:off x="4937760"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25" name="Shape 23"/>
          <p:cNvSpPr/>
          <p:nvPr/>
        </p:nvSpPr>
        <p:spPr>
          <a:xfrm>
            <a:off x="5779008" y="1920240"/>
            <a:ext cx="795528" cy="521208"/>
          </a:xfrm>
          <a:prstGeom prst="rect">
            <a:avLst/>
          </a:prstGeom>
          <a:solidFill>
            <a:srgbClr val="F2F4F8"/>
          </a:solidFill>
          <a:ln/>
        </p:spPr>
        <p:txBody>
          <a:bodyPr/>
          <a:lstStyle/>
          <a:p>
            <a:endParaRPr lang="fr-FR"/>
          </a:p>
        </p:txBody>
      </p:sp>
      <p:sp>
        <p:nvSpPr>
          <p:cNvPr id="26" name="Text 24"/>
          <p:cNvSpPr txBox="1"/>
          <p:nvPr/>
        </p:nvSpPr>
        <p:spPr>
          <a:xfrm>
            <a:off x="5779008" y="1920240"/>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27" name="Shape 25"/>
          <p:cNvSpPr/>
          <p:nvPr/>
        </p:nvSpPr>
        <p:spPr>
          <a:xfrm>
            <a:off x="1572768" y="2487168"/>
            <a:ext cx="795528" cy="521208"/>
          </a:xfrm>
          <a:prstGeom prst="rect">
            <a:avLst/>
          </a:prstGeom>
          <a:solidFill>
            <a:srgbClr val="F2F4F8"/>
          </a:solidFill>
          <a:ln/>
        </p:spPr>
        <p:txBody>
          <a:bodyPr/>
          <a:lstStyle/>
          <a:p>
            <a:endParaRPr lang="fr-FR"/>
          </a:p>
        </p:txBody>
      </p:sp>
      <p:sp>
        <p:nvSpPr>
          <p:cNvPr id="28" name="Text 26"/>
          <p:cNvSpPr txBox="1"/>
          <p:nvPr/>
        </p:nvSpPr>
        <p:spPr>
          <a:xfrm>
            <a:off x="1572768"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29" name="Shape 27"/>
          <p:cNvSpPr/>
          <p:nvPr/>
        </p:nvSpPr>
        <p:spPr>
          <a:xfrm>
            <a:off x="2414016" y="2487168"/>
            <a:ext cx="795528" cy="521208"/>
          </a:xfrm>
          <a:prstGeom prst="rect">
            <a:avLst/>
          </a:prstGeom>
          <a:solidFill>
            <a:srgbClr val="F2F4F8"/>
          </a:solidFill>
          <a:ln/>
        </p:spPr>
        <p:txBody>
          <a:bodyPr/>
          <a:lstStyle/>
          <a:p>
            <a:endParaRPr lang="fr-FR"/>
          </a:p>
        </p:txBody>
      </p:sp>
      <p:sp>
        <p:nvSpPr>
          <p:cNvPr id="30" name="Text 28"/>
          <p:cNvSpPr txBox="1"/>
          <p:nvPr/>
        </p:nvSpPr>
        <p:spPr>
          <a:xfrm>
            <a:off x="2414016"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31" name="Shape 29"/>
          <p:cNvSpPr/>
          <p:nvPr/>
        </p:nvSpPr>
        <p:spPr>
          <a:xfrm>
            <a:off x="3255264" y="2487168"/>
            <a:ext cx="795528" cy="521208"/>
          </a:xfrm>
          <a:prstGeom prst="rect">
            <a:avLst/>
          </a:prstGeom>
          <a:solidFill>
            <a:srgbClr val="F2F4F8"/>
          </a:solidFill>
          <a:ln/>
        </p:spPr>
        <p:txBody>
          <a:bodyPr/>
          <a:lstStyle/>
          <a:p>
            <a:endParaRPr lang="fr-FR"/>
          </a:p>
        </p:txBody>
      </p:sp>
      <p:sp>
        <p:nvSpPr>
          <p:cNvPr id="32" name="Text 30"/>
          <p:cNvSpPr txBox="1"/>
          <p:nvPr/>
        </p:nvSpPr>
        <p:spPr>
          <a:xfrm>
            <a:off x="3255264"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33" name="Shape 31"/>
          <p:cNvSpPr/>
          <p:nvPr/>
        </p:nvSpPr>
        <p:spPr>
          <a:xfrm>
            <a:off x="4096512" y="2487168"/>
            <a:ext cx="795528" cy="521208"/>
          </a:xfrm>
          <a:prstGeom prst="rect">
            <a:avLst/>
          </a:prstGeom>
          <a:solidFill>
            <a:srgbClr val="F2F4F8"/>
          </a:solidFill>
          <a:ln/>
        </p:spPr>
        <p:txBody>
          <a:bodyPr/>
          <a:lstStyle/>
          <a:p>
            <a:endParaRPr lang="fr-FR"/>
          </a:p>
        </p:txBody>
      </p:sp>
      <p:sp>
        <p:nvSpPr>
          <p:cNvPr id="34" name="Text 32"/>
          <p:cNvSpPr txBox="1"/>
          <p:nvPr/>
        </p:nvSpPr>
        <p:spPr>
          <a:xfrm>
            <a:off x="4096512"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35" name="Shape 33"/>
          <p:cNvSpPr/>
          <p:nvPr/>
        </p:nvSpPr>
        <p:spPr>
          <a:xfrm>
            <a:off x="4937760" y="2487168"/>
            <a:ext cx="795528" cy="521208"/>
          </a:xfrm>
          <a:prstGeom prst="rect">
            <a:avLst/>
          </a:prstGeom>
          <a:solidFill>
            <a:srgbClr val="F2F4F8"/>
          </a:solidFill>
          <a:ln/>
        </p:spPr>
        <p:txBody>
          <a:bodyPr/>
          <a:lstStyle/>
          <a:p>
            <a:endParaRPr lang="fr-FR"/>
          </a:p>
        </p:txBody>
      </p:sp>
      <p:sp>
        <p:nvSpPr>
          <p:cNvPr id="36" name="Text 34"/>
          <p:cNvSpPr txBox="1"/>
          <p:nvPr/>
        </p:nvSpPr>
        <p:spPr>
          <a:xfrm>
            <a:off x="4937760"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37" name="Shape 35"/>
          <p:cNvSpPr/>
          <p:nvPr/>
        </p:nvSpPr>
        <p:spPr>
          <a:xfrm>
            <a:off x="5779008" y="2487168"/>
            <a:ext cx="795528" cy="521208"/>
          </a:xfrm>
          <a:prstGeom prst="rect">
            <a:avLst/>
          </a:prstGeom>
          <a:solidFill>
            <a:srgbClr val="F2F4F8"/>
          </a:solidFill>
          <a:ln/>
        </p:spPr>
        <p:txBody>
          <a:bodyPr/>
          <a:lstStyle/>
          <a:p>
            <a:endParaRPr lang="fr-FR"/>
          </a:p>
        </p:txBody>
      </p:sp>
      <p:sp>
        <p:nvSpPr>
          <p:cNvPr id="38" name="Text 36"/>
          <p:cNvSpPr txBox="1"/>
          <p:nvPr/>
        </p:nvSpPr>
        <p:spPr>
          <a:xfrm>
            <a:off x="5779008" y="2487168"/>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39" name="Shape 37"/>
          <p:cNvSpPr/>
          <p:nvPr/>
        </p:nvSpPr>
        <p:spPr>
          <a:xfrm>
            <a:off x="1572768" y="3054096"/>
            <a:ext cx="795528" cy="521208"/>
          </a:xfrm>
          <a:prstGeom prst="rect">
            <a:avLst/>
          </a:prstGeom>
          <a:solidFill>
            <a:srgbClr val="F2F4F8"/>
          </a:solidFill>
          <a:ln/>
        </p:spPr>
        <p:txBody>
          <a:bodyPr/>
          <a:lstStyle/>
          <a:p>
            <a:endParaRPr lang="fr-FR"/>
          </a:p>
        </p:txBody>
      </p:sp>
      <p:sp>
        <p:nvSpPr>
          <p:cNvPr id="40" name="Text 38"/>
          <p:cNvSpPr txBox="1"/>
          <p:nvPr/>
        </p:nvSpPr>
        <p:spPr>
          <a:xfrm>
            <a:off x="1572768" y="3054096"/>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41" name="Shape 39"/>
          <p:cNvSpPr/>
          <p:nvPr/>
        </p:nvSpPr>
        <p:spPr>
          <a:xfrm>
            <a:off x="2414016" y="3054096"/>
            <a:ext cx="795528" cy="521208"/>
          </a:xfrm>
          <a:prstGeom prst="rect">
            <a:avLst/>
          </a:prstGeom>
          <a:solidFill>
            <a:srgbClr val="F2F4F8"/>
          </a:solidFill>
          <a:ln/>
        </p:spPr>
        <p:txBody>
          <a:bodyPr/>
          <a:lstStyle/>
          <a:p>
            <a:endParaRPr lang="fr-FR"/>
          </a:p>
        </p:txBody>
      </p:sp>
      <p:sp>
        <p:nvSpPr>
          <p:cNvPr id="42" name="Text 40"/>
          <p:cNvSpPr txBox="1"/>
          <p:nvPr/>
        </p:nvSpPr>
        <p:spPr>
          <a:xfrm>
            <a:off x="2414016" y="3054096"/>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43" name="Shape 41"/>
          <p:cNvSpPr/>
          <p:nvPr/>
        </p:nvSpPr>
        <p:spPr>
          <a:xfrm>
            <a:off x="3255264" y="3054096"/>
            <a:ext cx="795528" cy="521208"/>
          </a:xfrm>
          <a:prstGeom prst="rect">
            <a:avLst/>
          </a:prstGeom>
          <a:solidFill>
            <a:srgbClr val="F2F4F8"/>
          </a:solidFill>
          <a:ln/>
        </p:spPr>
        <p:txBody>
          <a:bodyPr/>
          <a:lstStyle/>
          <a:p>
            <a:endParaRPr lang="fr-FR"/>
          </a:p>
        </p:txBody>
      </p:sp>
      <p:sp>
        <p:nvSpPr>
          <p:cNvPr id="44" name="Text 42"/>
          <p:cNvSpPr txBox="1"/>
          <p:nvPr/>
        </p:nvSpPr>
        <p:spPr>
          <a:xfrm>
            <a:off x="3255264" y="3054096"/>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45" name="Shape 43"/>
          <p:cNvSpPr/>
          <p:nvPr/>
        </p:nvSpPr>
        <p:spPr>
          <a:xfrm>
            <a:off x="4096512" y="3054096"/>
            <a:ext cx="795528" cy="521208"/>
          </a:xfrm>
          <a:prstGeom prst="rect">
            <a:avLst/>
          </a:prstGeom>
          <a:solidFill>
            <a:srgbClr val="C5A55A"/>
          </a:solidFill>
          <a:ln/>
        </p:spPr>
        <p:txBody>
          <a:bodyPr/>
          <a:lstStyle/>
          <a:p>
            <a:endParaRPr lang="fr-FR"/>
          </a:p>
        </p:txBody>
      </p:sp>
      <p:sp>
        <p:nvSpPr>
          <p:cNvPr id="46" name="Text 44"/>
          <p:cNvSpPr txBox="1"/>
          <p:nvPr/>
        </p:nvSpPr>
        <p:spPr>
          <a:xfrm>
            <a:off x="4096512" y="3054096"/>
            <a:ext cx="795528" cy="521208"/>
          </a:xfrm>
          <a:prstGeom prst="rect">
            <a:avLst/>
          </a:prstGeom>
          <a:noFill/>
          <a:ln/>
        </p:spPr>
        <p:txBody>
          <a:bodyPr wrap="square" lIns="0" tIns="0" rIns="0" bIns="0" rtlCol="0" anchor="ctr"/>
          <a:lstStyle/>
          <a:p>
            <a:pPr marL="0" indent="0" algn="ctr">
              <a:buNone/>
            </a:pPr>
            <a:r>
              <a:rPr lang="en-US" sz="900" b="1" dirty="0">
                <a:solidFill>
                  <a:srgbClr val="1B2A4A"/>
                </a:solidFill>
                <a:latin typeface="Lato" pitchFamily="34" charset="0"/>
                <a:ea typeface="Lato" pitchFamily="34" charset="-122"/>
                <a:cs typeface="Lato" pitchFamily="34" charset="-120"/>
              </a:rPr>
              <a:t>retenu</a:t>
            </a:r>
            <a:endParaRPr lang="en-US" sz="900" dirty="0"/>
          </a:p>
        </p:txBody>
      </p:sp>
      <p:sp>
        <p:nvSpPr>
          <p:cNvPr id="47" name="Shape 45"/>
          <p:cNvSpPr/>
          <p:nvPr/>
        </p:nvSpPr>
        <p:spPr>
          <a:xfrm>
            <a:off x="4937760" y="3054096"/>
            <a:ext cx="795528" cy="521208"/>
          </a:xfrm>
          <a:prstGeom prst="rect">
            <a:avLst/>
          </a:prstGeom>
          <a:solidFill>
            <a:srgbClr val="F2F4F8"/>
          </a:solidFill>
          <a:ln/>
        </p:spPr>
        <p:txBody>
          <a:bodyPr/>
          <a:lstStyle/>
          <a:p>
            <a:endParaRPr lang="fr-FR"/>
          </a:p>
        </p:txBody>
      </p:sp>
      <p:sp>
        <p:nvSpPr>
          <p:cNvPr id="48" name="Text 46"/>
          <p:cNvSpPr txBox="1"/>
          <p:nvPr/>
        </p:nvSpPr>
        <p:spPr>
          <a:xfrm>
            <a:off x="4937760" y="3054096"/>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49" name="Shape 47"/>
          <p:cNvSpPr/>
          <p:nvPr/>
        </p:nvSpPr>
        <p:spPr>
          <a:xfrm>
            <a:off x="5779008" y="3054096"/>
            <a:ext cx="795528" cy="521208"/>
          </a:xfrm>
          <a:prstGeom prst="rect">
            <a:avLst/>
          </a:prstGeom>
          <a:solidFill>
            <a:srgbClr val="F2F4F8"/>
          </a:solidFill>
          <a:ln/>
        </p:spPr>
        <p:txBody>
          <a:bodyPr/>
          <a:lstStyle/>
          <a:p>
            <a:endParaRPr lang="fr-FR"/>
          </a:p>
        </p:txBody>
      </p:sp>
      <p:sp>
        <p:nvSpPr>
          <p:cNvPr id="50" name="Text 48"/>
          <p:cNvSpPr txBox="1"/>
          <p:nvPr/>
        </p:nvSpPr>
        <p:spPr>
          <a:xfrm>
            <a:off x="5779008" y="3054096"/>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51" name="Shape 49"/>
          <p:cNvSpPr/>
          <p:nvPr/>
        </p:nvSpPr>
        <p:spPr>
          <a:xfrm>
            <a:off x="1572768" y="3621024"/>
            <a:ext cx="795528" cy="521208"/>
          </a:xfrm>
          <a:prstGeom prst="rect">
            <a:avLst/>
          </a:prstGeom>
          <a:solidFill>
            <a:srgbClr val="F2F4F8"/>
          </a:solidFill>
          <a:ln/>
        </p:spPr>
        <p:txBody>
          <a:bodyPr/>
          <a:lstStyle/>
          <a:p>
            <a:endParaRPr lang="fr-FR"/>
          </a:p>
        </p:txBody>
      </p:sp>
      <p:sp>
        <p:nvSpPr>
          <p:cNvPr id="52" name="Text 50"/>
          <p:cNvSpPr txBox="1"/>
          <p:nvPr/>
        </p:nvSpPr>
        <p:spPr>
          <a:xfrm>
            <a:off x="1572768"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53" name="Shape 51"/>
          <p:cNvSpPr/>
          <p:nvPr/>
        </p:nvSpPr>
        <p:spPr>
          <a:xfrm>
            <a:off x="2414016" y="3621024"/>
            <a:ext cx="795528" cy="521208"/>
          </a:xfrm>
          <a:prstGeom prst="rect">
            <a:avLst/>
          </a:prstGeom>
          <a:solidFill>
            <a:srgbClr val="F2F4F8"/>
          </a:solidFill>
          <a:ln/>
        </p:spPr>
        <p:txBody>
          <a:bodyPr/>
          <a:lstStyle/>
          <a:p>
            <a:endParaRPr lang="fr-FR"/>
          </a:p>
        </p:txBody>
      </p:sp>
      <p:sp>
        <p:nvSpPr>
          <p:cNvPr id="54" name="Text 52"/>
          <p:cNvSpPr txBox="1"/>
          <p:nvPr/>
        </p:nvSpPr>
        <p:spPr>
          <a:xfrm>
            <a:off x="2414016"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55" name="Shape 53"/>
          <p:cNvSpPr/>
          <p:nvPr/>
        </p:nvSpPr>
        <p:spPr>
          <a:xfrm>
            <a:off x="3255264" y="3621024"/>
            <a:ext cx="795528" cy="521208"/>
          </a:xfrm>
          <a:prstGeom prst="rect">
            <a:avLst/>
          </a:prstGeom>
          <a:solidFill>
            <a:srgbClr val="F2F4F8"/>
          </a:solidFill>
          <a:ln/>
        </p:spPr>
        <p:txBody>
          <a:bodyPr/>
          <a:lstStyle/>
          <a:p>
            <a:endParaRPr lang="fr-FR"/>
          </a:p>
        </p:txBody>
      </p:sp>
      <p:sp>
        <p:nvSpPr>
          <p:cNvPr id="56" name="Text 54"/>
          <p:cNvSpPr txBox="1"/>
          <p:nvPr/>
        </p:nvSpPr>
        <p:spPr>
          <a:xfrm>
            <a:off x="3255264"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57" name="Shape 55"/>
          <p:cNvSpPr/>
          <p:nvPr/>
        </p:nvSpPr>
        <p:spPr>
          <a:xfrm>
            <a:off x="4096512" y="3621024"/>
            <a:ext cx="795528" cy="521208"/>
          </a:xfrm>
          <a:prstGeom prst="rect">
            <a:avLst/>
          </a:prstGeom>
          <a:solidFill>
            <a:srgbClr val="F2F4F8"/>
          </a:solidFill>
          <a:ln/>
        </p:spPr>
        <p:txBody>
          <a:bodyPr/>
          <a:lstStyle/>
          <a:p>
            <a:endParaRPr lang="fr-FR"/>
          </a:p>
        </p:txBody>
      </p:sp>
      <p:sp>
        <p:nvSpPr>
          <p:cNvPr id="58" name="Text 56"/>
          <p:cNvSpPr txBox="1"/>
          <p:nvPr/>
        </p:nvSpPr>
        <p:spPr>
          <a:xfrm>
            <a:off x="4096512"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59" name="Shape 57"/>
          <p:cNvSpPr/>
          <p:nvPr/>
        </p:nvSpPr>
        <p:spPr>
          <a:xfrm>
            <a:off x="4937760" y="3621024"/>
            <a:ext cx="795528" cy="521208"/>
          </a:xfrm>
          <a:prstGeom prst="rect">
            <a:avLst/>
          </a:prstGeom>
          <a:solidFill>
            <a:srgbClr val="F2F4F8"/>
          </a:solidFill>
          <a:ln/>
        </p:spPr>
        <p:txBody>
          <a:bodyPr/>
          <a:lstStyle/>
          <a:p>
            <a:endParaRPr lang="fr-FR"/>
          </a:p>
        </p:txBody>
      </p:sp>
      <p:sp>
        <p:nvSpPr>
          <p:cNvPr id="60" name="Text 58"/>
          <p:cNvSpPr txBox="1"/>
          <p:nvPr/>
        </p:nvSpPr>
        <p:spPr>
          <a:xfrm>
            <a:off x="4937760"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61" name="Shape 59"/>
          <p:cNvSpPr/>
          <p:nvPr/>
        </p:nvSpPr>
        <p:spPr>
          <a:xfrm>
            <a:off x="5779008" y="3621024"/>
            <a:ext cx="795528" cy="521208"/>
          </a:xfrm>
          <a:prstGeom prst="rect">
            <a:avLst/>
          </a:prstGeom>
          <a:solidFill>
            <a:srgbClr val="F2F4F8"/>
          </a:solidFill>
          <a:ln/>
        </p:spPr>
        <p:txBody>
          <a:bodyPr/>
          <a:lstStyle/>
          <a:p>
            <a:endParaRPr lang="fr-FR"/>
          </a:p>
        </p:txBody>
      </p:sp>
      <p:sp>
        <p:nvSpPr>
          <p:cNvPr id="62" name="Text 60"/>
          <p:cNvSpPr txBox="1"/>
          <p:nvPr/>
        </p:nvSpPr>
        <p:spPr>
          <a:xfrm>
            <a:off x="5779008" y="3621024"/>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63" name="Shape 61"/>
          <p:cNvSpPr/>
          <p:nvPr/>
        </p:nvSpPr>
        <p:spPr>
          <a:xfrm>
            <a:off x="1572768" y="4187952"/>
            <a:ext cx="795528" cy="521208"/>
          </a:xfrm>
          <a:prstGeom prst="rect">
            <a:avLst/>
          </a:prstGeom>
          <a:solidFill>
            <a:srgbClr val="F2F4F8"/>
          </a:solidFill>
          <a:ln/>
        </p:spPr>
        <p:txBody>
          <a:bodyPr/>
          <a:lstStyle/>
          <a:p>
            <a:endParaRPr lang="fr-FR"/>
          </a:p>
        </p:txBody>
      </p:sp>
      <p:sp>
        <p:nvSpPr>
          <p:cNvPr id="64" name="Text 62"/>
          <p:cNvSpPr txBox="1"/>
          <p:nvPr/>
        </p:nvSpPr>
        <p:spPr>
          <a:xfrm>
            <a:off x="1572768"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65" name="Shape 63"/>
          <p:cNvSpPr/>
          <p:nvPr/>
        </p:nvSpPr>
        <p:spPr>
          <a:xfrm>
            <a:off x="2414016" y="4187952"/>
            <a:ext cx="795528" cy="521208"/>
          </a:xfrm>
          <a:prstGeom prst="rect">
            <a:avLst/>
          </a:prstGeom>
          <a:solidFill>
            <a:srgbClr val="F2F4F8"/>
          </a:solidFill>
          <a:ln/>
        </p:spPr>
        <p:txBody>
          <a:bodyPr/>
          <a:lstStyle/>
          <a:p>
            <a:endParaRPr lang="fr-FR"/>
          </a:p>
        </p:txBody>
      </p:sp>
      <p:sp>
        <p:nvSpPr>
          <p:cNvPr id="66" name="Text 64"/>
          <p:cNvSpPr txBox="1"/>
          <p:nvPr/>
        </p:nvSpPr>
        <p:spPr>
          <a:xfrm>
            <a:off x="2414016"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67" name="Shape 65"/>
          <p:cNvSpPr/>
          <p:nvPr/>
        </p:nvSpPr>
        <p:spPr>
          <a:xfrm>
            <a:off x="3255264" y="4187952"/>
            <a:ext cx="795528" cy="521208"/>
          </a:xfrm>
          <a:prstGeom prst="rect">
            <a:avLst/>
          </a:prstGeom>
          <a:solidFill>
            <a:srgbClr val="F2F4F8"/>
          </a:solidFill>
          <a:ln/>
        </p:spPr>
        <p:txBody>
          <a:bodyPr/>
          <a:lstStyle/>
          <a:p>
            <a:endParaRPr lang="fr-FR"/>
          </a:p>
        </p:txBody>
      </p:sp>
      <p:sp>
        <p:nvSpPr>
          <p:cNvPr id="68" name="Text 66"/>
          <p:cNvSpPr txBox="1"/>
          <p:nvPr/>
        </p:nvSpPr>
        <p:spPr>
          <a:xfrm>
            <a:off x="3255264"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69" name="Shape 67"/>
          <p:cNvSpPr/>
          <p:nvPr/>
        </p:nvSpPr>
        <p:spPr>
          <a:xfrm>
            <a:off x="4096512" y="4187952"/>
            <a:ext cx="795528" cy="521208"/>
          </a:xfrm>
          <a:prstGeom prst="rect">
            <a:avLst/>
          </a:prstGeom>
          <a:solidFill>
            <a:srgbClr val="F2F4F8"/>
          </a:solidFill>
          <a:ln/>
        </p:spPr>
        <p:txBody>
          <a:bodyPr/>
          <a:lstStyle/>
          <a:p>
            <a:endParaRPr lang="fr-FR"/>
          </a:p>
        </p:txBody>
      </p:sp>
      <p:sp>
        <p:nvSpPr>
          <p:cNvPr id="70" name="Text 68"/>
          <p:cNvSpPr txBox="1"/>
          <p:nvPr/>
        </p:nvSpPr>
        <p:spPr>
          <a:xfrm>
            <a:off x="4096512"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71" name="Shape 69"/>
          <p:cNvSpPr/>
          <p:nvPr/>
        </p:nvSpPr>
        <p:spPr>
          <a:xfrm>
            <a:off x="4937760" y="4187952"/>
            <a:ext cx="795528" cy="521208"/>
          </a:xfrm>
          <a:prstGeom prst="rect">
            <a:avLst/>
          </a:prstGeom>
          <a:solidFill>
            <a:srgbClr val="F2F4F8"/>
          </a:solidFill>
          <a:ln/>
        </p:spPr>
        <p:txBody>
          <a:bodyPr/>
          <a:lstStyle/>
          <a:p>
            <a:endParaRPr lang="fr-FR"/>
          </a:p>
        </p:txBody>
      </p:sp>
      <p:sp>
        <p:nvSpPr>
          <p:cNvPr id="72" name="Text 70"/>
          <p:cNvSpPr txBox="1"/>
          <p:nvPr/>
        </p:nvSpPr>
        <p:spPr>
          <a:xfrm>
            <a:off x="4937760"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73" name="Shape 71"/>
          <p:cNvSpPr/>
          <p:nvPr/>
        </p:nvSpPr>
        <p:spPr>
          <a:xfrm>
            <a:off x="5779008" y="4187952"/>
            <a:ext cx="795528" cy="521208"/>
          </a:xfrm>
          <a:prstGeom prst="rect">
            <a:avLst/>
          </a:prstGeom>
          <a:solidFill>
            <a:srgbClr val="F2F4F8"/>
          </a:solidFill>
          <a:ln/>
        </p:spPr>
        <p:txBody>
          <a:bodyPr/>
          <a:lstStyle/>
          <a:p>
            <a:endParaRPr lang="fr-FR"/>
          </a:p>
        </p:txBody>
      </p:sp>
      <p:sp>
        <p:nvSpPr>
          <p:cNvPr id="74" name="Text 72"/>
          <p:cNvSpPr txBox="1"/>
          <p:nvPr/>
        </p:nvSpPr>
        <p:spPr>
          <a:xfrm>
            <a:off x="5779008" y="4187952"/>
            <a:ext cx="795528" cy="521208"/>
          </a:xfrm>
          <a:prstGeom prst="rect">
            <a:avLst/>
          </a:prstGeom>
          <a:noFill/>
          <a:ln/>
        </p:spPr>
        <p:txBody>
          <a:bodyPr wrap="square" lIns="0" tIns="0" rIns="0" bIns="0" rtlCol="0" anchor="ctr"/>
          <a:lstStyle/>
          <a:p>
            <a:pPr marL="0" indent="0" algn="ctr">
              <a:buNone/>
            </a:pPr>
            <a:r>
              <a:rPr lang="en-US" sz="900" dirty="0">
                <a:solidFill>
                  <a:srgbClr val="4A5568"/>
                </a:solidFill>
                <a:latin typeface="Lato" pitchFamily="34" charset="0"/>
                <a:ea typeface="Lato" pitchFamily="34" charset="-122"/>
                <a:cs typeface="Lato" pitchFamily="34" charset="-120"/>
              </a:rPr>
              <a:t>identique</a:t>
            </a:r>
            <a:endParaRPr lang="en-US" sz="900" dirty="0"/>
          </a:p>
        </p:txBody>
      </p:sp>
      <p:sp>
        <p:nvSpPr>
          <p:cNvPr id="75" name="Text 73"/>
          <p:cNvSpPr txBox="1"/>
          <p:nvPr/>
        </p:nvSpPr>
        <p:spPr>
          <a:xfrm>
            <a:off x="1572768" y="4828032"/>
            <a:ext cx="5029200" cy="256032"/>
          </a:xfrm>
          <a:prstGeom prst="rect">
            <a:avLst/>
          </a:prstGeom>
          <a:noFill/>
          <a:ln/>
        </p:spPr>
        <p:txBody>
          <a:bodyPr wrap="square" lIns="0" tIns="0" rIns="0" bIns="0" rtlCol="0" anchor="ctr"/>
          <a:lstStyle/>
          <a:p>
            <a:pPr marL="0" indent="0">
              <a:buNone/>
            </a:pPr>
            <a:r>
              <a:rPr lang="en-US" sz="950" b="1" kern="0" spc="140" dirty="0">
                <a:solidFill>
                  <a:srgbClr val="4A5568"/>
                </a:solidFill>
                <a:latin typeface="Lato" pitchFamily="34" charset="0"/>
                <a:ea typeface="Lato" pitchFamily="34" charset="-122"/>
                <a:cs typeface="Lato" pitchFamily="34" charset="-120"/>
              </a:rPr>
              <a:t>POIDS DE LA VALEUR MÉTIER →</a:t>
            </a:r>
            <a:endParaRPr lang="en-US" sz="950" dirty="0"/>
          </a:p>
        </p:txBody>
      </p:sp>
      <p:sp>
        <p:nvSpPr>
          <p:cNvPr id="76" name="Text 74"/>
          <p:cNvSpPr txBox="1"/>
          <p:nvPr/>
        </p:nvSpPr>
        <p:spPr>
          <a:xfrm>
            <a:off x="640080" y="1609344"/>
            <a:ext cx="1463040" cy="512064"/>
          </a:xfrm>
          <a:prstGeom prst="rect">
            <a:avLst/>
          </a:prstGeom>
          <a:noFill/>
          <a:ln/>
        </p:spPr>
        <p:txBody>
          <a:bodyPr wrap="square" lIns="0" tIns="0" rIns="0" bIns="0" rtlCol="0" anchor="ctr"/>
          <a:lstStyle/>
          <a:p>
            <a:pPr marL="0" indent="0">
              <a:lnSpc>
                <a:spcPct val="105000"/>
              </a:lnSpc>
              <a:buNone/>
            </a:pPr>
            <a:r>
              <a:rPr lang="en-US" sz="900" b="1" kern="0" spc="100" dirty="0">
                <a:solidFill>
                  <a:srgbClr val="4A5568"/>
                </a:solidFill>
                <a:latin typeface="Lato" pitchFamily="34" charset="0"/>
                <a:ea typeface="Lato" pitchFamily="34" charset="-122"/>
                <a:cs typeface="Lato" pitchFamily="34" charset="-120"/>
              </a:rPr>
              <a:t>POIDS DE</a:t>
            </a:r>
            <a:endParaRPr lang="en-US" sz="900" dirty="0"/>
          </a:p>
          <a:p>
            <a:pPr marL="0" indent="0">
              <a:lnSpc>
                <a:spcPct val="105000"/>
              </a:lnSpc>
              <a:buNone/>
            </a:pPr>
            <a:r>
              <a:rPr lang="en-US" sz="900" b="1" kern="0" spc="100" dirty="0">
                <a:solidFill>
                  <a:srgbClr val="4A5568"/>
                </a:solidFill>
                <a:latin typeface="Lato" pitchFamily="34" charset="0"/>
                <a:ea typeface="Lato" pitchFamily="34" charset="-122"/>
                <a:cs typeface="Lato" pitchFamily="34" charset="-120"/>
              </a:rPr>
              <a:t>L'ACTIF</a:t>
            </a:r>
            <a:endParaRPr lang="en-US" sz="900" dirty="0"/>
          </a:p>
        </p:txBody>
      </p:sp>
      <p:sp>
        <p:nvSpPr>
          <p:cNvPr id="77" name="Text 75"/>
          <p:cNvSpPr txBox="1"/>
          <p:nvPr/>
        </p:nvSpPr>
        <p:spPr>
          <a:xfrm>
            <a:off x="6693408" y="1847088"/>
            <a:ext cx="4846320" cy="731520"/>
          </a:xfrm>
          <a:prstGeom prst="rect">
            <a:avLst/>
          </a:prstGeom>
          <a:noFill/>
          <a:ln/>
        </p:spPr>
        <p:txBody>
          <a:bodyPr wrap="square" lIns="0" tIns="0" rIns="0" bIns="0" rtlCol="0" anchor="ctr"/>
          <a:lstStyle/>
          <a:p>
            <a:pPr marL="0" indent="0" algn="l">
              <a:buNone/>
            </a:pPr>
            <a:r>
              <a:rPr lang="en-US" sz="4400" b="1" dirty="0">
                <a:solidFill>
                  <a:srgbClr val="C5A55A"/>
                </a:solidFill>
                <a:latin typeface="Lato" pitchFamily="34" charset="0"/>
                <a:ea typeface="Lato" pitchFamily="34" charset="-122"/>
                <a:cs typeface="Lato" pitchFamily="34" charset="-120"/>
              </a:rPr>
              <a:t>0 sur 30</a:t>
            </a:r>
            <a:endParaRPr lang="en-US" sz="4400" dirty="0"/>
          </a:p>
        </p:txBody>
      </p:sp>
      <p:sp>
        <p:nvSpPr>
          <p:cNvPr id="78" name="Text 76"/>
          <p:cNvSpPr txBox="1"/>
          <p:nvPr/>
        </p:nvSpPr>
        <p:spPr>
          <a:xfrm>
            <a:off x="6693408" y="2560320"/>
            <a:ext cx="4846320" cy="566928"/>
          </a:xfrm>
          <a:prstGeom prst="rect">
            <a:avLst/>
          </a:prstGeom>
          <a:noFill/>
          <a:ln/>
        </p:spPr>
        <p:txBody>
          <a:bodyPr wrap="square" lIns="0" tIns="0" rIns="0" bIns="0" rtlCol="0" anchor="t"/>
          <a:lstStyle/>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jeux de pondérations modifient le </a:t>
            </a:r>
            <a:r>
              <a:rPr lang="en-US" sz="1300" dirty="0" err="1">
                <a:solidFill>
                  <a:srgbClr val="4A5568"/>
                </a:solidFill>
                <a:latin typeface="Lato" pitchFamily="34" charset="0"/>
                <a:ea typeface="Lato" pitchFamily="34" charset="-122"/>
                <a:cs typeface="Lato" pitchFamily="34" charset="-120"/>
              </a:rPr>
              <a:t>classement</a:t>
            </a:r>
            <a:endParaRPr lang="en-US" sz="1300" dirty="0">
              <a:solidFill>
                <a:srgbClr val="4A5568"/>
              </a:solidFill>
              <a:latin typeface="Lato" pitchFamily="34" charset="0"/>
              <a:ea typeface="Lato" pitchFamily="34" charset="-122"/>
              <a:cs typeface="Lato" pitchFamily="34" charset="-120"/>
            </a:endParaRPr>
          </a:p>
          <a:p>
            <a:pPr marL="0" indent="0" algn="l">
              <a:lnSpc>
                <a:spcPct val="112000"/>
              </a:lnSpc>
              <a:buNone/>
            </a:pPr>
            <a:r>
              <a:rPr lang="en-US" sz="1300" dirty="0">
                <a:solidFill>
                  <a:srgbClr val="4A5568"/>
                </a:solidFill>
                <a:latin typeface="Lato" pitchFamily="34" charset="0"/>
                <a:ea typeface="Lato" pitchFamily="34" charset="-122"/>
                <a:cs typeface="Lato" pitchFamily="34" charset="-120"/>
              </a:rPr>
              <a:t>Les 200 vulnérabilités les mieux notées </a:t>
            </a:r>
            <a:r>
              <a:rPr lang="en-US" sz="1300" dirty="0" err="1">
                <a:solidFill>
                  <a:srgbClr val="4A5568"/>
                </a:solidFill>
                <a:latin typeface="Lato" pitchFamily="34" charset="0"/>
                <a:ea typeface="Lato" pitchFamily="34" charset="-122"/>
                <a:cs typeface="Lato" pitchFamily="34" charset="-120"/>
              </a:rPr>
              <a:t>sont</a:t>
            </a:r>
            <a:r>
              <a:rPr lang="en-US" sz="1300" dirty="0">
                <a:solidFill>
                  <a:srgbClr val="4A5568"/>
                </a:solidFill>
                <a:latin typeface="Lato" pitchFamily="34" charset="0"/>
                <a:ea typeface="Lato" pitchFamily="34" charset="-122"/>
                <a:cs typeface="Lato" pitchFamily="34" charset="-120"/>
              </a:rPr>
              <a:t> </a:t>
            </a:r>
            <a:r>
              <a:rPr lang="en-US" sz="1300" dirty="0" err="1">
                <a:solidFill>
                  <a:srgbClr val="4A5568"/>
                </a:solidFill>
                <a:latin typeface="Lato" pitchFamily="34" charset="0"/>
                <a:ea typeface="Lato" pitchFamily="34" charset="-122"/>
                <a:cs typeface="Lato" pitchFamily="34" charset="-120"/>
              </a:rPr>
              <a:t>identiques</a:t>
            </a:r>
            <a:r>
              <a:rPr lang="en-US" sz="1300" dirty="0">
                <a:solidFill>
                  <a:srgbClr val="4A5568"/>
                </a:solidFill>
                <a:latin typeface="Lato" pitchFamily="34" charset="0"/>
                <a:ea typeface="Lato" pitchFamily="34" charset="-122"/>
                <a:cs typeface="Lato" pitchFamily="34" charset="-120"/>
              </a:rPr>
              <a:t> </a:t>
            </a:r>
            <a:endParaRPr lang="en-US" sz="1300" dirty="0"/>
          </a:p>
        </p:txBody>
      </p:sp>
      <p:sp>
        <p:nvSpPr>
          <p:cNvPr id="80" name="Shape 8">
            <a:extLst>
              <a:ext uri="{FF2B5EF4-FFF2-40B4-BE49-F238E27FC236}">
                <a16:creationId xmlns:a16="http://schemas.microsoft.com/office/drawing/2014/main" id="{6035CE73-DAB2-5502-F3C5-9DD935238791}"/>
              </a:ext>
            </a:extLst>
          </p:cNvPr>
          <p:cNvSpPr/>
          <p:nvPr/>
        </p:nvSpPr>
        <p:spPr>
          <a:xfrm>
            <a:off x="658368" y="5175504"/>
            <a:ext cx="10874959" cy="786384"/>
          </a:xfrm>
          <a:prstGeom prst="rect">
            <a:avLst/>
          </a:prstGeom>
          <a:solidFill>
            <a:srgbClr val="1B2A4A"/>
          </a:solidFill>
          <a:ln/>
        </p:spPr>
        <p:txBody>
          <a:bodyPr/>
          <a:lstStyle/>
          <a:p>
            <a:endParaRPr lang="fr-FR"/>
          </a:p>
        </p:txBody>
      </p:sp>
      <p:sp>
        <p:nvSpPr>
          <p:cNvPr id="82" name="Text 9">
            <a:extLst>
              <a:ext uri="{FF2B5EF4-FFF2-40B4-BE49-F238E27FC236}">
                <a16:creationId xmlns:a16="http://schemas.microsoft.com/office/drawing/2014/main" id="{1577BA41-3D1F-DBCE-A95B-E7264A5D34B5}"/>
              </a:ext>
            </a:extLst>
          </p:cNvPr>
          <p:cNvSpPr txBox="1"/>
          <p:nvPr/>
        </p:nvSpPr>
        <p:spPr>
          <a:xfrm>
            <a:off x="914400" y="5175504"/>
            <a:ext cx="10362895" cy="786384"/>
          </a:xfrm>
          <a:prstGeom prst="rect">
            <a:avLst/>
          </a:prstGeom>
          <a:noFill/>
          <a:ln/>
        </p:spPr>
        <p:txBody>
          <a:bodyPr wrap="square" lIns="0" tIns="0" rIns="0" bIns="0" rtlCol="0" anchor="ctr"/>
          <a:lstStyle/>
          <a:p>
            <a:pPr marL="0" indent="0">
              <a:lnSpc>
                <a:spcPct val="100000"/>
              </a:lnSpc>
              <a:buNone/>
            </a:pPr>
            <a:r>
              <a:rPr lang="en-US" sz="1600" b="1" dirty="0">
                <a:solidFill>
                  <a:srgbClr val="C5A55A"/>
                </a:solidFill>
                <a:latin typeface="Lato" pitchFamily="34" charset="0"/>
                <a:ea typeface="Lato" pitchFamily="34" charset="-122"/>
                <a:cs typeface="Lato" pitchFamily="34" charset="-120"/>
              </a:rPr>
              <a:t>L</a:t>
            </a:r>
            <a:r>
              <a:rPr lang="fr-FR" sz="1600" b="1" dirty="0">
                <a:solidFill>
                  <a:srgbClr val="C5A55A"/>
                </a:solidFill>
                <a:latin typeface="Lato" pitchFamily="34" charset="0"/>
                <a:ea typeface="Lato" pitchFamily="34" charset="-122"/>
                <a:cs typeface="Lato" pitchFamily="34" charset="-120"/>
              </a:rPr>
              <a:t>es criticités métier sont trop homogènes pour que la pondération joue.</a:t>
            </a:r>
            <a:endParaRPr lang="en-US" sz="1600" dirty="0">
              <a:solidFill>
                <a:srgbClr val="C5A55A"/>
              </a:solidFill>
            </a:endParaRPr>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3C256F22-B353-4D42-815D-D7AAD8E71724}" type="slidenum">
              <a:rPr lang="fr-FR" sz="900" b="0">
                <a:solidFill>
                  <a:srgbClr val="4A5568"/>
                </a:solidFill>
                <a:latin typeface="Lato"/>
              </a:rPr>
              <a:t>41</a:t>
            </a:fld>
            <a:endParaRPr lang="fr-FR" dirty="0">
              <a:solidFill>
                <a:srgbClr val="4A5568"/>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402336"/>
            <a:ext cx="7315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40" normalizeH="0" baseline="0" noProof="0" dirty="0">
                <a:ln>
                  <a:noFill/>
                </a:ln>
                <a:solidFill>
                  <a:srgbClr val="C5A55A"/>
                </a:solidFill>
                <a:effectLst/>
                <a:uLnTx/>
                <a:uFillTx/>
                <a:latin typeface="Lato" pitchFamily="34" charset="0"/>
                <a:ea typeface="Lato" pitchFamily="34" charset="-122"/>
                <a:cs typeface="Lato" pitchFamily="34" charset="-120"/>
              </a:rPr>
              <a:t>LE SOCLE PRIS EN DÉFAUT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58368" y="713232"/>
            <a:ext cx="1060704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La valeur métier n'apportait aucune information</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58368" y="1627632"/>
            <a:ext cx="3483864" cy="603504"/>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804672" y="1627632"/>
            <a:ext cx="3227832" cy="603504"/>
          </a:xfrm>
          <a:prstGeom prst="rect">
            <a:avLst/>
          </a:prstGeom>
          <a:noFill/>
          <a:ln/>
        </p:spPr>
        <p:txBody>
          <a:bodyPr wrap="square" lIns="0" tIns="0" rIns="0" bIns="0" rtlCol="0" anchor="ct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AEB7C6"/>
                </a:solidFill>
                <a:effectLst/>
                <a:uLnTx/>
                <a:uFillTx/>
                <a:latin typeface="Lato" pitchFamily="34" charset="0"/>
                <a:ea typeface="Lato" pitchFamily="34" charset="-122"/>
                <a:cs typeface="Lato" pitchFamily="34" charset="-120"/>
              </a:rPr>
              <a:t>Machine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178808" y="1627632"/>
            <a:ext cx="2340864" cy="603504"/>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txBox="1"/>
          <p:nvPr/>
        </p:nvSpPr>
        <p:spPr>
          <a:xfrm>
            <a:off x="4325112" y="1627632"/>
            <a:ext cx="2084832" cy="603504"/>
          </a:xfrm>
          <a:prstGeom prst="rect">
            <a:avLst/>
          </a:prstGeom>
          <a:noFill/>
          <a:ln/>
        </p:spPr>
        <p:txBody>
          <a:bodyPr wrap="square" lIns="0" tIns="0" rIns="0" bIns="0" rtlCol="0" anchor="ct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AEB7C6"/>
                </a:solidFill>
                <a:effectLst/>
                <a:uLnTx/>
                <a:uFillTx/>
                <a:latin typeface="Lato" pitchFamily="34" charset="0"/>
                <a:ea typeface="Lato" pitchFamily="34" charset="-122"/>
                <a:cs typeface="Lato" pitchFamily="34" charset="-120"/>
              </a:rPr>
              <a:t>Criticité de l'actif</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AEB7C6"/>
                </a:solidFill>
                <a:effectLst/>
                <a:uLnTx/>
                <a:uFillTx/>
                <a:latin typeface="Lato" pitchFamily="34" charset="0"/>
                <a:ea typeface="Lato" pitchFamily="34" charset="-122"/>
                <a:cs typeface="Lato" pitchFamily="34" charset="-120"/>
              </a:rPr>
              <a:t>(C + D + 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556248" y="1627632"/>
            <a:ext cx="2450592" cy="603504"/>
          </a:xfrm>
          <a:prstGeom prst="rect">
            <a:avLst/>
          </a:prstGeom>
          <a:solidFill>
            <a:srgbClr val="2E437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6702552" y="1627632"/>
            <a:ext cx="2194560" cy="603504"/>
          </a:xfrm>
          <a:prstGeom prst="rect">
            <a:avLst/>
          </a:prstGeom>
          <a:noFill/>
          <a:ln/>
        </p:spPr>
        <p:txBody>
          <a:bodyPr wrap="square" lIns="0" tIns="0" rIns="0" bIns="0" rtlCol="0" anchor="ct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Valeur métier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renseignée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9043416" y="1627632"/>
            <a:ext cx="2450592" cy="603504"/>
          </a:xfrm>
          <a:prstGeom prst="rect">
            <a:avLst/>
          </a:prstGeom>
          <a:solidFill>
            <a:srgbClr val="2E437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txBox="1"/>
          <p:nvPr/>
        </p:nvSpPr>
        <p:spPr>
          <a:xfrm>
            <a:off x="9189720" y="1627632"/>
            <a:ext cx="2194560" cy="603504"/>
          </a:xfrm>
          <a:prstGeom prst="rect">
            <a:avLst/>
          </a:prstGeom>
          <a:noFill/>
          <a:ln/>
        </p:spPr>
        <p:txBody>
          <a:bodyPr wrap="square" lIns="0" tIns="0" rIns="0" bIns="0" rtlCol="0" anchor="ct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Valeur neutre calculée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(C + D + I) / 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58368" y="2267712"/>
            <a:ext cx="3483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804672" y="2267712"/>
            <a:ext cx="3227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Portainer, hébergé en cloud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178808" y="2267712"/>
            <a:ext cx="2340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4325112" y="2267712"/>
            <a:ext cx="2084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12</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556248" y="2267712"/>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6702552" y="2267712"/>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4,00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9043416" y="2267712"/>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9189720" y="2267712"/>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4,00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58368" y="2761488"/>
            <a:ext cx="3483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804672" y="2761488"/>
            <a:ext cx="3227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Bastion d'administration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4178808" y="2761488"/>
            <a:ext cx="2340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4325112" y="2761488"/>
            <a:ext cx="2084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10</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556248" y="2761488"/>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6702552" y="2761488"/>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7C87A0"/>
                </a:solidFill>
                <a:effectLst/>
                <a:uLnTx/>
                <a:uFillTx/>
                <a:latin typeface="Lato" pitchFamily="34" charset="0"/>
                <a:ea typeface="Lato" pitchFamily="34" charset="-122"/>
                <a:cs typeface="Lato" pitchFamily="34" charset="-120"/>
              </a:rPr>
              <a:t>non renseignée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9043416" y="2761488"/>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9189720" y="2761488"/>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3,33</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658368" y="3255264"/>
            <a:ext cx="3483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txBox="1"/>
          <p:nvPr/>
        </p:nvSpPr>
        <p:spPr>
          <a:xfrm>
            <a:off x="804672" y="3255264"/>
            <a:ext cx="3227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Administration à distance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4178808" y="3255264"/>
            <a:ext cx="2340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4325112" y="3255264"/>
            <a:ext cx="2084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556248" y="3255264"/>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6702552" y="3255264"/>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2,67</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9043416" y="3255264"/>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9189720" y="3255264"/>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2,67</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658368" y="3749040"/>
            <a:ext cx="3483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txBox="1"/>
          <p:nvPr/>
        </p:nvSpPr>
        <p:spPr>
          <a:xfrm>
            <a:off x="804672" y="3749040"/>
            <a:ext cx="3227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Supervision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4178808" y="3749040"/>
            <a:ext cx="2340864" cy="457200"/>
          </a:xfrm>
          <a:prstGeom prst="rect">
            <a:avLst/>
          </a:prstGeom>
          <a:solidFill>
            <a:srgbClr val="162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txBox="1"/>
          <p:nvPr/>
        </p:nvSpPr>
        <p:spPr>
          <a:xfrm>
            <a:off x="4325112" y="3749040"/>
            <a:ext cx="20848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6556248" y="3749040"/>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txBox="1"/>
          <p:nvPr/>
        </p:nvSpPr>
        <p:spPr>
          <a:xfrm>
            <a:off x="6702552" y="374904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7C87A0"/>
                </a:solidFill>
                <a:effectLst/>
                <a:uLnTx/>
                <a:uFillTx/>
                <a:latin typeface="Lato" pitchFamily="34" charset="0"/>
                <a:ea typeface="Lato" pitchFamily="34" charset="-122"/>
                <a:cs typeface="Lato" pitchFamily="34" charset="-120"/>
              </a:rPr>
              <a:t>non renseignée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9043416" y="3749040"/>
            <a:ext cx="2450592" cy="457200"/>
          </a:xfrm>
          <a:prstGeom prst="rect">
            <a:avLst/>
          </a:prstGeom>
          <a:solidFill>
            <a:srgbClr val="2233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txBox="1"/>
          <p:nvPr/>
        </p:nvSpPr>
        <p:spPr>
          <a:xfrm>
            <a:off x="9189720" y="374904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2,67</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txBox="1"/>
          <p:nvPr/>
        </p:nvSpPr>
        <p:spPr>
          <a:xfrm>
            <a:off x="658368" y="4352544"/>
            <a:ext cx="10607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C5A55A"/>
                </a:solidFill>
                <a:effectLst/>
                <a:uLnTx/>
                <a:uFillTx/>
                <a:latin typeface="Lato" pitchFamily="34" charset="0"/>
                <a:ea typeface="Lato" pitchFamily="34" charset="-122"/>
                <a:cs typeface="Lato" pitchFamily="34" charset="-120"/>
              </a:rPr>
              <a:t>Sur les deux actifs dont l'activité est renseignée, la valeur métier tombe sur la valeur neutre.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6"/>
          <p:cNvSpPr txBox="1"/>
          <p:nvPr/>
        </p:nvSpPr>
        <p:spPr>
          <a:xfrm>
            <a:off x="658368" y="6096000"/>
            <a:ext cx="10607040" cy="457200"/>
          </a:xfrm>
          <a:prstGeom prst="rect">
            <a:avLst/>
          </a:prstGeom>
          <a:noFill/>
          <a:ln/>
        </p:spPr>
        <p:txBody>
          <a:bodyPr wrap="square" lIns="0" tIns="0" rIns="0" bIns="0" rtlCol="0" anchor="ct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250" b="1" i="1" u="none" strike="noStrike" kern="1200" cap="none" spc="0" normalizeH="0" baseline="0" noProof="0" dirty="0">
                <a:ln>
                  <a:noFill/>
                </a:ln>
                <a:solidFill>
                  <a:srgbClr val="FFFFFF"/>
                </a:solidFill>
                <a:effectLst/>
                <a:uLnTx/>
                <a:uFillTx/>
                <a:latin typeface="Lato" pitchFamily="34" charset="0"/>
                <a:ea typeface="Lato" pitchFamily="34" charset="-122"/>
                <a:cs typeface="Lato" pitchFamily="34" charset="-120"/>
              </a:rPr>
              <a:t>Quatre actifs : le constat porte sur l'effet mesuré, pas sur une règle générale. La cause est une cotation à reprendre.</a:t>
            </a:r>
            <a:endParaRPr kumimoji="0" lang="en-US" sz="12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B8CD125F-6F4B-46B9-927B-143F13CF884D}" type="slidenum">
              <a:rPr lang="fr-FR" sz="900" b="0">
                <a:solidFill>
                  <a:srgbClr val="AEB7C6"/>
                </a:solidFill>
                <a:latin typeface="Lato"/>
              </a:rPr>
              <a:t>42</a:t>
            </a:fld>
            <a:endParaRPr lang="fr-FR">
              <a:solidFill>
                <a:srgbClr val="AEB7C6"/>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AUDIT DE LA SECONDE BRIQUE LIVRÉE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Le même constat sur la cartographie des risques</a:t>
            </a:r>
            <a:endParaRPr lang="en-US" sz="3000" dirty="0"/>
          </a:p>
        </p:txBody>
      </p:sp>
      <p:sp>
        <p:nvSpPr>
          <p:cNvPr id="4" name="Text 2"/>
          <p:cNvSpPr txBox="1"/>
          <p:nvPr/>
        </p:nvSpPr>
        <p:spPr>
          <a:xfrm>
            <a:off x="658368" y="1225296"/>
            <a:ext cx="9509760" cy="365760"/>
          </a:xfrm>
          <a:prstGeom prst="rect">
            <a:avLst/>
          </a:prstGeom>
          <a:noFill/>
          <a:ln/>
        </p:spPr>
        <p:txBody>
          <a:bodyPr wrap="square" lIns="0" tIns="0" rIns="0" bIns="0" rtlCol="0" anchor="ctr"/>
          <a:lstStyle/>
          <a:p>
            <a:pPr marL="0" indent="0">
              <a:buNone/>
            </a:pPr>
            <a:r>
              <a:rPr lang="en-US" sz="1350" dirty="0">
                <a:solidFill>
                  <a:srgbClr val="232A3A"/>
                </a:solidFill>
                <a:latin typeface="Lato" pitchFamily="34" charset="0"/>
                <a:ea typeface="Lato" pitchFamily="34" charset="-122"/>
                <a:cs typeface="Lato" pitchFamily="34" charset="-120"/>
              </a:rPr>
              <a:t>La cartographie fait évoluer les scénarios de risque selon les vulnérabilités constatées. Ce qui manque n'est pas un développement : c'est la sensibilisation qui fait remplir ces champs.</a:t>
            </a:r>
            <a:endParaRPr lang="en-US" sz="1350" dirty="0"/>
          </a:p>
        </p:txBody>
      </p:sp>
      <p:sp>
        <p:nvSpPr>
          <p:cNvPr id="5" name="Shape 3"/>
          <p:cNvSpPr/>
          <p:nvPr/>
        </p:nvSpPr>
        <p:spPr>
          <a:xfrm>
            <a:off x="658368" y="1773936"/>
            <a:ext cx="3401568" cy="91440"/>
          </a:xfrm>
          <a:prstGeom prst="rect">
            <a:avLst/>
          </a:prstGeom>
          <a:solidFill>
            <a:srgbClr val="E6EAF1"/>
          </a:solidFill>
          <a:ln/>
        </p:spPr>
        <p:txBody>
          <a:bodyPr/>
          <a:lstStyle/>
          <a:p>
            <a:endParaRPr lang="fr-FR"/>
          </a:p>
        </p:txBody>
      </p:sp>
      <p:sp>
        <p:nvSpPr>
          <p:cNvPr id="6" name="Shape 4"/>
          <p:cNvSpPr/>
          <p:nvPr/>
        </p:nvSpPr>
        <p:spPr>
          <a:xfrm>
            <a:off x="658368" y="1773936"/>
            <a:ext cx="566928" cy="91440"/>
          </a:xfrm>
          <a:prstGeom prst="rect">
            <a:avLst/>
          </a:prstGeom>
          <a:solidFill>
            <a:srgbClr val="C5A55A"/>
          </a:solidFill>
          <a:ln/>
        </p:spPr>
        <p:txBody>
          <a:bodyPr/>
          <a:lstStyle/>
          <a:p>
            <a:endParaRPr lang="fr-FR"/>
          </a:p>
        </p:txBody>
      </p:sp>
      <p:sp>
        <p:nvSpPr>
          <p:cNvPr id="7" name="Text 5"/>
          <p:cNvSpPr txBox="1"/>
          <p:nvPr/>
        </p:nvSpPr>
        <p:spPr>
          <a:xfrm>
            <a:off x="658368" y="1975104"/>
            <a:ext cx="3401568" cy="786384"/>
          </a:xfrm>
          <a:prstGeom prst="rect">
            <a:avLst/>
          </a:prstGeom>
          <a:noFill/>
          <a:ln/>
        </p:spPr>
        <p:txBody>
          <a:bodyPr wrap="square" lIns="0" tIns="0" rIns="0" bIns="0" rtlCol="0" anchor="ctr"/>
          <a:lstStyle/>
          <a:p>
            <a:pPr marL="0" indent="0">
              <a:buNone/>
            </a:pPr>
            <a:r>
              <a:rPr lang="en-US" sz="5200" b="1" dirty="0">
                <a:solidFill>
                  <a:srgbClr val="1B2A4A"/>
                </a:solidFill>
                <a:latin typeface="Lato" pitchFamily="34" charset="0"/>
                <a:ea typeface="Lato" pitchFamily="34" charset="-122"/>
                <a:cs typeface="Lato" pitchFamily="34" charset="-120"/>
              </a:rPr>
              <a:t>1</a:t>
            </a:r>
            <a:r>
              <a:rPr lang="en-US" sz="2000" b="1" dirty="0">
                <a:solidFill>
                  <a:srgbClr val="4A5568"/>
                </a:solidFill>
                <a:latin typeface="Lato" pitchFamily="34" charset="0"/>
                <a:ea typeface="Lato" pitchFamily="34" charset="-122"/>
                <a:cs typeface="Lato" pitchFamily="34" charset="-120"/>
              </a:rPr>
              <a:t>  sur  6</a:t>
            </a:r>
            <a:endParaRPr lang="en-US" sz="5200" dirty="0"/>
          </a:p>
        </p:txBody>
      </p:sp>
      <p:sp>
        <p:nvSpPr>
          <p:cNvPr id="8" name="Text 6"/>
          <p:cNvSpPr txBox="1"/>
          <p:nvPr/>
        </p:nvSpPr>
        <p:spPr>
          <a:xfrm>
            <a:off x="658368" y="2834640"/>
            <a:ext cx="3310128" cy="786384"/>
          </a:xfrm>
          <a:prstGeom prst="rect">
            <a:avLst/>
          </a:prstGeom>
          <a:noFill/>
          <a:ln/>
        </p:spPr>
        <p:txBody>
          <a:bodyPr wrap="square" lIns="0" tIns="0" rIns="0" bIns="0" rtlCol="0" anchor="ctr"/>
          <a:lstStyle/>
          <a:p>
            <a:pPr marL="0" indent="0">
              <a:lnSpc>
                <a:spcPct val="114000"/>
              </a:lnSpc>
              <a:buNone/>
            </a:pPr>
            <a:r>
              <a:rPr lang="en-US" sz="1300" b="1" dirty="0">
                <a:solidFill>
                  <a:srgbClr val="1B2A4A"/>
                </a:solidFill>
                <a:latin typeface="Lato" pitchFamily="34" charset="0"/>
                <a:ea typeface="Lato" pitchFamily="34" charset="-122"/>
                <a:cs typeface="Lato" pitchFamily="34" charset="-120"/>
              </a:rPr>
              <a:t>scénarios de risque rattachés à des actifs supports que le démonstrateur sait noter</a:t>
            </a:r>
            <a:endParaRPr lang="en-US" sz="1300" dirty="0"/>
          </a:p>
        </p:txBody>
      </p:sp>
      <p:sp>
        <p:nvSpPr>
          <p:cNvPr id="10" name="Shape 8"/>
          <p:cNvSpPr/>
          <p:nvPr/>
        </p:nvSpPr>
        <p:spPr>
          <a:xfrm>
            <a:off x="4361688" y="1773936"/>
            <a:ext cx="3401568" cy="91440"/>
          </a:xfrm>
          <a:prstGeom prst="rect">
            <a:avLst/>
          </a:prstGeom>
          <a:solidFill>
            <a:srgbClr val="E6EAF1"/>
          </a:solidFill>
          <a:ln/>
        </p:spPr>
        <p:txBody>
          <a:bodyPr/>
          <a:lstStyle/>
          <a:p>
            <a:endParaRPr lang="fr-FR"/>
          </a:p>
        </p:txBody>
      </p:sp>
      <p:sp>
        <p:nvSpPr>
          <p:cNvPr id="11" name="Text 9"/>
          <p:cNvSpPr txBox="1"/>
          <p:nvPr/>
        </p:nvSpPr>
        <p:spPr>
          <a:xfrm>
            <a:off x="4361688" y="1975104"/>
            <a:ext cx="3401568" cy="786384"/>
          </a:xfrm>
          <a:prstGeom prst="rect">
            <a:avLst/>
          </a:prstGeom>
          <a:noFill/>
          <a:ln/>
        </p:spPr>
        <p:txBody>
          <a:bodyPr wrap="square" lIns="0" tIns="0" rIns="0" bIns="0" rtlCol="0" anchor="ctr"/>
          <a:lstStyle/>
          <a:p>
            <a:pPr marL="0" indent="0">
              <a:buNone/>
            </a:pPr>
            <a:r>
              <a:rPr lang="en-US" sz="5200" b="1" dirty="0">
                <a:solidFill>
                  <a:srgbClr val="1B2A4A"/>
                </a:solidFill>
                <a:latin typeface="Lato" pitchFamily="34" charset="0"/>
                <a:ea typeface="Lato" pitchFamily="34" charset="-122"/>
                <a:cs typeface="Lato" pitchFamily="34" charset="-120"/>
              </a:rPr>
              <a:t>0</a:t>
            </a:r>
            <a:r>
              <a:rPr lang="en-US" sz="2000" b="1" dirty="0">
                <a:solidFill>
                  <a:srgbClr val="4A5568"/>
                </a:solidFill>
                <a:latin typeface="Lato" pitchFamily="34" charset="0"/>
                <a:ea typeface="Lato" pitchFamily="34" charset="-122"/>
                <a:cs typeface="Lato" pitchFamily="34" charset="-120"/>
              </a:rPr>
              <a:t>  sur  2</a:t>
            </a:r>
            <a:endParaRPr lang="en-US" sz="5200" dirty="0"/>
          </a:p>
        </p:txBody>
      </p:sp>
      <p:sp>
        <p:nvSpPr>
          <p:cNvPr id="12" name="Text 10"/>
          <p:cNvSpPr txBox="1"/>
          <p:nvPr/>
        </p:nvSpPr>
        <p:spPr>
          <a:xfrm>
            <a:off x="4361688" y="2834640"/>
            <a:ext cx="3310128" cy="786384"/>
          </a:xfrm>
          <a:prstGeom prst="rect">
            <a:avLst/>
          </a:prstGeom>
          <a:noFill/>
          <a:ln/>
        </p:spPr>
        <p:txBody>
          <a:bodyPr wrap="square" lIns="0" tIns="0" rIns="0" bIns="0" rtlCol="0" anchor="ctr"/>
          <a:lstStyle/>
          <a:p>
            <a:pPr marL="0" indent="0">
              <a:lnSpc>
                <a:spcPct val="114000"/>
              </a:lnSpc>
              <a:buNone/>
            </a:pPr>
            <a:r>
              <a:rPr lang="en-US" sz="1300" b="1" dirty="0">
                <a:solidFill>
                  <a:srgbClr val="1B2A4A"/>
                </a:solidFill>
                <a:latin typeface="Lato" pitchFamily="34" charset="0"/>
                <a:ea typeface="Lato" pitchFamily="34" charset="-122"/>
                <a:cs typeface="Lato" pitchFamily="34" charset="-120"/>
              </a:rPr>
              <a:t>scénarios opérationnels disposent d'une vraisemblance évaluée</a:t>
            </a:r>
            <a:endParaRPr lang="en-US" sz="1300" dirty="0"/>
          </a:p>
        </p:txBody>
      </p:sp>
      <p:sp>
        <p:nvSpPr>
          <p:cNvPr id="14" name="Shape 12"/>
          <p:cNvSpPr/>
          <p:nvPr/>
        </p:nvSpPr>
        <p:spPr>
          <a:xfrm>
            <a:off x="8065008" y="1773936"/>
            <a:ext cx="3401568" cy="91440"/>
          </a:xfrm>
          <a:prstGeom prst="rect">
            <a:avLst/>
          </a:prstGeom>
          <a:solidFill>
            <a:srgbClr val="E6EAF1"/>
          </a:solidFill>
          <a:ln/>
        </p:spPr>
        <p:txBody>
          <a:bodyPr/>
          <a:lstStyle/>
          <a:p>
            <a:endParaRPr lang="fr-FR"/>
          </a:p>
        </p:txBody>
      </p:sp>
      <p:sp>
        <p:nvSpPr>
          <p:cNvPr id="15" name="Shape 13"/>
          <p:cNvSpPr/>
          <p:nvPr/>
        </p:nvSpPr>
        <p:spPr>
          <a:xfrm>
            <a:off x="8065008" y="1773936"/>
            <a:ext cx="3401568" cy="91440"/>
          </a:xfrm>
          <a:prstGeom prst="rect">
            <a:avLst/>
          </a:prstGeom>
          <a:solidFill>
            <a:srgbClr val="C5A55A"/>
          </a:solidFill>
          <a:ln/>
        </p:spPr>
        <p:txBody>
          <a:bodyPr/>
          <a:lstStyle/>
          <a:p>
            <a:endParaRPr lang="fr-FR"/>
          </a:p>
        </p:txBody>
      </p:sp>
      <p:sp>
        <p:nvSpPr>
          <p:cNvPr id="16" name="Text 14"/>
          <p:cNvSpPr txBox="1"/>
          <p:nvPr/>
        </p:nvSpPr>
        <p:spPr>
          <a:xfrm>
            <a:off x="8065008" y="1975104"/>
            <a:ext cx="3401568" cy="786384"/>
          </a:xfrm>
          <a:prstGeom prst="rect">
            <a:avLst/>
          </a:prstGeom>
          <a:noFill/>
          <a:ln/>
        </p:spPr>
        <p:txBody>
          <a:bodyPr wrap="square" lIns="0" tIns="0" rIns="0" bIns="0" rtlCol="0" anchor="ctr"/>
          <a:lstStyle/>
          <a:p>
            <a:pPr marL="0" indent="0">
              <a:buNone/>
            </a:pPr>
            <a:r>
              <a:rPr lang="en-US" sz="5200" b="1" dirty="0">
                <a:solidFill>
                  <a:srgbClr val="1B2A4A"/>
                </a:solidFill>
                <a:latin typeface="Lato" pitchFamily="34" charset="0"/>
                <a:ea typeface="Lato" pitchFamily="34" charset="-122"/>
                <a:cs typeface="Lato" pitchFamily="34" charset="-120"/>
              </a:rPr>
              <a:t>8</a:t>
            </a:r>
            <a:r>
              <a:rPr lang="en-US" sz="2000" b="1" dirty="0">
                <a:solidFill>
                  <a:srgbClr val="4A5568"/>
                </a:solidFill>
                <a:latin typeface="Lato" pitchFamily="34" charset="0"/>
                <a:ea typeface="Lato" pitchFamily="34" charset="-122"/>
                <a:cs typeface="Lato" pitchFamily="34" charset="-120"/>
              </a:rPr>
              <a:t>  sur  8</a:t>
            </a:r>
            <a:endParaRPr lang="en-US" sz="5200" dirty="0"/>
          </a:p>
        </p:txBody>
      </p:sp>
      <p:sp>
        <p:nvSpPr>
          <p:cNvPr id="17" name="Text 15"/>
          <p:cNvSpPr txBox="1"/>
          <p:nvPr/>
        </p:nvSpPr>
        <p:spPr>
          <a:xfrm>
            <a:off x="8065008" y="2834640"/>
            <a:ext cx="3310128" cy="786384"/>
          </a:xfrm>
          <a:prstGeom prst="rect">
            <a:avLst/>
          </a:prstGeom>
          <a:noFill/>
          <a:ln/>
        </p:spPr>
        <p:txBody>
          <a:bodyPr wrap="square" lIns="0" tIns="0" rIns="0" bIns="0" rtlCol="0" anchor="ctr"/>
          <a:lstStyle/>
          <a:p>
            <a:pPr marL="0" indent="0">
              <a:lnSpc>
                <a:spcPct val="114000"/>
              </a:lnSpc>
              <a:buNone/>
            </a:pPr>
            <a:r>
              <a:rPr lang="en-US" sz="1300" b="1" dirty="0">
                <a:solidFill>
                  <a:srgbClr val="1B2A4A"/>
                </a:solidFill>
                <a:latin typeface="Lato" pitchFamily="34" charset="0"/>
                <a:ea typeface="Lato" pitchFamily="34" charset="-122"/>
                <a:cs typeface="Lato" pitchFamily="34" charset="-120"/>
              </a:rPr>
              <a:t>mesures de sécurité déclarées comme prévues, aucune comme effective</a:t>
            </a:r>
            <a:endParaRPr lang="en-US" sz="13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ACBD6209-9418-4160-8C0C-D023C5D07B0A}" type="slidenum">
              <a:rPr lang="fr-FR" sz="900" b="0">
                <a:solidFill>
                  <a:srgbClr val="4A5568"/>
                </a:solidFill>
                <a:latin typeface="Lato"/>
              </a:rPr>
              <a:t>43</a:t>
            </a:fld>
            <a:endParaRPr lang="fr-FR">
              <a:solidFill>
                <a:srgbClr val="4A5568"/>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DEUX LECTURES DÉFENDABLES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Calibrage des seuils de criticité</a:t>
            </a:r>
            <a:endParaRPr lang="en-US" sz="3000" dirty="0"/>
          </a:p>
        </p:txBody>
      </p:sp>
      <p:sp>
        <p:nvSpPr>
          <p:cNvPr id="4" name="Text 2"/>
          <p:cNvSpPr txBox="1"/>
          <p:nvPr/>
        </p:nvSpPr>
        <p:spPr>
          <a:xfrm>
            <a:off x="658368" y="1243584"/>
            <a:ext cx="5029200" cy="237744"/>
          </a:xfrm>
          <a:prstGeom prst="rect">
            <a:avLst/>
          </a:prstGeom>
          <a:noFill/>
          <a:ln/>
        </p:spPr>
        <p:txBody>
          <a:bodyPr wrap="square" lIns="0" tIns="0" rIns="0" bIns="0" rtlCol="0" anchor="ctr"/>
          <a:lstStyle/>
          <a:p>
            <a:pPr marL="0" indent="0">
              <a:buNone/>
            </a:pPr>
            <a:r>
              <a:rPr lang="en-US" sz="1000" b="1" kern="0" spc="150" dirty="0">
                <a:solidFill>
                  <a:srgbClr val="4A5568"/>
                </a:solidFill>
                <a:latin typeface="Lato" pitchFamily="34" charset="0"/>
                <a:ea typeface="Lato" pitchFamily="34" charset="-122"/>
                <a:cs typeface="Lato" pitchFamily="34" charset="-120"/>
              </a:rPr>
              <a:t>DISTRIBUTION DES NOTATIONS OBTENUES</a:t>
            </a:r>
            <a:endParaRPr lang="en-US" sz="1000" dirty="0"/>
          </a:p>
        </p:txBody>
      </p:sp>
      <p:sp>
        <p:nvSpPr>
          <p:cNvPr id="5" name="Shape 3"/>
          <p:cNvSpPr/>
          <p:nvPr/>
        </p:nvSpPr>
        <p:spPr>
          <a:xfrm>
            <a:off x="685800" y="2290755"/>
            <a:ext cx="721919" cy="141549"/>
          </a:xfrm>
          <a:prstGeom prst="rect">
            <a:avLst/>
          </a:prstGeom>
          <a:solidFill>
            <a:srgbClr val="E6EAF1"/>
          </a:solidFill>
          <a:ln/>
        </p:spPr>
        <p:txBody>
          <a:bodyPr/>
          <a:lstStyle/>
          <a:p>
            <a:endParaRPr lang="fr-FR"/>
          </a:p>
        </p:txBody>
      </p:sp>
      <p:sp>
        <p:nvSpPr>
          <p:cNvPr id="6" name="Shape 4"/>
          <p:cNvSpPr/>
          <p:nvPr/>
        </p:nvSpPr>
        <p:spPr>
          <a:xfrm>
            <a:off x="1462583" y="2164933"/>
            <a:ext cx="721919" cy="267371"/>
          </a:xfrm>
          <a:prstGeom prst="rect">
            <a:avLst/>
          </a:prstGeom>
          <a:solidFill>
            <a:srgbClr val="E6EAF1"/>
          </a:solidFill>
          <a:ln/>
        </p:spPr>
        <p:txBody>
          <a:bodyPr/>
          <a:lstStyle/>
          <a:p>
            <a:endParaRPr lang="fr-FR"/>
          </a:p>
        </p:txBody>
      </p:sp>
      <p:sp>
        <p:nvSpPr>
          <p:cNvPr id="7" name="Shape 5"/>
          <p:cNvSpPr/>
          <p:nvPr/>
        </p:nvSpPr>
        <p:spPr>
          <a:xfrm>
            <a:off x="2239366" y="1999793"/>
            <a:ext cx="721919" cy="432511"/>
          </a:xfrm>
          <a:prstGeom prst="rect">
            <a:avLst/>
          </a:prstGeom>
          <a:solidFill>
            <a:srgbClr val="E6EAF1"/>
          </a:solidFill>
          <a:ln/>
        </p:spPr>
        <p:txBody>
          <a:bodyPr/>
          <a:lstStyle/>
          <a:p>
            <a:endParaRPr lang="fr-FR"/>
          </a:p>
        </p:txBody>
      </p:sp>
      <p:sp>
        <p:nvSpPr>
          <p:cNvPr id="8" name="Shape 6"/>
          <p:cNvSpPr/>
          <p:nvPr/>
        </p:nvSpPr>
        <p:spPr>
          <a:xfrm>
            <a:off x="3016148" y="1818924"/>
            <a:ext cx="721919" cy="613380"/>
          </a:xfrm>
          <a:prstGeom prst="rect">
            <a:avLst/>
          </a:prstGeom>
          <a:solidFill>
            <a:srgbClr val="E6EAF1"/>
          </a:solidFill>
          <a:ln/>
        </p:spPr>
        <p:txBody>
          <a:bodyPr/>
          <a:lstStyle/>
          <a:p>
            <a:endParaRPr lang="fr-FR"/>
          </a:p>
        </p:txBody>
      </p:sp>
      <p:sp>
        <p:nvSpPr>
          <p:cNvPr id="9" name="Shape 7"/>
          <p:cNvSpPr/>
          <p:nvPr/>
        </p:nvSpPr>
        <p:spPr>
          <a:xfrm>
            <a:off x="3792931" y="1685239"/>
            <a:ext cx="721919" cy="747065"/>
          </a:xfrm>
          <a:prstGeom prst="rect">
            <a:avLst/>
          </a:prstGeom>
          <a:solidFill>
            <a:srgbClr val="E6EAF1"/>
          </a:solidFill>
          <a:ln/>
        </p:spPr>
        <p:txBody>
          <a:bodyPr/>
          <a:lstStyle/>
          <a:p>
            <a:endParaRPr lang="fr-FR"/>
          </a:p>
        </p:txBody>
      </p:sp>
      <p:sp>
        <p:nvSpPr>
          <p:cNvPr id="10" name="Shape 8"/>
          <p:cNvSpPr/>
          <p:nvPr/>
        </p:nvSpPr>
        <p:spPr>
          <a:xfrm>
            <a:off x="4569714" y="1645920"/>
            <a:ext cx="721919" cy="786384"/>
          </a:xfrm>
          <a:prstGeom prst="rect">
            <a:avLst/>
          </a:prstGeom>
          <a:solidFill>
            <a:srgbClr val="E6EAF1"/>
          </a:solidFill>
          <a:ln/>
        </p:spPr>
        <p:txBody>
          <a:bodyPr/>
          <a:lstStyle/>
          <a:p>
            <a:endParaRPr lang="fr-FR"/>
          </a:p>
        </p:txBody>
      </p:sp>
      <p:sp>
        <p:nvSpPr>
          <p:cNvPr id="11" name="Shape 9"/>
          <p:cNvSpPr/>
          <p:nvPr/>
        </p:nvSpPr>
        <p:spPr>
          <a:xfrm>
            <a:off x="5346497" y="1740286"/>
            <a:ext cx="721919" cy="692018"/>
          </a:xfrm>
          <a:prstGeom prst="rect">
            <a:avLst/>
          </a:prstGeom>
          <a:solidFill>
            <a:srgbClr val="1B2A4A"/>
          </a:solidFill>
          <a:ln/>
        </p:spPr>
        <p:txBody>
          <a:bodyPr/>
          <a:lstStyle/>
          <a:p>
            <a:endParaRPr lang="fr-FR"/>
          </a:p>
        </p:txBody>
      </p:sp>
      <p:sp>
        <p:nvSpPr>
          <p:cNvPr id="12" name="Shape 10"/>
          <p:cNvSpPr/>
          <p:nvPr/>
        </p:nvSpPr>
        <p:spPr>
          <a:xfrm>
            <a:off x="6123280" y="1913291"/>
            <a:ext cx="721919" cy="519013"/>
          </a:xfrm>
          <a:prstGeom prst="rect">
            <a:avLst/>
          </a:prstGeom>
          <a:solidFill>
            <a:srgbClr val="1B2A4A"/>
          </a:solidFill>
          <a:ln/>
        </p:spPr>
        <p:txBody>
          <a:bodyPr/>
          <a:lstStyle/>
          <a:p>
            <a:endParaRPr lang="fr-FR"/>
          </a:p>
        </p:txBody>
      </p:sp>
      <p:sp>
        <p:nvSpPr>
          <p:cNvPr id="13" name="Shape 11"/>
          <p:cNvSpPr/>
          <p:nvPr/>
        </p:nvSpPr>
        <p:spPr>
          <a:xfrm>
            <a:off x="6900062" y="2086295"/>
            <a:ext cx="721919" cy="346009"/>
          </a:xfrm>
          <a:prstGeom prst="rect">
            <a:avLst/>
          </a:prstGeom>
          <a:solidFill>
            <a:srgbClr val="1B2A4A"/>
          </a:solidFill>
          <a:ln/>
        </p:spPr>
        <p:txBody>
          <a:bodyPr/>
          <a:lstStyle/>
          <a:p>
            <a:endParaRPr lang="fr-FR"/>
          </a:p>
        </p:txBody>
      </p:sp>
      <p:sp>
        <p:nvSpPr>
          <p:cNvPr id="14" name="Shape 12"/>
          <p:cNvSpPr/>
          <p:nvPr/>
        </p:nvSpPr>
        <p:spPr>
          <a:xfrm>
            <a:off x="7676845" y="2212116"/>
            <a:ext cx="721919" cy="220188"/>
          </a:xfrm>
          <a:prstGeom prst="rect">
            <a:avLst/>
          </a:prstGeom>
          <a:solidFill>
            <a:srgbClr val="1B2A4A"/>
          </a:solidFill>
          <a:ln/>
        </p:spPr>
        <p:txBody>
          <a:bodyPr/>
          <a:lstStyle/>
          <a:p>
            <a:endParaRPr lang="fr-FR"/>
          </a:p>
        </p:txBody>
      </p:sp>
      <p:sp>
        <p:nvSpPr>
          <p:cNvPr id="15" name="Shape 13"/>
          <p:cNvSpPr/>
          <p:nvPr/>
        </p:nvSpPr>
        <p:spPr>
          <a:xfrm>
            <a:off x="8453628" y="2298619"/>
            <a:ext cx="721919" cy="133685"/>
          </a:xfrm>
          <a:prstGeom prst="rect">
            <a:avLst/>
          </a:prstGeom>
          <a:solidFill>
            <a:srgbClr val="1B2A4A"/>
          </a:solidFill>
          <a:ln/>
        </p:spPr>
        <p:txBody>
          <a:bodyPr/>
          <a:lstStyle/>
          <a:p>
            <a:endParaRPr lang="fr-FR"/>
          </a:p>
        </p:txBody>
      </p:sp>
      <p:sp>
        <p:nvSpPr>
          <p:cNvPr id="16" name="Shape 14"/>
          <p:cNvSpPr/>
          <p:nvPr/>
        </p:nvSpPr>
        <p:spPr>
          <a:xfrm>
            <a:off x="9230411" y="2353666"/>
            <a:ext cx="721919" cy="78638"/>
          </a:xfrm>
          <a:prstGeom prst="rect">
            <a:avLst/>
          </a:prstGeom>
          <a:solidFill>
            <a:srgbClr val="1B2A4A"/>
          </a:solidFill>
          <a:ln/>
        </p:spPr>
        <p:txBody>
          <a:bodyPr/>
          <a:lstStyle/>
          <a:p>
            <a:endParaRPr lang="fr-FR"/>
          </a:p>
        </p:txBody>
      </p:sp>
      <p:sp>
        <p:nvSpPr>
          <p:cNvPr id="17" name="Shape 15"/>
          <p:cNvSpPr/>
          <p:nvPr/>
        </p:nvSpPr>
        <p:spPr>
          <a:xfrm>
            <a:off x="10007194" y="2385121"/>
            <a:ext cx="721919" cy="47183"/>
          </a:xfrm>
          <a:prstGeom prst="rect">
            <a:avLst/>
          </a:prstGeom>
          <a:solidFill>
            <a:srgbClr val="1B2A4A"/>
          </a:solidFill>
          <a:ln/>
        </p:spPr>
        <p:txBody>
          <a:bodyPr/>
          <a:lstStyle/>
          <a:p>
            <a:endParaRPr lang="fr-FR"/>
          </a:p>
        </p:txBody>
      </p:sp>
      <p:sp>
        <p:nvSpPr>
          <p:cNvPr id="18" name="Shape 16"/>
          <p:cNvSpPr/>
          <p:nvPr/>
        </p:nvSpPr>
        <p:spPr>
          <a:xfrm>
            <a:off x="10783976" y="2408712"/>
            <a:ext cx="721919" cy="23592"/>
          </a:xfrm>
          <a:prstGeom prst="rect">
            <a:avLst/>
          </a:prstGeom>
          <a:solidFill>
            <a:srgbClr val="1B2A4A"/>
          </a:solidFill>
          <a:ln/>
        </p:spPr>
        <p:txBody>
          <a:bodyPr/>
          <a:lstStyle/>
          <a:p>
            <a:endParaRPr lang="fr-FR"/>
          </a:p>
        </p:txBody>
      </p:sp>
      <p:sp>
        <p:nvSpPr>
          <p:cNvPr id="19" name="Shape 17"/>
          <p:cNvSpPr/>
          <p:nvPr/>
        </p:nvSpPr>
        <p:spPr>
          <a:xfrm>
            <a:off x="5312851" y="1517904"/>
            <a:ext cx="21946" cy="1005840"/>
          </a:xfrm>
          <a:prstGeom prst="rect">
            <a:avLst/>
          </a:prstGeom>
          <a:solidFill>
            <a:srgbClr val="C5A55A"/>
          </a:solidFill>
          <a:ln/>
        </p:spPr>
        <p:txBody>
          <a:bodyPr/>
          <a:lstStyle/>
          <a:p>
            <a:endParaRPr lang="fr-FR"/>
          </a:p>
        </p:txBody>
      </p:sp>
      <p:sp>
        <p:nvSpPr>
          <p:cNvPr id="20" name="Text 18"/>
          <p:cNvSpPr txBox="1"/>
          <p:nvPr/>
        </p:nvSpPr>
        <p:spPr>
          <a:xfrm>
            <a:off x="5422579" y="1463040"/>
            <a:ext cx="4206240" cy="274320"/>
          </a:xfrm>
          <a:prstGeom prst="rect">
            <a:avLst/>
          </a:prstGeom>
          <a:noFill/>
          <a:ln/>
        </p:spPr>
        <p:txBody>
          <a:bodyPr wrap="square" lIns="0" tIns="0" rIns="0" bIns="0" rtlCol="0" anchor="ctr"/>
          <a:lstStyle/>
          <a:p>
            <a:pPr marL="0" indent="0">
              <a:buNone/>
            </a:pPr>
            <a:r>
              <a:rPr lang="en-US" sz="1200" b="1" dirty="0">
                <a:solidFill>
                  <a:srgbClr val="C5A55A"/>
                </a:solidFill>
                <a:latin typeface="Lato" pitchFamily="34" charset="0"/>
                <a:ea typeface="Lato" pitchFamily="34" charset="-122"/>
                <a:cs typeface="Lato" pitchFamily="34" charset="-120"/>
              </a:rPr>
              <a:t>médiane 55  ·  seuil « critique » 60</a:t>
            </a:r>
            <a:endParaRPr lang="en-US" sz="1200" dirty="0"/>
          </a:p>
        </p:txBody>
      </p:sp>
      <p:sp>
        <p:nvSpPr>
          <p:cNvPr id="22" name="Shape 20"/>
          <p:cNvSpPr/>
          <p:nvPr/>
        </p:nvSpPr>
        <p:spPr>
          <a:xfrm>
            <a:off x="658368" y="3401568"/>
            <a:ext cx="5230368" cy="2048256"/>
          </a:xfrm>
          <a:prstGeom prst="rect">
            <a:avLst/>
          </a:prstGeom>
          <a:solidFill>
            <a:srgbClr val="1B2A4A"/>
          </a:solidFill>
          <a:ln/>
        </p:spPr>
        <p:txBody>
          <a:bodyPr/>
          <a:lstStyle/>
          <a:p>
            <a:endParaRPr lang="fr-FR"/>
          </a:p>
        </p:txBody>
      </p:sp>
      <p:sp>
        <p:nvSpPr>
          <p:cNvPr id="23" name="Text 21"/>
          <p:cNvSpPr txBox="1"/>
          <p:nvPr/>
        </p:nvSpPr>
        <p:spPr>
          <a:xfrm>
            <a:off x="932688" y="3566160"/>
            <a:ext cx="4663440" cy="310896"/>
          </a:xfrm>
          <a:prstGeom prst="rect">
            <a:avLst/>
          </a:prstGeom>
          <a:noFill/>
          <a:ln/>
        </p:spPr>
        <p:txBody>
          <a:bodyPr wrap="square" lIns="0" tIns="0" rIns="0" bIns="0" rtlCol="0" anchor="ctr"/>
          <a:lstStyle/>
          <a:p>
            <a:pPr marL="0" indent="0">
              <a:buNone/>
            </a:pPr>
            <a:r>
              <a:rPr lang="en-US" sz="1550" b="1" dirty="0">
                <a:solidFill>
                  <a:srgbClr val="C5A55A"/>
                </a:solidFill>
                <a:latin typeface="Lato" pitchFamily="34" charset="0"/>
                <a:ea typeface="Lato" pitchFamily="34" charset="-122"/>
                <a:cs typeface="Lato" pitchFamily="34" charset="-120"/>
              </a:rPr>
              <a:t>Seuils absolus</a:t>
            </a:r>
            <a:endParaRPr lang="en-US" sz="1550" dirty="0"/>
          </a:p>
        </p:txBody>
      </p:sp>
      <p:sp>
        <p:nvSpPr>
          <p:cNvPr id="24" name="Text 22"/>
          <p:cNvSpPr txBox="1"/>
          <p:nvPr/>
        </p:nvSpPr>
        <p:spPr>
          <a:xfrm>
            <a:off x="932688" y="3931920"/>
            <a:ext cx="4663440" cy="530352"/>
          </a:xfrm>
          <a:prstGeom prst="rect">
            <a:avLst/>
          </a:prstGeom>
          <a:noFill/>
          <a:ln/>
        </p:spPr>
        <p:txBody>
          <a:bodyPr wrap="square" lIns="0" tIns="0" rIns="0" bIns="0" rtlCol="0" anchor="ctr"/>
          <a:lstStyle/>
          <a:p>
            <a:pPr marL="0" indent="0">
              <a:buNone/>
            </a:pPr>
            <a:r>
              <a:rPr lang="en-US" sz="3400" b="1" dirty="0">
                <a:solidFill>
                  <a:srgbClr val="FFFFFF"/>
                </a:solidFill>
                <a:latin typeface="Lato" pitchFamily="34" charset="0"/>
                <a:ea typeface="Lato" pitchFamily="34" charset="-122"/>
                <a:cs typeface="Lato" pitchFamily="34" charset="-120"/>
              </a:rPr>
              <a:t>5 254</a:t>
            </a:r>
            <a:r>
              <a:rPr lang="en-US" sz="1200" dirty="0">
                <a:solidFill>
                  <a:srgbClr val="AEB7C6"/>
                </a:solidFill>
                <a:latin typeface="Lato" pitchFamily="34" charset="0"/>
                <a:ea typeface="Lato" pitchFamily="34" charset="-122"/>
                <a:cs typeface="Lato" pitchFamily="34" charset="-120"/>
              </a:rPr>
              <a:t>   lignes critiques, soit 46 %</a:t>
            </a:r>
            <a:endParaRPr lang="en-US" sz="3400" dirty="0"/>
          </a:p>
        </p:txBody>
      </p:sp>
      <p:sp>
        <p:nvSpPr>
          <p:cNvPr id="25" name="Text 23"/>
          <p:cNvSpPr txBox="1"/>
          <p:nvPr/>
        </p:nvSpPr>
        <p:spPr>
          <a:xfrm>
            <a:off x="93268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D5DAE4"/>
                </a:solidFill>
                <a:latin typeface="Lato" pitchFamily="34" charset="0"/>
                <a:ea typeface="Lato" pitchFamily="34" charset="-122"/>
                <a:cs typeface="Lato" pitchFamily="34" charset="-120"/>
              </a:rPr>
              <a:t>Une notation exprime une gravité en soi. Deux périmètres et deux dates restent comparables. Seuils du POC, que la recette avait choisi de ne pas figer.</a:t>
            </a:r>
            <a:endParaRPr lang="en-US" sz="1200" dirty="0"/>
          </a:p>
        </p:txBody>
      </p:sp>
      <p:sp>
        <p:nvSpPr>
          <p:cNvPr id="26" name="Shape 24"/>
          <p:cNvSpPr/>
          <p:nvPr/>
        </p:nvSpPr>
        <p:spPr>
          <a:xfrm>
            <a:off x="6190488" y="3401568"/>
            <a:ext cx="5230368" cy="2048256"/>
          </a:xfrm>
          <a:prstGeom prst="rect">
            <a:avLst/>
          </a:prstGeom>
          <a:solidFill>
            <a:srgbClr val="F2F4F8"/>
          </a:solidFill>
          <a:ln/>
        </p:spPr>
        <p:txBody>
          <a:bodyPr/>
          <a:lstStyle/>
          <a:p>
            <a:endParaRPr lang="fr-FR"/>
          </a:p>
        </p:txBody>
      </p:sp>
      <p:sp>
        <p:nvSpPr>
          <p:cNvPr id="27" name="Text 25"/>
          <p:cNvSpPr txBox="1"/>
          <p:nvPr/>
        </p:nvSpPr>
        <p:spPr>
          <a:xfrm>
            <a:off x="6464808" y="3566160"/>
            <a:ext cx="4663440" cy="310896"/>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Seuils relatifs au parc</a:t>
            </a:r>
            <a:endParaRPr lang="en-US" sz="1550" dirty="0"/>
          </a:p>
        </p:txBody>
      </p:sp>
      <p:sp>
        <p:nvSpPr>
          <p:cNvPr id="28" name="Text 26"/>
          <p:cNvSpPr txBox="1"/>
          <p:nvPr/>
        </p:nvSpPr>
        <p:spPr>
          <a:xfrm>
            <a:off x="6464808" y="3931920"/>
            <a:ext cx="4663440" cy="530352"/>
          </a:xfrm>
          <a:prstGeom prst="rect">
            <a:avLst/>
          </a:prstGeom>
          <a:noFill/>
          <a:ln/>
        </p:spPr>
        <p:txBody>
          <a:bodyPr wrap="square" lIns="0" tIns="0" rIns="0" bIns="0" rtlCol="0" anchor="ctr"/>
          <a:lstStyle/>
          <a:p>
            <a:pPr marL="0" indent="0">
              <a:buNone/>
            </a:pPr>
            <a:r>
              <a:rPr lang="en-US" sz="3400" b="1" dirty="0">
                <a:solidFill>
                  <a:srgbClr val="1B2A4A"/>
                </a:solidFill>
                <a:latin typeface="Lato" pitchFamily="34" charset="0"/>
                <a:ea typeface="Lato" pitchFamily="34" charset="-122"/>
                <a:cs typeface="Lato" pitchFamily="34" charset="-120"/>
              </a:rPr>
              <a:t>709</a:t>
            </a:r>
            <a:r>
              <a:rPr lang="en-US" sz="1200" dirty="0">
                <a:solidFill>
                  <a:srgbClr val="4A5568"/>
                </a:solidFill>
                <a:latin typeface="Lato" pitchFamily="34" charset="0"/>
                <a:ea typeface="Lato" pitchFamily="34" charset="-122"/>
                <a:cs typeface="Lato" pitchFamily="34" charset="-120"/>
              </a:rPr>
              <a:t>   lignes critiques, soit 6 %</a:t>
            </a:r>
            <a:endParaRPr lang="en-US" sz="3400" dirty="0"/>
          </a:p>
        </p:txBody>
      </p:sp>
      <p:sp>
        <p:nvSpPr>
          <p:cNvPr id="29" name="Text 27"/>
          <p:cNvSpPr txBox="1"/>
          <p:nvPr/>
        </p:nvSpPr>
        <p:spPr>
          <a:xfrm>
            <a:off x="6464808" y="4572000"/>
            <a:ext cx="4663440" cy="749808"/>
          </a:xfrm>
          <a:prstGeom prst="rect">
            <a:avLst/>
          </a:prstGeom>
          <a:noFill/>
          <a:ln/>
        </p:spPr>
        <p:txBody>
          <a:bodyPr wrap="square" lIns="0" tIns="0" rIns="0" bIns="0" rtlCol="0" anchor="ctr"/>
          <a:lstStyle/>
          <a:p>
            <a:pPr marL="0" indent="0">
              <a:lnSpc>
                <a:spcPct val="116000"/>
              </a:lnSpc>
              <a:buNone/>
            </a:pPr>
            <a:r>
              <a:rPr lang="en-US" sz="1200" dirty="0">
                <a:solidFill>
                  <a:srgbClr val="232A3A"/>
                </a:solidFill>
                <a:latin typeface="Lato" pitchFamily="34" charset="0"/>
                <a:ea typeface="Lato" pitchFamily="34" charset="-122"/>
                <a:cs typeface="Lato" pitchFamily="34" charset="-120"/>
              </a:rPr>
              <a:t>La mention critique désigne les vulnérabilités à traiter en premier. La file devient finie, mais deux dates ne sont plus comparables.</a:t>
            </a:r>
            <a:endParaRPr lang="en-US" sz="1200" dirty="0"/>
          </a:p>
        </p:txBody>
      </p:sp>
      <p:sp>
        <p:nvSpPr>
          <p:cNvPr id="30" name="Text 28"/>
          <p:cNvSpPr txBox="1"/>
          <p:nvPr/>
        </p:nvSpPr>
        <p:spPr>
          <a:xfrm>
            <a:off x="658368" y="5614416"/>
            <a:ext cx="10874959" cy="548640"/>
          </a:xfrm>
          <a:prstGeom prst="rect">
            <a:avLst/>
          </a:prstGeom>
          <a:noFill/>
          <a:ln/>
        </p:spPr>
        <p:txBody>
          <a:bodyPr wrap="square" lIns="0" tIns="0" rIns="0" bIns="0" rtlCol="0" anchor="ctr"/>
          <a:lstStyle/>
          <a:p>
            <a:pPr marL="0" indent="0">
              <a:lnSpc>
                <a:spcPct val="114000"/>
              </a:lnSpc>
              <a:buNone/>
            </a:pPr>
            <a:r>
              <a:rPr lang="en-US" sz="1200" i="1" dirty="0">
                <a:solidFill>
                  <a:srgbClr val="4A5568"/>
                </a:solidFill>
                <a:latin typeface="Lato" pitchFamily="34" charset="0"/>
                <a:ea typeface="Lato" pitchFamily="34" charset="-122"/>
                <a:cs typeface="Lato" pitchFamily="34" charset="-120"/>
              </a:rPr>
              <a:t>3,6 % seulement des vulnérabilités sont critiques au sens du CVSS. Le tableau de bord permet de basculer d'une lecture à l'autre et affiche en clair celle qui est active : aucune interprétation ne reste implicite.</a:t>
            </a:r>
            <a:endParaRPr lang="en-US" sz="12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B0B6CDAB-B3A1-4A75-B0FC-CB84FD6CE9EA}" type="slidenum">
              <a:rPr lang="fr-FR" sz="900" b="0">
                <a:solidFill>
                  <a:srgbClr val="4A5568"/>
                </a:solidFill>
                <a:latin typeface="Lato"/>
              </a:rPr>
              <a:t>44</a:t>
            </a:fld>
            <a:endParaRPr lang="fr-FR">
              <a:solidFill>
                <a:srgbClr val="4A5568"/>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2">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6</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6</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Posture professionnelle</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3EEC6935-1BE9-4AB3-B745-181108B31063}" type="slidenum">
              <a:rPr lang="fr-FR" sz="900" b="0">
                <a:solidFill>
                  <a:srgbClr val="AEB7C6"/>
                </a:solidFill>
                <a:latin typeface="Lato"/>
              </a:rPr>
              <a:t>45</a:t>
            </a:fld>
            <a:endParaRPr lang="fr-FR">
              <a:solidFill>
                <a:srgbClr val="AEB7C6"/>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PAR LA MÊME PERSONNE, SANS ÉQUIPE DÉDIÉE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Six rôles tenus successivement</a:t>
            </a:r>
            <a:endParaRPr lang="en-US" sz="3000" dirty="0"/>
          </a:p>
        </p:txBody>
      </p:sp>
      <p:sp>
        <p:nvSpPr>
          <p:cNvPr id="4" name="Shape 2"/>
          <p:cNvSpPr/>
          <p:nvPr/>
        </p:nvSpPr>
        <p:spPr>
          <a:xfrm>
            <a:off x="658368" y="1517904"/>
            <a:ext cx="3401568" cy="1773936"/>
          </a:xfrm>
          <a:prstGeom prst="rect">
            <a:avLst/>
          </a:prstGeom>
          <a:solidFill>
            <a:srgbClr val="F2F4F8"/>
          </a:solidFill>
          <a:ln/>
        </p:spPr>
        <p:txBody>
          <a:bodyPr/>
          <a:lstStyle/>
          <a:p>
            <a:endParaRPr lang="fr-FR"/>
          </a:p>
        </p:txBody>
      </p:sp>
      <p:sp>
        <p:nvSpPr>
          <p:cNvPr id="5" name="Shape 3"/>
          <p:cNvSpPr/>
          <p:nvPr/>
        </p:nvSpPr>
        <p:spPr>
          <a:xfrm>
            <a:off x="914400" y="1755648"/>
            <a:ext cx="384048" cy="384048"/>
          </a:xfrm>
          <a:prstGeom prst="rect">
            <a:avLst/>
          </a:prstGeom>
          <a:solidFill>
            <a:srgbClr val="1B2A4A"/>
          </a:solidFill>
          <a:ln/>
        </p:spPr>
        <p:txBody>
          <a:bodyPr/>
          <a:lstStyle/>
          <a:p>
            <a:endParaRPr lang="fr-FR"/>
          </a:p>
        </p:txBody>
      </p:sp>
      <p:sp>
        <p:nvSpPr>
          <p:cNvPr id="6" name="Text 4"/>
          <p:cNvSpPr txBox="1"/>
          <p:nvPr/>
        </p:nvSpPr>
        <p:spPr>
          <a:xfrm>
            <a:off x="914400" y="1755648"/>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1</a:t>
            </a:r>
            <a:endParaRPr lang="en-US" sz="1700" dirty="0"/>
          </a:p>
        </p:txBody>
      </p:sp>
      <p:sp>
        <p:nvSpPr>
          <p:cNvPr id="7" name="Text 5"/>
          <p:cNvSpPr txBox="1"/>
          <p:nvPr/>
        </p:nvSpPr>
        <p:spPr>
          <a:xfrm>
            <a:off x="1426464" y="1737360"/>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Cadrage</a:t>
            </a:r>
            <a:endParaRPr lang="en-US" sz="1550" dirty="0"/>
          </a:p>
        </p:txBody>
      </p:sp>
      <p:sp>
        <p:nvSpPr>
          <p:cNvPr id="8" name="Text 6"/>
          <p:cNvSpPr txBox="1"/>
          <p:nvPr/>
        </p:nvSpPr>
        <p:spPr>
          <a:xfrm>
            <a:off x="1426464" y="2011680"/>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avec la direction</a:t>
            </a:r>
            <a:endParaRPr lang="en-US" sz="1050" dirty="0"/>
          </a:p>
        </p:txBody>
      </p:sp>
      <p:sp>
        <p:nvSpPr>
          <p:cNvPr id="9" name="Text 7"/>
          <p:cNvSpPr txBox="1"/>
          <p:nvPr/>
        </p:nvSpPr>
        <p:spPr>
          <a:xfrm>
            <a:off x="914400" y="2395728"/>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Définition du besoin avec le maître d'apprentissage et le directeur, arbitrage du périmètre.</a:t>
            </a:r>
            <a:endParaRPr lang="en-US" sz="1150" dirty="0"/>
          </a:p>
        </p:txBody>
      </p:sp>
      <p:sp>
        <p:nvSpPr>
          <p:cNvPr id="10" name="Shape 8"/>
          <p:cNvSpPr/>
          <p:nvPr/>
        </p:nvSpPr>
        <p:spPr>
          <a:xfrm>
            <a:off x="4361688" y="1517904"/>
            <a:ext cx="3401568" cy="1773936"/>
          </a:xfrm>
          <a:prstGeom prst="rect">
            <a:avLst/>
          </a:prstGeom>
          <a:solidFill>
            <a:srgbClr val="F2F4F8"/>
          </a:solidFill>
          <a:ln/>
        </p:spPr>
        <p:txBody>
          <a:bodyPr/>
          <a:lstStyle/>
          <a:p>
            <a:endParaRPr lang="fr-FR"/>
          </a:p>
        </p:txBody>
      </p:sp>
      <p:sp>
        <p:nvSpPr>
          <p:cNvPr id="11" name="Shape 9"/>
          <p:cNvSpPr/>
          <p:nvPr/>
        </p:nvSpPr>
        <p:spPr>
          <a:xfrm>
            <a:off x="4617720" y="1755648"/>
            <a:ext cx="384048" cy="384048"/>
          </a:xfrm>
          <a:prstGeom prst="rect">
            <a:avLst/>
          </a:prstGeom>
          <a:solidFill>
            <a:srgbClr val="1B2A4A"/>
          </a:solidFill>
          <a:ln/>
        </p:spPr>
        <p:txBody>
          <a:bodyPr/>
          <a:lstStyle/>
          <a:p>
            <a:endParaRPr lang="fr-FR"/>
          </a:p>
        </p:txBody>
      </p:sp>
      <p:sp>
        <p:nvSpPr>
          <p:cNvPr id="12" name="Text 10"/>
          <p:cNvSpPr txBox="1"/>
          <p:nvPr/>
        </p:nvSpPr>
        <p:spPr>
          <a:xfrm>
            <a:off x="4617720" y="1755648"/>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2</a:t>
            </a:r>
            <a:endParaRPr lang="en-US" sz="1700" dirty="0"/>
          </a:p>
        </p:txBody>
      </p:sp>
      <p:sp>
        <p:nvSpPr>
          <p:cNvPr id="13" name="Text 11"/>
          <p:cNvSpPr txBox="1"/>
          <p:nvPr/>
        </p:nvSpPr>
        <p:spPr>
          <a:xfrm>
            <a:off x="5129784" y="1737360"/>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Conception</a:t>
            </a:r>
            <a:endParaRPr lang="en-US" sz="1550" dirty="0"/>
          </a:p>
        </p:txBody>
      </p:sp>
      <p:sp>
        <p:nvSpPr>
          <p:cNvPr id="14" name="Text 12"/>
          <p:cNvSpPr txBox="1"/>
          <p:nvPr/>
        </p:nvSpPr>
        <p:spPr>
          <a:xfrm>
            <a:off x="5129784" y="2011680"/>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architecture et modèle</a:t>
            </a:r>
            <a:endParaRPr lang="en-US" sz="1050" dirty="0"/>
          </a:p>
        </p:txBody>
      </p:sp>
      <p:sp>
        <p:nvSpPr>
          <p:cNvPr id="15" name="Text 13"/>
          <p:cNvSpPr txBox="1"/>
          <p:nvPr/>
        </p:nvSpPr>
        <p:spPr>
          <a:xfrm>
            <a:off x="4617720" y="2395728"/>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Architecture, modèle de données et formule de notation, avec justification des alternatives écartées.</a:t>
            </a:r>
            <a:endParaRPr lang="en-US" sz="1150" dirty="0"/>
          </a:p>
        </p:txBody>
      </p:sp>
      <p:sp>
        <p:nvSpPr>
          <p:cNvPr id="16" name="Shape 14"/>
          <p:cNvSpPr/>
          <p:nvPr/>
        </p:nvSpPr>
        <p:spPr>
          <a:xfrm>
            <a:off x="8065008" y="1517904"/>
            <a:ext cx="3401568" cy="1773936"/>
          </a:xfrm>
          <a:prstGeom prst="rect">
            <a:avLst/>
          </a:prstGeom>
          <a:solidFill>
            <a:srgbClr val="F2F4F8"/>
          </a:solidFill>
          <a:ln/>
        </p:spPr>
        <p:txBody>
          <a:bodyPr/>
          <a:lstStyle/>
          <a:p>
            <a:endParaRPr lang="fr-FR"/>
          </a:p>
        </p:txBody>
      </p:sp>
      <p:sp>
        <p:nvSpPr>
          <p:cNvPr id="17" name="Shape 15"/>
          <p:cNvSpPr/>
          <p:nvPr/>
        </p:nvSpPr>
        <p:spPr>
          <a:xfrm>
            <a:off x="8321040" y="1755648"/>
            <a:ext cx="384048" cy="384048"/>
          </a:xfrm>
          <a:prstGeom prst="rect">
            <a:avLst/>
          </a:prstGeom>
          <a:solidFill>
            <a:srgbClr val="1B2A4A"/>
          </a:solidFill>
          <a:ln/>
        </p:spPr>
        <p:txBody>
          <a:bodyPr/>
          <a:lstStyle/>
          <a:p>
            <a:endParaRPr lang="fr-FR"/>
          </a:p>
        </p:txBody>
      </p:sp>
      <p:sp>
        <p:nvSpPr>
          <p:cNvPr id="18" name="Text 16"/>
          <p:cNvSpPr txBox="1"/>
          <p:nvPr/>
        </p:nvSpPr>
        <p:spPr>
          <a:xfrm>
            <a:off x="8321040" y="1755648"/>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3</a:t>
            </a:r>
            <a:endParaRPr lang="en-US" sz="1700" dirty="0"/>
          </a:p>
        </p:txBody>
      </p:sp>
      <p:sp>
        <p:nvSpPr>
          <p:cNvPr id="19" name="Text 17"/>
          <p:cNvSpPr txBox="1"/>
          <p:nvPr/>
        </p:nvSpPr>
        <p:spPr>
          <a:xfrm>
            <a:off x="8833104" y="1737360"/>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Développement</a:t>
            </a:r>
            <a:endParaRPr lang="en-US" sz="1550" dirty="0"/>
          </a:p>
        </p:txBody>
      </p:sp>
      <p:sp>
        <p:nvSpPr>
          <p:cNvPr id="20" name="Text 18"/>
          <p:cNvSpPr txBox="1"/>
          <p:nvPr/>
        </p:nvSpPr>
        <p:spPr>
          <a:xfrm>
            <a:off x="8833104" y="2011680"/>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réalisation</a:t>
            </a:r>
            <a:endParaRPr lang="en-US" sz="1050" dirty="0"/>
          </a:p>
        </p:txBody>
      </p:sp>
      <p:sp>
        <p:nvSpPr>
          <p:cNvPr id="21" name="Text 19"/>
          <p:cNvSpPr txBox="1"/>
          <p:nvPr/>
        </p:nvSpPr>
        <p:spPr>
          <a:xfrm>
            <a:off x="8321040" y="2395728"/>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Collecteurs, algorithme de réconciliation, moteur de notation, interface, tests.</a:t>
            </a:r>
            <a:endParaRPr lang="en-US" sz="1150" dirty="0"/>
          </a:p>
        </p:txBody>
      </p:sp>
      <p:sp>
        <p:nvSpPr>
          <p:cNvPr id="22" name="Shape 20"/>
          <p:cNvSpPr/>
          <p:nvPr/>
        </p:nvSpPr>
        <p:spPr>
          <a:xfrm>
            <a:off x="658368" y="3566160"/>
            <a:ext cx="3401568" cy="1773936"/>
          </a:xfrm>
          <a:prstGeom prst="rect">
            <a:avLst/>
          </a:prstGeom>
          <a:solidFill>
            <a:srgbClr val="F2F4F8"/>
          </a:solidFill>
          <a:ln/>
        </p:spPr>
        <p:txBody>
          <a:bodyPr/>
          <a:lstStyle/>
          <a:p>
            <a:endParaRPr lang="fr-FR"/>
          </a:p>
        </p:txBody>
      </p:sp>
      <p:sp>
        <p:nvSpPr>
          <p:cNvPr id="23" name="Shape 21"/>
          <p:cNvSpPr/>
          <p:nvPr/>
        </p:nvSpPr>
        <p:spPr>
          <a:xfrm>
            <a:off x="914400" y="3803904"/>
            <a:ext cx="384048" cy="384048"/>
          </a:xfrm>
          <a:prstGeom prst="rect">
            <a:avLst/>
          </a:prstGeom>
          <a:solidFill>
            <a:srgbClr val="1B2A4A"/>
          </a:solidFill>
          <a:ln/>
        </p:spPr>
        <p:txBody>
          <a:bodyPr/>
          <a:lstStyle/>
          <a:p>
            <a:endParaRPr lang="fr-FR"/>
          </a:p>
        </p:txBody>
      </p:sp>
      <p:sp>
        <p:nvSpPr>
          <p:cNvPr id="24" name="Text 22"/>
          <p:cNvSpPr txBox="1"/>
          <p:nvPr/>
        </p:nvSpPr>
        <p:spPr>
          <a:xfrm>
            <a:off x="914400" y="3803904"/>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4</a:t>
            </a:r>
            <a:endParaRPr lang="en-US" sz="1700" dirty="0"/>
          </a:p>
        </p:txBody>
      </p:sp>
      <p:sp>
        <p:nvSpPr>
          <p:cNvPr id="25" name="Text 23"/>
          <p:cNvSpPr txBox="1"/>
          <p:nvPr/>
        </p:nvSpPr>
        <p:spPr>
          <a:xfrm>
            <a:off x="1426464" y="3785616"/>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Conduite de projet</a:t>
            </a:r>
            <a:endParaRPr lang="en-US" sz="1550" dirty="0"/>
          </a:p>
        </p:txBody>
      </p:sp>
      <p:sp>
        <p:nvSpPr>
          <p:cNvPr id="26" name="Text 24"/>
          <p:cNvSpPr txBox="1"/>
          <p:nvPr/>
        </p:nvSpPr>
        <p:spPr>
          <a:xfrm>
            <a:off x="1426464" y="4059936"/>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planification et suivi</a:t>
            </a:r>
            <a:endParaRPr lang="en-US" sz="1050" dirty="0"/>
          </a:p>
        </p:txBody>
      </p:sp>
      <p:sp>
        <p:nvSpPr>
          <p:cNvPr id="27" name="Text 25"/>
          <p:cNvSpPr txBox="1"/>
          <p:nvPr/>
        </p:nvSpPr>
        <p:spPr>
          <a:xfrm>
            <a:off x="914400" y="4443984"/>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Découpage, jalons, analyse de risques, journal de projet, indicateurs, points hebdomadaires.</a:t>
            </a:r>
            <a:endParaRPr lang="en-US" sz="1150" dirty="0"/>
          </a:p>
        </p:txBody>
      </p:sp>
      <p:sp>
        <p:nvSpPr>
          <p:cNvPr id="28" name="Shape 26"/>
          <p:cNvSpPr/>
          <p:nvPr/>
        </p:nvSpPr>
        <p:spPr>
          <a:xfrm>
            <a:off x="4361688" y="3566160"/>
            <a:ext cx="3401568" cy="1773936"/>
          </a:xfrm>
          <a:prstGeom prst="rect">
            <a:avLst/>
          </a:prstGeom>
          <a:solidFill>
            <a:srgbClr val="F2F4F8"/>
          </a:solidFill>
          <a:ln/>
        </p:spPr>
        <p:txBody>
          <a:bodyPr/>
          <a:lstStyle/>
          <a:p>
            <a:endParaRPr lang="fr-FR"/>
          </a:p>
        </p:txBody>
      </p:sp>
      <p:sp>
        <p:nvSpPr>
          <p:cNvPr id="29" name="Shape 27"/>
          <p:cNvSpPr/>
          <p:nvPr/>
        </p:nvSpPr>
        <p:spPr>
          <a:xfrm>
            <a:off x="4617720" y="3803904"/>
            <a:ext cx="384048" cy="384048"/>
          </a:xfrm>
          <a:prstGeom prst="rect">
            <a:avLst/>
          </a:prstGeom>
          <a:solidFill>
            <a:srgbClr val="1B2A4A"/>
          </a:solidFill>
          <a:ln/>
        </p:spPr>
        <p:txBody>
          <a:bodyPr/>
          <a:lstStyle/>
          <a:p>
            <a:endParaRPr lang="fr-FR"/>
          </a:p>
        </p:txBody>
      </p:sp>
      <p:sp>
        <p:nvSpPr>
          <p:cNvPr id="30" name="Text 28"/>
          <p:cNvSpPr txBox="1"/>
          <p:nvPr/>
        </p:nvSpPr>
        <p:spPr>
          <a:xfrm>
            <a:off x="4617720" y="3803904"/>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5</a:t>
            </a:r>
            <a:endParaRPr lang="en-US" sz="1700" dirty="0"/>
          </a:p>
        </p:txBody>
      </p:sp>
      <p:sp>
        <p:nvSpPr>
          <p:cNvPr id="31" name="Text 29"/>
          <p:cNvSpPr txBox="1"/>
          <p:nvPr/>
        </p:nvSpPr>
        <p:spPr>
          <a:xfrm>
            <a:off x="5129784" y="3785616"/>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Recette</a:t>
            </a:r>
            <a:endParaRPr lang="en-US" sz="1550" dirty="0"/>
          </a:p>
        </p:txBody>
      </p:sp>
      <p:sp>
        <p:nvSpPr>
          <p:cNvPr id="32" name="Text 30"/>
          <p:cNvSpPr txBox="1"/>
          <p:nvPr/>
        </p:nvSpPr>
        <p:spPr>
          <a:xfrm>
            <a:off x="5129784" y="4059936"/>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validation métier</a:t>
            </a:r>
            <a:endParaRPr lang="en-US" sz="1050" dirty="0"/>
          </a:p>
        </p:txBody>
      </p:sp>
      <p:sp>
        <p:nvSpPr>
          <p:cNvPr id="33" name="Text 31"/>
          <p:cNvSpPr txBox="1"/>
          <p:nvPr/>
        </p:nvSpPr>
        <p:spPr>
          <a:xfrm>
            <a:off x="4617720" y="4443984"/>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Protocole, animation de la session avec les deux valideurs, consignation des demandes.</a:t>
            </a:r>
            <a:endParaRPr lang="en-US" sz="1150" dirty="0"/>
          </a:p>
        </p:txBody>
      </p:sp>
      <p:sp>
        <p:nvSpPr>
          <p:cNvPr id="34" name="Shape 32"/>
          <p:cNvSpPr/>
          <p:nvPr/>
        </p:nvSpPr>
        <p:spPr>
          <a:xfrm>
            <a:off x="8065008" y="3566160"/>
            <a:ext cx="3401568" cy="1773936"/>
          </a:xfrm>
          <a:prstGeom prst="rect">
            <a:avLst/>
          </a:prstGeom>
          <a:solidFill>
            <a:srgbClr val="F2F4F8"/>
          </a:solidFill>
          <a:ln/>
        </p:spPr>
        <p:txBody>
          <a:bodyPr/>
          <a:lstStyle/>
          <a:p>
            <a:endParaRPr lang="fr-FR"/>
          </a:p>
        </p:txBody>
      </p:sp>
      <p:sp>
        <p:nvSpPr>
          <p:cNvPr id="35" name="Shape 33"/>
          <p:cNvSpPr/>
          <p:nvPr/>
        </p:nvSpPr>
        <p:spPr>
          <a:xfrm>
            <a:off x="8321040" y="3803904"/>
            <a:ext cx="384048" cy="384048"/>
          </a:xfrm>
          <a:prstGeom prst="rect">
            <a:avLst/>
          </a:prstGeom>
          <a:solidFill>
            <a:srgbClr val="1B2A4A"/>
          </a:solidFill>
          <a:ln/>
        </p:spPr>
        <p:txBody>
          <a:bodyPr/>
          <a:lstStyle/>
          <a:p>
            <a:endParaRPr lang="fr-FR"/>
          </a:p>
        </p:txBody>
      </p:sp>
      <p:sp>
        <p:nvSpPr>
          <p:cNvPr id="36" name="Text 34"/>
          <p:cNvSpPr txBox="1"/>
          <p:nvPr/>
        </p:nvSpPr>
        <p:spPr>
          <a:xfrm>
            <a:off x="8321040" y="3803904"/>
            <a:ext cx="384048" cy="384048"/>
          </a:xfrm>
          <a:prstGeom prst="rect">
            <a:avLst/>
          </a:prstGeom>
          <a:noFill/>
          <a:ln/>
        </p:spPr>
        <p:txBody>
          <a:bodyPr wrap="square" lIns="0" tIns="0" rIns="0" bIns="0" rtlCol="0" anchor="ctr"/>
          <a:lstStyle/>
          <a:p>
            <a:pPr marL="0" indent="0" algn="ctr">
              <a:buNone/>
            </a:pPr>
            <a:r>
              <a:rPr lang="en-US" sz="1700" b="1" dirty="0">
                <a:solidFill>
                  <a:srgbClr val="C5A55A"/>
                </a:solidFill>
                <a:latin typeface="Lato" pitchFamily="34" charset="0"/>
                <a:ea typeface="Lato" pitchFamily="34" charset="-122"/>
                <a:cs typeface="Lato" pitchFamily="34" charset="-120"/>
              </a:rPr>
              <a:t>6</a:t>
            </a:r>
            <a:endParaRPr lang="en-US" sz="1700" dirty="0"/>
          </a:p>
        </p:txBody>
      </p:sp>
      <p:sp>
        <p:nvSpPr>
          <p:cNvPr id="37" name="Text 35"/>
          <p:cNvSpPr txBox="1"/>
          <p:nvPr/>
        </p:nvSpPr>
        <p:spPr>
          <a:xfrm>
            <a:off x="8833104" y="3785616"/>
            <a:ext cx="2468880" cy="274320"/>
          </a:xfrm>
          <a:prstGeom prst="rect">
            <a:avLst/>
          </a:prstGeom>
          <a:noFill/>
          <a:ln/>
        </p:spPr>
        <p:txBody>
          <a:bodyPr wrap="square" lIns="0" tIns="0" rIns="0" bIns="0" rtlCol="0" anchor="ctr"/>
          <a:lstStyle/>
          <a:p>
            <a:pPr marL="0" indent="0">
              <a:buNone/>
            </a:pPr>
            <a:r>
              <a:rPr lang="en-US" sz="1550" b="1" dirty="0">
                <a:solidFill>
                  <a:srgbClr val="1B2A4A"/>
                </a:solidFill>
                <a:latin typeface="Lato" pitchFamily="34" charset="0"/>
                <a:ea typeface="Lato" pitchFamily="34" charset="-122"/>
                <a:cs typeface="Lato" pitchFamily="34" charset="-120"/>
              </a:rPr>
              <a:t>Transfert</a:t>
            </a:r>
            <a:endParaRPr lang="en-US" sz="1550" dirty="0"/>
          </a:p>
        </p:txBody>
      </p:sp>
      <p:sp>
        <p:nvSpPr>
          <p:cNvPr id="38" name="Text 36"/>
          <p:cNvSpPr txBox="1"/>
          <p:nvPr/>
        </p:nvSpPr>
        <p:spPr>
          <a:xfrm>
            <a:off x="8833104" y="4059936"/>
            <a:ext cx="2468880" cy="237744"/>
          </a:xfrm>
          <a:prstGeom prst="rect">
            <a:avLst/>
          </a:prstGeom>
          <a:noFill/>
          <a:ln/>
        </p:spPr>
        <p:txBody>
          <a:bodyPr wrap="square" lIns="0" tIns="0" rIns="0" bIns="0" rtlCol="0" anchor="ctr"/>
          <a:lstStyle/>
          <a:p>
            <a:pPr marL="0" indent="0">
              <a:buNone/>
            </a:pPr>
            <a:r>
              <a:rPr lang="en-US" sz="1050" b="1" kern="0" spc="80" dirty="0">
                <a:solidFill>
                  <a:srgbClr val="C5A55A"/>
                </a:solidFill>
                <a:latin typeface="Lato" pitchFamily="34" charset="0"/>
                <a:ea typeface="Lato" pitchFamily="34" charset="-122"/>
                <a:cs typeface="Lato" pitchFamily="34" charset="-120"/>
              </a:rPr>
              <a:t>documentation</a:t>
            </a:r>
            <a:endParaRPr lang="en-US" sz="1050" dirty="0"/>
          </a:p>
        </p:txBody>
      </p:sp>
      <p:sp>
        <p:nvSpPr>
          <p:cNvPr id="39" name="Text 37"/>
          <p:cNvSpPr txBox="1"/>
          <p:nvPr/>
        </p:nvSpPr>
        <p:spPr>
          <a:xfrm>
            <a:off x="8321040" y="4443984"/>
            <a:ext cx="2889504" cy="786384"/>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Documentation technique et restitution des résultats, en registre technique comme non technique.</a:t>
            </a:r>
            <a:endParaRPr lang="en-US" sz="1150" dirty="0"/>
          </a:p>
        </p:txBody>
      </p:sp>
      <p:sp>
        <p:nvSpPr>
          <p:cNvPr id="40" name="Text 38"/>
          <p:cNvSpPr txBox="1"/>
          <p:nvPr/>
        </p:nvSpPr>
        <p:spPr>
          <a:xfrm>
            <a:off x="658368" y="5705856"/>
            <a:ext cx="10874959" cy="310896"/>
          </a:xfrm>
          <a:prstGeom prst="rect">
            <a:avLst/>
          </a:prstGeom>
          <a:noFill/>
          <a:ln/>
        </p:spPr>
        <p:txBody>
          <a:bodyPr wrap="square" lIns="0" tIns="0" rIns="0" bIns="0" rtlCol="0" anchor="t"/>
          <a:lstStyle/>
          <a:p>
            <a:pPr marL="0" indent="0">
              <a:buNone/>
            </a:pPr>
            <a:r>
              <a:rPr lang="en-US" sz="1050" i="1" dirty="0">
                <a:solidFill>
                  <a:srgbClr val="4A5568"/>
                </a:solidFill>
                <a:latin typeface="Lato" pitchFamily="34" charset="0"/>
                <a:ea typeface="Lato" pitchFamily="34" charset="-122"/>
                <a:cs typeface="Lato" pitchFamily="34" charset="-120"/>
              </a:rPr>
              <a:t>Arbitrer seul entre corriger et documenter change la nature du travail. Passer du langage métier au vocabulaire technique est la compétence la plus déterminante pour la suite.</a:t>
            </a:r>
            <a:endParaRPr lang="en-US" sz="10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D0CE86C6-BCF8-4924-825F-43882D11806C}" type="slidenum">
              <a:rPr lang="fr-FR" sz="900" b="0">
                <a:solidFill>
                  <a:srgbClr val="4A5568"/>
                </a:solidFill>
                <a:latin typeface="Lato"/>
              </a:rPr>
              <a:t>46</a:t>
            </a:fld>
            <a:endParaRPr lang="fr-FR">
              <a:solidFill>
                <a:srgbClr val="4A5568"/>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 positionnement entre métier et technique</a:t>
            </a:r>
            <a:endParaRPr lang="en-US" sz="3000" dirty="0"/>
          </a:p>
        </p:txBody>
      </p:sp>
      <p:sp>
        <p:nvSpPr>
          <p:cNvPr id="3" name="Shape 1"/>
          <p:cNvSpPr/>
          <p:nvPr/>
        </p:nvSpPr>
        <p:spPr>
          <a:xfrm>
            <a:off x="658368" y="1481328"/>
            <a:ext cx="5120640" cy="1847088"/>
          </a:xfrm>
          <a:prstGeom prst="rect">
            <a:avLst/>
          </a:prstGeom>
          <a:solidFill>
            <a:srgbClr val="F2F4F8"/>
          </a:solidFill>
          <a:ln/>
        </p:spPr>
        <p:txBody>
          <a:bodyPr/>
          <a:lstStyle/>
          <a:p>
            <a:endParaRPr lang="fr-FR"/>
          </a:p>
        </p:txBody>
      </p:sp>
      <p:sp>
        <p:nvSpPr>
          <p:cNvPr id="4" name="Text 2"/>
          <p:cNvSpPr txBox="1"/>
          <p:nvPr/>
        </p:nvSpPr>
        <p:spPr>
          <a:xfrm>
            <a:off x="932688" y="1664208"/>
            <a:ext cx="457200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DU CÔTÉ MÉTIER</a:t>
            </a:r>
            <a:endParaRPr lang="en-US" sz="1000" dirty="0"/>
          </a:p>
        </p:txBody>
      </p:sp>
      <p:sp>
        <p:nvSpPr>
          <p:cNvPr id="5" name="Text 3"/>
          <p:cNvSpPr txBox="1"/>
          <p:nvPr/>
        </p:nvSpPr>
        <p:spPr>
          <a:xfrm>
            <a:off x="932688" y="1920240"/>
            <a:ext cx="4572000" cy="347472"/>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Recueillir et arbitrer</a:t>
            </a:r>
            <a:endParaRPr lang="en-US" sz="1900" dirty="0"/>
          </a:p>
        </p:txBody>
      </p:sp>
      <p:sp>
        <p:nvSpPr>
          <p:cNvPr id="6" name="Shape 4"/>
          <p:cNvSpPr/>
          <p:nvPr/>
        </p:nvSpPr>
        <p:spPr>
          <a:xfrm>
            <a:off x="950976" y="2459736"/>
            <a:ext cx="64008" cy="64008"/>
          </a:xfrm>
          <a:prstGeom prst="ellipse">
            <a:avLst/>
          </a:prstGeom>
          <a:solidFill>
            <a:srgbClr val="C5A55A"/>
          </a:solidFill>
          <a:ln/>
        </p:spPr>
        <p:txBody>
          <a:bodyPr/>
          <a:lstStyle/>
          <a:p>
            <a:endParaRPr lang="fr-FR"/>
          </a:p>
        </p:txBody>
      </p:sp>
      <p:sp>
        <p:nvSpPr>
          <p:cNvPr id="7" name="Text 5"/>
          <p:cNvSpPr txBox="1"/>
          <p:nvPr/>
        </p:nvSpPr>
        <p:spPr>
          <a:xfrm>
            <a:off x="1152144" y="2359152"/>
            <a:ext cx="4334256" cy="310896"/>
          </a:xfrm>
          <a:prstGeom prst="rect">
            <a:avLst/>
          </a:prstGeom>
          <a:noFill/>
          <a:ln/>
        </p:spPr>
        <p:txBody>
          <a:bodyPr wrap="square" lIns="0" tIns="0" rIns="0" bIns="0" rtlCol="0" anchor="ctr"/>
          <a:lstStyle/>
          <a:p>
            <a:pPr marL="0" indent="0">
              <a:buNone/>
            </a:pPr>
            <a:r>
              <a:rPr lang="en-US" sz="1150" dirty="0">
                <a:solidFill>
                  <a:srgbClr val="232A3A"/>
                </a:solidFill>
                <a:latin typeface="Lato" pitchFamily="34" charset="0"/>
                <a:ea typeface="Lato" pitchFamily="34" charset="-122"/>
                <a:cs typeface="Lato" pitchFamily="34" charset="-120"/>
              </a:rPr>
              <a:t>Comprendre ce que le cabinet facture pour savoir ce qu'une machine porte réellement</a:t>
            </a:r>
            <a:endParaRPr lang="en-US" sz="1150" dirty="0"/>
          </a:p>
        </p:txBody>
      </p:sp>
      <p:sp>
        <p:nvSpPr>
          <p:cNvPr id="8" name="Shape 6"/>
          <p:cNvSpPr/>
          <p:nvPr/>
        </p:nvSpPr>
        <p:spPr>
          <a:xfrm>
            <a:off x="950976" y="2788920"/>
            <a:ext cx="64008" cy="64008"/>
          </a:xfrm>
          <a:prstGeom prst="ellipse">
            <a:avLst/>
          </a:prstGeom>
          <a:solidFill>
            <a:srgbClr val="C5A55A"/>
          </a:solidFill>
          <a:ln/>
        </p:spPr>
        <p:txBody>
          <a:bodyPr/>
          <a:lstStyle/>
          <a:p>
            <a:endParaRPr lang="fr-FR"/>
          </a:p>
        </p:txBody>
      </p:sp>
      <p:sp>
        <p:nvSpPr>
          <p:cNvPr id="9" name="Text 7"/>
          <p:cNvSpPr txBox="1"/>
          <p:nvPr/>
        </p:nvSpPr>
        <p:spPr>
          <a:xfrm>
            <a:off x="1152144" y="2688336"/>
            <a:ext cx="4334256" cy="310896"/>
          </a:xfrm>
          <a:prstGeom prst="rect">
            <a:avLst/>
          </a:prstGeom>
          <a:noFill/>
          <a:ln/>
        </p:spPr>
        <p:txBody>
          <a:bodyPr wrap="square" lIns="0" tIns="0" rIns="0" bIns="0" rtlCol="0" anchor="ctr"/>
          <a:lstStyle/>
          <a:p>
            <a:pPr marL="0" indent="0">
              <a:buNone/>
            </a:pPr>
            <a:r>
              <a:rPr lang="en-US" sz="1150" dirty="0">
                <a:solidFill>
                  <a:srgbClr val="232A3A"/>
                </a:solidFill>
                <a:latin typeface="Lato" pitchFamily="34" charset="0"/>
                <a:ea typeface="Lato" pitchFamily="34" charset="-122"/>
                <a:cs typeface="Lato" pitchFamily="34" charset="-120"/>
              </a:rPr>
              <a:t>Négocier le resserrement du périmètre avec le maître d'apprentissage</a:t>
            </a:r>
            <a:endParaRPr lang="en-US" sz="1150" dirty="0"/>
          </a:p>
        </p:txBody>
      </p:sp>
      <p:sp>
        <p:nvSpPr>
          <p:cNvPr id="10" name="Shape 8"/>
          <p:cNvSpPr/>
          <p:nvPr/>
        </p:nvSpPr>
        <p:spPr>
          <a:xfrm>
            <a:off x="950976" y="3118104"/>
            <a:ext cx="64008" cy="64008"/>
          </a:xfrm>
          <a:prstGeom prst="ellipse">
            <a:avLst/>
          </a:prstGeom>
          <a:solidFill>
            <a:srgbClr val="C5A55A"/>
          </a:solidFill>
          <a:ln/>
        </p:spPr>
        <p:txBody>
          <a:bodyPr/>
          <a:lstStyle/>
          <a:p>
            <a:endParaRPr lang="fr-FR"/>
          </a:p>
        </p:txBody>
      </p:sp>
      <p:sp>
        <p:nvSpPr>
          <p:cNvPr id="11" name="Text 9"/>
          <p:cNvSpPr txBox="1"/>
          <p:nvPr/>
        </p:nvSpPr>
        <p:spPr>
          <a:xfrm>
            <a:off x="1152144" y="3017520"/>
            <a:ext cx="4334256" cy="310896"/>
          </a:xfrm>
          <a:prstGeom prst="rect">
            <a:avLst/>
          </a:prstGeom>
          <a:noFill/>
          <a:ln/>
        </p:spPr>
        <p:txBody>
          <a:bodyPr wrap="square" lIns="0" tIns="0" rIns="0" bIns="0" rtlCol="0" anchor="ctr"/>
          <a:lstStyle/>
          <a:p>
            <a:pPr marL="0" indent="0">
              <a:buNone/>
            </a:pPr>
            <a:r>
              <a:rPr lang="en-US" sz="1150" dirty="0">
                <a:solidFill>
                  <a:srgbClr val="232A3A"/>
                </a:solidFill>
                <a:latin typeface="Lato" pitchFamily="34" charset="0"/>
                <a:ea typeface="Lato" pitchFamily="34" charset="-122"/>
                <a:cs typeface="Lato" pitchFamily="34" charset="-120"/>
              </a:rPr>
              <a:t>Traduire une demande d'évolution métier en règle de calcul</a:t>
            </a:r>
            <a:endParaRPr lang="en-US" sz="1150" dirty="0"/>
          </a:p>
        </p:txBody>
      </p:sp>
      <p:sp>
        <p:nvSpPr>
          <p:cNvPr id="12" name="Shape 10"/>
          <p:cNvSpPr/>
          <p:nvPr/>
        </p:nvSpPr>
        <p:spPr>
          <a:xfrm>
            <a:off x="6391656" y="1481328"/>
            <a:ext cx="5120640" cy="1847088"/>
          </a:xfrm>
          <a:prstGeom prst="rect">
            <a:avLst/>
          </a:prstGeom>
          <a:solidFill>
            <a:srgbClr val="1B2A4A"/>
          </a:solidFill>
          <a:ln/>
        </p:spPr>
        <p:txBody>
          <a:bodyPr/>
          <a:lstStyle/>
          <a:p>
            <a:endParaRPr lang="fr-FR"/>
          </a:p>
        </p:txBody>
      </p:sp>
      <p:sp>
        <p:nvSpPr>
          <p:cNvPr id="13" name="Text 11"/>
          <p:cNvSpPr txBox="1"/>
          <p:nvPr/>
        </p:nvSpPr>
        <p:spPr>
          <a:xfrm>
            <a:off x="6665976" y="1664208"/>
            <a:ext cx="457200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DU CÔTÉ TECHNIQUE</a:t>
            </a:r>
            <a:endParaRPr lang="en-US" sz="1000" dirty="0"/>
          </a:p>
        </p:txBody>
      </p:sp>
      <p:sp>
        <p:nvSpPr>
          <p:cNvPr id="14" name="Text 12"/>
          <p:cNvSpPr txBox="1"/>
          <p:nvPr/>
        </p:nvSpPr>
        <p:spPr>
          <a:xfrm>
            <a:off x="6665976" y="1920240"/>
            <a:ext cx="4572000" cy="347472"/>
          </a:xfrm>
          <a:prstGeom prst="rect">
            <a:avLst/>
          </a:prstGeom>
          <a:noFill/>
          <a:ln/>
        </p:spPr>
        <p:txBody>
          <a:bodyPr wrap="square" lIns="0" tIns="0" rIns="0" bIns="0" rtlCol="0" anchor="ctr"/>
          <a:lstStyle/>
          <a:p>
            <a:pPr marL="0" indent="0">
              <a:buNone/>
            </a:pPr>
            <a:r>
              <a:rPr lang="en-US" sz="1900" b="1" dirty="0">
                <a:solidFill>
                  <a:srgbClr val="FFFFFF"/>
                </a:solidFill>
                <a:latin typeface="Lato" pitchFamily="34" charset="0"/>
                <a:ea typeface="Lato" pitchFamily="34" charset="-122"/>
                <a:cs typeface="Lato" pitchFamily="34" charset="-120"/>
              </a:rPr>
              <a:t>Concevoir et réaliser</a:t>
            </a:r>
            <a:endParaRPr lang="en-US" sz="1900" dirty="0"/>
          </a:p>
        </p:txBody>
      </p:sp>
      <p:sp>
        <p:nvSpPr>
          <p:cNvPr id="15" name="Shape 13"/>
          <p:cNvSpPr/>
          <p:nvPr/>
        </p:nvSpPr>
        <p:spPr>
          <a:xfrm>
            <a:off x="6684264" y="2459736"/>
            <a:ext cx="64008" cy="64008"/>
          </a:xfrm>
          <a:prstGeom prst="ellipse">
            <a:avLst/>
          </a:prstGeom>
          <a:solidFill>
            <a:srgbClr val="C5A55A"/>
          </a:solidFill>
          <a:ln/>
        </p:spPr>
        <p:txBody>
          <a:bodyPr/>
          <a:lstStyle/>
          <a:p>
            <a:endParaRPr lang="fr-FR"/>
          </a:p>
        </p:txBody>
      </p:sp>
      <p:sp>
        <p:nvSpPr>
          <p:cNvPr id="16" name="Text 14"/>
          <p:cNvSpPr txBox="1"/>
          <p:nvPr/>
        </p:nvSpPr>
        <p:spPr>
          <a:xfrm>
            <a:off x="6885432" y="2359152"/>
            <a:ext cx="4334256" cy="310896"/>
          </a:xfrm>
          <a:prstGeom prst="rect">
            <a:avLst/>
          </a:prstGeom>
          <a:noFill/>
          <a:ln/>
        </p:spPr>
        <p:txBody>
          <a:bodyPr wrap="square" lIns="0" tIns="0" rIns="0" bIns="0" rtlCol="0" anchor="ctr"/>
          <a:lstStyle/>
          <a:p>
            <a:pPr marL="0" indent="0">
              <a:buNone/>
            </a:pPr>
            <a:r>
              <a:rPr lang="en-US" sz="1150" dirty="0">
                <a:solidFill>
                  <a:srgbClr val="D5DAE4"/>
                </a:solidFill>
                <a:latin typeface="Lato" pitchFamily="34" charset="0"/>
                <a:ea typeface="Lato" pitchFamily="34" charset="-122"/>
                <a:cs typeface="Lato" pitchFamily="34" charset="-120"/>
              </a:rPr>
              <a:t>Développer les collecteurs, l'algorithme de réconciliation et le moteur de notation</a:t>
            </a:r>
            <a:endParaRPr lang="en-US" sz="1150" dirty="0"/>
          </a:p>
        </p:txBody>
      </p:sp>
      <p:sp>
        <p:nvSpPr>
          <p:cNvPr id="17" name="Shape 15"/>
          <p:cNvSpPr/>
          <p:nvPr/>
        </p:nvSpPr>
        <p:spPr>
          <a:xfrm>
            <a:off x="6684264" y="2788920"/>
            <a:ext cx="64008" cy="64008"/>
          </a:xfrm>
          <a:prstGeom prst="ellipse">
            <a:avLst/>
          </a:prstGeom>
          <a:solidFill>
            <a:srgbClr val="C5A55A"/>
          </a:solidFill>
          <a:ln/>
        </p:spPr>
        <p:txBody>
          <a:bodyPr/>
          <a:lstStyle/>
          <a:p>
            <a:endParaRPr lang="fr-FR"/>
          </a:p>
        </p:txBody>
      </p:sp>
      <p:sp>
        <p:nvSpPr>
          <p:cNvPr id="18" name="Text 16"/>
          <p:cNvSpPr txBox="1"/>
          <p:nvPr/>
        </p:nvSpPr>
        <p:spPr>
          <a:xfrm>
            <a:off x="6885432" y="2688336"/>
            <a:ext cx="4334256" cy="310896"/>
          </a:xfrm>
          <a:prstGeom prst="rect">
            <a:avLst/>
          </a:prstGeom>
          <a:noFill/>
          <a:ln/>
        </p:spPr>
        <p:txBody>
          <a:bodyPr wrap="square" lIns="0" tIns="0" rIns="0" bIns="0" rtlCol="0" anchor="ctr"/>
          <a:lstStyle/>
          <a:p>
            <a:pPr marL="0" indent="0">
              <a:buNone/>
            </a:pPr>
            <a:r>
              <a:rPr lang="en-US" sz="1150" dirty="0">
                <a:solidFill>
                  <a:srgbClr val="D5DAE4"/>
                </a:solidFill>
                <a:latin typeface="Lato" pitchFamily="34" charset="0"/>
                <a:ea typeface="Lato" pitchFamily="34" charset="-122"/>
                <a:cs typeface="Lato" pitchFamily="34" charset="-120"/>
              </a:rPr>
              <a:t>Rétablir l'accès à l'outil de supervision</a:t>
            </a:r>
            <a:endParaRPr lang="en-US" sz="1150" dirty="0"/>
          </a:p>
        </p:txBody>
      </p:sp>
      <p:sp>
        <p:nvSpPr>
          <p:cNvPr id="19" name="Shape 17"/>
          <p:cNvSpPr/>
          <p:nvPr/>
        </p:nvSpPr>
        <p:spPr>
          <a:xfrm>
            <a:off x="6684264" y="3118104"/>
            <a:ext cx="64008" cy="64008"/>
          </a:xfrm>
          <a:prstGeom prst="ellipse">
            <a:avLst/>
          </a:prstGeom>
          <a:solidFill>
            <a:srgbClr val="C5A55A"/>
          </a:solidFill>
          <a:ln/>
        </p:spPr>
        <p:txBody>
          <a:bodyPr/>
          <a:lstStyle/>
          <a:p>
            <a:endParaRPr lang="fr-FR"/>
          </a:p>
        </p:txBody>
      </p:sp>
      <p:sp>
        <p:nvSpPr>
          <p:cNvPr id="20" name="Text 18"/>
          <p:cNvSpPr txBox="1"/>
          <p:nvPr/>
        </p:nvSpPr>
        <p:spPr>
          <a:xfrm>
            <a:off x="6885432" y="3017520"/>
            <a:ext cx="4334256" cy="310896"/>
          </a:xfrm>
          <a:prstGeom prst="rect">
            <a:avLst/>
          </a:prstGeom>
          <a:noFill/>
          <a:ln/>
        </p:spPr>
        <p:txBody>
          <a:bodyPr wrap="square" lIns="0" tIns="0" rIns="0" bIns="0" rtlCol="0" anchor="ctr"/>
          <a:lstStyle/>
          <a:p>
            <a:pPr marL="0" indent="0">
              <a:buNone/>
            </a:pPr>
            <a:r>
              <a:rPr lang="en-US" sz="1150" dirty="0">
                <a:solidFill>
                  <a:srgbClr val="D5DAE4"/>
                </a:solidFill>
                <a:latin typeface="Lato" pitchFamily="34" charset="0"/>
                <a:ea typeface="Lato" pitchFamily="34" charset="-122"/>
                <a:cs typeface="Lato" pitchFamily="34" charset="-120"/>
              </a:rPr>
              <a:t>Concevoir le schéma de données et l'interface de restitution</a:t>
            </a:r>
            <a:endParaRPr lang="en-US" sz="1150" dirty="0"/>
          </a:p>
        </p:txBody>
      </p:sp>
      <p:sp>
        <p:nvSpPr>
          <p:cNvPr id="21" name="Shape 19"/>
          <p:cNvSpPr/>
          <p:nvPr/>
        </p:nvSpPr>
        <p:spPr>
          <a:xfrm>
            <a:off x="658368" y="3675888"/>
            <a:ext cx="10874959" cy="25603"/>
          </a:xfrm>
          <a:prstGeom prst="rect">
            <a:avLst/>
          </a:prstGeom>
          <a:solidFill>
            <a:srgbClr val="E6EAF1"/>
          </a:solidFill>
          <a:ln/>
        </p:spPr>
        <p:txBody>
          <a:bodyPr/>
          <a:lstStyle/>
          <a:p>
            <a:endParaRPr lang="fr-F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EF986CDF-8A84-45D2-A6F1-6B8F5F030F18}" type="slidenum">
              <a:rPr lang="fr-FR" sz="900" b="0">
                <a:solidFill>
                  <a:srgbClr val="4A5568"/>
                </a:solidFill>
                <a:latin typeface="Lato"/>
              </a:rPr>
              <a:t>47</a:t>
            </a:fld>
            <a:endParaRPr lang="fr-FR">
              <a:solidFill>
                <a:srgbClr val="4A5568"/>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B2A4A"/>
                </a:solidFill>
                <a:latin typeface="Lato" pitchFamily="34" charset="0"/>
                <a:ea typeface="Lato" pitchFamily="34" charset="-122"/>
                <a:cs typeface="Lato" pitchFamily="34" charset="-120"/>
              </a:rPr>
              <a:t>7</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C5A55A"/>
                </a:solidFill>
                <a:latin typeface="Lato" pitchFamily="34" charset="0"/>
                <a:ea typeface="Lato" pitchFamily="34" charset="-122"/>
                <a:cs typeface="Lato" pitchFamily="34" charset="-120"/>
              </a:rPr>
              <a:t>CHAPITRE 7</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Bilan et perspectives</a:t>
            </a:r>
            <a:endParaRPr lang="en-US" sz="400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6305C9A6-791C-4A73-943E-14FFA19A97CB}" type="slidenum">
              <a:rPr lang="fr-FR" sz="900" b="0">
                <a:solidFill>
                  <a:srgbClr val="AEB7C6"/>
                </a:solidFill>
                <a:latin typeface="Lato"/>
              </a:rPr>
              <a:t>48</a:t>
            </a:fld>
            <a:endParaRPr lang="fr-FR">
              <a:solidFill>
                <a:srgbClr val="AEB7C6"/>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SEPT OBJECTIFS MESURABLES FIXÉS PAR LE PLAN DE MANAGEMENT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Objectifs SMART : cible et réalisé</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58368" y="1481328"/>
          <a:ext cx="10881360" cy="3218688"/>
        </p:xfrm>
        <a:graphic>
          <a:graphicData uri="http://schemas.openxmlformats.org/drawingml/2006/table">
            <a:tbl>
              <a:tblPr/>
              <a:tblGrid>
                <a:gridCol w="484632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02336">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Objectif du plan de management</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Réalisé</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Statut</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Concevoir et valider le démonstrateur</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75 cycles sur l'infrastructure réelle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Atteint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Réconcilier les trois référentiels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Appariement lexical et exceptions tracées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Atteint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Calculer la notation en continu et la restituer</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Plus de 13 000 notations, tableau de bord livré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Atteint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Changer la priorisation face au CVSS brut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Confirmé en recette, mesuré partiellement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Atteint</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Modéliser la propagation par les dépendances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Réorienté vers la cartographie des risques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C5A55A"/>
                          </a:solidFill>
                          <a:latin typeface="Lato" pitchFamily="34" charset="0"/>
                          <a:ea typeface="Lato" pitchFamily="34" charset="-122"/>
                          <a:cs typeface="Lato" pitchFamily="34" charset="-120"/>
                        </a:rPr>
                        <a:t>Réorienté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5"/>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Instrumenter l'infrastructure interne complète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Supervision interne et actif hébergé, périmètre resserré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A2543C"/>
                          </a:solidFill>
                          <a:latin typeface="Lato" pitchFamily="34" charset="0"/>
                          <a:ea typeface="Lato" pitchFamily="34" charset="-122"/>
                          <a:cs typeface="Lato" pitchFamily="34" charset="-120"/>
                        </a:rPr>
                        <a:t>Ajusté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Poser les fondations des chemins d'attaque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Renvoyé aux perspectives, cadrage établi</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C5A55A"/>
                          </a:solidFill>
                          <a:latin typeface="Lato" pitchFamily="34" charset="0"/>
                          <a:ea typeface="Lato" pitchFamily="34" charset="-122"/>
                          <a:cs typeface="Lato" pitchFamily="34" charset="-120"/>
                        </a:rPr>
                        <a:t>Perspectives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7"/>
                  </a:ext>
                </a:extLst>
              </a:tr>
            </a:tbl>
          </a:graphicData>
        </a:graphic>
      </p:graphicFrame>
      <p:sp>
        <p:nvSpPr>
          <p:cNvPr id="5" name="Shape 2"/>
          <p:cNvSpPr/>
          <p:nvPr/>
        </p:nvSpPr>
        <p:spPr>
          <a:xfrm>
            <a:off x="658368" y="4901184"/>
            <a:ext cx="10874959" cy="1188720"/>
          </a:xfrm>
          <a:prstGeom prst="rect">
            <a:avLst/>
          </a:prstGeom>
          <a:solidFill>
            <a:srgbClr val="1B2A4A"/>
          </a:solidFill>
          <a:ln/>
        </p:spPr>
        <p:txBody>
          <a:bodyPr/>
          <a:lstStyle/>
          <a:p>
            <a:endParaRPr lang="fr-FR"/>
          </a:p>
        </p:txBody>
      </p:sp>
      <p:sp>
        <p:nvSpPr>
          <p:cNvPr id="6" name="Text 3"/>
          <p:cNvSpPr txBox="1"/>
          <p:nvPr/>
        </p:nvSpPr>
        <p:spPr>
          <a:xfrm>
            <a:off x="950976" y="5047488"/>
            <a:ext cx="10332720" cy="365760"/>
          </a:xfrm>
          <a:prstGeom prst="rect">
            <a:avLst/>
          </a:prstGeom>
          <a:noFill/>
          <a:ln/>
        </p:spPr>
        <p:txBody>
          <a:bodyPr wrap="square" lIns="0" tIns="0" rIns="0" bIns="0" rtlCol="0" anchor="ctr"/>
          <a:lstStyle/>
          <a:p>
            <a:pPr marL="0" indent="0">
              <a:buNone/>
            </a:pPr>
            <a:r>
              <a:rPr lang="en-US" sz="2000" b="1" dirty="0">
                <a:solidFill>
                  <a:srgbClr val="C5A55A"/>
                </a:solidFill>
                <a:latin typeface="Lato" pitchFamily="34" charset="0"/>
                <a:ea typeface="Lato" pitchFamily="34" charset="-122"/>
                <a:cs typeface="Lato" pitchFamily="34" charset="-120"/>
              </a:rPr>
              <a:t>4 objectifs sur 7 atteints, dont les trois qui constituaient le cœur de la démonstration.</a:t>
            </a:r>
            <a:endParaRPr lang="en-US" sz="2000" dirty="0"/>
          </a:p>
        </p:txBody>
      </p:sp>
      <p:sp>
        <p:nvSpPr>
          <p:cNvPr id="7" name="Text 4"/>
          <p:cNvSpPr txBox="1"/>
          <p:nvPr/>
        </p:nvSpPr>
        <p:spPr>
          <a:xfrm>
            <a:off x="950976" y="5468112"/>
            <a:ext cx="10332720" cy="512064"/>
          </a:xfrm>
          <a:prstGeom prst="rect">
            <a:avLst/>
          </a:prstGeom>
          <a:noFill/>
          <a:ln/>
        </p:spPr>
        <p:txBody>
          <a:bodyPr wrap="square" lIns="0" tIns="0" rIns="0" bIns="0" rtlCol="0" anchor="ctr"/>
          <a:lstStyle/>
          <a:p>
            <a:pPr marL="0" indent="0">
              <a:lnSpc>
                <a:spcPct val="114000"/>
              </a:lnSpc>
              <a:buNone/>
            </a:pPr>
            <a:r>
              <a:rPr lang="en-US" sz="1250" dirty="0">
                <a:solidFill>
                  <a:srgbClr val="AEB7C6"/>
                </a:solidFill>
                <a:latin typeface="Lato" pitchFamily="34" charset="0"/>
                <a:ea typeface="Lato" pitchFamily="34" charset="-122"/>
                <a:cs typeface="Lato" pitchFamily="34" charset="-120"/>
              </a:rPr>
              <a:t>Les trois autres ont été réorientés, ajustés ou reportés après un recadrage validé : les hypothèses de départ sur la disponibilité des référentiels et du temps se sont révélées inexactes.</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0676F49-1827-4E44-BA39-5FB4644E2EB7}" type="slidenum">
              <a:rPr lang="fr-FR" sz="900" b="0">
                <a:solidFill>
                  <a:srgbClr val="4A5568"/>
                </a:solidFill>
                <a:latin typeface="Lato"/>
              </a:rPr>
              <a:t>49</a:t>
            </a:fld>
            <a:endParaRPr lang="fr-FR">
              <a:solidFill>
                <a:srgbClr val="4A5568"/>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3">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402336"/>
            <a:ext cx="7315200" cy="256032"/>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CE QUE J'EN RETIENS</a:t>
            </a:r>
            <a:endParaRPr lang="en-US" sz="1100" dirty="0"/>
          </a:p>
        </p:txBody>
      </p:sp>
      <p:sp>
        <p:nvSpPr>
          <p:cNvPr id="3" name="Text 1"/>
          <p:cNvSpPr txBox="1"/>
          <p:nvPr/>
        </p:nvSpPr>
        <p:spPr>
          <a:xfrm>
            <a:off x="658368" y="713232"/>
            <a:ext cx="10607040" cy="548640"/>
          </a:xfrm>
          <a:prstGeom prst="rect">
            <a:avLst/>
          </a:prstGeom>
          <a:noFill/>
          <a:ln/>
        </p:spPr>
        <p:txBody>
          <a:bodyPr wrap="square" lIns="0" tIns="0" rIns="0" bIns="0" rtlCol="0" anchor="ctr"/>
          <a:lstStyle/>
          <a:p>
            <a:pPr marL="0" indent="0">
              <a:buNone/>
            </a:pPr>
            <a:r>
              <a:rPr lang="en-US" sz="3000" b="1" dirty="0">
                <a:solidFill>
                  <a:srgbClr val="FFFFFF"/>
                </a:solidFill>
                <a:latin typeface="Lato" pitchFamily="34" charset="0"/>
                <a:ea typeface="Lato" pitchFamily="34" charset="-122"/>
                <a:cs typeface="Lato" pitchFamily="34" charset="-120"/>
              </a:rPr>
              <a:t>La donnée compte plus que l'outil</a:t>
            </a:r>
            <a:endParaRPr lang="en-US" sz="3000" dirty="0"/>
          </a:p>
        </p:txBody>
      </p:sp>
      <p:sp>
        <p:nvSpPr>
          <p:cNvPr id="4" name="Text 2"/>
          <p:cNvSpPr txBox="1"/>
          <p:nvPr/>
        </p:nvSpPr>
        <p:spPr>
          <a:xfrm>
            <a:off x="658368" y="1600000"/>
            <a:ext cx="5200000" cy="822960"/>
          </a:xfrm>
          <a:prstGeom prst="rect">
            <a:avLst/>
          </a:prstGeom>
          <a:noFill/>
          <a:ln/>
        </p:spPr>
        <p:txBody>
          <a:bodyPr wrap="square" lIns="0" tIns="0" rIns="0" bIns="0" rtlCol="0" anchor="ctr"/>
          <a:lstStyle/>
          <a:p>
            <a:pPr marL="0" indent="0">
              <a:buNone/>
            </a:pPr>
            <a:r>
              <a:rPr lang="en-US" sz="5600" b="1" dirty="0">
                <a:solidFill>
                  <a:srgbClr val="C5A55A"/>
                </a:solidFill>
                <a:latin typeface="Lato" pitchFamily="34" charset="0"/>
                <a:ea typeface="Lato" pitchFamily="34" charset="-122"/>
                <a:cs typeface="Lato" pitchFamily="34" charset="-120"/>
              </a:rPr>
              <a:t>3</a:t>
            </a:r>
            <a:r>
              <a:rPr lang="en-US" sz="1600" dirty="0">
                <a:solidFill>
                  <a:srgbClr val="D5DAE4"/>
                </a:solidFill>
                <a:latin typeface="Lato" pitchFamily="34" charset="0"/>
                <a:ea typeface="Lato" pitchFamily="34" charset="-122"/>
                <a:cs typeface="Lato" pitchFamily="34" charset="-120"/>
              </a:rPr>
              <a:t>  écarts rencontrés</a:t>
            </a:r>
            <a:endParaRPr lang="en-US" sz="5600" dirty="0"/>
          </a:p>
        </p:txBody>
      </p:sp>
      <p:sp>
        <p:nvSpPr>
          <p:cNvPr id="5" name="Text 3"/>
          <p:cNvSpPr txBox="1"/>
          <p:nvPr/>
        </p:nvSpPr>
        <p:spPr>
          <a:xfrm>
            <a:off x="6200000" y="1600000"/>
            <a:ext cx="5200000" cy="822960"/>
          </a:xfrm>
          <a:prstGeom prst="rect">
            <a:avLst/>
          </a:prstGeom>
          <a:noFill/>
          <a:ln/>
        </p:spPr>
        <p:txBody>
          <a:bodyPr wrap="square" lIns="0" tIns="0" rIns="0" bIns="0" rtlCol="0" anchor="ctr"/>
          <a:lstStyle/>
          <a:p>
            <a:pPr marL="0" indent="0">
              <a:buNone/>
            </a:pPr>
            <a:r>
              <a:rPr lang="en-US" sz="5600" b="1" dirty="0">
                <a:solidFill>
                  <a:srgbClr val="C5A55A"/>
                </a:solidFill>
                <a:latin typeface="Lato" pitchFamily="34" charset="0"/>
                <a:ea typeface="Lato" pitchFamily="34" charset="-122"/>
                <a:cs typeface="Lato" pitchFamily="34" charset="-120"/>
              </a:rPr>
              <a:t>0</a:t>
            </a:r>
            <a:r>
              <a:rPr lang="en-US" sz="1600" dirty="0">
                <a:solidFill>
                  <a:srgbClr val="D5DAE4"/>
                </a:solidFill>
                <a:latin typeface="Lato" pitchFamily="34" charset="0"/>
                <a:ea typeface="Lato" pitchFamily="34" charset="-122"/>
                <a:cs typeface="Lato" pitchFamily="34" charset="-120"/>
              </a:rPr>
              <a:t>  sur la formule ou l'algorithme</a:t>
            </a:r>
            <a:endParaRPr lang="en-US" sz="5600" dirty="0"/>
          </a:p>
        </p:txBody>
      </p:sp>
      <p:sp>
        <p:nvSpPr>
          <p:cNvPr id="6" name="Text 4"/>
          <p:cNvSpPr txBox="1"/>
          <p:nvPr/>
        </p:nvSpPr>
        <p:spPr>
          <a:xfrm>
            <a:off x="658368" y="3100000"/>
            <a:ext cx="10607040" cy="2400000"/>
          </a:xfrm>
          <a:prstGeom prst="rect">
            <a:avLst/>
          </a:prstGeom>
          <a:noFill/>
          <a:ln/>
        </p:spPr>
        <p:txBody>
          <a:bodyPr wrap="square" lIns="0" tIns="0" rIns="0" bIns="0" rtlCol="0" anchor="ctr"/>
          <a:lstStyle/>
          <a:p>
            <a:pPr marL="0" indent="0">
              <a:lnSpc>
                <a:spcPct val="118000"/>
              </a:lnSpc>
              <a:buNone/>
            </a:pPr>
            <a:r>
              <a:rPr lang="fr-FR" sz="3200" b="1" i="1" dirty="0">
                <a:solidFill>
                  <a:srgbClr val="FFFFFF"/>
                </a:solidFill>
                <a:latin typeface="Lato" pitchFamily="34" charset="0"/>
                <a:ea typeface="Lato" pitchFamily="34" charset="-122"/>
                <a:cs typeface="Lato" pitchFamily="34" charset="-120"/>
              </a:rPr>
              <a:t>La sécurité protège l'outil.</a:t>
            </a:r>
            <a:br>
              <a:rPr lang="fr-FR" sz="3200" b="1" i="1" dirty="0">
                <a:solidFill>
                  <a:srgbClr val="FFFFFF"/>
                </a:solidFill>
                <a:latin typeface="Lato" pitchFamily="34" charset="0"/>
                <a:ea typeface="Lato" pitchFamily="34" charset="-122"/>
                <a:cs typeface="Lato" pitchFamily="34" charset="-120"/>
              </a:rPr>
            </a:br>
            <a:r>
              <a:rPr lang="fr-FR" sz="3200" b="1" i="1" dirty="0">
                <a:solidFill>
                  <a:srgbClr val="C5A55A"/>
                </a:solidFill>
                <a:latin typeface="Lato" pitchFamily="34" charset="0"/>
                <a:ea typeface="Lato" pitchFamily="34" charset="-122"/>
                <a:cs typeface="Lato" pitchFamily="34" charset="-120"/>
              </a:rPr>
              <a:t>La donnée décide si le projet sert à quelque chose.</a:t>
            </a:r>
            <a:endParaRPr lang="en-US" sz="3200" b="1" i="1" dirty="0">
              <a:solidFill>
                <a:srgbClr val="FFFFFF"/>
              </a:solidFill>
            </a:endParaRPr>
          </a:p>
        </p:txBody>
      </p:sp>
      <p:pic>
        <p:nvPicPr>
          <p:cNvPr id="19" name="Graphique 18" descr="Guillemet fermé contour">
            <a:extLst>
              <a:ext uri="{FF2B5EF4-FFF2-40B4-BE49-F238E27FC236}">
                <a16:creationId xmlns:a16="http://schemas.microsoft.com/office/drawing/2014/main" id="{7E7DF38B-1747-7E63-F7A5-A9D804CDC9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368" y="2750000"/>
            <a:ext cx="640000" cy="640000"/>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AF17661B-22D9-4069-8360-C6669467FE25}" type="slidenum">
              <a:rPr lang="fr-FR" sz="900" b="0">
                <a:solidFill>
                  <a:srgbClr val="AEB7C6"/>
                </a:solidFill>
                <a:latin typeface="Lato"/>
              </a:rPr>
              <a:t>50</a:t>
            </a:fld>
            <a:endParaRPr lang="fr-FR">
              <a:solidFill>
                <a:srgbClr val="AEB7C6"/>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3">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58368" y="402336"/>
            <a:ext cx="7315200" cy="256032"/>
          </a:xfrm>
          <a:prstGeom prst="rect">
            <a:avLst/>
          </a:prstGeom>
          <a:noFill/>
          <a:ln/>
        </p:spPr>
        <p:txBody>
          <a:bodyPr wrap="square" lIns="0" tIns="0" rIns="0" bIns="0" rtlCol="0" anchor="ctr"/>
          <a:lstStyle/>
          <a:p>
            <a:pPr marL="0" indent="0">
              <a:buNone/>
            </a:pPr>
            <a:r>
              <a:rPr lang="en-US" sz="1100" b="1" kern="0" spc="240" dirty="0">
                <a:solidFill>
                  <a:srgbClr val="C5A55A"/>
                </a:solidFill>
                <a:latin typeface="Lato" pitchFamily="34" charset="0"/>
                <a:ea typeface="Lato" pitchFamily="34" charset="-122"/>
                <a:cs typeface="Lato" pitchFamily="34" charset="-120"/>
              </a:rPr>
              <a:t>ENSEIGNEMENTS MÉTHODOLOGIQUES</a:t>
            </a:r>
            <a:endParaRPr lang="en-US" sz="1100" dirty="0"/>
          </a:p>
        </p:txBody>
      </p:sp>
      <p:sp>
        <p:nvSpPr>
          <p:cNvPr id="3" name="Text 1"/>
          <p:cNvSpPr txBox="1"/>
          <p:nvPr/>
        </p:nvSpPr>
        <p:spPr>
          <a:xfrm>
            <a:off x="658368" y="713232"/>
            <a:ext cx="10607040" cy="548640"/>
          </a:xfrm>
          <a:prstGeom prst="rect">
            <a:avLst/>
          </a:prstGeom>
          <a:noFill/>
          <a:ln/>
        </p:spPr>
        <p:txBody>
          <a:bodyPr wrap="square" lIns="0" tIns="0" rIns="0" bIns="0" rtlCol="0" anchor="ctr"/>
          <a:lstStyle/>
          <a:p>
            <a:pPr marL="0" indent="0">
              <a:buNone/>
            </a:pPr>
            <a:r>
              <a:rPr lang="en-US" sz="3000" b="1" dirty="0">
                <a:solidFill>
                  <a:srgbClr val="FFFFFF"/>
                </a:solidFill>
                <a:latin typeface="Lato" pitchFamily="34" charset="0"/>
                <a:ea typeface="Lato" pitchFamily="34" charset="-122"/>
                <a:cs typeface="Lato" pitchFamily="34" charset="-120"/>
              </a:rPr>
              <a:t>Trois pratiques </a:t>
            </a:r>
            <a:r>
              <a:rPr lang="en-US" sz="3000" b="1" dirty="0" err="1">
                <a:solidFill>
                  <a:srgbClr val="FFFFFF"/>
                </a:solidFill>
                <a:latin typeface="Lato" pitchFamily="34" charset="0"/>
                <a:ea typeface="Lato" pitchFamily="34" charset="-122"/>
                <a:cs typeface="Lato" pitchFamily="34" charset="-120"/>
              </a:rPr>
              <a:t>retenues</a:t>
            </a:r>
            <a:endParaRPr lang="en-US" sz="3000" dirty="0"/>
          </a:p>
        </p:txBody>
      </p:sp>
      <p:sp>
        <p:nvSpPr>
          <p:cNvPr id="7" name="Text 5"/>
          <p:cNvSpPr txBox="1"/>
          <p:nvPr/>
        </p:nvSpPr>
        <p:spPr>
          <a:xfrm>
            <a:off x="658368" y="1300000"/>
            <a:ext cx="10875264" cy="457200"/>
          </a:xfrm>
          <a:prstGeom prst="rect">
            <a:avLst/>
          </a:prstGeom>
          <a:noFill/>
          <a:ln/>
        </p:spPr>
        <p:txBody>
          <a:bodyPr wrap="square" lIns="0" tIns="0" rIns="0" bIns="0" rtlCol="0" anchor="ctr"/>
          <a:lstStyle/>
          <a:p>
            <a:pPr marL="0" indent="0">
              <a:lnSpc>
                <a:spcPct val="120000"/>
              </a:lnSpc>
              <a:buNone/>
            </a:pPr>
            <a:r>
              <a:rPr lang="en-US" sz="1050" b="1" kern="0" spc="140" dirty="0">
                <a:solidFill>
                  <a:srgbClr val="C5A55A"/>
                </a:solidFill>
                <a:latin typeface="Lato" pitchFamily="34" charset="0"/>
                <a:ea typeface="Lato" pitchFamily="34" charset="-122"/>
                <a:cs typeface="Lato" pitchFamily="34" charset="-120"/>
              </a:rPr>
              <a:t>TROIS PRATIQUES À INTÉGRER DÈS LE CADRAGE D'UN PROJET COMPARABLE</a:t>
            </a:r>
            <a:endParaRPr lang="en-US" sz="1050" dirty="0"/>
          </a:p>
        </p:txBody>
      </p:sp>
      <p:sp>
        <p:nvSpPr>
          <p:cNvPr id="8" name="Text 6"/>
          <p:cNvSpPr txBox="1"/>
          <p:nvPr/>
        </p:nvSpPr>
        <p:spPr>
          <a:xfrm>
            <a:off x="658368" y="2000000"/>
            <a:ext cx="457200" cy="402336"/>
          </a:xfrm>
          <a:prstGeom prst="rect">
            <a:avLst/>
          </a:prstGeom>
          <a:noFill/>
          <a:ln/>
        </p:spPr>
        <p:txBody>
          <a:bodyPr wrap="square" lIns="0" tIns="0" rIns="0" bIns="0" rtlCol="0" anchor="ctr"/>
          <a:lstStyle/>
          <a:p>
            <a:pPr marL="0" indent="0">
              <a:buNone/>
            </a:pPr>
            <a:r>
              <a:rPr lang="en-US" sz="2600" b="1" dirty="0">
                <a:solidFill>
                  <a:srgbClr val="34456B"/>
                </a:solidFill>
                <a:latin typeface="Lato" pitchFamily="34" charset="0"/>
                <a:ea typeface="Lato" pitchFamily="34" charset="-122"/>
                <a:cs typeface="Lato" pitchFamily="34" charset="-120"/>
              </a:rPr>
              <a:t>1</a:t>
            </a:r>
            <a:endParaRPr lang="en-US" sz="2600" dirty="0"/>
          </a:p>
        </p:txBody>
      </p:sp>
      <p:sp>
        <p:nvSpPr>
          <p:cNvPr id="9" name="Text 7"/>
          <p:cNvSpPr txBox="1"/>
          <p:nvPr/>
        </p:nvSpPr>
        <p:spPr>
          <a:xfrm>
            <a:off x="658368" y="2500000"/>
            <a:ext cx="3425088" cy="822960"/>
          </a:xfrm>
          <a:prstGeom prst="rect">
            <a:avLst/>
          </a:prstGeom>
          <a:noFill/>
          <a:ln/>
        </p:spPr>
        <p:txBody>
          <a:bodyPr wrap="square" lIns="0" tIns="0" rIns="0" bIns="0" rtlCol="0" anchor="ctr"/>
          <a:lstStyle/>
          <a:p>
            <a:pPr marL="0" indent="0">
              <a:lnSpc>
                <a:spcPct val="112000"/>
              </a:lnSpc>
              <a:buNone/>
            </a:pPr>
            <a:r>
              <a:rPr lang="en-US" sz="1450" b="1" dirty="0">
                <a:solidFill>
                  <a:srgbClr val="FFFFFF"/>
                </a:solidFill>
                <a:latin typeface="Lato" pitchFamily="34" charset="0"/>
                <a:ea typeface="Lato" pitchFamily="34" charset="-122"/>
                <a:cs typeface="Lato" pitchFamily="34" charset="-120"/>
              </a:rPr>
              <a:t>Vérifier l'état réel des données avant de figer un planning</a:t>
            </a:r>
            <a:endParaRPr lang="en-US" sz="1450" dirty="0"/>
          </a:p>
        </p:txBody>
      </p:sp>
      <p:sp>
        <p:nvSpPr>
          <p:cNvPr id="10" name="Text 8"/>
          <p:cNvSpPr txBox="1"/>
          <p:nvPr/>
        </p:nvSpPr>
        <p:spPr>
          <a:xfrm>
            <a:off x="658368" y="3350000"/>
            <a:ext cx="3425088" cy="1200000"/>
          </a:xfrm>
          <a:prstGeom prst="rect">
            <a:avLst/>
          </a:prstGeom>
          <a:noFill/>
          <a:ln/>
        </p:spPr>
        <p:txBody>
          <a:bodyPr wrap="square" lIns="0" tIns="0" rIns="0" bIns="0" rtlCol="0" anchor="ctr"/>
          <a:lstStyle/>
          <a:p>
            <a:pPr marL="0" indent="0">
              <a:lnSpc>
                <a:spcPct val="116000"/>
              </a:lnSpc>
              <a:buNone/>
            </a:pPr>
            <a:r>
              <a:rPr lang="en-US" sz="1150" dirty="0">
                <a:solidFill>
                  <a:srgbClr val="AEB7C6"/>
                </a:solidFill>
                <a:latin typeface="Lato" pitchFamily="34" charset="0"/>
                <a:ea typeface="Lato" pitchFamily="34" charset="-122"/>
                <a:cs typeface="Lato" pitchFamily="34" charset="-120"/>
              </a:rPr>
              <a:t>Un audit préalable avait été conduit et des engagements pris de bonne foi. Un accord ne remplace pas une vérification factuelle de l'état des données.</a:t>
            </a:r>
            <a:endParaRPr lang="en-US" sz="1150" dirty="0"/>
          </a:p>
        </p:txBody>
      </p:sp>
      <p:sp>
        <p:nvSpPr>
          <p:cNvPr id="11" name="Text 9"/>
          <p:cNvSpPr txBox="1"/>
          <p:nvPr/>
        </p:nvSpPr>
        <p:spPr>
          <a:xfrm>
            <a:off x="4383456" y="2000000"/>
            <a:ext cx="457200" cy="402336"/>
          </a:xfrm>
          <a:prstGeom prst="rect">
            <a:avLst/>
          </a:prstGeom>
          <a:noFill/>
          <a:ln/>
        </p:spPr>
        <p:txBody>
          <a:bodyPr wrap="square" lIns="0" tIns="0" rIns="0" bIns="0" rtlCol="0" anchor="ctr"/>
          <a:lstStyle/>
          <a:p>
            <a:pPr marL="0" indent="0">
              <a:buNone/>
            </a:pPr>
            <a:r>
              <a:rPr lang="en-US" sz="2600" b="1" dirty="0">
                <a:solidFill>
                  <a:srgbClr val="34456B"/>
                </a:solidFill>
                <a:latin typeface="Lato" pitchFamily="34" charset="0"/>
                <a:ea typeface="Lato" pitchFamily="34" charset="-122"/>
                <a:cs typeface="Lato" pitchFamily="34" charset="-120"/>
              </a:rPr>
              <a:t>2</a:t>
            </a:r>
            <a:endParaRPr lang="en-US" sz="2600" dirty="0"/>
          </a:p>
        </p:txBody>
      </p:sp>
      <p:sp>
        <p:nvSpPr>
          <p:cNvPr id="12" name="Text 10"/>
          <p:cNvSpPr txBox="1"/>
          <p:nvPr/>
        </p:nvSpPr>
        <p:spPr>
          <a:xfrm>
            <a:off x="4383456" y="2500000"/>
            <a:ext cx="3425088" cy="822960"/>
          </a:xfrm>
          <a:prstGeom prst="rect">
            <a:avLst/>
          </a:prstGeom>
          <a:noFill/>
          <a:ln/>
        </p:spPr>
        <p:txBody>
          <a:bodyPr wrap="square" lIns="0" tIns="0" rIns="0" bIns="0" rtlCol="0" anchor="ctr"/>
          <a:lstStyle/>
          <a:p>
            <a:pPr marL="0" indent="0">
              <a:lnSpc>
                <a:spcPct val="112000"/>
              </a:lnSpc>
              <a:buNone/>
            </a:pPr>
            <a:r>
              <a:rPr lang="en-US" sz="1450" b="1" dirty="0">
                <a:solidFill>
                  <a:srgbClr val="FFFFFF"/>
                </a:solidFill>
                <a:latin typeface="Lato" pitchFamily="34" charset="0"/>
                <a:ea typeface="Lato" pitchFamily="34" charset="-122"/>
                <a:cs typeface="Lato" pitchFamily="34" charset="-120"/>
              </a:rPr>
              <a:t>Inscrire la disponibilité réelle dans l'analyse de risques</a:t>
            </a:r>
            <a:endParaRPr lang="en-US" sz="1450" dirty="0"/>
          </a:p>
        </p:txBody>
      </p:sp>
      <p:sp>
        <p:nvSpPr>
          <p:cNvPr id="13" name="Text 11"/>
          <p:cNvSpPr txBox="1"/>
          <p:nvPr/>
        </p:nvSpPr>
        <p:spPr>
          <a:xfrm>
            <a:off x="4383456" y="3350000"/>
            <a:ext cx="3425088" cy="1200000"/>
          </a:xfrm>
          <a:prstGeom prst="rect">
            <a:avLst/>
          </a:prstGeom>
          <a:noFill/>
          <a:ln/>
        </p:spPr>
        <p:txBody>
          <a:bodyPr wrap="square" lIns="0" tIns="0" rIns="0" bIns="0" rtlCol="0" anchor="ctr"/>
          <a:lstStyle/>
          <a:p>
            <a:pPr marL="0" indent="0">
              <a:lnSpc>
                <a:spcPct val="116000"/>
              </a:lnSpc>
              <a:buNone/>
            </a:pPr>
            <a:r>
              <a:rPr lang="en-US" sz="1150" dirty="0">
                <a:solidFill>
                  <a:srgbClr val="AEB7C6"/>
                </a:solidFill>
                <a:latin typeface="Lato" pitchFamily="34" charset="0"/>
                <a:ea typeface="Lato" pitchFamily="34" charset="-122"/>
                <a:cs typeface="Lato" pitchFamily="34" charset="-120"/>
              </a:rPr>
              <a:t>Le temps de projet peut être repris par l'activité courante à tout moment : les créneaux doivent être négociés et protégés dès le cadrage.</a:t>
            </a:r>
            <a:endParaRPr lang="en-US" sz="1150" dirty="0"/>
          </a:p>
        </p:txBody>
      </p:sp>
      <p:sp>
        <p:nvSpPr>
          <p:cNvPr id="14" name="Text 12"/>
          <p:cNvSpPr txBox="1"/>
          <p:nvPr/>
        </p:nvSpPr>
        <p:spPr>
          <a:xfrm>
            <a:off x="8108544" y="2000000"/>
            <a:ext cx="457200" cy="402336"/>
          </a:xfrm>
          <a:prstGeom prst="rect">
            <a:avLst/>
          </a:prstGeom>
          <a:noFill/>
          <a:ln/>
        </p:spPr>
        <p:txBody>
          <a:bodyPr wrap="square" lIns="0" tIns="0" rIns="0" bIns="0" rtlCol="0" anchor="ctr"/>
          <a:lstStyle/>
          <a:p>
            <a:pPr marL="0" indent="0">
              <a:buNone/>
            </a:pPr>
            <a:r>
              <a:rPr lang="en-US" sz="2600" b="1" dirty="0">
                <a:solidFill>
                  <a:srgbClr val="34456B"/>
                </a:solidFill>
                <a:latin typeface="Lato" pitchFamily="34" charset="0"/>
                <a:ea typeface="Lato" pitchFamily="34" charset="-122"/>
                <a:cs typeface="Lato" pitchFamily="34" charset="-120"/>
              </a:rPr>
              <a:t>3</a:t>
            </a:r>
            <a:endParaRPr lang="en-US" sz="2600" dirty="0"/>
          </a:p>
        </p:txBody>
      </p:sp>
      <p:sp>
        <p:nvSpPr>
          <p:cNvPr id="15" name="Text 13"/>
          <p:cNvSpPr txBox="1"/>
          <p:nvPr/>
        </p:nvSpPr>
        <p:spPr>
          <a:xfrm>
            <a:off x="8108544" y="2500000"/>
            <a:ext cx="3425088" cy="822960"/>
          </a:xfrm>
          <a:prstGeom prst="rect">
            <a:avLst/>
          </a:prstGeom>
          <a:noFill/>
          <a:ln/>
        </p:spPr>
        <p:txBody>
          <a:bodyPr wrap="square" lIns="0" tIns="0" rIns="0" bIns="0" rtlCol="0" anchor="ctr"/>
          <a:lstStyle/>
          <a:p>
            <a:pPr marL="0" indent="0">
              <a:lnSpc>
                <a:spcPct val="112000"/>
              </a:lnSpc>
              <a:buNone/>
            </a:pPr>
            <a:r>
              <a:rPr lang="en-US" sz="1450" b="1" dirty="0">
                <a:solidFill>
                  <a:srgbClr val="FFFFFF"/>
                </a:solidFill>
                <a:latin typeface="Lato" pitchFamily="34" charset="0"/>
                <a:ea typeface="Lato" pitchFamily="34" charset="-122"/>
                <a:cs typeface="Lato" pitchFamily="34" charset="-120"/>
              </a:rPr>
              <a:t>Mesurer dès la première itération, non à la clôture</a:t>
            </a:r>
            <a:endParaRPr lang="en-US" sz="1450" dirty="0"/>
          </a:p>
        </p:txBody>
      </p:sp>
      <p:sp>
        <p:nvSpPr>
          <p:cNvPr id="16" name="Text 14"/>
          <p:cNvSpPr txBox="1"/>
          <p:nvPr/>
        </p:nvSpPr>
        <p:spPr>
          <a:xfrm>
            <a:off x="8108544" y="3350000"/>
            <a:ext cx="3425088" cy="1200000"/>
          </a:xfrm>
          <a:prstGeom prst="rect">
            <a:avLst/>
          </a:prstGeom>
          <a:noFill/>
          <a:ln/>
        </p:spPr>
        <p:txBody>
          <a:bodyPr wrap="square" lIns="0" tIns="0" rIns="0" bIns="0" rtlCol="0" anchor="ctr"/>
          <a:lstStyle/>
          <a:p>
            <a:pPr marL="0" indent="0">
              <a:lnSpc>
                <a:spcPct val="116000"/>
              </a:lnSpc>
              <a:buNone/>
            </a:pPr>
            <a:r>
              <a:rPr lang="fr-FR" sz="1150" noProof="0" dirty="0">
                <a:solidFill>
                  <a:srgbClr val="AEB7C6"/>
                </a:solidFill>
                <a:latin typeface="Lato" pitchFamily="34" charset="0"/>
                <a:ea typeface="Lato" pitchFamily="34" charset="-122"/>
                <a:cs typeface="Lato" pitchFamily="34" charset="-120"/>
              </a:rPr>
              <a:t>Un audit des résultats préalable aurait pu orienter le développement. </a:t>
            </a:r>
            <a:endParaRPr lang="fr-FR" sz="1150" noProof="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AF17661B-22D9-4069-8360-C6669467FE25}" type="slidenum">
              <a:rPr lang="fr-FR" sz="900" b="0">
                <a:solidFill>
                  <a:srgbClr val="AEB7C6"/>
                </a:solidFill>
                <a:latin typeface="Lato"/>
              </a:rPr>
              <a:t>51</a:t>
            </a:fld>
            <a:endParaRPr lang="fr-FR">
              <a:solidFill>
                <a:srgbClr val="AEB7C6"/>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PERSPECTIVES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 ordre de priorité pour la suite du programme</a:t>
            </a:r>
            <a:endParaRPr lang="en-US" sz="3000" dirty="0"/>
          </a:p>
        </p:txBody>
      </p:sp>
      <p:sp>
        <p:nvSpPr>
          <p:cNvPr id="4" name="Shape 2"/>
          <p:cNvSpPr/>
          <p:nvPr/>
        </p:nvSpPr>
        <p:spPr>
          <a:xfrm>
            <a:off x="658368" y="1481328"/>
            <a:ext cx="3401568" cy="2377440"/>
          </a:xfrm>
          <a:prstGeom prst="rect">
            <a:avLst/>
          </a:prstGeom>
          <a:solidFill>
            <a:srgbClr val="1B2A4A"/>
          </a:solidFill>
          <a:ln/>
        </p:spPr>
        <p:txBody>
          <a:bodyPr/>
          <a:lstStyle/>
          <a:p>
            <a:endParaRPr lang="fr-FR"/>
          </a:p>
        </p:txBody>
      </p:sp>
      <p:sp>
        <p:nvSpPr>
          <p:cNvPr id="5" name="Text 3"/>
          <p:cNvSpPr txBox="1"/>
          <p:nvPr/>
        </p:nvSpPr>
        <p:spPr>
          <a:xfrm>
            <a:off x="932688" y="1700784"/>
            <a:ext cx="731520" cy="566928"/>
          </a:xfrm>
          <a:prstGeom prst="rect">
            <a:avLst/>
          </a:prstGeom>
          <a:noFill/>
          <a:ln/>
        </p:spPr>
        <p:txBody>
          <a:bodyPr wrap="square" lIns="0" tIns="0" rIns="0" bIns="0" rtlCol="0" anchor="ctr"/>
          <a:lstStyle/>
          <a:p>
            <a:pPr marL="0" indent="0">
              <a:buNone/>
            </a:pPr>
            <a:r>
              <a:rPr lang="en-US" sz="3800" b="1" dirty="0">
                <a:solidFill>
                  <a:srgbClr val="C5A55A"/>
                </a:solidFill>
                <a:latin typeface="Lato" pitchFamily="34" charset="0"/>
                <a:ea typeface="Lato" pitchFamily="34" charset="-122"/>
                <a:cs typeface="Lato" pitchFamily="34" charset="-120"/>
              </a:rPr>
              <a:t>1</a:t>
            </a:r>
            <a:endParaRPr lang="en-US" sz="3800" dirty="0"/>
          </a:p>
        </p:txBody>
      </p:sp>
      <p:sp>
        <p:nvSpPr>
          <p:cNvPr id="6" name="Text 4"/>
          <p:cNvSpPr txBox="1"/>
          <p:nvPr/>
        </p:nvSpPr>
        <p:spPr>
          <a:xfrm>
            <a:off x="932688" y="2322576"/>
            <a:ext cx="2852928" cy="329184"/>
          </a:xfrm>
          <a:prstGeom prst="rect">
            <a:avLst/>
          </a:prstGeom>
          <a:noFill/>
          <a:ln/>
        </p:spPr>
        <p:txBody>
          <a:bodyPr wrap="square" lIns="0" tIns="0" rIns="0" bIns="0" rtlCol="0" anchor="ctr"/>
          <a:lstStyle/>
          <a:p>
            <a:pPr marL="0" indent="0">
              <a:buNone/>
            </a:pPr>
            <a:r>
              <a:rPr lang="en-US" sz="1900" b="1" dirty="0">
                <a:solidFill>
                  <a:srgbClr val="FFFFFF"/>
                </a:solidFill>
                <a:latin typeface="Lato" pitchFamily="34" charset="0"/>
                <a:ea typeface="Lato" pitchFamily="34" charset="-122"/>
                <a:cs typeface="Lato" pitchFamily="34" charset="-120"/>
              </a:rPr>
              <a:t>La donnée</a:t>
            </a:r>
            <a:endParaRPr lang="en-US" sz="1900" dirty="0"/>
          </a:p>
        </p:txBody>
      </p:sp>
      <p:sp>
        <p:nvSpPr>
          <p:cNvPr id="7" name="Text 5"/>
          <p:cNvSpPr txBox="1"/>
          <p:nvPr/>
        </p:nvSpPr>
        <p:spPr>
          <a:xfrm>
            <a:off x="932688" y="2724912"/>
            <a:ext cx="2852928" cy="969264"/>
          </a:xfrm>
          <a:prstGeom prst="rect">
            <a:avLst/>
          </a:prstGeom>
          <a:noFill/>
          <a:ln/>
        </p:spPr>
        <p:txBody>
          <a:bodyPr wrap="square" lIns="0" tIns="0" rIns="0" bIns="0" rtlCol="0" anchor="ctr"/>
          <a:lstStyle/>
          <a:p>
            <a:pPr marL="0" indent="0">
              <a:lnSpc>
                <a:spcPct val="118000"/>
              </a:lnSpc>
              <a:buNone/>
            </a:pPr>
            <a:r>
              <a:rPr lang="fr-FR" sz="1200" noProof="0" dirty="0">
                <a:solidFill>
                  <a:srgbClr val="D5DAE4"/>
                </a:solidFill>
                <a:latin typeface="Lato" pitchFamily="34" charset="0"/>
                <a:ea typeface="Lato" pitchFamily="34" charset="-122"/>
                <a:cs typeface="Lato" pitchFamily="34" charset="-120"/>
              </a:rPr>
              <a:t>La reprendre et en augmenter la qualité. Un projet de datalake est lancé pour centraliser les API.</a:t>
            </a:r>
            <a:endParaRPr lang="fr-FR" sz="1200" noProof="0" dirty="0"/>
          </a:p>
        </p:txBody>
      </p:sp>
      <p:sp>
        <p:nvSpPr>
          <p:cNvPr id="8" name="Text 6"/>
          <p:cNvSpPr txBox="1"/>
          <p:nvPr/>
        </p:nvSpPr>
        <p:spPr>
          <a:xfrm>
            <a:off x="4059936" y="2487168"/>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9" name="Shape 7"/>
          <p:cNvSpPr/>
          <p:nvPr/>
        </p:nvSpPr>
        <p:spPr>
          <a:xfrm>
            <a:off x="4361688" y="1481328"/>
            <a:ext cx="3401568" cy="2377440"/>
          </a:xfrm>
          <a:prstGeom prst="rect">
            <a:avLst/>
          </a:prstGeom>
          <a:solidFill>
            <a:srgbClr val="F2F4F8"/>
          </a:solidFill>
          <a:ln/>
        </p:spPr>
        <p:txBody>
          <a:bodyPr/>
          <a:lstStyle/>
          <a:p>
            <a:endParaRPr lang="fr-FR"/>
          </a:p>
        </p:txBody>
      </p:sp>
      <p:sp>
        <p:nvSpPr>
          <p:cNvPr id="10" name="Text 8"/>
          <p:cNvSpPr txBox="1"/>
          <p:nvPr/>
        </p:nvSpPr>
        <p:spPr>
          <a:xfrm>
            <a:off x="4636008" y="1700784"/>
            <a:ext cx="731520" cy="566928"/>
          </a:xfrm>
          <a:prstGeom prst="rect">
            <a:avLst/>
          </a:prstGeom>
          <a:noFill/>
          <a:ln/>
        </p:spPr>
        <p:txBody>
          <a:bodyPr wrap="square" lIns="0" tIns="0" rIns="0" bIns="0" rtlCol="0" anchor="ctr"/>
          <a:lstStyle/>
          <a:p>
            <a:pPr marL="0" indent="0">
              <a:buNone/>
            </a:pPr>
            <a:r>
              <a:rPr lang="en-US" sz="3800" b="1" dirty="0">
                <a:solidFill>
                  <a:srgbClr val="E6EAF1"/>
                </a:solidFill>
                <a:latin typeface="Lato" pitchFamily="34" charset="0"/>
                <a:ea typeface="Lato" pitchFamily="34" charset="-122"/>
                <a:cs typeface="Lato" pitchFamily="34" charset="-120"/>
              </a:rPr>
              <a:t>2</a:t>
            </a:r>
            <a:endParaRPr lang="en-US" sz="3800" dirty="0"/>
          </a:p>
        </p:txBody>
      </p:sp>
      <p:sp>
        <p:nvSpPr>
          <p:cNvPr id="11" name="Text 9"/>
          <p:cNvSpPr txBox="1"/>
          <p:nvPr/>
        </p:nvSpPr>
        <p:spPr>
          <a:xfrm>
            <a:off x="4636008" y="2322576"/>
            <a:ext cx="2852928" cy="329184"/>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Le périmètre</a:t>
            </a:r>
            <a:endParaRPr lang="en-US" sz="1900" dirty="0"/>
          </a:p>
        </p:txBody>
      </p:sp>
      <p:sp>
        <p:nvSpPr>
          <p:cNvPr id="12" name="Text 10"/>
          <p:cNvSpPr txBox="1"/>
          <p:nvPr/>
        </p:nvSpPr>
        <p:spPr>
          <a:xfrm>
            <a:off x="4636008" y="2724912"/>
            <a:ext cx="2852928" cy="969264"/>
          </a:xfrm>
          <a:prstGeom prst="rect">
            <a:avLst/>
          </a:prstGeom>
          <a:noFill/>
          <a:ln/>
        </p:spPr>
        <p:txBody>
          <a:bodyPr wrap="square" lIns="0" tIns="0" rIns="0" bIns="0" rtlCol="0" anchor="ctr"/>
          <a:lstStyle/>
          <a:p>
            <a:pPr marL="0" indent="0">
              <a:lnSpc>
                <a:spcPct val="118000"/>
              </a:lnSpc>
              <a:buNone/>
            </a:pPr>
            <a:r>
              <a:rPr lang="fr-FR" sz="1200" noProof="0" dirty="0">
                <a:solidFill>
                  <a:srgbClr val="232A3A"/>
                </a:solidFill>
                <a:latin typeface="Lato" pitchFamily="34" charset="0"/>
                <a:ea typeface="Lato" pitchFamily="34" charset="-122"/>
                <a:cs typeface="Lato" pitchFamily="34" charset="-120"/>
              </a:rPr>
              <a:t>L’étendre au reste du parc, et à un premier client du secteur de la production énergétique.</a:t>
            </a:r>
            <a:endParaRPr lang="fr-FR" sz="1200" noProof="0" dirty="0"/>
          </a:p>
        </p:txBody>
      </p:sp>
      <p:sp>
        <p:nvSpPr>
          <p:cNvPr id="13" name="Text 11"/>
          <p:cNvSpPr txBox="1"/>
          <p:nvPr/>
        </p:nvSpPr>
        <p:spPr>
          <a:xfrm>
            <a:off x="7763256" y="2487168"/>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14" name="Shape 12"/>
          <p:cNvSpPr/>
          <p:nvPr/>
        </p:nvSpPr>
        <p:spPr>
          <a:xfrm>
            <a:off x="8065008" y="1481328"/>
            <a:ext cx="3401568" cy="2377440"/>
          </a:xfrm>
          <a:prstGeom prst="rect">
            <a:avLst/>
          </a:prstGeom>
          <a:solidFill>
            <a:srgbClr val="F2F4F8"/>
          </a:solidFill>
          <a:ln/>
        </p:spPr>
        <p:txBody>
          <a:bodyPr/>
          <a:lstStyle/>
          <a:p>
            <a:endParaRPr lang="fr-FR"/>
          </a:p>
        </p:txBody>
      </p:sp>
      <p:sp>
        <p:nvSpPr>
          <p:cNvPr id="15" name="Text 13"/>
          <p:cNvSpPr txBox="1"/>
          <p:nvPr/>
        </p:nvSpPr>
        <p:spPr>
          <a:xfrm>
            <a:off x="8339328" y="1700784"/>
            <a:ext cx="731520" cy="566928"/>
          </a:xfrm>
          <a:prstGeom prst="rect">
            <a:avLst/>
          </a:prstGeom>
          <a:noFill/>
          <a:ln/>
        </p:spPr>
        <p:txBody>
          <a:bodyPr wrap="square" lIns="0" tIns="0" rIns="0" bIns="0" rtlCol="0" anchor="ctr"/>
          <a:lstStyle/>
          <a:p>
            <a:pPr marL="0" indent="0">
              <a:buNone/>
            </a:pPr>
            <a:r>
              <a:rPr lang="en-US" sz="3800" b="1" dirty="0">
                <a:solidFill>
                  <a:srgbClr val="E6EAF1"/>
                </a:solidFill>
                <a:latin typeface="Lato" pitchFamily="34" charset="0"/>
                <a:ea typeface="Lato" pitchFamily="34" charset="-122"/>
                <a:cs typeface="Lato" pitchFamily="34" charset="-120"/>
              </a:rPr>
              <a:t>3</a:t>
            </a:r>
            <a:endParaRPr lang="en-US" sz="3800" dirty="0"/>
          </a:p>
        </p:txBody>
      </p:sp>
      <p:sp>
        <p:nvSpPr>
          <p:cNvPr id="16" name="Text 14"/>
          <p:cNvSpPr txBox="1"/>
          <p:nvPr/>
        </p:nvSpPr>
        <p:spPr>
          <a:xfrm>
            <a:off x="8339328" y="2322576"/>
            <a:ext cx="2852928" cy="329184"/>
          </a:xfrm>
          <a:prstGeom prst="rect">
            <a:avLst/>
          </a:prstGeom>
          <a:noFill/>
          <a:ln/>
        </p:spPr>
        <p:txBody>
          <a:bodyPr wrap="square" lIns="0" tIns="0" rIns="0" bIns="0" rtlCol="0" anchor="ctr"/>
          <a:lstStyle/>
          <a:p>
            <a:pPr marL="0" indent="0">
              <a:buNone/>
            </a:pPr>
            <a:r>
              <a:rPr lang="en-US" sz="1900" b="1" dirty="0">
                <a:solidFill>
                  <a:srgbClr val="1B2A4A"/>
                </a:solidFill>
                <a:latin typeface="Lato" pitchFamily="34" charset="0"/>
                <a:ea typeface="Lato" pitchFamily="34" charset="-122"/>
                <a:cs typeface="Lato" pitchFamily="34" charset="-120"/>
              </a:rPr>
              <a:t>La cartographie</a:t>
            </a:r>
            <a:endParaRPr lang="en-US" sz="1900" dirty="0"/>
          </a:p>
        </p:txBody>
      </p:sp>
      <p:sp>
        <p:nvSpPr>
          <p:cNvPr id="17" name="Text 15"/>
          <p:cNvSpPr txBox="1"/>
          <p:nvPr/>
        </p:nvSpPr>
        <p:spPr>
          <a:xfrm>
            <a:off x="8339328" y="2724912"/>
            <a:ext cx="2852928" cy="969264"/>
          </a:xfrm>
          <a:prstGeom prst="rect">
            <a:avLst/>
          </a:prstGeom>
          <a:noFill/>
          <a:ln/>
        </p:spPr>
        <p:txBody>
          <a:bodyPr wrap="square" lIns="0" tIns="0" rIns="0" bIns="0" rtlCol="0" anchor="ctr"/>
          <a:lstStyle/>
          <a:p>
            <a:pPr marL="0" indent="0">
              <a:lnSpc>
                <a:spcPct val="118000"/>
              </a:lnSpc>
              <a:buNone/>
            </a:pPr>
            <a:r>
              <a:rPr lang="en-US" sz="1200" dirty="0">
                <a:solidFill>
                  <a:srgbClr val="232A3A"/>
                </a:solidFill>
                <a:latin typeface="Lato" pitchFamily="34" charset="0"/>
                <a:ea typeface="Lato" pitchFamily="34" charset="-122"/>
                <a:cs typeface="Lato" pitchFamily="34" charset="-120"/>
              </a:rPr>
              <a:t>Faire évoluer les scénarios de risque au rythme des </a:t>
            </a:r>
            <a:r>
              <a:rPr lang="en-US" sz="1200" dirty="0" err="1">
                <a:solidFill>
                  <a:srgbClr val="232A3A"/>
                </a:solidFill>
                <a:latin typeface="Lato" pitchFamily="34" charset="0"/>
                <a:ea typeface="Lato" pitchFamily="34" charset="-122"/>
                <a:cs typeface="Lato" pitchFamily="34" charset="-120"/>
              </a:rPr>
              <a:t>vulnérabilités</a:t>
            </a:r>
            <a:r>
              <a:rPr lang="en-US" sz="1200" dirty="0">
                <a:solidFill>
                  <a:srgbClr val="232A3A"/>
                </a:solidFill>
                <a:latin typeface="Lato" pitchFamily="34" charset="0"/>
                <a:ea typeface="Lato" pitchFamily="34" charset="-122"/>
                <a:cs typeface="Lato" pitchFamily="34" charset="-120"/>
              </a:rPr>
              <a:t> </a:t>
            </a:r>
            <a:r>
              <a:rPr lang="en-US" sz="1200" dirty="0" err="1">
                <a:solidFill>
                  <a:srgbClr val="232A3A"/>
                </a:solidFill>
                <a:latin typeface="Lato" pitchFamily="34" charset="0"/>
                <a:ea typeface="Lato" pitchFamily="34" charset="-122"/>
                <a:cs typeface="Lato" pitchFamily="34" charset="-120"/>
              </a:rPr>
              <a:t>constatées</a:t>
            </a:r>
            <a:r>
              <a:rPr lang="en-US" sz="1200" dirty="0">
                <a:solidFill>
                  <a:srgbClr val="232A3A"/>
                </a:solidFill>
                <a:latin typeface="Lato" pitchFamily="34" charset="0"/>
                <a:ea typeface="Lato" pitchFamily="34" charset="-122"/>
                <a:cs typeface="Lato" pitchFamily="34" charset="-120"/>
              </a:rPr>
              <a:t>.</a:t>
            </a:r>
            <a:endParaRPr lang="en-US" sz="1200" dirty="0"/>
          </a:p>
        </p:txBody>
      </p:sp>
      <p:sp>
        <p:nvSpPr>
          <p:cNvPr id="18" name="Shape 16"/>
          <p:cNvSpPr/>
          <p:nvPr/>
        </p:nvSpPr>
        <p:spPr>
          <a:xfrm>
            <a:off x="658368" y="4187952"/>
            <a:ext cx="10874959" cy="1335024"/>
          </a:xfrm>
          <a:prstGeom prst="rect">
            <a:avLst/>
          </a:prstGeom>
          <a:solidFill>
            <a:srgbClr val="F2F4F8"/>
          </a:solidFill>
          <a:ln/>
        </p:spPr>
        <p:txBody>
          <a:bodyPr/>
          <a:lstStyle/>
          <a:p>
            <a:endParaRPr lang="fr-FR"/>
          </a:p>
        </p:txBody>
      </p:sp>
      <p:sp>
        <p:nvSpPr>
          <p:cNvPr id="19" name="Text 17"/>
          <p:cNvSpPr txBox="1"/>
          <p:nvPr/>
        </p:nvSpPr>
        <p:spPr>
          <a:xfrm>
            <a:off x="969264" y="4352544"/>
            <a:ext cx="10241280" cy="512064"/>
          </a:xfrm>
          <a:prstGeom prst="rect">
            <a:avLst/>
          </a:prstGeom>
          <a:noFill/>
          <a:ln/>
        </p:spPr>
        <p:txBody>
          <a:bodyPr wrap="square" lIns="0" tIns="0" rIns="0" bIns="0" rtlCol="0" anchor="ctr"/>
          <a:lstStyle/>
          <a:p>
            <a:pPr marL="0" indent="0">
              <a:lnSpc>
                <a:spcPct val="116000"/>
              </a:lnSpc>
              <a:buNone/>
            </a:pPr>
            <a:r>
              <a:rPr lang="en-US" sz="1450" dirty="0">
                <a:solidFill>
                  <a:srgbClr val="232A3A"/>
                </a:solidFill>
                <a:latin typeface="Lato" pitchFamily="34" charset="0"/>
                <a:ea typeface="Lato" pitchFamily="34" charset="-122"/>
                <a:cs typeface="Lato" pitchFamily="34" charset="-120"/>
              </a:rPr>
              <a:t>La perspective écrite en 2024 — faire évoluer la cartographie des risques en continu, avec des algorithmes capables de suivre les vulnérabilités critiques — disposait d'un cadrage sans réalisation.</a:t>
            </a:r>
            <a:endParaRPr lang="en-US" sz="1450" dirty="0"/>
          </a:p>
        </p:txBody>
      </p:sp>
      <p:sp>
        <p:nvSpPr>
          <p:cNvPr id="20" name="Text 18"/>
          <p:cNvSpPr txBox="1"/>
          <p:nvPr/>
        </p:nvSpPr>
        <p:spPr>
          <a:xfrm>
            <a:off x="969264" y="4901184"/>
            <a:ext cx="10241280" cy="457200"/>
          </a:xfrm>
          <a:prstGeom prst="rect">
            <a:avLst/>
          </a:prstGeom>
          <a:noFill/>
          <a:ln/>
        </p:spPr>
        <p:txBody>
          <a:bodyPr wrap="square" lIns="0" tIns="0" rIns="0" bIns="0" rtlCol="0" anchor="ctr"/>
          <a:lstStyle/>
          <a:p>
            <a:pPr marL="0" indent="0">
              <a:lnSpc>
                <a:spcPct val="114000"/>
              </a:lnSpc>
              <a:buNone/>
            </a:pPr>
            <a:r>
              <a:rPr lang="en-US" sz="1550" b="1" dirty="0">
                <a:solidFill>
                  <a:srgbClr val="1B2A4A"/>
                </a:solidFill>
                <a:latin typeface="Lato" pitchFamily="34" charset="0"/>
                <a:ea typeface="Lato" pitchFamily="34" charset="-122"/>
                <a:cs typeface="Lato" pitchFamily="34" charset="-120"/>
              </a:rPr>
              <a:t>Ce mémoire en documente la première mise en œuvre. La suite : un maintien en condition opérationnelle automatisé, en interne puis chez les clients.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564E879F-684E-475D-890C-B7DFE91546DB}" type="slidenum">
              <a:rPr lang="fr-FR" sz="900" b="0">
                <a:solidFill>
                  <a:srgbClr val="4A5568"/>
                </a:solidFill>
                <a:latin typeface="Lato"/>
              </a:rPr>
              <a:t>52</a:t>
            </a:fld>
            <a:endParaRPr lang="fr-FR">
              <a:solidFill>
                <a:srgbClr val="4A5568"/>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CRITÈRE DE CONCEPTION · ODD 9 ET 12 (OBJECTIFS DE DÉVELOPPEMENT DURABLE)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Sobriété numérique de la démarche</a:t>
            </a:r>
            <a:endParaRPr lang="en-US" sz="3000" dirty="0"/>
          </a:p>
        </p:txBody>
      </p:sp>
      <p:sp>
        <p:nvSpPr>
          <p:cNvPr id="4" name="Text 2"/>
          <p:cNvSpPr txBox="1"/>
          <p:nvPr/>
        </p:nvSpPr>
        <p:spPr>
          <a:xfrm>
            <a:off x="731822" y="1514796"/>
            <a:ext cx="2066544" cy="749808"/>
          </a:xfrm>
          <a:prstGeom prst="rect">
            <a:avLst/>
          </a:prstGeom>
          <a:noFill/>
          <a:ln/>
        </p:spPr>
        <p:txBody>
          <a:bodyPr wrap="square" lIns="0" tIns="0" rIns="0" bIns="0" rtlCol="0" anchor="ctr"/>
          <a:lstStyle/>
          <a:p>
            <a:pPr marL="0" indent="0" algn="l">
              <a:buNone/>
            </a:pPr>
            <a:r>
              <a:rPr lang="en-US" sz="4400" b="1" dirty="0">
                <a:solidFill>
                  <a:srgbClr val="C5A55A"/>
                </a:solidFill>
                <a:latin typeface="Lato" pitchFamily="34" charset="0"/>
                <a:ea typeface="Lato" pitchFamily="34" charset="-122"/>
                <a:cs typeface="Lato" pitchFamily="34" charset="-120"/>
              </a:rPr>
              <a:t>0</a:t>
            </a:r>
            <a:endParaRPr lang="en-US" sz="4400" dirty="0"/>
          </a:p>
        </p:txBody>
      </p:sp>
      <p:sp>
        <p:nvSpPr>
          <p:cNvPr id="5" name="Text 3"/>
          <p:cNvSpPr txBox="1"/>
          <p:nvPr/>
        </p:nvSpPr>
        <p:spPr>
          <a:xfrm>
            <a:off x="731822" y="2246316"/>
            <a:ext cx="2066544" cy="566928"/>
          </a:xfrm>
          <a:prstGeom prst="rect">
            <a:avLst/>
          </a:prstGeom>
          <a:noFill/>
          <a:ln/>
        </p:spPr>
        <p:txBody>
          <a:bodyPr wrap="square" lIns="0" tIns="0" rIns="0" bIns="0" rtlCol="0" anchor="t"/>
          <a:lstStyle/>
          <a:p>
            <a:pPr marL="0" indent="0" algn="l">
              <a:lnSpc>
                <a:spcPct val="112000"/>
              </a:lnSpc>
              <a:buNone/>
            </a:pPr>
            <a:r>
              <a:rPr lang="en-US" sz="1200" dirty="0">
                <a:solidFill>
                  <a:srgbClr val="4A5568"/>
                </a:solidFill>
                <a:latin typeface="Lato" pitchFamily="34" charset="0"/>
                <a:ea typeface="Lato" pitchFamily="34" charset="-122"/>
                <a:cs typeface="Lato" pitchFamily="34" charset="-120"/>
              </a:rPr>
              <a:t>machine achetée</a:t>
            </a:r>
            <a:endParaRPr lang="en-US" sz="1200" dirty="0"/>
          </a:p>
          <a:p>
            <a:pPr marL="0" indent="0" algn="l">
              <a:lnSpc>
                <a:spcPct val="112000"/>
              </a:lnSpc>
              <a:buNone/>
            </a:pPr>
            <a:r>
              <a:rPr lang="en-US" sz="1200" dirty="0">
                <a:solidFill>
                  <a:srgbClr val="4A5568"/>
                </a:solidFill>
                <a:latin typeface="Lato" pitchFamily="34" charset="0"/>
                <a:ea typeface="Lato" pitchFamily="34" charset="-122"/>
                <a:cs typeface="Lato" pitchFamily="34" charset="-120"/>
              </a:rPr>
              <a:t>ou louée</a:t>
            </a:r>
            <a:endParaRPr lang="en-US" sz="1200" dirty="0"/>
          </a:p>
        </p:txBody>
      </p:sp>
      <p:sp>
        <p:nvSpPr>
          <p:cNvPr id="6" name="Text 4"/>
          <p:cNvSpPr txBox="1"/>
          <p:nvPr/>
        </p:nvSpPr>
        <p:spPr>
          <a:xfrm>
            <a:off x="2853230" y="1514796"/>
            <a:ext cx="2066544" cy="749808"/>
          </a:xfrm>
          <a:prstGeom prst="rect">
            <a:avLst/>
          </a:prstGeom>
          <a:noFill/>
          <a:ln/>
        </p:spPr>
        <p:txBody>
          <a:bodyPr wrap="square" lIns="0" tIns="0" rIns="0" bIns="0" rtlCol="0" anchor="ctr"/>
          <a:lstStyle/>
          <a:p>
            <a:pPr marL="0" indent="0" algn="l">
              <a:buNone/>
            </a:pPr>
            <a:r>
              <a:rPr lang="en-US" sz="4400" b="1" dirty="0">
                <a:solidFill>
                  <a:srgbClr val="C5A55A"/>
                </a:solidFill>
                <a:latin typeface="Lato" pitchFamily="34" charset="0"/>
                <a:ea typeface="Lato" pitchFamily="34" charset="-122"/>
                <a:cs typeface="Lato" pitchFamily="34" charset="-120"/>
              </a:rPr>
              <a:t>0</a:t>
            </a:r>
            <a:endParaRPr lang="en-US" sz="4400" dirty="0"/>
          </a:p>
        </p:txBody>
      </p:sp>
      <p:sp>
        <p:nvSpPr>
          <p:cNvPr id="7" name="Text 5"/>
          <p:cNvSpPr txBox="1"/>
          <p:nvPr/>
        </p:nvSpPr>
        <p:spPr>
          <a:xfrm>
            <a:off x="2853230" y="2246316"/>
            <a:ext cx="2066544" cy="566928"/>
          </a:xfrm>
          <a:prstGeom prst="rect">
            <a:avLst/>
          </a:prstGeom>
          <a:noFill/>
          <a:ln/>
        </p:spPr>
        <p:txBody>
          <a:bodyPr wrap="square" lIns="0" tIns="0" rIns="0" bIns="0" rtlCol="0" anchor="t"/>
          <a:lstStyle/>
          <a:p>
            <a:pPr marL="0" indent="0" algn="l">
              <a:lnSpc>
                <a:spcPct val="112000"/>
              </a:lnSpc>
              <a:buNone/>
            </a:pPr>
            <a:r>
              <a:rPr lang="en-US" sz="1200" dirty="0">
                <a:solidFill>
                  <a:srgbClr val="4A5568"/>
                </a:solidFill>
                <a:latin typeface="Lato" pitchFamily="34" charset="0"/>
                <a:ea typeface="Lato" pitchFamily="34" charset="-122"/>
                <a:cs typeface="Lato" pitchFamily="34" charset="-120"/>
              </a:rPr>
              <a:t>ressource cloud</a:t>
            </a:r>
            <a:endParaRPr lang="en-US" sz="1200" dirty="0"/>
          </a:p>
          <a:p>
            <a:pPr marL="0" indent="0" algn="l">
              <a:lnSpc>
                <a:spcPct val="112000"/>
              </a:lnSpc>
              <a:buNone/>
            </a:pPr>
            <a:r>
              <a:rPr lang="en-US" sz="1200" dirty="0">
                <a:solidFill>
                  <a:srgbClr val="4A5568"/>
                </a:solidFill>
                <a:latin typeface="Lato" pitchFamily="34" charset="0"/>
                <a:ea typeface="Lato" pitchFamily="34" charset="-122"/>
                <a:cs typeface="Lato" pitchFamily="34" charset="-120"/>
              </a:rPr>
              <a:t>supplémentaire</a:t>
            </a:r>
            <a:endParaRPr lang="en-US" sz="1200" dirty="0"/>
          </a:p>
        </p:txBody>
      </p:sp>
      <p:sp>
        <p:nvSpPr>
          <p:cNvPr id="8" name="Text 6"/>
          <p:cNvSpPr txBox="1"/>
          <p:nvPr/>
        </p:nvSpPr>
        <p:spPr>
          <a:xfrm>
            <a:off x="4974638" y="1514796"/>
            <a:ext cx="2066544" cy="749808"/>
          </a:xfrm>
          <a:prstGeom prst="rect">
            <a:avLst/>
          </a:prstGeom>
          <a:noFill/>
          <a:ln/>
        </p:spPr>
        <p:txBody>
          <a:bodyPr wrap="square" lIns="0" tIns="0" rIns="0" bIns="0" rtlCol="0" anchor="ctr"/>
          <a:lstStyle/>
          <a:p>
            <a:pPr marL="0" indent="0" algn="l">
              <a:buNone/>
            </a:pPr>
            <a:r>
              <a:rPr lang="en-US" sz="4400" b="1" dirty="0">
                <a:solidFill>
                  <a:srgbClr val="C5A55A"/>
                </a:solidFill>
                <a:latin typeface="Lato" pitchFamily="34" charset="0"/>
                <a:ea typeface="Lato" pitchFamily="34" charset="-122"/>
                <a:cs typeface="Lato" pitchFamily="34" charset="-120"/>
              </a:rPr>
              <a:t>100 %</a:t>
            </a:r>
            <a:endParaRPr lang="en-US" sz="4400" dirty="0"/>
          </a:p>
        </p:txBody>
      </p:sp>
      <p:sp>
        <p:nvSpPr>
          <p:cNvPr id="9" name="Text 7"/>
          <p:cNvSpPr txBox="1"/>
          <p:nvPr/>
        </p:nvSpPr>
        <p:spPr>
          <a:xfrm>
            <a:off x="4974638" y="2246316"/>
            <a:ext cx="2066544" cy="566928"/>
          </a:xfrm>
          <a:prstGeom prst="rect">
            <a:avLst/>
          </a:prstGeom>
          <a:noFill/>
          <a:ln/>
        </p:spPr>
        <p:txBody>
          <a:bodyPr wrap="square" lIns="0" tIns="0" rIns="0" bIns="0" rtlCol="0" anchor="t"/>
          <a:lstStyle/>
          <a:p>
            <a:pPr marL="0" indent="0" algn="l">
              <a:lnSpc>
                <a:spcPct val="112000"/>
              </a:lnSpc>
              <a:buNone/>
            </a:pPr>
            <a:r>
              <a:rPr lang="en-US" sz="1200" dirty="0">
                <a:solidFill>
                  <a:srgbClr val="4A5568"/>
                </a:solidFill>
                <a:latin typeface="Lato" pitchFamily="34" charset="0"/>
                <a:ea typeface="Lato" pitchFamily="34" charset="-122"/>
                <a:cs typeface="Lato" pitchFamily="34" charset="-120"/>
              </a:rPr>
              <a:t>Choix </a:t>
            </a:r>
            <a:r>
              <a:rPr lang="en-US" sz="1200" dirty="0" err="1">
                <a:solidFill>
                  <a:srgbClr val="4A5568"/>
                </a:solidFill>
                <a:latin typeface="Lato" pitchFamily="34" charset="0"/>
                <a:ea typeface="Lato" pitchFamily="34" charset="-122"/>
                <a:cs typeface="Lato" pitchFamily="34" charset="-120"/>
              </a:rPr>
              <a:t>d’outils</a:t>
            </a:r>
            <a:r>
              <a:rPr lang="en-US" sz="1200" dirty="0">
                <a:solidFill>
                  <a:srgbClr val="4A5568"/>
                </a:solidFill>
                <a:latin typeface="Lato" pitchFamily="34" charset="0"/>
                <a:ea typeface="Lato" pitchFamily="34" charset="-122"/>
                <a:cs typeface="Lato" pitchFamily="34" charset="-120"/>
              </a:rPr>
              <a:t> </a:t>
            </a:r>
            <a:br>
              <a:rPr lang="en-US" sz="1200" dirty="0">
                <a:solidFill>
                  <a:srgbClr val="6E7788"/>
                </a:solidFill>
                <a:latin typeface="Lato" pitchFamily="34" charset="0"/>
                <a:ea typeface="Lato" pitchFamily="34" charset="-122"/>
                <a:cs typeface="Lato" pitchFamily="34" charset="-120"/>
              </a:rPr>
            </a:br>
            <a:r>
              <a:rPr lang="en-US" sz="1200" dirty="0">
                <a:solidFill>
                  <a:srgbClr val="4A5568"/>
                </a:solidFill>
                <a:latin typeface="Lato" pitchFamily="34" charset="0"/>
                <a:ea typeface="Lato" pitchFamily="34" charset="-122"/>
                <a:cs typeface="Lato" pitchFamily="34" charset="-120"/>
              </a:rPr>
              <a:t>open source</a:t>
            </a:r>
            <a:endParaRPr lang="en-US" sz="1200" dirty="0"/>
          </a:p>
        </p:txBody>
      </p:sp>
      <p:sp>
        <p:nvSpPr>
          <p:cNvPr id="13" name="Text 11"/>
          <p:cNvSpPr txBox="1"/>
          <p:nvPr/>
        </p:nvSpPr>
        <p:spPr>
          <a:xfrm>
            <a:off x="658368" y="3218688"/>
            <a:ext cx="310896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ÉCARTÉ</a:t>
            </a:r>
            <a:endParaRPr lang="en-US" sz="1000" dirty="0"/>
          </a:p>
        </p:txBody>
      </p:sp>
      <p:sp>
        <p:nvSpPr>
          <p:cNvPr id="14" name="Text 12"/>
          <p:cNvSpPr txBox="1"/>
          <p:nvPr/>
        </p:nvSpPr>
        <p:spPr>
          <a:xfrm>
            <a:off x="4443984" y="3218688"/>
            <a:ext cx="310896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RETENU À LA PLACE</a:t>
            </a:r>
            <a:endParaRPr lang="en-US" sz="1000" dirty="0"/>
          </a:p>
        </p:txBody>
      </p:sp>
      <p:sp>
        <p:nvSpPr>
          <p:cNvPr id="15" name="Text 13"/>
          <p:cNvSpPr txBox="1"/>
          <p:nvPr/>
        </p:nvSpPr>
        <p:spPr>
          <a:xfrm>
            <a:off x="8193024" y="3218688"/>
            <a:ext cx="310896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GAIN</a:t>
            </a:r>
            <a:endParaRPr lang="en-US" sz="1000" dirty="0"/>
          </a:p>
        </p:txBody>
      </p:sp>
      <p:sp>
        <p:nvSpPr>
          <p:cNvPr id="16" name="Text 14"/>
          <p:cNvSpPr txBox="1"/>
          <p:nvPr/>
        </p:nvSpPr>
        <p:spPr>
          <a:xfrm>
            <a:off x="658368" y="3566160"/>
            <a:ext cx="3529584" cy="548640"/>
          </a:xfrm>
          <a:prstGeom prst="rect">
            <a:avLst/>
          </a:prstGeom>
          <a:noFill/>
          <a:ln/>
        </p:spPr>
        <p:txBody>
          <a:bodyPr wrap="square" lIns="0" tIns="0" rIns="0" bIns="0" rtlCol="0" anchor="ctr"/>
          <a:lstStyle/>
          <a:p>
            <a:pPr marL="0" indent="0">
              <a:lnSpc>
                <a:spcPct val="108000"/>
              </a:lnSpc>
              <a:buNone/>
            </a:pPr>
            <a:r>
              <a:rPr lang="en-US" sz="1250" strike="sngStrike" dirty="0">
                <a:solidFill>
                  <a:srgbClr val="4A5568"/>
                </a:solidFill>
                <a:latin typeface="Lato" pitchFamily="34" charset="0"/>
                <a:ea typeface="Lato" pitchFamily="34" charset="-122"/>
                <a:cs typeface="Lato" pitchFamily="34" charset="-120"/>
              </a:rPr>
              <a:t>Serveur de base de données dédié</a:t>
            </a:r>
            <a:endParaRPr lang="en-US" sz="1250" dirty="0"/>
          </a:p>
        </p:txBody>
      </p:sp>
      <p:sp>
        <p:nvSpPr>
          <p:cNvPr id="17" name="Text 15"/>
          <p:cNvSpPr txBox="1"/>
          <p:nvPr/>
        </p:nvSpPr>
        <p:spPr>
          <a:xfrm>
            <a:off x="4041648" y="3685032"/>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18" name="Text 16"/>
          <p:cNvSpPr txBox="1"/>
          <p:nvPr/>
        </p:nvSpPr>
        <p:spPr>
          <a:xfrm>
            <a:off x="4443984" y="3566160"/>
            <a:ext cx="3529584" cy="548640"/>
          </a:xfrm>
          <a:prstGeom prst="rect">
            <a:avLst/>
          </a:prstGeom>
          <a:noFill/>
          <a:ln/>
        </p:spPr>
        <p:txBody>
          <a:bodyPr wrap="square" lIns="0" tIns="0" rIns="0" bIns="0" rtlCol="0" anchor="ctr"/>
          <a:lstStyle/>
          <a:p>
            <a:pPr marL="0" indent="0">
              <a:lnSpc>
                <a:spcPct val="108000"/>
              </a:lnSpc>
              <a:buNone/>
            </a:pPr>
            <a:r>
              <a:rPr lang="en-US" sz="1250" b="1" dirty="0">
                <a:solidFill>
                  <a:srgbClr val="1B2A4A"/>
                </a:solidFill>
                <a:latin typeface="Lato" pitchFamily="34" charset="0"/>
                <a:ea typeface="Lato" pitchFamily="34" charset="-122"/>
                <a:cs typeface="Lato" pitchFamily="34" charset="-120"/>
              </a:rPr>
              <a:t>base embarquée dans l'application</a:t>
            </a:r>
            <a:endParaRPr lang="en-US" sz="1250" dirty="0"/>
          </a:p>
        </p:txBody>
      </p:sp>
      <p:sp>
        <p:nvSpPr>
          <p:cNvPr id="19" name="Text 17"/>
          <p:cNvSpPr txBox="1"/>
          <p:nvPr/>
        </p:nvSpPr>
        <p:spPr>
          <a:xfrm>
            <a:off x="7790688" y="3685032"/>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20" name="Text 18"/>
          <p:cNvSpPr txBox="1"/>
          <p:nvPr/>
        </p:nvSpPr>
        <p:spPr>
          <a:xfrm>
            <a:off x="8193024" y="3566160"/>
            <a:ext cx="3346704" cy="548640"/>
          </a:xfrm>
          <a:prstGeom prst="rect">
            <a:avLst/>
          </a:prstGeom>
          <a:noFill/>
          <a:ln/>
        </p:spPr>
        <p:txBody>
          <a:bodyPr wrap="square" lIns="0" tIns="0" rIns="0" bIns="0" rtlCol="0" anchor="ctr"/>
          <a:lstStyle/>
          <a:p>
            <a:pPr marL="0" indent="0">
              <a:lnSpc>
                <a:spcPct val="108000"/>
              </a:lnSpc>
              <a:buNone/>
            </a:pPr>
            <a:r>
              <a:rPr lang="en-US" sz="1250" b="1" dirty="0">
                <a:solidFill>
                  <a:srgbClr val="C5A55A"/>
                </a:solidFill>
                <a:latin typeface="Lato" pitchFamily="34" charset="0"/>
                <a:ea typeface="Lato" pitchFamily="34" charset="-122"/>
                <a:cs typeface="Lato" pitchFamily="34" charset="-120"/>
              </a:rPr>
              <a:t>aucune machine à maintenir</a:t>
            </a:r>
            <a:endParaRPr lang="en-US" sz="1250" dirty="0"/>
          </a:p>
        </p:txBody>
      </p:sp>
      <p:sp>
        <p:nvSpPr>
          <p:cNvPr id="21" name="Text 19"/>
          <p:cNvSpPr txBox="1"/>
          <p:nvPr/>
        </p:nvSpPr>
        <p:spPr>
          <a:xfrm>
            <a:off x="658368" y="4279392"/>
            <a:ext cx="3529584" cy="548640"/>
          </a:xfrm>
          <a:prstGeom prst="rect">
            <a:avLst/>
          </a:prstGeom>
          <a:noFill/>
          <a:ln/>
        </p:spPr>
        <p:txBody>
          <a:bodyPr wrap="square" lIns="0" tIns="0" rIns="0" bIns="0" rtlCol="0" anchor="ctr"/>
          <a:lstStyle/>
          <a:p>
            <a:pPr marL="0" indent="0">
              <a:lnSpc>
                <a:spcPct val="108000"/>
              </a:lnSpc>
              <a:buNone/>
            </a:pPr>
            <a:r>
              <a:rPr lang="en-US" sz="1250" strike="sngStrike" dirty="0">
                <a:solidFill>
                  <a:srgbClr val="4A5568"/>
                </a:solidFill>
                <a:latin typeface="Lato" pitchFamily="34" charset="0"/>
                <a:ea typeface="Lato" pitchFamily="34" charset="-122"/>
                <a:cs typeface="Lato" pitchFamily="34" charset="-120"/>
              </a:rPr>
              <a:t>Pile de traitement distribuée</a:t>
            </a:r>
            <a:endParaRPr lang="en-US" sz="1250" dirty="0"/>
          </a:p>
        </p:txBody>
      </p:sp>
      <p:sp>
        <p:nvSpPr>
          <p:cNvPr id="22" name="Text 20"/>
          <p:cNvSpPr txBox="1"/>
          <p:nvPr/>
        </p:nvSpPr>
        <p:spPr>
          <a:xfrm>
            <a:off x="4041648" y="439826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23" name="Text 21"/>
          <p:cNvSpPr txBox="1"/>
          <p:nvPr/>
        </p:nvSpPr>
        <p:spPr>
          <a:xfrm>
            <a:off x="4443984" y="4279392"/>
            <a:ext cx="3529584" cy="548640"/>
          </a:xfrm>
          <a:prstGeom prst="rect">
            <a:avLst/>
          </a:prstGeom>
          <a:noFill/>
          <a:ln/>
        </p:spPr>
        <p:txBody>
          <a:bodyPr wrap="square" lIns="0" tIns="0" rIns="0" bIns="0" rtlCol="0" anchor="ctr"/>
          <a:lstStyle/>
          <a:p>
            <a:pPr marL="0" indent="0">
              <a:lnSpc>
                <a:spcPct val="108000"/>
              </a:lnSpc>
              <a:buNone/>
            </a:pPr>
            <a:r>
              <a:rPr lang="en-US" sz="1250" b="1" dirty="0">
                <a:solidFill>
                  <a:srgbClr val="1B2A4A"/>
                </a:solidFill>
                <a:latin typeface="Lato" pitchFamily="34" charset="0"/>
                <a:ea typeface="Lato" pitchFamily="34" charset="-122"/>
                <a:cs typeface="Lato" pitchFamily="34" charset="-120"/>
              </a:rPr>
              <a:t>ordonnanceur logé dans le processus</a:t>
            </a:r>
            <a:endParaRPr lang="en-US" sz="1250" dirty="0"/>
          </a:p>
        </p:txBody>
      </p:sp>
      <p:sp>
        <p:nvSpPr>
          <p:cNvPr id="24" name="Text 22"/>
          <p:cNvSpPr txBox="1"/>
          <p:nvPr/>
        </p:nvSpPr>
        <p:spPr>
          <a:xfrm>
            <a:off x="7790688" y="4398264"/>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25" name="Text 23"/>
          <p:cNvSpPr txBox="1"/>
          <p:nvPr/>
        </p:nvSpPr>
        <p:spPr>
          <a:xfrm>
            <a:off x="8193024" y="4279392"/>
            <a:ext cx="3346704" cy="548640"/>
          </a:xfrm>
          <a:prstGeom prst="rect">
            <a:avLst/>
          </a:prstGeom>
          <a:noFill/>
          <a:ln/>
        </p:spPr>
        <p:txBody>
          <a:bodyPr wrap="square" lIns="0" tIns="0" rIns="0" bIns="0" rtlCol="0" anchor="ctr"/>
          <a:lstStyle/>
          <a:p>
            <a:pPr marL="0" indent="0">
              <a:lnSpc>
                <a:spcPct val="108000"/>
              </a:lnSpc>
              <a:buNone/>
            </a:pPr>
            <a:r>
              <a:rPr lang="en-US" sz="1250" b="1" dirty="0">
                <a:solidFill>
                  <a:srgbClr val="C5A55A"/>
                </a:solidFill>
                <a:latin typeface="Lato" pitchFamily="34" charset="0"/>
                <a:ea typeface="Lato" pitchFamily="34" charset="-122"/>
                <a:cs typeface="Lato" pitchFamily="34" charset="-120"/>
              </a:rPr>
              <a:t>une seule exécution à surveiller</a:t>
            </a:r>
            <a:endParaRPr lang="en-US" sz="1250" dirty="0"/>
          </a:p>
        </p:txBody>
      </p:sp>
      <p:sp>
        <p:nvSpPr>
          <p:cNvPr id="26" name="Text 24"/>
          <p:cNvSpPr txBox="1"/>
          <p:nvPr/>
        </p:nvSpPr>
        <p:spPr>
          <a:xfrm>
            <a:off x="658368" y="4992624"/>
            <a:ext cx="3529584" cy="548640"/>
          </a:xfrm>
          <a:prstGeom prst="rect">
            <a:avLst/>
          </a:prstGeom>
          <a:noFill/>
          <a:ln/>
        </p:spPr>
        <p:txBody>
          <a:bodyPr wrap="square" lIns="0" tIns="0" rIns="0" bIns="0" rtlCol="0" anchor="ctr"/>
          <a:lstStyle/>
          <a:p>
            <a:pPr marL="0" indent="0">
              <a:lnSpc>
                <a:spcPct val="108000"/>
              </a:lnSpc>
              <a:buNone/>
            </a:pPr>
            <a:r>
              <a:rPr lang="en-US" sz="1250" strike="sngStrike" dirty="0">
                <a:solidFill>
                  <a:srgbClr val="4A5568"/>
                </a:solidFill>
                <a:latin typeface="Lato" pitchFamily="34" charset="0"/>
                <a:ea typeface="Lato" pitchFamily="34" charset="-122"/>
                <a:cs typeface="Lato" pitchFamily="34" charset="-120"/>
              </a:rPr>
              <a:t>Chaîne de compilation de l'interface</a:t>
            </a:r>
            <a:endParaRPr lang="en-US" sz="1250" dirty="0"/>
          </a:p>
        </p:txBody>
      </p:sp>
      <p:sp>
        <p:nvSpPr>
          <p:cNvPr id="27" name="Text 25"/>
          <p:cNvSpPr txBox="1"/>
          <p:nvPr/>
        </p:nvSpPr>
        <p:spPr>
          <a:xfrm>
            <a:off x="4041648" y="5111496"/>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28" name="Text 26"/>
          <p:cNvSpPr txBox="1"/>
          <p:nvPr/>
        </p:nvSpPr>
        <p:spPr>
          <a:xfrm>
            <a:off x="4443984" y="4992624"/>
            <a:ext cx="3529584" cy="548640"/>
          </a:xfrm>
          <a:prstGeom prst="rect">
            <a:avLst/>
          </a:prstGeom>
          <a:noFill/>
          <a:ln/>
        </p:spPr>
        <p:txBody>
          <a:bodyPr wrap="square" lIns="0" tIns="0" rIns="0" bIns="0" rtlCol="0" anchor="ctr"/>
          <a:lstStyle/>
          <a:p>
            <a:pPr marL="0" indent="0">
              <a:lnSpc>
                <a:spcPct val="108000"/>
              </a:lnSpc>
              <a:buNone/>
            </a:pPr>
            <a:r>
              <a:rPr lang="en-US" sz="1250" b="1" dirty="0">
                <a:solidFill>
                  <a:srgbClr val="1B2A4A"/>
                </a:solidFill>
                <a:latin typeface="Lato" pitchFamily="34" charset="0"/>
                <a:ea typeface="Lato" pitchFamily="34" charset="-122"/>
                <a:cs typeface="Lato" pitchFamily="34" charset="-120"/>
              </a:rPr>
              <a:t>interface statique</a:t>
            </a:r>
            <a:endParaRPr lang="en-US" sz="1250" dirty="0"/>
          </a:p>
        </p:txBody>
      </p:sp>
      <p:sp>
        <p:nvSpPr>
          <p:cNvPr id="29" name="Text 27"/>
          <p:cNvSpPr txBox="1"/>
          <p:nvPr/>
        </p:nvSpPr>
        <p:spPr>
          <a:xfrm>
            <a:off x="7790688" y="5111496"/>
            <a:ext cx="310896" cy="310896"/>
          </a:xfrm>
          <a:prstGeom prst="rect">
            <a:avLst/>
          </a:prstGeom>
          <a:noFill/>
          <a:ln/>
        </p:spPr>
        <p:txBody>
          <a:bodyPr wrap="square" lIns="0" tIns="0" rIns="0" bIns="0" rtlCol="0" anchor="ctr"/>
          <a:lstStyle/>
          <a:p>
            <a:pPr marL="0" indent="0" algn="ctr">
              <a:buNone/>
            </a:pPr>
            <a:r>
              <a:rPr lang="en-US" sz="2200" b="1" dirty="0">
                <a:solidFill>
                  <a:srgbClr val="C5A55A"/>
                </a:solidFill>
                <a:latin typeface="Lato" pitchFamily="34" charset="0"/>
                <a:ea typeface="Lato" pitchFamily="34" charset="-122"/>
                <a:cs typeface="Lato" pitchFamily="34" charset="-120"/>
              </a:rPr>
              <a:t>›</a:t>
            </a:r>
            <a:endParaRPr lang="en-US" sz="2200" dirty="0"/>
          </a:p>
        </p:txBody>
      </p:sp>
      <p:sp>
        <p:nvSpPr>
          <p:cNvPr id="30" name="Text 28"/>
          <p:cNvSpPr txBox="1"/>
          <p:nvPr/>
        </p:nvSpPr>
        <p:spPr>
          <a:xfrm>
            <a:off x="8193024" y="4992624"/>
            <a:ext cx="3346704" cy="548640"/>
          </a:xfrm>
          <a:prstGeom prst="rect">
            <a:avLst/>
          </a:prstGeom>
          <a:noFill/>
          <a:ln/>
        </p:spPr>
        <p:txBody>
          <a:bodyPr wrap="square" lIns="0" tIns="0" rIns="0" bIns="0" rtlCol="0" anchor="ctr"/>
          <a:lstStyle/>
          <a:p>
            <a:pPr marL="0" indent="0">
              <a:lnSpc>
                <a:spcPct val="108000"/>
              </a:lnSpc>
              <a:buNone/>
            </a:pPr>
            <a:r>
              <a:rPr lang="en-US" sz="1250" b="1" dirty="0">
                <a:solidFill>
                  <a:srgbClr val="C5A55A"/>
                </a:solidFill>
                <a:latin typeface="Lato" pitchFamily="34" charset="0"/>
                <a:ea typeface="Lato" pitchFamily="34" charset="-122"/>
                <a:cs typeface="Lato" pitchFamily="34" charset="-120"/>
              </a:rPr>
              <a:t>aucune dépendance de construction</a:t>
            </a:r>
            <a:endParaRPr lang="en-US" sz="1250" dirty="0"/>
          </a:p>
        </p:txBody>
      </p:sp>
      <p:sp>
        <p:nvSpPr>
          <p:cNvPr id="31" name="Shape 29"/>
          <p:cNvSpPr/>
          <p:nvPr/>
        </p:nvSpPr>
        <p:spPr>
          <a:xfrm>
            <a:off x="658368" y="5870448"/>
            <a:ext cx="10874959" cy="566928"/>
          </a:xfrm>
          <a:prstGeom prst="rect">
            <a:avLst/>
          </a:prstGeom>
          <a:solidFill>
            <a:srgbClr val="1B2A4A"/>
          </a:solidFill>
          <a:ln/>
        </p:spPr>
        <p:txBody>
          <a:bodyPr/>
          <a:lstStyle/>
          <a:p>
            <a:endParaRPr lang="fr-FR"/>
          </a:p>
        </p:txBody>
      </p:sp>
      <p:sp>
        <p:nvSpPr>
          <p:cNvPr id="32" name="Text 30"/>
          <p:cNvSpPr txBox="1"/>
          <p:nvPr/>
        </p:nvSpPr>
        <p:spPr>
          <a:xfrm>
            <a:off x="1402080" y="5856224"/>
            <a:ext cx="10362895" cy="566928"/>
          </a:xfrm>
          <a:prstGeom prst="rect">
            <a:avLst/>
          </a:prstGeom>
          <a:noFill/>
          <a:ln/>
        </p:spPr>
        <p:txBody>
          <a:bodyPr wrap="square" lIns="0" tIns="0" rIns="0" bIns="0" rtlCol="0" anchor="ctr"/>
          <a:lstStyle/>
          <a:p>
            <a:pPr marL="0" indent="0">
              <a:lnSpc>
                <a:spcPct val="106000"/>
              </a:lnSpc>
              <a:buNone/>
            </a:pPr>
            <a:r>
              <a:rPr lang="en-US" sz="1250" b="1" i="1" dirty="0">
                <a:solidFill>
                  <a:srgbClr val="FFFFFF"/>
                </a:solidFill>
                <a:latin typeface="Lato" pitchFamily="34" charset="0"/>
                <a:ea typeface="Lato" pitchFamily="34" charset="-122"/>
                <a:cs typeface="Lato" pitchFamily="34" charset="-120"/>
              </a:rPr>
              <a:t>Mieux hiérarchiser concentre le temps machine et le temps humain là où le risque baisse réellement.</a:t>
            </a:r>
            <a:endParaRPr lang="en-US" sz="1250" i="1" dirty="0"/>
          </a:p>
        </p:txBody>
      </p:sp>
      <p:pic>
        <p:nvPicPr>
          <p:cNvPr id="36" name="Graphique 35" descr="Informations contour">
            <a:extLst>
              <a:ext uri="{FF2B5EF4-FFF2-40B4-BE49-F238E27FC236}">
                <a16:creationId xmlns:a16="http://schemas.microsoft.com/office/drawing/2014/main" id="{463E8F4C-7F6A-DB2C-DE89-05AC3E5BCD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4672" y="5928360"/>
            <a:ext cx="451104" cy="451104"/>
          </a:xfrm>
          <a:prstGeom prst="rect">
            <a:avLst/>
          </a:prstGeom>
        </p:spPr>
      </p:pic>
      <p:sp>
        <p:nvSpPr>
          <p:cNvPr id="901" name="Rounded Rectangle 900"/>
          <p:cNvSpPr/>
          <p:nvPr/>
        </p:nvSpPr>
        <p:spPr>
          <a:xfrm>
            <a:off x="8660126" y="1514796"/>
            <a:ext cx="900000" cy="900000"/>
          </a:xfrm>
          <a:prstGeom prst="roundRect">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2" name="TextBox 901"/>
          <p:cNvSpPr txBox="1"/>
          <p:nvPr/>
        </p:nvSpPr>
        <p:spPr>
          <a:xfrm>
            <a:off x="8660126" y="1514796"/>
            <a:ext cx="900000" cy="900000"/>
          </a:xfrm>
          <a:prstGeom prst="rect">
            <a:avLst/>
          </a:prstGeom>
          <a:noFill/>
        </p:spPr>
        <p:txBody>
          <a:bodyPr wrap="square" lIns="0" tIns="0" rIns="0" bIns="0" anchor="ctr">
            <a:spAutoFit/>
          </a:bodyPr>
          <a:lstStyle/>
          <a:p>
            <a:pPr algn="ctr"/>
            <a:r>
              <a:rPr sz="3000" b="1" i="0">
                <a:solidFill>
                  <a:srgbClr val="FFFFFF"/>
                </a:solidFill>
                <a:latin typeface="Lato"/>
              </a:rPr>
              <a:t>9</a:t>
            </a:r>
          </a:p>
        </p:txBody>
      </p:sp>
      <p:sp>
        <p:nvSpPr>
          <p:cNvPr id="903" name="Rounded Rectangle 902"/>
          <p:cNvSpPr/>
          <p:nvPr/>
        </p:nvSpPr>
        <p:spPr>
          <a:xfrm>
            <a:off x="9670126" y="1514796"/>
            <a:ext cx="900000" cy="900000"/>
          </a:xfrm>
          <a:prstGeom prst="roundRect">
            <a:avLst/>
          </a:prstGeom>
          <a:solidFill>
            <a:srgbClr val="BF8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4" name="TextBox 903"/>
          <p:cNvSpPr txBox="1"/>
          <p:nvPr/>
        </p:nvSpPr>
        <p:spPr>
          <a:xfrm>
            <a:off x="9670126" y="1514796"/>
            <a:ext cx="900000" cy="900000"/>
          </a:xfrm>
          <a:prstGeom prst="rect">
            <a:avLst/>
          </a:prstGeom>
          <a:noFill/>
        </p:spPr>
        <p:txBody>
          <a:bodyPr wrap="square" lIns="0" tIns="0" rIns="0" bIns="0" anchor="ctr">
            <a:spAutoFit/>
          </a:bodyPr>
          <a:lstStyle/>
          <a:p>
            <a:pPr algn="ctr"/>
            <a:r>
              <a:rPr sz="3000" b="1" i="0">
                <a:solidFill>
                  <a:srgbClr val="FFFFFF"/>
                </a:solidFill>
                <a:latin typeface="Lato"/>
              </a:rPr>
              <a:t>12</a:t>
            </a:r>
          </a:p>
        </p:txBody>
      </p:sp>
      <p:sp>
        <p:nvSpPr>
          <p:cNvPr id="906" name="TextBox 905"/>
          <p:cNvSpPr txBox="1"/>
          <p:nvPr/>
        </p:nvSpPr>
        <p:spPr>
          <a:xfrm>
            <a:off x="8660126" y="2530000"/>
            <a:ext cx="1913839" cy="700000"/>
          </a:xfrm>
          <a:prstGeom prst="rect">
            <a:avLst/>
          </a:prstGeom>
          <a:noFill/>
        </p:spPr>
        <p:txBody>
          <a:bodyPr wrap="square" lIns="0" tIns="0" rIns="0" bIns="0" anchor="t">
            <a:spAutoFit/>
          </a:bodyPr>
          <a:lstStyle/>
          <a:p>
            <a:pPr algn="l"/>
            <a:r>
              <a:rPr sz="950" b="0" i="0">
                <a:solidFill>
                  <a:srgbClr val="4A5568"/>
                </a:solidFill>
                <a:latin typeface="Lato"/>
              </a:rPr>
              <a:t>ODD 9 — infrastructure résiliente</a:t>
            </a:r>
          </a:p>
          <a:p>
            <a:pPr algn="l"/>
            <a:r>
              <a:rPr sz="950" b="0" i="0">
                <a:solidFill>
                  <a:srgbClr val="4A5568"/>
                </a:solidFill>
                <a:latin typeface="Lato"/>
              </a:rPr>
              <a:t>ODD 12 — production responsable</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78992432-F1AE-4956-94BB-38A9AD6FD3CE}" type="slidenum">
              <a:rPr lang="fr-FR" sz="900" b="0">
                <a:solidFill>
                  <a:srgbClr val="4A5568"/>
                </a:solidFill>
                <a:latin typeface="Lato"/>
              </a:rPr>
              <a:t>53</a:t>
            </a:fld>
            <a:endParaRPr lang="fr-FR">
              <a:solidFill>
                <a:srgbClr val="4A5568"/>
              </a:solidFill>
            </a:endParaRPr>
          </a:p>
        </p:txBody>
      </p:sp>
      <p:pic>
        <p:nvPicPr>
          <p:cNvPr id="11" name="Image 10" descr="The image depicts a stylized cube structure with nine interconnected segments, symbolizing the integration of industry, innovation, and infrastructure.&#10;&#10;Le contenu généré par l’IA peut être incorrect.">
            <a:extLst>
              <a:ext uri="{FF2B5EF4-FFF2-40B4-BE49-F238E27FC236}">
                <a16:creationId xmlns:a16="http://schemas.microsoft.com/office/drawing/2014/main" id="{812CAB32-6D8C-2FD3-1850-1EE14E19C099}"/>
              </a:ext>
            </a:extLst>
          </p:cNvPr>
          <p:cNvPicPr>
            <a:picLocks noChangeAspect="1"/>
          </p:cNvPicPr>
          <p:nvPr/>
        </p:nvPicPr>
        <p:blipFill>
          <a:blip r:embed="rId4"/>
          <a:stretch>
            <a:fillRect/>
          </a:stretch>
        </p:blipFill>
        <p:spPr>
          <a:xfrm>
            <a:off x="8660126" y="1462128"/>
            <a:ext cx="950574" cy="950574"/>
          </a:xfrm>
          <a:prstGeom prst="rect">
            <a:avLst/>
          </a:prstGeom>
        </p:spPr>
      </p:pic>
      <p:pic>
        <p:nvPicPr>
          <p:cNvPr id="33" name="Image 32" descr="RESPONSIBLE CONSUMPTION AND PRODUCTION&#10;&#10;Le contenu généré par l’IA peut être incorrect.">
            <a:extLst>
              <a:ext uri="{FF2B5EF4-FFF2-40B4-BE49-F238E27FC236}">
                <a16:creationId xmlns:a16="http://schemas.microsoft.com/office/drawing/2014/main" id="{CC4DE4F7-6A46-D082-8D86-201B2BFB2995}"/>
              </a:ext>
            </a:extLst>
          </p:cNvPr>
          <p:cNvPicPr>
            <a:picLocks noChangeAspect="1"/>
          </p:cNvPicPr>
          <p:nvPr/>
        </p:nvPicPr>
        <p:blipFill>
          <a:blip r:embed="rId5"/>
          <a:stretch>
            <a:fillRect/>
          </a:stretch>
        </p:blipFill>
        <p:spPr>
          <a:xfrm>
            <a:off x="9670126" y="1474886"/>
            <a:ext cx="950574" cy="95057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6">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r>
              <a:rPr lang="en-US" sz="33000" b="1" dirty="0">
                <a:solidFill>
                  <a:srgbClr val="1A1A1A"/>
                </a:solidFill>
                <a:latin typeface="Lato" pitchFamily="34" charset="0"/>
                <a:ea typeface="Lato" pitchFamily="34" charset="-122"/>
                <a:cs typeface="Lato" pitchFamily="34" charset="-120"/>
              </a:rPr>
              <a:t>8</a:t>
            </a:r>
            <a:endParaRPr lang="en-US" sz="33000" dirty="0"/>
          </a:p>
        </p:txBody>
      </p:sp>
      <p:sp>
        <p:nvSpPr>
          <p:cNvPr id="3" name="Text 1"/>
          <p:cNvSpPr txBox="1"/>
          <p:nvPr/>
        </p:nvSpPr>
        <p:spPr>
          <a:xfrm>
            <a:off x="658368" y="2487168"/>
            <a:ext cx="6949440" cy="274320"/>
          </a:xfrm>
          <a:prstGeom prst="rect">
            <a:avLst/>
          </a:prstGeom>
          <a:noFill/>
          <a:ln/>
        </p:spPr>
        <p:txBody>
          <a:bodyPr wrap="square" lIns="0" tIns="0" rIns="0" bIns="0" rtlCol="0" anchor="ctr"/>
          <a:lstStyle/>
          <a:p>
            <a:pPr marL="0" indent="0">
              <a:buNone/>
            </a:pPr>
            <a:r>
              <a:rPr lang="en-US" sz="1200" b="1" kern="0" spc="300" dirty="0">
                <a:solidFill>
                  <a:srgbClr val="1A1A1A"/>
                </a:solidFill>
                <a:latin typeface="Lato" pitchFamily="34" charset="0"/>
                <a:ea typeface="Lato" pitchFamily="34" charset="-122"/>
                <a:cs typeface="Lato" pitchFamily="34" charset="-120"/>
              </a:rPr>
              <a:t>CHAPITRE 8</a:t>
            </a:r>
            <a:endParaRPr lang="en-US" sz="12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1A1A1A"/>
                </a:solidFill>
                <a:latin typeface="Lato" pitchFamily="34" charset="0"/>
                <a:ea typeface="Lato" pitchFamily="34" charset="-122"/>
                <a:cs typeface="Lato" pitchFamily="34" charset="-120"/>
              </a:rPr>
              <a:t>Plan de formation individuel</a:t>
            </a:r>
            <a:endParaRPr lang="en-US" sz="4000" dirty="0"/>
          </a:p>
        </p:txBody>
      </p:sp>
      <p:sp>
        <p:nvSpPr>
          <p:cNvPr id="5" name="Text 3"/>
          <p:cNvSpPr txBox="1"/>
          <p:nvPr/>
        </p:nvSpPr>
        <p:spPr>
          <a:xfrm>
            <a:off x="658368" y="3785616"/>
            <a:ext cx="6309360" cy="731520"/>
          </a:xfrm>
          <a:prstGeom prst="rect">
            <a:avLst/>
          </a:prstGeom>
          <a:noFill/>
          <a:ln/>
        </p:spPr>
        <p:txBody>
          <a:bodyPr wrap="square" lIns="0" tIns="0" rIns="0" bIns="0" rtlCol="0" anchor="ctr"/>
          <a:lstStyle/>
          <a:p>
            <a:pPr marL="0" indent="0">
              <a:lnSpc>
                <a:spcPct val="120000"/>
              </a:lnSpc>
              <a:buNone/>
            </a:pPr>
            <a:r>
              <a:rPr lang="en-US" sz="1300" dirty="0">
                <a:solidFill>
                  <a:srgbClr val="7F7F7F"/>
                </a:solidFill>
                <a:latin typeface="Lato" pitchFamily="34" charset="0"/>
                <a:ea typeface="Lato" pitchFamily="34" charset="-122"/>
                <a:cs typeface="Lato" pitchFamily="34" charset="-120"/>
              </a:rPr>
              <a:t>Évolution du projet professionnel, mobilité internationale et compétences acquises au terme du cursus.</a:t>
            </a:r>
            <a:endParaRPr lang="en-US" sz="13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12F68A7-A998-4414-B9FC-11167F22F218}" type="slidenum">
              <a:rPr lang="fr-FR" sz="900" b="0">
                <a:solidFill>
                  <a:srgbClr val="7F7F7F"/>
                </a:solidFill>
                <a:latin typeface="Lato"/>
              </a:rPr>
              <a:t>54</a:t>
            </a:fld>
            <a:endParaRPr lang="fr-FR">
              <a:solidFill>
                <a:srgbClr val="7F7F7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3">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noProof="0" dirty="0">
                <a:solidFill>
                  <a:srgbClr val="1A1A1A"/>
                </a:solidFill>
                <a:latin typeface="Lato" pitchFamily="34" charset="0"/>
                <a:ea typeface="Lato" pitchFamily="34" charset="-122"/>
                <a:cs typeface="Lato" pitchFamily="34" charset="-120"/>
              </a:rPr>
              <a:t>Plusieurs ambitions à différentes époques</a:t>
            </a:r>
            <a:endParaRPr lang="fr-FR" sz="3000" noProof="0" dirty="0"/>
          </a:p>
        </p:txBody>
      </p:sp>
      <p:sp>
        <p:nvSpPr>
          <p:cNvPr id="3" name="Shape 1"/>
          <p:cNvSpPr/>
          <p:nvPr/>
        </p:nvSpPr>
        <p:spPr>
          <a:xfrm>
            <a:off x="658368" y="1481328"/>
            <a:ext cx="5120640" cy="1847088"/>
          </a:xfrm>
          <a:prstGeom prst="rect">
            <a:avLst/>
          </a:prstGeom>
          <a:solidFill>
            <a:srgbClr val="FFFFFF"/>
          </a:solidFill>
          <a:ln/>
        </p:spPr>
        <p:txBody>
          <a:bodyPr/>
          <a:lstStyle/>
          <a:p>
            <a:endParaRPr lang="fr-FR"/>
          </a:p>
        </p:txBody>
      </p:sp>
      <p:sp>
        <p:nvSpPr>
          <p:cNvPr id="4" name="Text 2"/>
          <p:cNvSpPr txBox="1"/>
          <p:nvPr/>
        </p:nvSpPr>
        <p:spPr>
          <a:xfrm>
            <a:off x="932688" y="1664208"/>
            <a:ext cx="4572000" cy="237744"/>
          </a:xfrm>
          <a:prstGeom prst="rect">
            <a:avLst/>
          </a:prstGeom>
          <a:noFill/>
          <a:ln/>
        </p:spPr>
        <p:txBody>
          <a:bodyPr wrap="square" lIns="0" tIns="0" rIns="0" bIns="0" rtlCol="0" anchor="ctr"/>
          <a:lstStyle/>
          <a:p>
            <a:pPr marL="0" indent="0">
              <a:buNone/>
            </a:pPr>
            <a:r>
              <a:rPr lang="en-US" sz="1000" b="1" kern="0" spc="160" dirty="0">
                <a:solidFill>
                  <a:srgbClr val="7F7F7F"/>
                </a:solidFill>
                <a:latin typeface="Lato" pitchFamily="34" charset="0"/>
                <a:ea typeface="Lato" pitchFamily="34" charset="-122"/>
                <a:cs typeface="Lato" pitchFamily="34" charset="-120"/>
              </a:rPr>
              <a:t>PLAN A - A1 2021</a:t>
            </a:r>
            <a:endParaRPr lang="en-US" sz="1000" dirty="0"/>
          </a:p>
        </p:txBody>
      </p:sp>
      <p:sp>
        <p:nvSpPr>
          <p:cNvPr id="5" name="Text 3"/>
          <p:cNvSpPr txBox="1"/>
          <p:nvPr/>
        </p:nvSpPr>
        <p:spPr>
          <a:xfrm>
            <a:off x="932688" y="1920240"/>
            <a:ext cx="4572000" cy="347472"/>
          </a:xfrm>
          <a:prstGeom prst="rect">
            <a:avLst/>
          </a:prstGeom>
          <a:noFill/>
          <a:ln/>
        </p:spPr>
        <p:txBody>
          <a:bodyPr wrap="square" lIns="0" tIns="0" rIns="0" bIns="0" rtlCol="0" anchor="ctr"/>
          <a:lstStyle/>
          <a:p>
            <a:pPr marL="0" indent="0">
              <a:buNone/>
            </a:pPr>
            <a:r>
              <a:rPr lang="en-US" sz="1900" b="1" dirty="0">
                <a:solidFill>
                  <a:srgbClr val="1A1A1A"/>
                </a:solidFill>
                <a:latin typeface="Lato" pitchFamily="34" charset="0"/>
                <a:ea typeface="Lato" pitchFamily="34" charset="-122"/>
                <a:cs typeface="Lato" pitchFamily="34" charset="-120"/>
              </a:rPr>
              <a:t>Cible : hacker éthique, puis RSSI</a:t>
            </a:r>
            <a:endParaRPr lang="en-US" sz="1900" dirty="0"/>
          </a:p>
        </p:txBody>
      </p:sp>
      <p:sp>
        <p:nvSpPr>
          <p:cNvPr id="6" name="Shape 4"/>
          <p:cNvSpPr/>
          <p:nvPr/>
        </p:nvSpPr>
        <p:spPr>
          <a:xfrm>
            <a:off x="950976" y="2459736"/>
            <a:ext cx="64008" cy="64008"/>
          </a:xfrm>
          <a:prstGeom prst="ellipse">
            <a:avLst/>
          </a:prstGeom>
          <a:solidFill>
            <a:srgbClr val="F8E212"/>
          </a:solidFill>
          <a:ln/>
        </p:spPr>
        <p:txBody>
          <a:bodyPr/>
          <a:lstStyle/>
          <a:p>
            <a:endParaRPr lang="fr-FR"/>
          </a:p>
        </p:txBody>
      </p:sp>
      <p:sp>
        <p:nvSpPr>
          <p:cNvPr id="7" name="Text 5"/>
          <p:cNvSpPr txBox="1"/>
          <p:nvPr/>
        </p:nvSpPr>
        <p:spPr>
          <a:xfrm>
            <a:off x="1152144" y="2359152"/>
            <a:ext cx="4334256" cy="310896"/>
          </a:xfrm>
          <a:prstGeom prst="rect">
            <a:avLst/>
          </a:prstGeom>
          <a:noFill/>
          <a:ln/>
        </p:spPr>
        <p:txBody>
          <a:bodyPr wrap="square" lIns="0" tIns="0" rIns="0" bIns="0" rtlCol="0" anchor="ctr"/>
          <a:lstStyle/>
          <a:p>
            <a:pPr marL="0" indent="0">
              <a:buNone/>
            </a:pPr>
            <a:r>
              <a:rPr lang="en-US" sz="1150" dirty="0">
                <a:solidFill>
                  <a:srgbClr val="1A1A1A"/>
                </a:solidFill>
                <a:latin typeface="Lato" pitchFamily="34" charset="0"/>
                <a:ea typeface="Lato" pitchFamily="34" charset="-122"/>
                <a:cs typeface="Lato" pitchFamily="34" charset="-120"/>
              </a:rPr>
              <a:t>Moyens prévus : certifications CEH, OSCP</a:t>
            </a:r>
            <a:endParaRPr lang="en-US" sz="1150" dirty="0"/>
          </a:p>
        </p:txBody>
      </p:sp>
      <p:sp>
        <p:nvSpPr>
          <p:cNvPr id="8" name="Shape 6"/>
          <p:cNvSpPr/>
          <p:nvPr/>
        </p:nvSpPr>
        <p:spPr>
          <a:xfrm>
            <a:off x="950976" y="2788920"/>
            <a:ext cx="64008" cy="64008"/>
          </a:xfrm>
          <a:prstGeom prst="ellipse">
            <a:avLst/>
          </a:prstGeom>
          <a:solidFill>
            <a:srgbClr val="F8E212"/>
          </a:solidFill>
          <a:ln/>
        </p:spPr>
        <p:txBody>
          <a:bodyPr/>
          <a:lstStyle/>
          <a:p>
            <a:endParaRPr lang="fr-FR"/>
          </a:p>
        </p:txBody>
      </p:sp>
      <p:sp>
        <p:nvSpPr>
          <p:cNvPr id="9" name="Text 7"/>
          <p:cNvSpPr txBox="1"/>
          <p:nvPr/>
        </p:nvSpPr>
        <p:spPr>
          <a:xfrm>
            <a:off x="1152144" y="2688336"/>
            <a:ext cx="4334256" cy="310896"/>
          </a:xfrm>
          <a:prstGeom prst="rect">
            <a:avLst/>
          </a:prstGeom>
          <a:noFill/>
          <a:ln/>
        </p:spPr>
        <p:txBody>
          <a:bodyPr wrap="square" lIns="0" tIns="0" rIns="0" bIns="0" rtlCol="0" anchor="ctr"/>
          <a:lstStyle/>
          <a:p>
            <a:pPr marL="0" indent="0">
              <a:buNone/>
            </a:pPr>
            <a:r>
              <a:rPr lang="en-US" sz="1150" dirty="0">
                <a:solidFill>
                  <a:srgbClr val="1A1A1A"/>
                </a:solidFill>
                <a:latin typeface="Lato" pitchFamily="34" charset="0"/>
                <a:ea typeface="Lato" pitchFamily="34" charset="-122"/>
                <a:cs typeface="Lato" pitchFamily="34" charset="-120"/>
              </a:rPr>
              <a:t>Participation à des CTF, formation communication</a:t>
            </a:r>
            <a:endParaRPr lang="en-US" sz="1150" dirty="0"/>
          </a:p>
        </p:txBody>
      </p:sp>
      <p:sp>
        <p:nvSpPr>
          <p:cNvPr id="10" name="Shape 8"/>
          <p:cNvSpPr/>
          <p:nvPr/>
        </p:nvSpPr>
        <p:spPr>
          <a:xfrm>
            <a:off x="950976" y="3118104"/>
            <a:ext cx="64008" cy="64008"/>
          </a:xfrm>
          <a:prstGeom prst="ellipse">
            <a:avLst/>
          </a:prstGeom>
          <a:solidFill>
            <a:srgbClr val="F8E212"/>
          </a:solidFill>
          <a:ln/>
        </p:spPr>
        <p:txBody>
          <a:bodyPr/>
          <a:lstStyle/>
          <a:p>
            <a:endParaRPr lang="fr-FR"/>
          </a:p>
        </p:txBody>
      </p:sp>
      <p:sp>
        <p:nvSpPr>
          <p:cNvPr id="11" name="Text 9"/>
          <p:cNvSpPr txBox="1"/>
          <p:nvPr/>
        </p:nvSpPr>
        <p:spPr>
          <a:xfrm>
            <a:off x="1152144" y="3017520"/>
            <a:ext cx="4334256" cy="310896"/>
          </a:xfrm>
          <a:prstGeom prst="rect">
            <a:avLst/>
          </a:prstGeom>
          <a:noFill/>
          <a:ln/>
        </p:spPr>
        <p:txBody>
          <a:bodyPr wrap="square" lIns="0" tIns="0" rIns="0" bIns="0" rtlCol="0" anchor="ctr"/>
          <a:lstStyle/>
          <a:p>
            <a:pPr marL="0" indent="0">
              <a:buNone/>
            </a:pPr>
            <a:r>
              <a:rPr lang="en-US" sz="1150" dirty="0">
                <a:solidFill>
                  <a:srgbClr val="1A1A1A"/>
                </a:solidFill>
                <a:latin typeface="Lato" pitchFamily="34" charset="0"/>
                <a:ea typeface="Lato" pitchFamily="34" charset="-122"/>
                <a:cs typeface="Lato" pitchFamily="34" charset="-120"/>
              </a:rPr>
              <a:t>Objectif : certification PMP pour le management</a:t>
            </a:r>
            <a:endParaRPr lang="en-US" sz="1150" dirty="0"/>
          </a:p>
        </p:txBody>
      </p:sp>
      <p:sp>
        <p:nvSpPr>
          <p:cNvPr id="12" name="Shape 10"/>
          <p:cNvSpPr/>
          <p:nvPr/>
        </p:nvSpPr>
        <p:spPr>
          <a:xfrm>
            <a:off x="6391656" y="1481328"/>
            <a:ext cx="5120640" cy="1847088"/>
          </a:xfrm>
          <a:prstGeom prst="rect">
            <a:avLst/>
          </a:prstGeom>
          <a:solidFill>
            <a:srgbClr val="1A1A1A"/>
          </a:solidFill>
          <a:ln/>
        </p:spPr>
        <p:txBody>
          <a:bodyPr/>
          <a:lstStyle/>
          <a:p>
            <a:endParaRPr lang="fr-FR" dirty="0"/>
          </a:p>
        </p:txBody>
      </p:sp>
      <p:sp>
        <p:nvSpPr>
          <p:cNvPr id="13" name="Text 11"/>
          <p:cNvSpPr txBox="1"/>
          <p:nvPr/>
        </p:nvSpPr>
        <p:spPr>
          <a:xfrm>
            <a:off x="6665976" y="1664208"/>
            <a:ext cx="4572000" cy="237744"/>
          </a:xfrm>
          <a:prstGeom prst="rect">
            <a:avLst/>
          </a:prstGeom>
          <a:noFill/>
          <a:ln/>
        </p:spPr>
        <p:txBody>
          <a:bodyPr wrap="square" lIns="0" tIns="0" rIns="0" bIns="0" rtlCol="0" anchor="ctr"/>
          <a:lstStyle/>
          <a:p>
            <a:pPr marL="0" indent="0">
              <a:buNone/>
            </a:pPr>
            <a:r>
              <a:rPr lang="en-US" sz="1000" b="1" kern="0" spc="160" dirty="0">
                <a:solidFill>
                  <a:schemeClr val="bg1"/>
                </a:solidFill>
                <a:latin typeface="Lato" pitchFamily="34" charset="0"/>
                <a:ea typeface="Lato" pitchFamily="34" charset="-122"/>
                <a:cs typeface="Lato" pitchFamily="34" charset="-120"/>
              </a:rPr>
              <a:t>PLAN B – A3 2023</a:t>
            </a:r>
            <a:endParaRPr lang="en-US" sz="1000" dirty="0">
              <a:solidFill>
                <a:schemeClr val="bg1"/>
              </a:solidFill>
            </a:endParaRPr>
          </a:p>
        </p:txBody>
      </p:sp>
      <p:sp>
        <p:nvSpPr>
          <p:cNvPr id="14" name="Text 12"/>
          <p:cNvSpPr txBox="1"/>
          <p:nvPr/>
        </p:nvSpPr>
        <p:spPr>
          <a:xfrm>
            <a:off x="6665976" y="1920240"/>
            <a:ext cx="4572000" cy="347472"/>
          </a:xfrm>
          <a:prstGeom prst="rect">
            <a:avLst/>
          </a:prstGeom>
          <a:noFill/>
          <a:ln/>
        </p:spPr>
        <p:txBody>
          <a:bodyPr wrap="square" lIns="0" tIns="0" rIns="0" bIns="0" rtlCol="0" anchor="ctr"/>
          <a:lstStyle/>
          <a:p>
            <a:pPr marL="0" indent="0">
              <a:buNone/>
            </a:pPr>
            <a:r>
              <a:rPr lang="en-US" sz="1900" b="1" dirty="0">
                <a:solidFill>
                  <a:schemeClr val="bg1"/>
                </a:solidFill>
                <a:latin typeface="Lato" pitchFamily="34" charset="0"/>
                <a:ea typeface="Lato" pitchFamily="34" charset="-122"/>
                <a:cs typeface="Lato" pitchFamily="34" charset="-120"/>
              </a:rPr>
              <a:t>Cible : Consultant GRC &amp; IA</a:t>
            </a:r>
            <a:endParaRPr lang="en-US" sz="1900" dirty="0">
              <a:solidFill>
                <a:schemeClr val="bg1"/>
              </a:solidFill>
            </a:endParaRPr>
          </a:p>
        </p:txBody>
      </p:sp>
      <p:sp>
        <p:nvSpPr>
          <p:cNvPr id="15" name="Shape 13"/>
          <p:cNvSpPr/>
          <p:nvPr/>
        </p:nvSpPr>
        <p:spPr>
          <a:xfrm>
            <a:off x="6684264" y="2459736"/>
            <a:ext cx="64008" cy="64008"/>
          </a:xfrm>
          <a:prstGeom prst="ellipse">
            <a:avLst/>
          </a:prstGeom>
          <a:solidFill>
            <a:srgbClr val="F8E212"/>
          </a:solidFill>
          <a:ln/>
        </p:spPr>
        <p:txBody>
          <a:bodyPr/>
          <a:lstStyle/>
          <a:p>
            <a:endParaRPr lang="fr-FR"/>
          </a:p>
        </p:txBody>
      </p:sp>
      <p:sp>
        <p:nvSpPr>
          <p:cNvPr id="16" name="Text 14"/>
          <p:cNvSpPr txBox="1"/>
          <p:nvPr/>
        </p:nvSpPr>
        <p:spPr>
          <a:xfrm>
            <a:off x="6885432" y="2359152"/>
            <a:ext cx="4334256" cy="310896"/>
          </a:xfrm>
          <a:prstGeom prst="rect">
            <a:avLst/>
          </a:prstGeom>
          <a:noFill/>
          <a:ln/>
        </p:spPr>
        <p:txBody>
          <a:bodyPr wrap="square" lIns="0" tIns="0" rIns="0" bIns="0" rtlCol="0" anchor="ctr"/>
          <a:lstStyle/>
          <a:p>
            <a:pPr marL="0" indent="0">
              <a:buNone/>
            </a:pPr>
            <a:r>
              <a:rPr lang="en-US" sz="1150" dirty="0">
                <a:solidFill>
                  <a:srgbClr val="D5CDBB"/>
                </a:solidFill>
                <a:latin typeface="Lato" pitchFamily="34" charset="0"/>
                <a:ea typeface="Lato" pitchFamily="34" charset="-122"/>
                <a:cs typeface="Lato" pitchFamily="34" charset="-120"/>
              </a:rPr>
              <a:t>Maîtrise opérationnelle de la cybersécurité GRC</a:t>
            </a:r>
            <a:endParaRPr lang="en-US" sz="1150" dirty="0"/>
          </a:p>
        </p:txBody>
      </p:sp>
      <p:sp>
        <p:nvSpPr>
          <p:cNvPr id="17" name="Shape 15"/>
          <p:cNvSpPr/>
          <p:nvPr/>
        </p:nvSpPr>
        <p:spPr>
          <a:xfrm>
            <a:off x="6684264" y="2788920"/>
            <a:ext cx="64008" cy="64008"/>
          </a:xfrm>
          <a:prstGeom prst="ellipse">
            <a:avLst/>
          </a:prstGeom>
          <a:solidFill>
            <a:srgbClr val="F8E212"/>
          </a:solidFill>
          <a:ln/>
        </p:spPr>
        <p:txBody>
          <a:bodyPr/>
          <a:lstStyle/>
          <a:p>
            <a:endParaRPr lang="fr-FR"/>
          </a:p>
        </p:txBody>
      </p:sp>
      <p:sp>
        <p:nvSpPr>
          <p:cNvPr id="18" name="Text 16"/>
          <p:cNvSpPr txBox="1"/>
          <p:nvPr/>
        </p:nvSpPr>
        <p:spPr>
          <a:xfrm>
            <a:off x="6885432" y="2688336"/>
            <a:ext cx="4334256" cy="310896"/>
          </a:xfrm>
          <a:prstGeom prst="rect">
            <a:avLst/>
          </a:prstGeom>
          <a:noFill/>
          <a:ln/>
        </p:spPr>
        <p:txBody>
          <a:bodyPr wrap="square" lIns="0" tIns="0" rIns="0" bIns="0" rtlCol="0" anchor="ctr"/>
          <a:lstStyle/>
          <a:p>
            <a:pPr marL="0" indent="0">
              <a:buNone/>
            </a:pPr>
            <a:r>
              <a:rPr lang="en-US" sz="1150" dirty="0">
                <a:solidFill>
                  <a:srgbClr val="D5CDBB"/>
                </a:solidFill>
                <a:latin typeface="Lato" pitchFamily="34" charset="0"/>
                <a:ea typeface="Lato" pitchFamily="34" charset="-122"/>
                <a:cs typeface="Lato" pitchFamily="34" charset="-120"/>
              </a:rPr>
              <a:t>Expertise IA appliquée (RAG, Python)</a:t>
            </a:r>
            <a:endParaRPr lang="en-US" sz="1150" dirty="0"/>
          </a:p>
        </p:txBody>
      </p:sp>
      <p:sp>
        <p:nvSpPr>
          <p:cNvPr id="19" name="Shape 17"/>
          <p:cNvSpPr/>
          <p:nvPr/>
        </p:nvSpPr>
        <p:spPr>
          <a:xfrm>
            <a:off x="6684264" y="3118104"/>
            <a:ext cx="64008" cy="64008"/>
          </a:xfrm>
          <a:prstGeom prst="ellipse">
            <a:avLst/>
          </a:prstGeom>
          <a:solidFill>
            <a:srgbClr val="F8E212"/>
          </a:solidFill>
          <a:ln/>
        </p:spPr>
        <p:txBody>
          <a:bodyPr/>
          <a:lstStyle/>
          <a:p>
            <a:endParaRPr lang="fr-FR"/>
          </a:p>
        </p:txBody>
      </p:sp>
      <p:sp>
        <p:nvSpPr>
          <p:cNvPr id="20" name="Text 18"/>
          <p:cNvSpPr txBox="1"/>
          <p:nvPr/>
        </p:nvSpPr>
        <p:spPr>
          <a:xfrm>
            <a:off x="6885432" y="3017520"/>
            <a:ext cx="4334256" cy="310896"/>
          </a:xfrm>
          <a:prstGeom prst="rect">
            <a:avLst/>
          </a:prstGeom>
          <a:noFill/>
          <a:ln/>
        </p:spPr>
        <p:txBody>
          <a:bodyPr wrap="square" lIns="0" tIns="0" rIns="0" bIns="0" rtlCol="0" anchor="ctr"/>
          <a:lstStyle/>
          <a:p>
            <a:pPr marL="0" indent="0">
              <a:buNone/>
            </a:pPr>
            <a:r>
              <a:rPr lang="en-US" sz="1150" dirty="0">
                <a:solidFill>
                  <a:srgbClr val="D5CDBB"/>
                </a:solidFill>
                <a:latin typeface="Lato" pitchFamily="34" charset="0"/>
                <a:ea typeface="Lato" pitchFamily="34" charset="-122"/>
                <a:cs typeface="Lato" pitchFamily="34" charset="-120"/>
              </a:rPr>
              <a:t>Gestion de projet complexe, mobilité, marché</a:t>
            </a:r>
            <a:endParaRPr lang="en-US" sz="1150" dirty="0"/>
          </a:p>
        </p:txBody>
      </p:sp>
      <p:sp>
        <p:nvSpPr>
          <p:cNvPr id="21" name="Shape 19"/>
          <p:cNvSpPr/>
          <p:nvPr/>
        </p:nvSpPr>
        <p:spPr>
          <a:xfrm>
            <a:off x="658368" y="3675888"/>
            <a:ext cx="10874959" cy="25603"/>
          </a:xfrm>
          <a:prstGeom prst="rect">
            <a:avLst/>
          </a:prstGeom>
          <a:solidFill>
            <a:srgbClr val="F8E212"/>
          </a:solidFill>
          <a:ln/>
        </p:spPr>
        <p:txBody>
          <a:bodyPr/>
          <a:lstStyle/>
          <a:p>
            <a:endParaRPr lang="fr-FR"/>
          </a:p>
        </p:txBody>
      </p:sp>
      <p:sp>
        <p:nvSpPr>
          <p:cNvPr id="28" name="Shape 1">
            <a:extLst>
              <a:ext uri="{FF2B5EF4-FFF2-40B4-BE49-F238E27FC236}">
                <a16:creationId xmlns:a16="http://schemas.microsoft.com/office/drawing/2014/main" id="{5023216A-5968-7CB5-1DF8-752DA09196E8}"/>
              </a:ext>
            </a:extLst>
          </p:cNvPr>
          <p:cNvSpPr/>
          <p:nvPr/>
        </p:nvSpPr>
        <p:spPr>
          <a:xfrm>
            <a:off x="3831336" y="4197096"/>
            <a:ext cx="5120640" cy="1847088"/>
          </a:xfrm>
          <a:prstGeom prst="rect">
            <a:avLst/>
          </a:prstGeom>
          <a:solidFill>
            <a:srgbClr val="F8E212"/>
          </a:solidFill>
          <a:ln/>
        </p:spPr>
        <p:txBody>
          <a:bodyPr/>
          <a:lstStyle/>
          <a:p>
            <a:endParaRPr lang="fr-FR"/>
          </a:p>
        </p:txBody>
      </p:sp>
      <p:sp>
        <p:nvSpPr>
          <p:cNvPr id="30" name="Text 2">
            <a:extLst>
              <a:ext uri="{FF2B5EF4-FFF2-40B4-BE49-F238E27FC236}">
                <a16:creationId xmlns:a16="http://schemas.microsoft.com/office/drawing/2014/main" id="{D9C9926E-0F61-7FA5-CB69-4F5353CDD0F2}"/>
              </a:ext>
            </a:extLst>
          </p:cNvPr>
          <p:cNvSpPr txBox="1"/>
          <p:nvPr/>
        </p:nvSpPr>
        <p:spPr>
          <a:xfrm>
            <a:off x="4105656" y="4379976"/>
            <a:ext cx="4572000" cy="237744"/>
          </a:xfrm>
          <a:prstGeom prst="rect">
            <a:avLst/>
          </a:prstGeom>
          <a:noFill/>
          <a:ln/>
        </p:spPr>
        <p:txBody>
          <a:bodyPr wrap="square" lIns="0" tIns="0" rIns="0" bIns="0" rtlCol="0" anchor="ctr"/>
          <a:lstStyle/>
          <a:p>
            <a:pPr marL="0" indent="0">
              <a:buNone/>
            </a:pPr>
            <a:r>
              <a:rPr lang="en-US" sz="1000" b="1" kern="0" spc="160" dirty="0">
                <a:solidFill>
                  <a:srgbClr val="7F7F7F"/>
                </a:solidFill>
                <a:latin typeface="Lato" pitchFamily="34" charset="0"/>
                <a:ea typeface="Lato" pitchFamily="34" charset="-122"/>
                <a:cs typeface="Lato" pitchFamily="34" charset="-120"/>
              </a:rPr>
              <a:t>PLAN C – A5 2025 </a:t>
            </a:r>
            <a:endParaRPr lang="en-US" sz="1000" dirty="0"/>
          </a:p>
        </p:txBody>
      </p:sp>
      <p:sp>
        <p:nvSpPr>
          <p:cNvPr id="32" name="Text 3">
            <a:extLst>
              <a:ext uri="{FF2B5EF4-FFF2-40B4-BE49-F238E27FC236}">
                <a16:creationId xmlns:a16="http://schemas.microsoft.com/office/drawing/2014/main" id="{392D9AFE-A7B2-EE95-2B45-5534435EEF16}"/>
              </a:ext>
            </a:extLst>
          </p:cNvPr>
          <p:cNvSpPr txBox="1"/>
          <p:nvPr/>
        </p:nvSpPr>
        <p:spPr>
          <a:xfrm>
            <a:off x="4105656" y="4636008"/>
            <a:ext cx="4572000" cy="347472"/>
          </a:xfrm>
          <a:prstGeom prst="rect">
            <a:avLst/>
          </a:prstGeom>
          <a:noFill/>
          <a:ln/>
        </p:spPr>
        <p:txBody>
          <a:bodyPr wrap="square" lIns="0" tIns="0" rIns="0" bIns="0" rtlCol="0" anchor="ctr"/>
          <a:lstStyle/>
          <a:p>
            <a:pPr marL="0" indent="0">
              <a:buNone/>
            </a:pPr>
            <a:r>
              <a:rPr lang="en-US" sz="1900" dirty="0"/>
              <a:t>Business analyst / Consultant IA</a:t>
            </a:r>
          </a:p>
        </p:txBody>
      </p:sp>
      <p:sp>
        <p:nvSpPr>
          <p:cNvPr id="34" name="Shape 4">
            <a:extLst>
              <a:ext uri="{FF2B5EF4-FFF2-40B4-BE49-F238E27FC236}">
                <a16:creationId xmlns:a16="http://schemas.microsoft.com/office/drawing/2014/main" id="{2B87E4B0-20E1-B927-9F6D-5FEC5D650C87}"/>
              </a:ext>
            </a:extLst>
          </p:cNvPr>
          <p:cNvSpPr/>
          <p:nvPr/>
        </p:nvSpPr>
        <p:spPr>
          <a:xfrm>
            <a:off x="4123944" y="5175504"/>
            <a:ext cx="64008" cy="64008"/>
          </a:xfrm>
          <a:prstGeom prst="ellipse">
            <a:avLst/>
          </a:prstGeom>
          <a:solidFill>
            <a:srgbClr val="F8E212"/>
          </a:solidFill>
          <a:ln/>
        </p:spPr>
        <p:txBody>
          <a:bodyPr/>
          <a:lstStyle/>
          <a:p>
            <a:endParaRPr lang="fr-FR"/>
          </a:p>
        </p:txBody>
      </p:sp>
      <p:sp>
        <p:nvSpPr>
          <p:cNvPr id="36" name="Text 5">
            <a:extLst>
              <a:ext uri="{FF2B5EF4-FFF2-40B4-BE49-F238E27FC236}">
                <a16:creationId xmlns:a16="http://schemas.microsoft.com/office/drawing/2014/main" id="{0EC00CE6-7F79-244C-4AF0-03F78C1F3B69}"/>
              </a:ext>
            </a:extLst>
          </p:cNvPr>
          <p:cNvSpPr txBox="1"/>
          <p:nvPr/>
        </p:nvSpPr>
        <p:spPr>
          <a:xfrm>
            <a:off x="4224528" y="4965192"/>
            <a:ext cx="4334256" cy="310896"/>
          </a:xfrm>
          <a:prstGeom prst="rect">
            <a:avLst/>
          </a:prstGeom>
          <a:noFill/>
          <a:ln/>
        </p:spPr>
        <p:txBody>
          <a:bodyPr wrap="square" lIns="0" tIns="0" rIns="0" bIns="0" rtlCol="0" anchor="ctr"/>
          <a:lstStyle/>
          <a:p>
            <a:pPr marL="0" indent="0">
              <a:buNone/>
            </a:pPr>
            <a:r>
              <a:rPr lang="fr-FR" sz="1150" noProof="0" dirty="0">
                <a:solidFill>
                  <a:srgbClr val="1A1A1A"/>
                </a:solidFill>
                <a:latin typeface="Lato" pitchFamily="34" charset="0"/>
                <a:ea typeface="Lato" pitchFamily="34" charset="-122"/>
                <a:cs typeface="Lato" pitchFamily="34" charset="-120"/>
              </a:rPr>
              <a:t>A la frontière entre technique &amp; métier</a:t>
            </a:r>
            <a:endParaRPr lang="fr-FR" sz="1150" noProof="0" dirty="0"/>
          </a:p>
        </p:txBody>
      </p:sp>
      <p:sp>
        <p:nvSpPr>
          <p:cNvPr id="38" name="Shape 6">
            <a:extLst>
              <a:ext uri="{FF2B5EF4-FFF2-40B4-BE49-F238E27FC236}">
                <a16:creationId xmlns:a16="http://schemas.microsoft.com/office/drawing/2014/main" id="{C113E52C-1491-778F-17EF-B4ED7239492B}"/>
              </a:ext>
            </a:extLst>
          </p:cNvPr>
          <p:cNvSpPr/>
          <p:nvPr/>
        </p:nvSpPr>
        <p:spPr>
          <a:xfrm>
            <a:off x="4123944" y="5504688"/>
            <a:ext cx="64008" cy="64008"/>
          </a:xfrm>
          <a:prstGeom prst="ellipse">
            <a:avLst/>
          </a:prstGeom>
          <a:solidFill>
            <a:srgbClr val="F8E212"/>
          </a:solidFill>
          <a:ln/>
        </p:spPr>
        <p:txBody>
          <a:bodyPr/>
          <a:lstStyle/>
          <a:p>
            <a:endParaRPr lang="fr-FR"/>
          </a:p>
        </p:txBody>
      </p:sp>
      <p:sp>
        <p:nvSpPr>
          <p:cNvPr id="40" name="Text 7">
            <a:extLst>
              <a:ext uri="{FF2B5EF4-FFF2-40B4-BE49-F238E27FC236}">
                <a16:creationId xmlns:a16="http://schemas.microsoft.com/office/drawing/2014/main" id="{280760EA-DB89-019D-5E17-5DC1E658F353}"/>
              </a:ext>
            </a:extLst>
          </p:cNvPr>
          <p:cNvSpPr txBox="1"/>
          <p:nvPr/>
        </p:nvSpPr>
        <p:spPr>
          <a:xfrm>
            <a:off x="4224528" y="5294376"/>
            <a:ext cx="4334256" cy="310896"/>
          </a:xfrm>
          <a:prstGeom prst="rect">
            <a:avLst/>
          </a:prstGeom>
          <a:noFill/>
          <a:ln/>
        </p:spPr>
        <p:txBody>
          <a:bodyPr wrap="square" lIns="0" tIns="0" rIns="0" bIns="0" rtlCol="0" anchor="ctr"/>
          <a:lstStyle/>
          <a:p>
            <a:pPr marL="0" indent="0">
              <a:buNone/>
            </a:pPr>
            <a:r>
              <a:rPr lang="fr-FR" sz="1150" noProof="0" dirty="0"/>
              <a:t>Tâches créatives et variées</a:t>
            </a:r>
          </a:p>
        </p:txBody>
      </p:sp>
      <p:sp>
        <p:nvSpPr>
          <p:cNvPr id="42" name="Shape 8">
            <a:extLst>
              <a:ext uri="{FF2B5EF4-FFF2-40B4-BE49-F238E27FC236}">
                <a16:creationId xmlns:a16="http://schemas.microsoft.com/office/drawing/2014/main" id="{7441FF8F-1536-0A50-EF64-BFB871EB7B60}"/>
              </a:ext>
            </a:extLst>
          </p:cNvPr>
          <p:cNvSpPr/>
          <p:nvPr/>
        </p:nvSpPr>
        <p:spPr>
          <a:xfrm>
            <a:off x="4123944" y="5833872"/>
            <a:ext cx="64008" cy="64008"/>
          </a:xfrm>
          <a:prstGeom prst="ellipse">
            <a:avLst/>
          </a:prstGeom>
          <a:solidFill>
            <a:srgbClr val="F8E212"/>
          </a:solidFill>
          <a:ln/>
        </p:spPr>
        <p:txBody>
          <a:bodyPr/>
          <a:lstStyle/>
          <a:p>
            <a:endParaRPr lang="fr-FR"/>
          </a:p>
        </p:txBody>
      </p:sp>
      <p:sp>
        <p:nvSpPr>
          <p:cNvPr id="44" name="Text 9">
            <a:extLst>
              <a:ext uri="{FF2B5EF4-FFF2-40B4-BE49-F238E27FC236}">
                <a16:creationId xmlns:a16="http://schemas.microsoft.com/office/drawing/2014/main" id="{A980BBF9-B697-942D-19CA-5AFA1C1309B6}"/>
              </a:ext>
            </a:extLst>
          </p:cNvPr>
          <p:cNvSpPr txBox="1"/>
          <p:nvPr/>
        </p:nvSpPr>
        <p:spPr>
          <a:xfrm>
            <a:off x="4224528" y="5623560"/>
            <a:ext cx="4334256" cy="310896"/>
          </a:xfrm>
          <a:prstGeom prst="rect">
            <a:avLst/>
          </a:prstGeom>
          <a:noFill/>
          <a:ln/>
        </p:spPr>
        <p:txBody>
          <a:bodyPr wrap="square" lIns="0" tIns="0" rIns="0" bIns="0" rtlCol="0" anchor="ctr"/>
          <a:lstStyle/>
          <a:p>
            <a:pPr marL="0" indent="0">
              <a:buNone/>
            </a:pPr>
            <a:r>
              <a:rPr lang="fr-FR" sz="1150" noProof="0" dirty="0"/>
              <a:t>En constante évolution</a:t>
            </a:r>
          </a:p>
        </p:txBody>
      </p:sp>
      <p:sp>
        <p:nvSpPr>
          <p:cNvPr id="46" name="Shape 13">
            <a:extLst>
              <a:ext uri="{FF2B5EF4-FFF2-40B4-BE49-F238E27FC236}">
                <a16:creationId xmlns:a16="http://schemas.microsoft.com/office/drawing/2014/main" id="{7C491A4D-6D5E-A067-1034-7816AD1EDDA7}"/>
              </a:ext>
            </a:extLst>
          </p:cNvPr>
          <p:cNvSpPr/>
          <p:nvPr/>
        </p:nvSpPr>
        <p:spPr>
          <a:xfrm>
            <a:off x="4005072" y="5074920"/>
            <a:ext cx="64008" cy="64008"/>
          </a:xfrm>
          <a:prstGeom prst="ellipse">
            <a:avLst/>
          </a:prstGeom>
          <a:solidFill>
            <a:schemeClr val="tx1"/>
          </a:solidFill>
          <a:ln/>
        </p:spPr>
        <p:txBody>
          <a:bodyPr/>
          <a:lstStyle/>
          <a:p>
            <a:endParaRPr lang="fr-FR"/>
          </a:p>
        </p:txBody>
      </p:sp>
      <p:sp>
        <p:nvSpPr>
          <p:cNvPr id="48" name="Shape 15">
            <a:extLst>
              <a:ext uri="{FF2B5EF4-FFF2-40B4-BE49-F238E27FC236}">
                <a16:creationId xmlns:a16="http://schemas.microsoft.com/office/drawing/2014/main" id="{2394A336-4E40-C934-2E79-9BF64A73A7E4}"/>
              </a:ext>
            </a:extLst>
          </p:cNvPr>
          <p:cNvSpPr/>
          <p:nvPr/>
        </p:nvSpPr>
        <p:spPr>
          <a:xfrm>
            <a:off x="4005072" y="5404104"/>
            <a:ext cx="64008" cy="64008"/>
          </a:xfrm>
          <a:prstGeom prst="ellipse">
            <a:avLst/>
          </a:prstGeom>
          <a:solidFill>
            <a:schemeClr val="tx1"/>
          </a:solidFill>
          <a:ln/>
        </p:spPr>
        <p:txBody>
          <a:bodyPr/>
          <a:lstStyle/>
          <a:p>
            <a:endParaRPr lang="fr-FR"/>
          </a:p>
        </p:txBody>
      </p:sp>
      <p:sp>
        <p:nvSpPr>
          <p:cNvPr id="50" name="Shape 17">
            <a:extLst>
              <a:ext uri="{FF2B5EF4-FFF2-40B4-BE49-F238E27FC236}">
                <a16:creationId xmlns:a16="http://schemas.microsoft.com/office/drawing/2014/main" id="{3E39E0A0-3289-9138-5F54-C9A6BBC3FD73}"/>
              </a:ext>
            </a:extLst>
          </p:cNvPr>
          <p:cNvSpPr/>
          <p:nvPr/>
        </p:nvSpPr>
        <p:spPr>
          <a:xfrm>
            <a:off x="4005072" y="5733288"/>
            <a:ext cx="64008" cy="64008"/>
          </a:xfrm>
          <a:prstGeom prst="ellipse">
            <a:avLst/>
          </a:prstGeom>
          <a:solidFill>
            <a:schemeClr val="tx1"/>
          </a:solidFill>
          <a:ln/>
        </p:spPr>
        <p:txBody>
          <a:bodyPr/>
          <a:lstStyle/>
          <a:p>
            <a:endParaRPr lang="fr-F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14">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A1A1A"/>
                </a:solidFill>
                <a:latin typeface="Lato" pitchFamily="34" charset="0"/>
                <a:ea typeface="Lato" pitchFamily="34" charset="-122"/>
                <a:cs typeface="Lato" pitchFamily="34" charset="-120"/>
              </a:rPr>
              <a:t>Ce que j'en ai fait : prévu, réalisé, écart</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92115003"/>
              </p:ext>
            </p:extLst>
          </p:nvPr>
        </p:nvGraphicFramePr>
        <p:xfrm>
          <a:off x="658368" y="1444752"/>
          <a:ext cx="10835640" cy="3214116"/>
        </p:xfrm>
        <a:graphic>
          <a:graphicData uri="http://schemas.openxmlformats.org/drawingml/2006/table">
            <a:tbl>
              <a:tblPr/>
              <a:tblGrid>
                <a:gridCol w="37490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33756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Axe</a:t>
                      </a:r>
                      <a:endParaRPr lang="en-US" sz="120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A1A1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Prévu (2024)</a:t>
                      </a:r>
                      <a:endParaRPr lang="en-US" sz="120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A1A1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Réalisé</a:t>
                      </a:r>
                      <a:endParaRPr lang="en-US" sz="120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A1A1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Écart</a:t>
                      </a:r>
                      <a:endParaRPr lang="en-US" sz="120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420624">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GRC opérationnelle</a:t>
                      </a:r>
                      <a:endParaRPr lang="en-US" sz="1250" dirty="0">
                        <a:latin typeface="Lato" charset="0"/>
                        <a:ea typeface="Lato" charset="0"/>
                        <a:cs typeface="Lato" charset="0"/>
                      </a:endParaRPr>
                    </a:p>
                  </a:txBody>
                  <a:tcPr marL="82296" marR="82296" marT="82296" marB="82296" anchor="ctr">
                    <a:lnL w="38100" cap="flat" cmpd="sng" algn="ctr">
                      <a:solidFill>
                        <a:srgbClr val="F8E212"/>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Certifications CEH, OSCP, CISSP</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err="1">
                          <a:latin typeface="Lato" charset="0"/>
                          <a:ea typeface="Lato" charset="0"/>
                          <a:cs typeface="Lato" charset="0"/>
                        </a:rPr>
                        <a:t>Itil</a:t>
                      </a:r>
                      <a:r>
                        <a:rPr lang="en-US" sz="1250" dirty="0">
                          <a:latin typeface="Lato" charset="0"/>
                          <a:ea typeface="Lato" charset="0"/>
                          <a:cs typeface="Lato" charset="0"/>
                        </a:rPr>
                        <a:t> 5</a:t>
                      </a: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certifications remplacées par la pratique client</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IA appliquée</a:t>
                      </a:r>
                      <a:endParaRPr lang="en-US" sz="1250" dirty="0">
                        <a:latin typeface="Lato" charset="0"/>
                        <a:ea typeface="Lato" charset="0"/>
                        <a:cs typeface="Lato" charset="0"/>
                      </a:endParaRPr>
                    </a:p>
                  </a:txBody>
                  <a:tcPr marL="82296" marR="82296" marT="82296" marB="82296" anchor="ctr">
                    <a:lnL w="38100" cap="flat" cmpd="sng" algn="ctr">
                      <a:solidFill>
                        <a:srgbClr val="F8E212"/>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RAG et Python, via stage et PFE</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Stage Maurice + PFE : RAG, </a:t>
                      </a:r>
                      <a:r>
                        <a:rPr lang="en-US" sz="1250" b="1" dirty="0" err="1">
                          <a:solidFill>
                            <a:srgbClr val="1A1A1A"/>
                          </a:solidFill>
                          <a:latin typeface="Lato" pitchFamily="34" charset="0"/>
                          <a:ea typeface="Lato" pitchFamily="34" charset="-122"/>
                          <a:cs typeface="Lato" pitchFamily="34" charset="-120"/>
                        </a:rPr>
                        <a:t>LangChain</a:t>
                      </a:r>
                      <a:r>
                        <a:rPr lang="en-US" sz="1250" b="1" dirty="0">
                          <a:solidFill>
                            <a:srgbClr val="1A1A1A"/>
                          </a:solidFill>
                          <a:latin typeface="Lato" pitchFamily="34" charset="0"/>
                          <a:ea typeface="Lato" pitchFamily="34" charset="-122"/>
                          <a:cs typeface="Lato" pitchFamily="34" charset="-120"/>
                        </a:rPr>
                        <a:t>, Python</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tenu</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Gestion de projet complexe</a:t>
                      </a:r>
                      <a:endParaRPr lang="en-US" sz="1250" dirty="0">
                        <a:latin typeface="Lato" charset="0"/>
                        <a:ea typeface="Lato" charset="0"/>
                        <a:cs typeface="Lato" charset="0"/>
                      </a:endParaRPr>
                    </a:p>
                  </a:txBody>
                  <a:tcPr marL="82296" marR="82296" marT="82296" marB="82296" anchor="ctr">
                    <a:lnL w="38100" cap="flat" cmpd="sng" algn="ctr">
                      <a:solidFill>
                        <a:srgbClr val="F8E212"/>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Validée sur un projet réel</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PFE mené en autonomie de bout en bout</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tenu</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Mobilité internationale</a:t>
                      </a:r>
                      <a:endParaRPr lang="en-US" sz="1250" dirty="0">
                        <a:latin typeface="Lato" charset="0"/>
                        <a:ea typeface="Lato" charset="0"/>
                        <a:cs typeface="Lato" charset="0"/>
                      </a:endParaRPr>
                    </a:p>
                  </a:txBody>
                  <a:tcPr marL="82296" marR="82296" marT="82296" marB="82296" anchor="ctr">
                    <a:lnL w="38100" cap="flat" cmpd="sng" algn="ctr">
                      <a:solidFill>
                        <a:srgbClr val="F8E212"/>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Une destination structurante</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4 mois à l'île Maurice, </a:t>
                      </a:r>
                      <a:r>
                        <a:rPr lang="en-US" sz="1250" b="1" dirty="0" err="1">
                          <a:solidFill>
                            <a:srgbClr val="1A1A1A"/>
                          </a:solidFill>
                          <a:latin typeface="Lato" pitchFamily="34" charset="0"/>
                          <a:ea typeface="Lato" pitchFamily="34" charset="-122"/>
                          <a:cs typeface="Lato" pitchFamily="34" charset="-120"/>
                        </a:rPr>
                        <a:t>Eclosia</a:t>
                      </a:r>
                      <a:r>
                        <a:rPr lang="en-US" sz="1250" b="1" dirty="0">
                          <a:solidFill>
                            <a:srgbClr val="1A1A1A"/>
                          </a:solidFill>
                          <a:latin typeface="Lato" pitchFamily="34" charset="0"/>
                          <a:ea typeface="Lato" pitchFamily="34" charset="-122"/>
                          <a:cs typeface="Lato" pitchFamily="34" charset="-120"/>
                        </a:rPr>
                        <a:t>, context </a:t>
                      </a:r>
                      <a:r>
                        <a:rPr lang="en-US" sz="1250" b="1" dirty="0" err="1">
                          <a:solidFill>
                            <a:srgbClr val="1A1A1A"/>
                          </a:solidFill>
                          <a:latin typeface="Lato" pitchFamily="34" charset="0"/>
                          <a:ea typeface="Lato" pitchFamily="34" charset="-122"/>
                          <a:cs typeface="Lato" pitchFamily="34" charset="-120"/>
                        </a:rPr>
                        <a:t>internationnal</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cible initiale l'Asie, réorientée pour raisons de visa</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Positionnement marché</a:t>
                      </a:r>
                      <a:endParaRPr lang="en-US" sz="1250" dirty="0">
                        <a:latin typeface="Lato" charset="0"/>
                        <a:ea typeface="Lato" charset="0"/>
                        <a:cs typeface="Lato" charset="0"/>
                      </a:endParaRPr>
                    </a:p>
                  </a:txBody>
                  <a:tcPr marL="82296" marR="82296" marT="82296" marB="82296" anchor="ctr">
                    <a:lnL w="38100" cap="flat" cmpd="sng" algn="ctr">
                      <a:solidFill>
                        <a:srgbClr val="F8E212"/>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1A"/>
                          </a:solidFill>
                          <a:latin typeface="Lato" pitchFamily="34" charset="0"/>
                          <a:ea typeface="Lato" pitchFamily="34" charset="-122"/>
                          <a:cs typeface="Lato" pitchFamily="34" charset="-120"/>
                        </a:rPr>
                        <a:t>Avant la soutenance</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A1A1A"/>
                          </a:solidFill>
                          <a:latin typeface="Lato" pitchFamily="34" charset="0"/>
                          <a:ea typeface="Lato" pitchFamily="34" charset="-122"/>
                          <a:cs typeface="Lato" pitchFamily="34" charset="-120"/>
                        </a:rPr>
                        <a:t>CDI </a:t>
                      </a:r>
                      <a:r>
                        <a:rPr lang="en-US" sz="1250" b="1" dirty="0" err="1">
                          <a:solidFill>
                            <a:srgbClr val="1A1A1A"/>
                          </a:solidFill>
                          <a:latin typeface="Lato" pitchFamily="34" charset="0"/>
                          <a:ea typeface="Lato" pitchFamily="34" charset="-122"/>
                          <a:cs typeface="Lato" pitchFamily="34" charset="-120"/>
                        </a:rPr>
                        <a:t>signé</a:t>
                      </a:r>
                      <a:r>
                        <a:rPr lang="en-US" sz="1250" b="1" dirty="0">
                          <a:solidFill>
                            <a:srgbClr val="1A1A1A"/>
                          </a:solidFill>
                          <a:latin typeface="Lato" pitchFamily="34" charset="0"/>
                          <a:ea typeface="Lato" pitchFamily="34" charset="-122"/>
                          <a:cs typeface="Lato" pitchFamily="34" charset="-120"/>
                        </a:rPr>
                        <a:t> </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250" dirty="0" err="1">
                          <a:latin typeface="Lato" charset="0"/>
                          <a:ea typeface="Lato" charset="0"/>
                          <a:cs typeface="Lato" charset="0"/>
                        </a:rPr>
                        <a:t>tenu</a:t>
                      </a:r>
                      <a:endParaRPr lang="en-US" sz="1250" dirty="0">
                        <a:latin typeface="Lato" charset="0"/>
                        <a:ea typeface="Lato" charset="0"/>
                        <a:cs typeface="Lato" charset="0"/>
                      </a:endParaRPr>
                    </a:p>
                  </a:txBody>
                  <a:tcPr marL="82296" marR="82296" marT="82296" marB="82296"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373299845"/>
                  </a:ext>
                </a:extLst>
              </a:tr>
            </a:tbl>
          </a:graphicData>
        </a:graphic>
      </p:graphicFrame>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B509DB0E-1240-4F29-BFEE-B03287CD8123}" type="slidenum">
              <a:rPr lang="fr-FR" sz="900" b="0">
                <a:solidFill>
                  <a:srgbClr val="7F7F7F"/>
                </a:solidFill>
                <a:latin typeface="Lato"/>
              </a:rPr>
              <a:t>56</a:t>
            </a:fld>
            <a:endParaRPr lang="fr-FR">
              <a:solidFill>
                <a:srgbClr val="7F7F7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8">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1A1A1A"/>
                </a:solidFill>
                <a:latin typeface="Lato" pitchFamily="34" charset="0"/>
                <a:ea typeface="Lato" pitchFamily="34" charset="-122"/>
                <a:cs typeface="Lato" pitchFamily="34" charset="-120"/>
              </a:rPr>
              <a:t>ECLOSIA TECHNOLOGY SERVICES — ÎLE MAURICE</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A1A1A"/>
                </a:solidFill>
                <a:latin typeface="Lato" pitchFamily="34" charset="0"/>
                <a:ea typeface="Lato" pitchFamily="34" charset="-122"/>
                <a:cs typeface="Lato" pitchFamily="34" charset="-120"/>
              </a:rPr>
              <a:t>Mobilité internationale</a:t>
            </a:r>
            <a:endParaRPr lang="en-US" sz="3000" dirty="0"/>
          </a:p>
        </p:txBody>
      </p:sp>
      <p:sp>
        <p:nvSpPr>
          <p:cNvPr id="4" name="Text 2"/>
          <p:cNvSpPr txBox="1"/>
          <p:nvPr/>
        </p:nvSpPr>
        <p:spPr>
          <a:xfrm>
            <a:off x="658368" y="1408176"/>
            <a:ext cx="2834640" cy="749808"/>
          </a:xfrm>
          <a:prstGeom prst="rect">
            <a:avLst/>
          </a:prstGeom>
          <a:noFill/>
          <a:ln/>
        </p:spPr>
        <p:txBody>
          <a:bodyPr wrap="square" lIns="0" tIns="0" rIns="0" bIns="0" rtlCol="0" anchor="ctr"/>
          <a:lstStyle/>
          <a:p>
            <a:pPr marL="0" indent="0" algn="l">
              <a:buNone/>
            </a:pPr>
            <a:r>
              <a:rPr lang="en-US" sz="4600" b="1" dirty="0">
                <a:solidFill>
                  <a:srgbClr val="1A1A1A"/>
                </a:solidFill>
                <a:latin typeface="Lato" pitchFamily="34" charset="0"/>
                <a:ea typeface="Lato" pitchFamily="34" charset="-122"/>
                <a:cs typeface="Lato" pitchFamily="34" charset="-120"/>
              </a:rPr>
              <a:t>4</a:t>
            </a:r>
            <a:endParaRPr lang="en-US" sz="4600" dirty="0"/>
          </a:p>
        </p:txBody>
      </p:sp>
      <p:sp>
        <p:nvSpPr>
          <p:cNvPr id="5" name="Text 3"/>
          <p:cNvSpPr txBox="1"/>
          <p:nvPr/>
        </p:nvSpPr>
        <p:spPr>
          <a:xfrm>
            <a:off x="658368" y="2139696"/>
            <a:ext cx="2834640" cy="566928"/>
          </a:xfrm>
          <a:prstGeom prst="rect">
            <a:avLst/>
          </a:prstGeom>
          <a:noFill/>
          <a:ln/>
        </p:spPr>
        <p:txBody>
          <a:bodyPr wrap="square" lIns="0" tIns="0" rIns="0" bIns="0" rtlCol="0" anchor="t"/>
          <a:lstStyle/>
          <a:p>
            <a:pPr marL="0" indent="0" algn="l">
              <a:lnSpc>
                <a:spcPct val="112000"/>
              </a:lnSpc>
              <a:buNone/>
            </a:pPr>
            <a:r>
              <a:rPr lang="en-US" sz="1200" dirty="0">
                <a:solidFill>
                  <a:srgbClr val="7F7F7F"/>
                </a:solidFill>
                <a:latin typeface="Lato" pitchFamily="34" charset="0"/>
                <a:ea typeface="Lato" pitchFamily="34" charset="-122"/>
                <a:cs typeface="Lato" pitchFamily="34" charset="-120"/>
              </a:rPr>
              <a:t>mois, de juillet à octobre 2025</a:t>
            </a:r>
            <a:endParaRPr lang="en-US" sz="1200" dirty="0"/>
          </a:p>
        </p:txBody>
      </p:sp>
      <p:sp>
        <p:nvSpPr>
          <p:cNvPr id="6" name="Text 4"/>
          <p:cNvSpPr txBox="1"/>
          <p:nvPr/>
        </p:nvSpPr>
        <p:spPr>
          <a:xfrm>
            <a:off x="3767328" y="1408176"/>
            <a:ext cx="2834640" cy="749808"/>
          </a:xfrm>
          <a:prstGeom prst="rect">
            <a:avLst/>
          </a:prstGeom>
          <a:noFill/>
          <a:ln/>
        </p:spPr>
        <p:txBody>
          <a:bodyPr wrap="square" lIns="0" tIns="0" rIns="0" bIns="0" rtlCol="0" anchor="ctr"/>
          <a:lstStyle/>
          <a:p>
            <a:pPr marL="0" indent="0" algn="l">
              <a:buNone/>
            </a:pPr>
            <a:r>
              <a:rPr lang="en-US" sz="4600" b="1" dirty="0">
                <a:solidFill>
                  <a:srgbClr val="1A1A1A"/>
                </a:solidFill>
                <a:latin typeface="Lato" pitchFamily="34" charset="0"/>
                <a:ea typeface="Lato" pitchFamily="34" charset="-122"/>
                <a:cs typeface="Lato" pitchFamily="34" charset="-120"/>
              </a:rPr>
              <a:t>1</a:t>
            </a:r>
            <a:endParaRPr lang="en-US" sz="4600" dirty="0"/>
          </a:p>
        </p:txBody>
      </p:sp>
      <p:sp>
        <p:nvSpPr>
          <p:cNvPr id="7" name="Text 5"/>
          <p:cNvSpPr txBox="1"/>
          <p:nvPr/>
        </p:nvSpPr>
        <p:spPr>
          <a:xfrm>
            <a:off x="3767328" y="2139696"/>
            <a:ext cx="2834640" cy="566928"/>
          </a:xfrm>
          <a:prstGeom prst="rect">
            <a:avLst/>
          </a:prstGeom>
          <a:noFill/>
          <a:ln/>
        </p:spPr>
        <p:txBody>
          <a:bodyPr wrap="square" lIns="0" tIns="0" rIns="0" bIns="0" rtlCol="0" anchor="t"/>
          <a:lstStyle/>
          <a:p>
            <a:pPr marL="0" indent="0" algn="l">
              <a:lnSpc>
                <a:spcPct val="112000"/>
              </a:lnSpc>
              <a:buNone/>
            </a:pPr>
            <a:r>
              <a:rPr lang="en-US" sz="1200" dirty="0">
                <a:solidFill>
                  <a:srgbClr val="7F7F7F"/>
                </a:solidFill>
                <a:latin typeface="Lato" pitchFamily="34" charset="0"/>
                <a:ea typeface="Lato" pitchFamily="34" charset="-122"/>
                <a:cs typeface="Lato" pitchFamily="34" charset="-120"/>
              </a:rPr>
              <a:t>poste d'analyste développeur</a:t>
            </a:r>
            <a:endParaRPr lang="en-US" sz="1200" dirty="0"/>
          </a:p>
        </p:txBody>
      </p:sp>
      <p:sp>
        <p:nvSpPr>
          <p:cNvPr id="8" name="Text 6"/>
          <p:cNvSpPr txBox="1"/>
          <p:nvPr/>
        </p:nvSpPr>
        <p:spPr>
          <a:xfrm>
            <a:off x="6876288" y="1408176"/>
            <a:ext cx="2834640" cy="749808"/>
          </a:xfrm>
          <a:prstGeom prst="rect">
            <a:avLst/>
          </a:prstGeom>
          <a:noFill/>
          <a:ln/>
        </p:spPr>
        <p:txBody>
          <a:bodyPr wrap="square" lIns="0" tIns="0" rIns="0" bIns="0" rtlCol="0" anchor="ctr"/>
          <a:lstStyle/>
          <a:p>
            <a:pPr marL="0" indent="0" algn="l">
              <a:buNone/>
            </a:pPr>
            <a:r>
              <a:rPr lang="en-US" sz="4600" b="1" dirty="0">
                <a:solidFill>
                  <a:srgbClr val="1A1A1A"/>
                </a:solidFill>
                <a:latin typeface="Lato" pitchFamily="34" charset="0"/>
                <a:ea typeface="Lato" pitchFamily="34" charset="-122"/>
                <a:cs typeface="Lato" pitchFamily="34" charset="-120"/>
              </a:rPr>
              <a:t>1</a:t>
            </a:r>
            <a:endParaRPr lang="en-US" sz="4600" dirty="0"/>
          </a:p>
        </p:txBody>
      </p:sp>
      <p:sp>
        <p:nvSpPr>
          <p:cNvPr id="9" name="Text 7"/>
          <p:cNvSpPr txBox="1"/>
          <p:nvPr/>
        </p:nvSpPr>
        <p:spPr>
          <a:xfrm>
            <a:off x="6876288" y="2139696"/>
            <a:ext cx="2834640" cy="566928"/>
          </a:xfrm>
          <a:prstGeom prst="rect">
            <a:avLst/>
          </a:prstGeom>
          <a:noFill/>
          <a:ln/>
        </p:spPr>
        <p:txBody>
          <a:bodyPr wrap="square" lIns="0" tIns="0" rIns="0" bIns="0" rtlCol="0" anchor="t"/>
          <a:lstStyle/>
          <a:p>
            <a:pPr marL="0" indent="0" algn="l">
              <a:lnSpc>
                <a:spcPct val="112000"/>
              </a:lnSpc>
              <a:buNone/>
            </a:pPr>
            <a:r>
              <a:rPr lang="en-US" sz="1200" dirty="0">
                <a:solidFill>
                  <a:srgbClr val="7F7F7F"/>
                </a:solidFill>
                <a:latin typeface="Lato" pitchFamily="34" charset="0"/>
                <a:ea typeface="Lato" pitchFamily="34" charset="-122"/>
                <a:cs typeface="Lato" pitchFamily="34" charset="-120"/>
              </a:rPr>
              <a:t>groupe mauricien, ~5 000 collaborateurs</a:t>
            </a:r>
            <a:endParaRPr lang="en-US" sz="1200" dirty="0"/>
          </a:p>
        </p:txBody>
      </p:sp>
      <p:sp>
        <p:nvSpPr>
          <p:cNvPr id="10" name="Shape 8"/>
          <p:cNvSpPr/>
          <p:nvPr/>
        </p:nvSpPr>
        <p:spPr>
          <a:xfrm>
            <a:off x="658368" y="2834640"/>
            <a:ext cx="6784848" cy="1068019"/>
          </a:xfrm>
          <a:prstGeom prst="rect">
            <a:avLst/>
          </a:prstGeom>
          <a:solidFill>
            <a:srgbClr val="FFFFFF"/>
          </a:solidFill>
          <a:ln/>
        </p:spPr>
        <p:txBody>
          <a:bodyPr/>
          <a:lstStyle/>
          <a:p>
            <a:endParaRPr lang="fr-FR"/>
          </a:p>
        </p:txBody>
      </p:sp>
      <p:sp>
        <p:nvSpPr>
          <p:cNvPr id="11" name="Text 9"/>
          <p:cNvSpPr txBox="1"/>
          <p:nvPr/>
        </p:nvSpPr>
        <p:spPr>
          <a:xfrm>
            <a:off x="932688" y="3017520"/>
            <a:ext cx="6217920" cy="292608"/>
          </a:xfrm>
          <a:prstGeom prst="rect">
            <a:avLst/>
          </a:prstGeom>
          <a:noFill/>
          <a:ln/>
        </p:spPr>
        <p:txBody>
          <a:bodyPr wrap="square" lIns="0" tIns="0" rIns="0" bIns="0" rtlCol="0" anchor="ctr"/>
          <a:lstStyle/>
          <a:p>
            <a:pPr marL="0" indent="0">
              <a:buNone/>
            </a:pPr>
            <a:r>
              <a:rPr lang="en-US" b="1" dirty="0">
                <a:solidFill>
                  <a:srgbClr val="C5A55A"/>
                </a:solidFill>
                <a:latin typeface="Lato" pitchFamily="34" charset="0"/>
                <a:ea typeface="Lato" pitchFamily="34" charset="-122"/>
                <a:cs typeface="Lato" pitchFamily="34" charset="-120"/>
              </a:rPr>
              <a:t>La mission :</a:t>
            </a:r>
            <a:endParaRPr lang="en-US" sz="1500" dirty="0">
              <a:solidFill>
                <a:srgbClr val="C5A55A"/>
              </a:solidFill>
            </a:endParaRPr>
          </a:p>
        </p:txBody>
      </p:sp>
      <p:sp>
        <p:nvSpPr>
          <p:cNvPr id="12" name="Text 10"/>
          <p:cNvSpPr txBox="1"/>
          <p:nvPr/>
        </p:nvSpPr>
        <p:spPr>
          <a:xfrm>
            <a:off x="932688" y="3346704"/>
            <a:ext cx="6217920" cy="402336"/>
          </a:xfrm>
          <a:prstGeom prst="rect">
            <a:avLst/>
          </a:prstGeom>
          <a:noFill/>
          <a:ln/>
        </p:spPr>
        <p:txBody>
          <a:bodyPr wrap="square" lIns="0" tIns="0" rIns="0" bIns="0" rtlCol="0" anchor="ctr"/>
          <a:lstStyle/>
          <a:p>
            <a:pPr marL="0" indent="0">
              <a:buNone/>
            </a:pPr>
            <a:r>
              <a:rPr lang="en-US" sz="1400" b="1" dirty="0">
                <a:solidFill>
                  <a:srgbClr val="1A1A1A"/>
                </a:solidFill>
                <a:latin typeface="Lato" pitchFamily="34" charset="0"/>
                <a:ea typeface="Lato" pitchFamily="34" charset="-122"/>
                <a:cs typeface="Lato" pitchFamily="34" charset="-120"/>
              </a:rPr>
              <a:t>Recueillir les besoins des utilisateurs et les traduire en applications ou en prototypes.</a:t>
            </a:r>
            <a:endParaRPr lang="en-US" sz="1400" dirty="0"/>
          </a:p>
        </p:txBody>
      </p:sp>
      <p:sp>
        <p:nvSpPr>
          <p:cNvPr id="13" name="Shape 11"/>
          <p:cNvSpPr/>
          <p:nvPr/>
        </p:nvSpPr>
        <p:spPr>
          <a:xfrm>
            <a:off x="932688" y="3877056"/>
            <a:ext cx="6217920" cy="25603"/>
          </a:xfrm>
          <a:prstGeom prst="rect">
            <a:avLst/>
          </a:prstGeom>
          <a:solidFill>
            <a:srgbClr val="FFFFFF"/>
          </a:solidFill>
          <a:ln/>
        </p:spPr>
        <p:txBody>
          <a:bodyPr/>
          <a:lstStyle/>
          <a:p>
            <a:endParaRPr lang="fr-FR"/>
          </a:p>
        </p:txBody>
      </p:sp>
      <p:sp>
        <p:nvSpPr>
          <p:cNvPr id="15" name="Shape 13"/>
          <p:cNvSpPr/>
          <p:nvPr/>
        </p:nvSpPr>
        <p:spPr>
          <a:xfrm>
            <a:off x="7699248" y="2834640"/>
            <a:ext cx="3840480" cy="1481328"/>
          </a:xfrm>
          <a:prstGeom prst="rect">
            <a:avLst/>
          </a:prstGeom>
          <a:solidFill>
            <a:srgbClr val="1A1A1A"/>
          </a:solidFill>
          <a:ln/>
        </p:spPr>
        <p:txBody>
          <a:bodyPr/>
          <a:lstStyle/>
          <a:p>
            <a:endParaRPr lang="fr-FR"/>
          </a:p>
        </p:txBody>
      </p:sp>
      <p:sp>
        <p:nvSpPr>
          <p:cNvPr id="16" name="Text 14"/>
          <p:cNvSpPr txBox="1"/>
          <p:nvPr/>
        </p:nvSpPr>
        <p:spPr>
          <a:xfrm>
            <a:off x="7955280" y="3017520"/>
            <a:ext cx="3346704" cy="292608"/>
          </a:xfrm>
          <a:prstGeom prst="rect">
            <a:avLst/>
          </a:prstGeom>
          <a:noFill/>
          <a:ln/>
        </p:spPr>
        <p:txBody>
          <a:bodyPr wrap="square" lIns="0" tIns="0" rIns="0" bIns="0" rtlCol="0" anchor="ctr"/>
          <a:lstStyle/>
          <a:p>
            <a:pPr marL="0" indent="0">
              <a:buNone/>
            </a:pPr>
            <a:r>
              <a:rPr lang="en-US" sz="1450" b="1" dirty="0">
                <a:solidFill>
                  <a:srgbClr val="FFFFFF"/>
                </a:solidFill>
                <a:latin typeface="Lato" pitchFamily="34" charset="0"/>
                <a:ea typeface="Lato" pitchFamily="34" charset="-122"/>
                <a:cs typeface="Lato" pitchFamily="34" charset="-120"/>
              </a:rPr>
              <a:t>Ce que ce stage a stabilisé</a:t>
            </a:r>
            <a:endParaRPr lang="en-US" sz="1450" dirty="0"/>
          </a:p>
        </p:txBody>
      </p:sp>
      <p:sp>
        <p:nvSpPr>
          <p:cNvPr id="17" name="Text 15"/>
          <p:cNvSpPr txBox="1"/>
          <p:nvPr/>
        </p:nvSpPr>
        <p:spPr>
          <a:xfrm>
            <a:off x="7955280" y="3401568"/>
            <a:ext cx="3346704" cy="914400"/>
          </a:xfrm>
          <a:prstGeom prst="rect">
            <a:avLst/>
          </a:prstGeom>
          <a:noFill/>
          <a:ln/>
        </p:spPr>
        <p:txBody>
          <a:bodyPr wrap="square" lIns="0" tIns="0" rIns="0" bIns="0" rtlCol="0" anchor="ctr"/>
          <a:lstStyle/>
          <a:p>
            <a:pPr marL="0" indent="0">
              <a:lnSpc>
                <a:spcPct val="118000"/>
              </a:lnSpc>
              <a:buNone/>
            </a:pPr>
            <a:r>
              <a:rPr lang="en-US" sz="1250" dirty="0">
                <a:solidFill>
                  <a:srgbClr val="D5CDBB"/>
                </a:solidFill>
                <a:latin typeface="Lato" pitchFamily="34" charset="0"/>
                <a:ea typeface="Lato" pitchFamily="34" charset="-122"/>
                <a:cs typeface="Lato" pitchFamily="34" charset="-120"/>
              </a:rPr>
              <a:t>Un positionnement à la croisée de la technique et du fonctionnel, où l'écoute conditionne la pertinence de la solution.</a:t>
            </a:r>
            <a:endParaRPr lang="en-US" sz="1250" dirty="0"/>
          </a:p>
        </p:txBody>
      </p:sp>
      <p:pic>
        <p:nvPicPr>
          <p:cNvPr id="21" name="Image 20" descr="Mauritius Location Map - Mauritius Attractions">
            <a:extLst>
              <a:ext uri="{FF2B5EF4-FFF2-40B4-BE49-F238E27FC236}">
                <a16:creationId xmlns:a16="http://schemas.microsoft.com/office/drawing/2014/main" id="{6AC09267-A27E-2E56-A40A-A045F3CB0D45}"/>
              </a:ext>
            </a:extLst>
          </p:cNvPr>
          <p:cNvPicPr>
            <a:picLocks noChangeAspect="1"/>
          </p:cNvPicPr>
          <p:nvPr/>
        </p:nvPicPr>
        <p:blipFill>
          <a:blip r:embed="rId3"/>
          <a:stretch>
            <a:fillRect/>
          </a:stretch>
        </p:blipFill>
        <p:spPr>
          <a:xfrm>
            <a:off x="7955280" y="2904"/>
            <a:ext cx="4236720" cy="2053867"/>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20494767-534B-49EE-ACC4-B6AD9A8A868E}" type="slidenum">
              <a:rPr lang="fr-FR" sz="900" b="0">
                <a:solidFill>
                  <a:srgbClr val="7F7F7F"/>
                </a:solidFill>
                <a:latin typeface="Lato"/>
              </a:rPr>
              <a:t>57</a:t>
            </a:fld>
            <a:endParaRPr lang="fr-FR">
              <a:solidFill>
                <a:srgbClr val="7F7F7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1A1A1A"/>
                </a:solidFill>
                <a:latin typeface="Lato" pitchFamily="34" charset="0"/>
                <a:ea typeface="Lato" pitchFamily="34" charset="-122"/>
                <a:cs typeface="Lato" pitchFamily="34" charset="-120"/>
              </a:rPr>
              <a:t>ÉVOLUTION DU PROJET PROFESSIONNEL</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A1A1A"/>
                </a:solidFill>
                <a:latin typeface="Lato" pitchFamily="34" charset="0"/>
                <a:ea typeface="Lato" pitchFamily="34" charset="-122"/>
                <a:cs typeface="Lato" pitchFamily="34" charset="-120"/>
              </a:rPr>
              <a:t>Trois réajustements en cinq ans</a:t>
            </a:r>
            <a:endParaRPr lang="en-US" sz="3000" dirty="0"/>
          </a:p>
        </p:txBody>
      </p:sp>
      <p:sp>
        <p:nvSpPr>
          <p:cNvPr id="4" name="Shape 2"/>
          <p:cNvSpPr/>
          <p:nvPr/>
        </p:nvSpPr>
        <p:spPr>
          <a:xfrm>
            <a:off x="587248" y="2139696"/>
            <a:ext cx="5833872" cy="82296"/>
          </a:xfrm>
          <a:prstGeom prst="rect">
            <a:avLst/>
          </a:prstGeom>
          <a:solidFill>
            <a:schemeClr val="bg2">
              <a:lumMod val="50000"/>
            </a:schemeClr>
          </a:solidFill>
          <a:ln/>
        </p:spPr>
        <p:txBody>
          <a:bodyPr/>
          <a:lstStyle/>
          <a:p>
            <a:endParaRPr lang="fr-FR"/>
          </a:p>
        </p:txBody>
      </p:sp>
      <p:sp>
        <p:nvSpPr>
          <p:cNvPr id="5" name="Shape 3"/>
          <p:cNvSpPr/>
          <p:nvPr/>
        </p:nvSpPr>
        <p:spPr>
          <a:xfrm>
            <a:off x="495808" y="2066544"/>
            <a:ext cx="201168" cy="201168"/>
          </a:xfrm>
          <a:prstGeom prst="ellipse">
            <a:avLst/>
          </a:prstGeom>
          <a:solidFill>
            <a:srgbClr val="1A1A1A"/>
          </a:solidFill>
          <a:ln/>
        </p:spPr>
        <p:txBody>
          <a:bodyPr/>
          <a:lstStyle/>
          <a:p>
            <a:endParaRPr lang="fr-FR"/>
          </a:p>
        </p:txBody>
      </p:sp>
      <p:sp>
        <p:nvSpPr>
          <p:cNvPr id="6" name="Text 4"/>
          <p:cNvSpPr txBox="1"/>
          <p:nvPr/>
        </p:nvSpPr>
        <p:spPr>
          <a:xfrm>
            <a:off x="312928" y="1463040"/>
            <a:ext cx="1371600" cy="402336"/>
          </a:xfrm>
          <a:prstGeom prst="rect">
            <a:avLst/>
          </a:prstGeom>
          <a:noFill/>
          <a:ln/>
        </p:spPr>
        <p:txBody>
          <a:bodyPr wrap="square" lIns="0" tIns="0" rIns="0" bIns="0" rtlCol="0" anchor="ctr"/>
          <a:lstStyle/>
          <a:p>
            <a:pPr marL="0" indent="0">
              <a:buNone/>
            </a:pPr>
            <a:r>
              <a:rPr lang="en-US" sz="2200" b="1" dirty="0">
                <a:solidFill>
                  <a:srgbClr val="1A1A1A"/>
                </a:solidFill>
                <a:latin typeface="Lato" pitchFamily="34" charset="0"/>
                <a:ea typeface="Lato" pitchFamily="34" charset="-122"/>
                <a:cs typeface="Lato" pitchFamily="34" charset="-120"/>
              </a:rPr>
              <a:t>2021</a:t>
            </a:r>
            <a:endParaRPr lang="en-US" sz="2200" dirty="0"/>
          </a:p>
        </p:txBody>
      </p:sp>
      <p:sp>
        <p:nvSpPr>
          <p:cNvPr id="7" name="Text 5"/>
          <p:cNvSpPr txBox="1"/>
          <p:nvPr/>
        </p:nvSpPr>
        <p:spPr>
          <a:xfrm>
            <a:off x="532384" y="2432304"/>
            <a:ext cx="2212848" cy="822960"/>
          </a:xfrm>
          <a:prstGeom prst="rect">
            <a:avLst/>
          </a:prstGeom>
          <a:noFill/>
          <a:ln/>
        </p:spPr>
        <p:txBody>
          <a:bodyPr wrap="square" lIns="0" tIns="0" rIns="0" bIns="0" rtlCol="0" anchor="ctr"/>
          <a:lstStyle/>
          <a:p>
            <a:pPr marL="0" indent="0">
              <a:lnSpc>
                <a:spcPct val="112000"/>
              </a:lnSpc>
              <a:buNone/>
            </a:pPr>
            <a:r>
              <a:rPr lang="en-US" sz="1350" b="1" dirty="0">
                <a:solidFill>
                  <a:srgbClr val="1A1A1A"/>
                </a:solidFill>
                <a:latin typeface="Lato" pitchFamily="34" charset="0"/>
                <a:ea typeface="Lato" pitchFamily="34" charset="-122"/>
                <a:cs typeface="Lato" pitchFamily="34" charset="-120"/>
              </a:rPr>
              <a:t>Cible initiale : </a:t>
            </a:r>
          </a:p>
          <a:p>
            <a:pPr marL="0" indent="0">
              <a:lnSpc>
                <a:spcPct val="112000"/>
              </a:lnSpc>
              <a:buNone/>
            </a:pPr>
            <a:r>
              <a:rPr lang="en-US" sz="1350" b="1" dirty="0">
                <a:solidFill>
                  <a:srgbClr val="1A1A1A"/>
                </a:solidFill>
                <a:latin typeface="Lato" pitchFamily="34" charset="0"/>
                <a:ea typeface="Lato" pitchFamily="34" charset="-122"/>
                <a:cs typeface="Lato" pitchFamily="34" charset="-120"/>
              </a:rPr>
              <a:t>Test d'intrusion</a:t>
            </a:r>
            <a:endParaRPr lang="en-US" sz="1350" dirty="0"/>
          </a:p>
        </p:txBody>
      </p:sp>
      <p:sp>
        <p:nvSpPr>
          <p:cNvPr id="9" name="Shape 7"/>
          <p:cNvSpPr/>
          <p:nvPr/>
        </p:nvSpPr>
        <p:spPr>
          <a:xfrm>
            <a:off x="2982976" y="2066544"/>
            <a:ext cx="201168" cy="201168"/>
          </a:xfrm>
          <a:prstGeom prst="ellipse">
            <a:avLst/>
          </a:prstGeom>
          <a:solidFill>
            <a:srgbClr val="1A1A1A"/>
          </a:solidFill>
          <a:ln/>
        </p:spPr>
        <p:txBody>
          <a:bodyPr/>
          <a:lstStyle/>
          <a:p>
            <a:endParaRPr lang="fr-FR"/>
          </a:p>
        </p:txBody>
      </p:sp>
      <p:sp>
        <p:nvSpPr>
          <p:cNvPr id="10" name="Text 8"/>
          <p:cNvSpPr txBox="1"/>
          <p:nvPr/>
        </p:nvSpPr>
        <p:spPr>
          <a:xfrm>
            <a:off x="2800096" y="1463040"/>
            <a:ext cx="1371600" cy="402336"/>
          </a:xfrm>
          <a:prstGeom prst="rect">
            <a:avLst/>
          </a:prstGeom>
          <a:noFill/>
          <a:ln/>
        </p:spPr>
        <p:txBody>
          <a:bodyPr wrap="square" lIns="0" tIns="0" rIns="0" bIns="0" rtlCol="0" anchor="ctr"/>
          <a:lstStyle/>
          <a:p>
            <a:pPr marL="0" indent="0">
              <a:buNone/>
            </a:pPr>
            <a:r>
              <a:rPr lang="en-US" sz="2200" b="1" dirty="0">
                <a:solidFill>
                  <a:srgbClr val="1A1A1A"/>
                </a:solidFill>
                <a:latin typeface="Lato" pitchFamily="34" charset="0"/>
                <a:ea typeface="Lato" pitchFamily="34" charset="-122"/>
                <a:cs typeface="Lato" pitchFamily="34" charset="-120"/>
              </a:rPr>
              <a:t>2023</a:t>
            </a:r>
            <a:endParaRPr lang="en-US" sz="2200" dirty="0"/>
          </a:p>
        </p:txBody>
      </p:sp>
      <p:sp>
        <p:nvSpPr>
          <p:cNvPr id="11" name="Text 9"/>
          <p:cNvSpPr txBox="1"/>
          <p:nvPr/>
        </p:nvSpPr>
        <p:spPr>
          <a:xfrm>
            <a:off x="2480056" y="2423159"/>
            <a:ext cx="2212848" cy="822960"/>
          </a:xfrm>
          <a:prstGeom prst="rect">
            <a:avLst/>
          </a:prstGeom>
          <a:noFill/>
          <a:ln/>
        </p:spPr>
        <p:txBody>
          <a:bodyPr wrap="square" lIns="0" tIns="0" rIns="0" bIns="0" rtlCol="0" anchor="ctr"/>
          <a:lstStyle/>
          <a:p>
            <a:pPr marL="0" indent="0">
              <a:lnSpc>
                <a:spcPct val="112000"/>
              </a:lnSpc>
              <a:buNone/>
            </a:pPr>
            <a:r>
              <a:rPr lang="en-US" sz="1350" b="1" dirty="0" err="1">
                <a:solidFill>
                  <a:srgbClr val="1A1A1A"/>
                </a:solidFill>
                <a:latin typeface="Lato" pitchFamily="34" charset="0"/>
                <a:ea typeface="Lato" pitchFamily="34" charset="-122"/>
                <a:cs typeface="Lato" pitchFamily="34" charset="-120"/>
              </a:rPr>
              <a:t>Réajustement</a:t>
            </a:r>
            <a:r>
              <a:rPr lang="en-US" sz="1350" b="1" dirty="0">
                <a:solidFill>
                  <a:srgbClr val="1A1A1A"/>
                </a:solidFill>
                <a:latin typeface="Lato" pitchFamily="34" charset="0"/>
                <a:ea typeface="Lato" pitchFamily="34" charset="-122"/>
                <a:cs typeface="Lato" pitchFamily="34" charset="-120"/>
              </a:rPr>
              <a:t> :</a:t>
            </a:r>
          </a:p>
          <a:p>
            <a:pPr marL="0" indent="0">
              <a:lnSpc>
                <a:spcPct val="112000"/>
              </a:lnSpc>
              <a:buNone/>
            </a:pPr>
            <a:r>
              <a:rPr lang="en-US" sz="1350" b="1" dirty="0" err="1">
                <a:solidFill>
                  <a:srgbClr val="1A1A1A"/>
                </a:solidFill>
                <a:latin typeface="Lato" pitchFamily="34" charset="0"/>
                <a:ea typeface="Lato" pitchFamily="34" charset="-122"/>
                <a:cs typeface="Lato" pitchFamily="34" charset="-120"/>
              </a:rPr>
              <a:t>Cybersécurité</a:t>
            </a:r>
            <a:r>
              <a:rPr lang="en-US" sz="1350" b="1" dirty="0">
                <a:solidFill>
                  <a:srgbClr val="1A1A1A"/>
                </a:solidFill>
                <a:latin typeface="Lato" pitchFamily="34" charset="0"/>
                <a:ea typeface="Lato" pitchFamily="34" charset="-122"/>
                <a:cs typeface="Lato" pitchFamily="34" charset="-120"/>
              </a:rPr>
              <a:t> organisationnelle</a:t>
            </a:r>
            <a:endParaRPr lang="en-US" sz="1350" dirty="0"/>
          </a:p>
        </p:txBody>
      </p:sp>
      <p:sp>
        <p:nvSpPr>
          <p:cNvPr id="13" name="Shape 11"/>
          <p:cNvSpPr/>
          <p:nvPr/>
        </p:nvSpPr>
        <p:spPr>
          <a:xfrm>
            <a:off x="6329680" y="2055876"/>
            <a:ext cx="201168" cy="201168"/>
          </a:xfrm>
          <a:prstGeom prst="ellipse">
            <a:avLst/>
          </a:prstGeom>
          <a:solidFill>
            <a:srgbClr val="F8E212"/>
          </a:solidFill>
          <a:ln/>
        </p:spPr>
        <p:txBody>
          <a:bodyPr/>
          <a:lstStyle/>
          <a:p>
            <a:endParaRPr lang="fr-FR"/>
          </a:p>
        </p:txBody>
      </p:sp>
      <p:sp>
        <p:nvSpPr>
          <p:cNvPr id="14" name="Text 12"/>
          <p:cNvSpPr txBox="1"/>
          <p:nvPr/>
        </p:nvSpPr>
        <p:spPr>
          <a:xfrm>
            <a:off x="4546600" y="1441704"/>
            <a:ext cx="1371600" cy="402336"/>
          </a:xfrm>
          <a:prstGeom prst="rect">
            <a:avLst/>
          </a:prstGeom>
          <a:noFill/>
          <a:ln/>
        </p:spPr>
        <p:txBody>
          <a:bodyPr wrap="square" lIns="0" tIns="0" rIns="0" bIns="0" rtlCol="0" anchor="ctr"/>
          <a:lstStyle/>
          <a:p>
            <a:pPr marL="0" indent="0">
              <a:buNone/>
            </a:pPr>
            <a:r>
              <a:rPr lang="en-US" sz="2200" b="1" dirty="0">
                <a:solidFill>
                  <a:srgbClr val="1A1A1A"/>
                </a:solidFill>
                <a:latin typeface="Lato" pitchFamily="34" charset="0"/>
                <a:ea typeface="Lato" pitchFamily="34" charset="-122"/>
                <a:cs typeface="Lato" pitchFamily="34" charset="-120"/>
              </a:rPr>
              <a:t>2025</a:t>
            </a:r>
            <a:endParaRPr lang="en-US" sz="2200" dirty="0"/>
          </a:p>
        </p:txBody>
      </p:sp>
      <p:sp>
        <p:nvSpPr>
          <p:cNvPr id="15" name="Text 13"/>
          <p:cNvSpPr txBox="1"/>
          <p:nvPr/>
        </p:nvSpPr>
        <p:spPr>
          <a:xfrm>
            <a:off x="6007608" y="2322576"/>
            <a:ext cx="2212848" cy="822960"/>
          </a:xfrm>
          <a:prstGeom prst="rect">
            <a:avLst/>
          </a:prstGeom>
          <a:noFill/>
          <a:ln/>
        </p:spPr>
        <p:txBody>
          <a:bodyPr wrap="square" lIns="0" tIns="0" rIns="0" bIns="0" rtlCol="0" anchor="ctr"/>
          <a:lstStyle/>
          <a:p>
            <a:pPr marL="0" indent="0">
              <a:lnSpc>
                <a:spcPct val="112000"/>
              </a:lnSpc>
              <a:buNone/>
            </a:pPr>
            <a:r>
              <a:rPr lang="en-US" sz="1350" b="1" dirty="0" err="1">
                <a:solidFill>
                  <a:srgbClr val="1A1A1A"/>
                </a:solidFill>
                <a:latin typeface="Lato" pitchFamily="34" charset="0"/>
                <a:ea typeface="Lato" pitchFamily="34" charset="-122"/>
                <a:cs typeface="Lato" pitchFamily="34" charset="-120"/>
              </a:rPr>
              <a:t>Cible</a:t>
            </a:r>
            <a:r>
              <a:rPr lang="en-US" sz="1350" b="1" dirty="0">
                <a:solidFill>
                  <a:srgbClr val="1A1A1A"/>
                </a:solidFill>
                <a:latin typeface="Lato" pitchFamily="34" charset="0"/>
                <a:ea typeface="Lato" pitchFamily="34" charset="-122"/>
                <a:cs typeface="Lato" pitchFamily="34" charset="-120"/>
              </a:rPr>
              <a:t> : </a:t>
            </a:r>
            <a:br>
              <a:rPr lang="en-US" sz="1350" b="1" dirty="0">
                <a:solidFill>
                  <a:srgbClr val="1A1A1A"/>
                </a:solidFill>
                <a:latin typeface="Lato" pitchFamily="34" charset="0"/>
                <a:ea typeface="Lato" pitchFamily="34" charset="-122"/>
                <a:cs typeface="Lato" pitchFamily="34" charset="-120"/>
              </a:rPr>
            </a:br>
            <a:r>
              <a:rPr lang="en-US" sz="1350" b="1" dirty="0">
                <a:solidFill>
                  <a:srgbClr val="1A1A1A"/>
                </a:solidFill>
                <a:latin typeface="Lato" pitchFamily="34" charset="0"/>
                <a:ea typeface="Lato" pitchFamily="34" charset="-122"/>
                <a:cs typeface="Lato" pitchFamily="34" charset="-120"/>
              </a:rPr>
              <a:t>conseil IA et analyse fonctionnelle</a:t>
            </a:r>
            <a:endParaRPr lang="en-US" sz="1350" dirty="0"/>
          </a:p>
        </p:txBody>
      </p:sp>
      <p:sp>
        <p:nvSpPr>
          <p:cNvPr id="17" name="Shape 15"/>
          <p:cNvSpPr/>
          <p:nvPr/>
        </p:nvSpPr>
        <p:spPr>
          <a:xfrm>
            <a:off x="8247888" y="1463040"/>
            <a:ext cx="3291840" cy="2212848"/>
          </a:xfrm>
          <a:prstGeom prst="rect">
            <a:avLst/>
          </a:prstGeom>
          <a:solidFill>
            <a:srgbClr val="1A1A1A"/>
          </a:solidFill>
          <a:ln/>
        </p:spPr>
        <p:txBody>
          <a:bodyPr/>
          <a:lstStyle/>
          <a:p>
            <a:endParaRPr lang="fr-FR"/>
          </a:p>
        </p:txBody>
      </p:sp>
      <p:sp>
        <p:nvSpPr>
          <p:cNvPr id="18" name="Text 16"/>
          <p:cNvSpPr txBox="1"/>
          <p:nvPr/>
        </p:nvSpPr>
        <p:spPr>
          <a:xfrm>
            <a:off x="8522208" y="1664208"/>
            <a:ext cx="2743200" cy="256032"/>
          </a:xfrm>
          <a:prstGeom prst="rect">
            <a:avLst/>
          </a:prstGeom>
          <a:noFill/>
          <a:ln/>
        </p:spPr>
        <p:txBody>
          <a:bodyPr wrap="square" lIns="0" tIns="0" rIns="0" bIns="0" rtlCol="0" anchor="ctr"/>
          <a:lstStyle/>
          <a:p>
            <a:pPr marL="0" indent="0">
              <a:buNone/>
            </a:pPr>
            <a:r>
              <a:rPr lang="en-US" sz="1050" b="1" kern="0" spc="180" dirty="0">
                <a:solidFill>
                  <a:srgbClr val="D5CDBB"/>
                </a:solidFill>
                <a:latin typeface="Lato" pitchFamily="34" charset="0"/>
                <a:ea typeface="Lato" pitchFamily="34" charset="-122"/>
                <a:cs typeface="Lato" pitchFamily="34" charset="-120"/>
              </a:rPr>
              <a:t>TOEIC</a:t>
            </a:r>
            <a:endParaRPr lang="en-US" sz="1050" dirty="0"/>
          </a:p>
        </p:txBody>
      </p:sp>
      <p:sp>
        <p:nvSpPr>
          <p:cNvPr id="19" name="Text 17"/>
          <p:cNvSpPr txBox="1"/>
          <p:nvPr/>
        </p:nvSpPr>
        <p:spPr>
          <a:xfrm>
            <a:off x="8522208" y="1975104"/>
            <a:ext cx="2743200" cy="731520"/>
          </a:xfrm>
          <a:prstGeom prst="rect">
            <a:avLst/>
          </a:prstGeom>
          <a:noFill/>
          <a:ln/>
        </p:spPr>
        <p:txBody>
          <a:bodyPr wrap="square" lIns="0" tIns="0" rIns="0" bIns="0" rtlCol="0" anchor="ctr"/>
          <a:lstStyle/>
          <a:p>
            <a:pPr marL="0" indent="0">
              <a:buNone/>
            </a:pPr>
            <a:r>
              <a:rPr lang="en-US" sz="3000" b="1" dirty="0">
                <a:solidFill>
                  <a:srgbClr val="D5CDBB"/>
                </a:solidFill>
                <a:latin typeface="Lato" pitchFamily="34" charset="0"/>
                <a:ea typeface="Lato" pitchFamily="34" charset="-122"/>
                <a:cs typeface="Lato" pitchFamily="34" charset="-120"/>
              </a:rPr>
              <a:t>775</a:t>
            </a:r>
            <a:r>
              <a:rPr lang="en-US" sz="2200" dirty="0">
                <a:solidFill>
                  <a:srgbClr val="F8E212"/>
                </a:solidFill>
                <a:latin typeface="Lato" pitchFamily="34" charset="0"/>
                <a:ea typeface="Lato" pitchFamily="34" charset="-122"/>
                <a:cs typeface="Lato" pitchFamily="34" charset="-120"/>
              </a:rPr>
              <a:t>  →  </a:t>
            </a:r>
            <a:r>
              <a:rPr lang="en-US" sz="4400" b="1" dirty="0">
                <a:solidFill>
                  <a:srgbClr val="F8E212"/>
                </a:solidFill>
                <a:latin typeface="Lato" pitchFamily="34" charset="0"/>
                <a:ea typeface="Lato" pitchFamily="34" charset="-122"/>
                <a:cs typeface="Lato" pitchFamily="34" charset="-120"/>
              </a:rPr>
              <a:t>990</a:t>
            </a:r>
            <a:endParaRPr lang="en-US" sz="3000" dirty="0"/>
          </a:p>
        </p:txBody>
      </p:sp>
      <p:sp>
        <p:nvSpPr>
          <p:cNvPr id="20" name="Text 18"/>
          <p:cNvSpPr txBox="1"/>
          <p:nvPr/>
        </p:nvSpPr>
        <p:spPr>
          <a:xfrm>
            <a:off x="8522208" y="2798064"/>
            <a:ext cx="2743200" cy="731520"/>
          </a:xfrm>
          <a:prstGeom prst="rect">
            <a:avLst/>
          </a:prstGeom>
          <a:noFill/>
          <a:ln/>
        </p:spPr>
        <p:txBody>
          <a:bodyPr wrap="square" lIns="0" tIns="0" rIns="0" bIns="0" rtlCol="0" anchor="ctr"/>
          <a:lstStyle/>
          <a:p>
            <a:pPr marL="0" indent="0">
              <a:lnSpc>
                <a:spcPct val="116000"/>
              </a:lnSpc>
              <a:buNone/>
            </a:pPr>
            <a:r>
              <a:rPr lang="en-US" sz="1150" dirty="0">
                <a:solidFill>
                  <a:srgbClr val="D5CDBB"/>
                </a:solidFill>
                <a:latin typeface="Lato" pitchFamily="34" charset="0"/>
                <a:ea typeface="Lato" pitchFamily="34" charset="-122"/>
                <a:cs typeface="Lato" pitchFamily="34" charset="-120"/>
              </a:rPr>
              <a:t>Progression réalisée pendant 5 </a:t>
            </a:r>
            <a:r>
              <a:rPr lang="en-US" sz="1150" dirty="0" err="1">
                <a:solidFill>
                  <a:srgbClr val="D5CDBB"/>
                </a:solidFill>
                <a:latin typeface="Lato" pitchFamily="34" charset="0"/>
                <a:ea typeface="Lato" pitchFamily="34" charset="-122"/>
                <a:cs typeface="Lato" pitchFamily="34" charset="-120"/>
              </a:rPr>
              <a:t>ans</a:t>
            </a:r>
            <a:endParaRPr lang="en-US" sz="1150" dirty="0">
              <a:solidFill>
                <a:srgbClr val="D5CDBB"/>
              </a:solidFill>
              <a:latin typeface="Lato" pitchFamily="34" charset="0"/>
              <a:ea typeface="Lato" pitchFamily="34" charset="-122"/>
              <a:cs typeface="Lato" pitchFamily="34" charset="-120"/>
            </a:endParaRPr>
          </a:p>
          <a:p>
            <a:pPr marL="0" indent="0">
              <a:lnSpc>
                <a:spcPct val="116000"/>
              </a:lnSpc>
              <a:buNone/>
            </a:pPr>
            <a:endParaRPr lang="en-US" sz="1150" dirty="0"/>
          </a:p>
        </p:txBody>
      </p:sp>
      <p:sp>
        <p:nvSpPr>
          <p:cNvPr id="24" name="Shape 11">
            <a:extLst>
              <a:ext uri="{FF2B5EF4-FFF2-40B4-BE49-F238E27FC236}">
                <a16:creationId xmlns:a16="http://schemas.microsoft.com/office/drawing/2014/main" id="{73C0C625-8BB1-0682-D91D-33E1AB229876}"/>
              </a:ext>
            </a:extLst>
          </p:cNvPr>
          <p:cNvSpPr/>
          <p:nvPr/>
        </p:nvSpPr>
        <p:spPr>
          <a:xfrm>
            <a:off x="4863084" y="2092960"/>
            <a:ext cx="201168" cy="201168"/>
          </a:xfrm>
          <a:prstGeom prst="ellipse">
            <a:avLst/>
          </a:prstGeom>
          <a:solidFill>
            <a:schemeClr val="bg2">
              <a:lumMod val="50000"/>
            </a:schemeClr>
          </a:solidFill>
          <a:ln/>
        </p:spPr>
        <p:txBody>
          <a:bodyPr/>
          <a:lstStyle/>
          <a:p>
            <a:endParaRPr lang="fr-FR">
              <a:solidFill>
                <a:schemeClr val="bg2">
                  <a:lumMod val="25000"/>
                </a:schemeClr>
              </a:solidFill>
            </a:endParaRPr>
          </a:p>
        </p:txBody>
      </p:sp>
      <p:sp>
        <p:nvSpPr>
          <p:cNvPr id="26" name="Text 12">
            <a:extLst>
              <a:ext uri="{FF2B5EF4-FFF2-40B4-BE49-F238E27FC236}">
                <a16:creationId xmlns:a16="http://schemas.microsoft.com/office/drawing/2014/main" id="{473B1FBD-E076-DB45-A5BD-9E230351B3E8}"/>
              </a:ext>
            </a:extLst>
          </p:cNvPr>
          <p:cNvSpPr txBox="1"/>
          <p:nvPr/>
        </p:nvSpPr>
        <p:spPr>
          <a:xfrm>
            <a:off x="6641338" y="1992376"/>
            <a:ext cx="1371600" cy="402336"/>
          </a:xfrm>
          <a:prstGeom prst="rect">
            <a:avLst/>
          </a:prstGeom>
          <a:noFill/>
          <a:ln/>
        </p:spPr>
        <p:txBody>
          <a:bodyPr wrap="square" lIns="0" tIns="0" rIns="0" bIns="0" rtlCol="0" anchor="ctr"/>
          <a:lstStyle/>
          <a:p>
            <a:pPr marL="0" indent="0">
              <a:buNone/>
            </a:pPr>
            <a:r>
              <a:rPr lang="en-US" sz="2200" b="1" dirty="0">
                <a:latin typeface="Lato" pitchFamily="34" charset="0"/>
                <a:ea typeface="Lato" pitchFamily="34" charset="-122"/>
                <a:cs typeface="Lato" pitchFamily="34" charset="-120"/>
              </a:rPr>
              <a:t>2026</a:t>
            </a:r>
            <a:endParaRPr lang="en-US" sz="2200" dirty="0"/>
          </a:p>
        </p:txBody>
      </p:sp>
      <p:sp>
        <p:nvSpPr>
          <p:cNvPr id="28" name="Text 9">
            <a:extLst>
              <a:ext uri="{FF2B5EF4-FFF2-40B4-BE49-F238E27FC236}">
                <a16:creationId xmlns:a16="http://schemas.microsoft.com/office/drawing/2014/main" id="{2EE36396-AAFE-CDE4-3AF3-9251C6D58336}"/>
              </a:ext>
            </a:extLst>
          </p:cNvPr>
          <p:cNvSpPr txBox="1"/>
          <p:nvPr/>
        </p:nvSpPr>
        <p:spPr>
          <a:xfrm>
            <a:off x="3769360" y="2322576"/>
            <a:ext cx="2212848" cy="822960"/>
          </a:xfrm>
          <a:prstGeom prst="rect">
            <a:avLst/>
          </a:prstGeom>
          <a:noFill/>
          <a:ln/>
        </p:spPr>
        <p:txBody>
          <a:bodyPr wrap="square" lIns="0" tIns="0" rIns="0" bIns="0" rtlCol="0" anchor="ctr"/>
          <a:lstStyle/>
          <a:p>
            <a:pPr marL="0" indent="0" algn="ctr">
              <a:lnSpc>
                <a:spcPct val="112000"/>
              </a:lnSpc>
              <a:buNone/>
            </a:pPr>
            <a:r>
              <a:rPr lang="fr-FR" sz="1350" b="1" noProof="0" dirty="0">
                <a:solidFill>
                  <a:srgbClr val="1A1A1A"/>
                </a:solidFill>
                <a:latin typeface="Lato" pitchFamily="34" charset="0"/>
                <a:ea typeface="Lato" pitchFamily="34" charset="-122"/>
                <a:cs typeface="Lato" pitchFamily="34" charset="-120"/>
              </a:rPr>
              <a:t>Réajustement:</a:t>
            </a:r>
          </a:p>
          <a:p>
            <a:pPr marL="0" indent="0" algn="ctr">
              <a:lnSpc>
                <a:spcPct val="112000"/>
              </a:lnSpc>
              <a:buNone/>
            </a:pPr>
            <a:r>
              <a:rPr lang="fr-FR" sz="1350" b="1" noProof="0" dirty="0">
                <a:solidFill>
                  <a:srgbClr val="1A1A1A"/>
                </a:solidFill>
                <a:latin typeface="Lato" pitchFamily="34" charset="0"/>
                <a:ea typeface="Lato" pitchFamily="34" charset="-122"/>
                <a:cs typeface="Lato" pitchFamily="34" charset="-120"/>
              </a:rPr>
              <a:t>Business analyste</a:t>
            </a:r>
            <a:endParaRPr lang="fr-FR" sz="1350" noProof="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8">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1A1A1A"/>
                </a:solidFill>
                <a:latin typeface="Lato" pitchFamily="34" charset="0"/>
                <a:ea typeface="Lato" pitchFamily="34" charset="-122"/>
                <a:cs typeface="Lato" pitchFamily="34" charset="-120"/>
              </a:rPr>
              <a:t>ENGAGEMENT PERSONNEL</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fr-FR" sz="3000" b="1" noProof="0" dirty="0"/>
              <a:t>Ecoresponsabilité</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20494767-534B-49EE-ACC4-B6AD9A8A868E}" type="slidenum">
              <a:rPr lang="fr-FR" sz="900" b="0">
                <a:solidFill>
                  <a:srgbClr val="7F7F7F"/>
                </a:solidFill>
                <a:latin typeface="Lato"/>
              </a:rPr>
              <a:t>59</a:t>
            </a:fld>
            <a:endParaRPr lang="fr-FR">
              <a:solidFill>
                <a:srgbClr val="7F7F7F"/>
              </a:solidFill>
            </a:endParaRPr>
          </a:p>
        </p:txBody>
      </p:sp>
      <p:sp>
        <p:nvSpPr>
          <p:cNvPr id="4" name="Rectangle : coins arrondis 3">
            <a:extLst>
              <a:ext uri="{FF2B5EF4-FFF2-40B4-BE49-F238E27FC236}">
                <a16:creationId xmlns:a16="http://schemas.microsoft.com/office/drawing/2014/main" id="{CC1717A1-ECE0-4BF4-B33F-AE5A805B6964}"/>
              </a:ext>
            </a:extLst>
          </p:cNvPr>
          <p:cNvSpPr/>
          <p:nvPr/>
        </p:nvSpPr>
        <p:spPr>
          <a:xfrm>
            <a:off x="660400" y="1460500"/>
            <a:ext cx="5270500" cy="3810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5" name="Rectangle 4">
            <a:extLst>
              <a:ext uri="{FF2B5EF4-FFF2-40B4-BE49-F238E27FC236}">
                <a16:creationId xmlns:a16="http://schemas.microsoft.com/office/drawing/2014/main" id="{B80089F3-255B-45F1-8C65-4A9AC7962EDC}"/>
              </a:ext>
            </a:extLst>
          </p:cNvPr>
          <p:cNvSpPr/>
          <p:nvPr/>
        </p:nvSpPr>
        <p:spPr>
          <a:xfrm>
            <a:off x="660400" y="1460500"/>
            <a:ext cx="5270500" cy="508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6" name="Ellipse 5">
            <a:extLst>
              <a:ext uri="{FF2B5EF4-FFF2-40B4-BE49-F238E27FC236}">
                <a16:creationId xmlns:a16="http://schemas.microsoft.com/office/drawing/2014/main" id="{E58713B9-06F2-4EA9-9C91-4943795E4CEB}"/>
              </a:ext>
            </a:extLst>
          </p:cNvPr>
          <p:cNvSpPr/>
          <p:nvPr/>
        </p:nvSpPr>
        <p:spPr>
          <a:xfrm>
            <a:off x="914400" y="1714500"/>
            <a:ext cx="508000" cy="508000"/>
          </a:xfrm>
          <a:prstGeom prst="ellipse">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 name="ZoneTexte 6">
            <a:extLst>
              <a:ext uri="{FF2B5EF4-FFF2-40B4-BE49-F238E27FC236}">
                <a16:creationId xmlns:a16="http://schemas.microsoft.com/office/drawing/2014/main" id="{C230631E-8AA7-4D26-AF63-6AFD1A872B68}"/>
              </a:ext>
            </a:extLst>
          </p:cNvPr>
          <p:cNvSpPr txBox="1"/>
          <p:nvPr/>
        </p:nvSpPr>
        <p:spPr>
          <a:xfrm>
            <a:off x="1574800" y="1841500"/>
            <a:ext cx="4102100" cy="254000"/>
          </a:xfrm>
          <a:prstGeom prst="rect">
            <a:avLst/>
          </a:prstGeom>
          <a:noFill/>
        </p:spPr>
        <p:txBody>
          <a:bodyPr vertOverflow="overflow" vert="horz" wrap="none" rtlCol="0" anchor="t">
            <a:spAutoFit/>
          </a:bodyPr>
          <a:lstStyle/>
          <a:p>
            <a:pPr algn="l"/>
            <a:r>
              <a:rPr lang="fr-FR" sz="1100" b="1">
                <a:solidFill>
                  <a:srgbClr val="4A5568"/>
                </a:solidFill>
                <a:latin typeface="Lato"/>
                <a:ea typeface="Lato"/>
                <a:cs typeface="Lato"/>
              </a:rPr>
              <a:t>CITOYEN</a:t>
            </a:r>
          </a:p>
        </p:txBody>
      </p:sp>
      <p:sp>
        <p:nvSpPr>
          <p:cNvPr id="8" name="ZoneTexte 7">
            <a:extLst>
              <a:ext uri="{FF2B5EF4-FFF2-40B4-BE49-F238E27FC236}">
                <a16:creationId xmlns:a16="http://schemas.microsoft.com/office/drawing/2014/main" id="{EFA6B6A6-8E72-4993-80A3-3E423A0136BE}"/>
              </a:ext>
            </a:extLst>
          </p:cNvPr>
          <p:cNvSpPr txBox="1"/>
          <p:nvPr/>
        </p:nvSpPr>
        <p:spPr>
          <a:xfrm>
            <a:off x="914400" y="2374900"/>
            <a:ext cx="4762500" cy="698500"/>
          </a:xfrm>
          <a:prstGeom prst="rect">
            <a:avLst/>
          </a:prstGeom>
          <a:noFill/>
        </p:spPr>
        <p:txBody>
          <a:bodyPr vertOverflow="overflow" vert="horz" wrap="square" rtlCol="0" anchor="t">
            <a:spAutoFit/>
          </a:bodyPr>
          <a:lstStyle/>
          <a:p>
            <a:pPr algn="l"/>
            <a:r>
              <a:rPr lang="fr-FR" sz="1700" b="1">
                <a:solidFill>
                  <a:srgbClr val="1A1A1A"/>
                </a:solidFill>
                <a:latin typeface="Lato"/>
                <a:ea typeface="Lato"/>
                <a:cs typeface="Lato"/>
              </a:rPr>
              <a:t>Réduire mon empreinte au quotidien</a:t>
            </a:r>
          </a:p>
        </p:txBody>
      </p:sp>
      <p:sp>
        <p:nvSpPr>
          <p:cNvPr id="9" name="Rectangle 8">
            <a:extLst>
              <a:ext uri="{FF2B5EF4-FFF2-40B4-BE49-F238E27FC236}">
                <a16:creationId xmlns:a16="http://schemas.microsoft.com/office/drawing/2014/main" id="{1C1CD2D6-9072-45B7-9496-EC8CE1E1AB62}"/>
              </a:ext>
            </a:extLst>
          </p:cNvPr>
          <p:cNvSpPr/>
          <p:nvPr/>
        </p:nvSpPr>
        <p:spPr>
          <a:xfrm>
            <a:off x="914400" y="33909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9" name="ZoneTexte 18">
            <a:extLst>
              <a:ext uri="{FF2B5EF4-FFF2-40B4-BE49-F238E27FC236}">
                <a16:creationId xmlns:a16="http://schemas.microsoft.com/office/drawing/2014/main" id="{E7F0AEC8-E43D-4CB2-B821-8696837F7B95}"/>
              </a:ext>
            </a:extLst>
          </p:cNvPr>
          <p:cNvSpPr txBox="1"/>
          <p:nvPr/>
        </p:nvSpPr>
        <p:spPr>
          <a:xfrm>
            <a:off x="1143000" y="3302000"/>
            <a:ext cx="4533900" cy="284693"/>
          </a:xfrm>
          <a:prstGeom prst="rect">
            <a:avLst/>
          </a:prstGeom>
          <a:noFill/>
        </p:spPr>
        <p:txBody>
          <a:bodyPr vertOverflow="overflow" vert="horz" wrap="square" rtlCol="0" anchor="t">
            <a:spAutoFit/>
          </a:bodyPr>
          <a:lstStyle/>
          <a:p>
            <a:pPr algn="l"/>
            <a:r>
              <a:rPr lang="fr-FR" sz="1250" dirty="0">
                <a:solidFill>
                  <a:srgbClr val="1A1A1A"/>
                </a:solidFill>
                <a:latin typeface="Lato"/>
                <a:ea typeface="Lato"/>
                <a:cs typeface="Lato"/>
              </a:rPr>
              <a:t>Mobilités douces : vélo, transports en commun, marche, VE</a:t>
            </a:r>
          </a:p>
        </p:txBody>
      </p:sp>
      <p:sp>
        <p:nvSpPr>
          <p:cNvPr id="20" name="Rectangle 19">
            <a:extLst>
              <a:ext uri="{FF2B5EF4-FFF2-40B4-BE49-F238E27FC236}">
                <a16:creationId xmlns:a16="http://schemas.microsoft.com/office/drawing/2014/main" id="{6F53A3AB-0D9A-4678-8CD4-952C2962E25A}"/>
              </a:ext>
            </a:extLst>
          </p:cNvPr>
          <p:cNvSpPr/>
          <p:nvPr/>
        </p:nvSpPr>
        <p:spPr>
          <a:xfrm>
            <a:off x="914400" y="39243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1" name="ZoneTexte 20">
            <a:extLst>
              <a:ext uri="{FF2B5EF4-FFF2-40B4-BE49-F238E27FC236}">
                <a16:creationId xmlns:a16="http://schemas.microsoft.com/office/drawing/2014/main" id="{08DB5526-72A6-4305-93EA-8B02031D87B9}"/>
              </a:ext>
            </a:extLst>
          </p:cNvPr>
          <p:cNvSpPr txBox="1"/>
          <p:nvPr/>
        </p:nvSpPr>
        <p:spPr>
          <a:xfrm>
            <a:off x="1143000" y="3835400"/>
            <a:ext cx="4533900" cy="508000"/>
          </a:xfrm>
          <a:prstGeom prst="rect">
            <a:avLst/>
          </a:prstGeom>
          <a:noFill/>
        </p:spPr>
        <p:txBody>
          <a:bodyPr vertOverflow="overflow" vert="horz" wrap="square" rtlCol="0" anchor="t">
            <a:spAutoFit/>
          </a:bodyPr>
          <a:lstStyle/>
          <a:p>
            <a:pPr algn="l"/>
            <a:r>
              <a:rPr lang="fr-FR" sz="1250">
                <a:solidFill>
                  <a:srgbClr val="1A1A1A"/>
                </a:solidFill>
                <a:latin typeface="Lato"/>
                <a:ea typeface="Lato"/>
                <a:cs typeface="Lato"/>
              </a:rPr>
              <a:t>Circuits courts, commerces de proximité</a:t>
            </a:r>
          </a:p>
        </p:txBody>
      </p:sp>
      <p:sp>
        <p:nvSpPr>
          <p:cNvPr id="22" name="Rectangle 21">
            <a:extLst>
              <a:ext uri="{FF2B5EF4-FFF2-40B4-BE49-F238E27FC236}">
                <a16:creationId xmlns:a16="http://schemas.microsoft.com/office/drawing/2014/main" id="{6D469496-33A3-47E3-91D8-0D96F7568AF3}"/>
              </a:ext>
            </a:extLst>
          </p:cNvPr>
          <p:cNvSpPr/>
          <p:nvPr/>
        </p:nvSpPr>
        <p:spPr>
          <a:xfrm>
            <a:off x="914400" y="44577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3" name="ZoneTexte 22">
            <a:extLst>
              <a:ext uri="{FF2B5EF4-FFF2-40B4-BE49-F238E27FC236}">
                <a16:creationId xmlns:a16="http://schemas.microsoft.com/office/drawing/2014/main" id="{3855EF10-A441-48F7-968C-2755A47188A0}"/>
              </a:ext>
            </a:extLst>
          </p:cNvPr>
          <p:cNvSpPr txBox="1"/>
          <p:nvPr/>
        </p:nvSpPr>
        <p:spPr>
          <a:xfrm>
            <a:off x="1143000" y="4368800"/>
            <a:ext cx="4533900" cy="508000"/>
          </a:xfrm>
          <a:prstGeom prst="rect">
            <a:avLst/>
          </a:prstGeom>
          <a:noFill/>
        </p:spPr>
        <p:txBody>
          <a:bodyPr vertOverflow="overflow" vert="horz" wrap="square" rtlCol="0" anchor="t">
            <a:spAutoFit/>
          </a:bodyPr>
          <a:lstStyle/>
          <a:p>
            <a:pPr algn="l"/>
            <a:r>
              <a:rPr lang="fr-FR" sz="1250" dirty="0">
                <a:solidFill>
                  <a:srgbClr val="1A1A1A"/>
                </a:solidFill>
                <a:latin typeface="Lato"/>
                <a:ea typeface="Lato"/>
                <a:cs typeface="Lato"/>
              </a:rPr>
              <a:t>Réduction des déchets et du gaspillage</a:t>
            </a:r>
          </a:p>
        </p:txBody>
      </p:sp>
      <p:sp>
        <p:nvSpPr>
          <p:cNvPr id="24" name="Rectangle : coins arrondis 23">
            <a:extLst>
              <a:ext uri="{FF2B5EF4-FFF2-40B4-BE49-F238E27FC236}">
                <a16:creationId xmlns:a16="http://schemas.microsoft.com/office/drawing/2014/main" id="{484BEDAE-49F5-4EA5-B16F-1F076D2E4EC8}"/>
              </a:ext>
            </a:extLst>
          </p:cNvPr>
          <p:cNvSpPr/>
          <p:nvPr/>
        </p:nvSpPr>
        <p:spPr>
          <a:xfrm>
            <a:off x="6261100" y="1460500"/>
            <a:ext cx="5270500" cy="3810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5" name="Rectangle 24">
            <a:extLst>
              <a:ext uri="{FF2B5EF4-FFF2-40B4-BE49-F238E27FC236}">
                <a16:creationId xmlns:a16="http://schemas.microsoft.com/office/drawing/2014/main" id="{BA3B3027-B9FD-4DC5-B704-000E50049865}"/>
              </a:ext>
            </a:extLst>
          </p:cNvPr>
          <p:cNvSpPr/>
          <p:nvPr/>
        </p:nvSpPr>
        <p:spPr>
          <a:xfrm>
            <a:off x="6261100" y="1460500"/>
            <a:ext cx="5270500" cy="508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6" name="Ellipse 25">
            <a:extLst>
              <a:ext uri="{FF2B5EF4-FFF2-40B4-BE49-F238E27FC236}">
                <a16:creationId xmlns:a16="http://schemas.microsoft.com/office/drawing/2014/main" id="{DC326B61-D037-4624-91C7-DB0F5171F1E5}"/>
              </a:ext>
            </a:extLst>
          </p:cNvPr>
          <p:cNvSpPr/>
          <p:nvPr/>
        </p:nvSpPr>
        <p:spPr>
          <a:xfrm>
            <a:off x="6515100" y="1714500"/>
            <a:ext cx="508000" cy="508000"/>
          </a:xfrm>
          <a:prstGeom prst="ellipse">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7" name="ZoneTexte 26">
            <a:extLst>
              <a:ext uri="{FF2B5EF4-FFF2-40B4-BE49-F238E27FC236}">
                <a16:creationId xmlns:a16="http://schemas.microsoft.com/office/drawing/2014/main" id="{80CC4D69-7AC1-4F8A-946E-4DC820817138}"/>
              </a:ext>
            </a:extLst>
          </p:cNvPr>
          <p:cNvSpPr txBox="1"/>
          <p:nvPr/>
        </p:nvSpPr>
        <p:spPr>
          <a:xfrm>
            <a:off x="7175500" y="1841500"/>
            <a:ext cx="4102100" cy="254000"/>
          </a:xfrm>
          <a:prstGeom prst="rect">
            <a:avLst/>
          </a:prstGeom>
          <a:noFill/>
        </p:spPr>
        <p:txBody>
          <a:bodyPr vertOverflow="overflow" vert="horz" wrap="none" rtlCol="0" anchor="t">
            <a:spAutoFit/>
          </a:bodyPr>
          <a:lstStyle/>
          <a:p>
            <a:pPr algn="l"/>
            <a:r>
              <a:rPr lang="fr-FR" sz="1100" b="1">
                <a:solidFill>
                  <a:srgbClr val="4A5568"/>
                </a:solidFill>
                <a:latin typeface="Lato"/>
                <a:ea typeface="Lato"/>
                <a:cs typeface="Lato"/>
              </a:rPr>
              <a:t>INGÉNIEUR IA</a:t>
            </a:r>
          </a:p>
        </p:txBody>
      </p:sp>
      <p:sp>
        <p:nvSpPr>
          <p:cNvPr id="28" name="ZoneTexte 27">
            <a:extLst>
              <a:ext uri="{FF2B5EF4-FFF2-40B4-BE49-F238E27FC236}">
                <a16:creationId xmlns:a16="http://schemas.microsoft.com/office/drawing/2014/main" id="{BABC8CBA-0A57-4A00-9916-21D203165777}"/>
              </a:ext>
            </a:extLst>
          </p:cNvPr>
          <p:cNvSpPr txBox="1"/>
          <p:nvPr/>
        </p:nvSpPr>
        <p:spPr>
          <a:xfrm>
            <a:off x="6515100" y="2374900"/>
            <a:ext cx="4762500" cy="698500"/>
          </a:xfrm>
          <a:prstGeom prst="rect">
            <a:avLst/>
          </a:prstGeom>
          <a:noFill/>
        </p:spPr>
        <p:txBody>
          <a:bodyPr vertOverflow="overflow" vert="horz" wrap="square" rtlCol="0" anchor="t">
            <a:spAutoFit/>
          </a:bodyPr>
          <a:lstStyle/>
          <a:p>
            <a:pPr algn="l"/>
            <a:r>
              <a:rPr lang="fr-FR" sz="1700" b="1">
                <a:solidFill>
                  <a:srgbClr val="1A1A1A"/>
                </a:solidFill>
                <a:latin typeface="Lato"/>
                <a:ea typeface="Lato"/>
                <a:cs typeface="Lato"/>
              </a:rPr>
              <a:t>Limiter l'impact de l'IA en mission</a:t>
            </a:r>
          </a:p>
        </p:txBody>
      </p:sp>
      <p:sp>
        <p:nvSpPr>
          <p:cNvPr id="29" name="Rectangle 28">
            <a:extLst>
              <a:ext uri="{FF2B5EF4-FFF2-40B4-BE49-F238E27FC236}">
                <a16:creationId xmlns:a16="http://schemas.microsoft.com/office/drawing/2014/main" id="{5555BDDA-9EE8-4F5A-B65A-EAA3C136B613}"/>
              </a:ext>
            </a:extLst>
          </p:cNvPr>
          <p:cNvSpPr/>
          <p:nvPr/>
        </p:nvSpPr>
        <p:spPr>
          <a:xfrm>
            <a:off x="6515100" y="33909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0" name="ZoneTexte 29">
            <a:extLst>
              <a:ext uri="{FF2B5EF4-FFF2-40B4-BE49-F238E27FC236}">
                <a16:creationId xmlns:a16="http://schemas.microsoft.com/office/drawing/2014/main" id="{86F9F5D2-AC40-471E-A753-20BA63DC3139}"/>
              </a:ext>
            </a:extLst>
          </p:cNvPr>
          <p:cNvSpPr txBox="1"/>
          <p:nvPr/>
        </p:nvSpPr>
        <p:spPr>
          <a:xfrm>
            <a:off x="6743700" y="3302000"/>
            <a:ext cx="4533900" cy="477054"/>
          </a:xfrm>
          <a:prstGeom prst="rect">
            <a:avLst/>
          </a:prstGeom>
          <a:noFill/>
        </p:spPr>
        <p:txBody>
          <a:bodyPr vertOverflow="overflow" vert="horz" wrap="square" rtlCol="0" anchor="t">
            <a:spAutoFit/>
          </a:bodyPr>
          <a:lstStyle/>
          <a:p>
            <a:pPr algn="l"/>
            <a:r>
              <a:rPr lang="fr-FR" sz="1250" dirty="0">
                <a:solidFill>
                  <a:srgbClr val="1A1A1A"/>
                </a:solidFill>
                <a:latin typeface="Lato"/>
                <a:ea typeface="Lato"/>
                <a:cs typeface="Lato"/>
              </a:rPr>
              <a:t>Sensibilisation des équipes aux enjeux environnementaux des modèles</a:t>
            </a:r>
          </a:p>
        </p:txBody>
      </p:sp>
      <p:sp>
        <p:nvSpPr>
          <p:cNvPr id="31" name="Rectangle 30">
            <a:extLst>
              <a:ext uri="{FF2B5EF4-FFF2-40B4-BE49-F238E27FC236}">
                <a16:creationId xmlns:a16="http://schemas.microsoft.com/office/drawing/2014/main" id="{ABA314C3-4752-400A-A593-B84B35C8F4E6}"/>
              </a:ext>
            </a:extLst>
          </p:cNvPr>
          <p:cNvSpPr/>
          <p:nvPr/>
        </p:nvSpPr>
        <p:spPr>
          <a:xfrm>
            <a:off x="6515100" y="39243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2" name="ZoneTexte 31">
            <a:extLst>
              <a:ext uri="{FF2B5EF4-FFF2-40B4-BE49-F238E27FC236}">
                <a16:creationId xmlns:a16="http://schemas.microsoft.com/office/drawing/2014/main" id="{04E113B3-B849-4785-8F95-9A8AFAEAB4A2}"/>
              </a:ext>
            </a:extLst>
          </p:cNvPr>
          <p:cNvSpPr txBox="1"/>
          <p:nvPr/>
        </p:nvSpPr>
        <p:spPr>
          <a:xfrm>
            <a:off x="6743700" y="3835400"/>
            <a:ext cx="4533900" cy="284693"/>
          </a:xfrm>
          <a:prstGeom prst="rect">
            <a:avLst/>
          </a:prstGeom>
          <a:noFill/>
        </p:spPr>
        <p:txBody>
          <a:bodyPr vertOverflow="overflow" vert="horz" wrap="square" rtlCol="0" anchor="t">
            <a:spAutoFit/>
          </a:bodyPr>
          <a:lstStyle/>
          <a:p>
            <a:pPr algn="l"/>
            <a:r>
              <a:rPr lang="fr-FR" sz="1250" dirty="0">
                <a:solidFill>
                  <a:srgbClr val="1A1A1A"/>
                </a:solidFill>
                <a:latin typeface="Lato"/>
                <a:ea typeface="Lato"/>
                <a:cs typeface="Lato"/>
              </a:rPr>
              <a:t>Recommandation de modèles sobres</a:t>
            </a:r>
          </a:p>
        </p:txBody>
      </p:sp>
      <p:sp>
        <p:nvSpPr>
          <p:cNvPr id="33" name="Rectangle 32">
            <a:extLst>
              <a:ext uri="{FF2B5EF4-FFF2-40B4-BE49-F238E27FC236}">
                <a16:creationId xmlns:a16="http://schemas.microsoft.com/office/drawing/2014/main" id="{896B8A45-59B5-4242-AAE1-59DB1029E328}"/>
              </a:ext>
            </a:extLst>
          </p:cNvPr>
          <p:cNvSpPr/>
          <p:nvPr/>
        </p:nvSpPr>
        <p:spPr>
          <a:xfrm>
            <a:off x="6515100" y="4457700"/>
            <a:ext cx="76200" cy="76200"/>
          </a:xfrm>
          <a:prstGeom prst="rect">
            <a:avLst/>
          </a:prstGeom>
          <a:solidFill>
            <a:srgbClr val="F8E21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4" name="ZoneTexte 33">
            <a:extLst>
              <a:ext uri="{FF2B5EF4-FFF2-40B4-BE49-F238E27FC236}">
                <a16:creationId xmlns:a16="http://schemas.microsoft.com/office/drawing/2014/main" id="{BCA8566F-DCE4-4208-83A4-CEA95FDB6101}"/>
              </a:ext>
            </a:extLst>
          </p:cNvPr>
          <p:cNvSpPr txBox="1"/>
          <p:nvPr/>
        </p:nvSpPr>
        <p:spPr>
          <a:xfrm>
            <a:off x="6743700" y="4368800"/>
            <a:ext cx="4533900" cy="284693"/>
          </a:xfrm>
          <a:prstGeom prst="rect">
            <a:avLst/>
          </a:prstGeom>
          <a:noFill/>
        </p:spPr>
        <p:txBody>
          <a:bodyPr vertOverflow="overflow" vert="horz" wrap="square" rtlCol="0" anchor="t">
            <a:spAutoFit/>
          </a:bodyPr>
          <a:lstStyle/>
          <a:p>
            <a:pPr algn="l"/>
            <a:r>
              <a:rPr lang="fr-FR" sz="1250" dirty="0">
                <a:solidFill>
                  <a:srgbClr val="1A1A1A"/>
                </a:solidFill>
                <a:latin typeface="Lato"/>
                <a:ea typeface="Lato"/>
                <a:cs typeface="Lato"/>
              </a:rPr>
              <a:t>Choix d'infrastructures éco-responsables</a:t>
            </a:r>
          </a:p>
        </p:txBody>
      </p:sp>
      <p:pic>
        <p:nvPicPr>
          <p:cNvPr id="901" name="Graphic 901" descr="Icône feuille - citoye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8700" y="1828800"/>
            <a:ext cx="279400" cy="279400"/>
          </a:xfrm>
          <a:prstGeom prst="rect">
            <a:avLst/>
          </a:prstGeom>
        </p:spPr>
      </p:pic>
      <p:pic>
        <p:nvPicPr>
          <p:cNvPr id="902" name="Graphic 902" descr="Icône processeur - ingénieur IA"/>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9400" y="1828800"/>
            <a:ext cx="279400" cy="279400"/>
          </a:xfrm>
          <a:prstGeom prst="rect">
            <a:avLst/>
          </a:prstGeom>
        </p:spPr>
      </p:pic>
    </p:spTree>
    <p:extLst>
      <p:ext uri="{BB962C8B-B14F-4D97-AF65-F5344CB8AC3E}">
        <p14:creationId xmlns:p14="http://schemas.microsoft.com/office/powerpoint/2010/main" val="3215694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9">
    <p:bg>
      <p:bgPr>
        <a:solidFill>
          <a:srgbClr val="FBF9F5"/>
        </a:solidFill>
        <a:effectLst/>
      </p:bgPr>
    </p:bg>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A1A1A"/>
                </a:solidFill>
                <a:latin typeface="Lato" pitchFamily="34" charset="0"/>
                <a:ea typeface="Lato" pitchFamily="34" charset="-122"/>
                <a:cs typeface="Lato" pitchFamily="34" charset="-120"/>
              </a:rPr>
              <a:t>Profil au terme du cursus</a:t>
            </a:r>
            <a:endParaRPr lang="en-US" sz="3000" dirty="0"/>
          </a:p>
        </p:txBody>
      </p:sp>
      <p:sp>
        <p:nvSpPr>
          <p:cNvPr id="3" name="Shape 1"/>
          <p:cNvSpPr/>
          <p:nvPr/>
        </p:nvSpPr>
        <p:spPr>
          <a:xfrm>
            <a:off x="658368" y="1426464"/>
            <a:ext cx="5230368" cy="1700784"/>
          </a:xfrm>
          <a:prstGeom prst="rect">
            <a:avLst/>
          </a:prstGeom>
          <a:solidFill>
            <a:srgbClr val="1A1A1A"/>
          </a:solidFill>
          <a:ln/>
        </p:spPr>
        <p:txBody>
          <a:bodyPr/>
          <a:lstStyle/>
          <a:p>
            <a:endParaRPr lang="fr-FR"/>
          </a:p>
        </p:txBody>
      </p:sp>
      <p:sp>
        <p:nvSpPr>
          <p:cNvPr id="4" name="Text 2"/>
          <p:cNvSpPr txBox="1"/>
          <p:nvPr/>
        </p:nvSpPr>
        <p:spPr>
          <a:xfrm>
            <a:off x="932688" y="1591056"/>
            <a:ext cx="4663440" cy="329184"/>
          </a:xfrm>
          <a:prstGeom prst="rect">
            <a:avLst/>
          </a:prstGeom>
          <a:noFill/>
          <a:ln/>
        </p:spPr>
        <p:txBody>
          <a:bodyPr wrap="square" lIns="0" tIns="0" rIns="0" bIns="0" rtlCol="0" anchor="ctr"/>
          <a:lstStyle/>
          <a:p>
            <a:pPr marL="0" indent="0">
              <a:buNone/>
            </a:pPr>
            <a:r>
              <a:rPr lang="en-US" sz="1600" b="1" dirty="0">
                <a:solidFill>
                  <a:srgbClr val="FFFFFF"/>
                </a:solidFill>
                <a:latin typeface="Lato" pitchFamily="34" charset="0"/>
                <a:ea typeface="Lato" pitchFamily="34" charset="-122"/>
                <a:cs typeface="Lato" pitchFamily="34" charset="-120"/>
              </a:rPr>
              <a:t>La cybersécurité comme socle</a:t>
            </a:r>
            <a:endParaRPr lang="en-US" sz="1600" dirty="0"/>
          </a:p>
        </p:txBody>
      </p:sp>
      <p:sp>
        <p:nvSpPr>
          <p:cNvPr id="5" name="Text 3"/>
          <p:cNvSpPr txBox="1"/>
          <p:nvPr/>
        </p:nvSpPr>
        <p:spPr>
          <a:xfrm>
            <a:off x="932688" y="1975104"/>
            <a:ext cx="4663440" cy="603504"/>
          </a:xfrm>
          <a:prstGeom prst="rect">
            <a:avLst/>
          </a:prstGeom>
          <a:noFill/>
          <a:ln/>
        </p:spPr>
        <p:txBody>
          <a:bodyPr wrap="square" lIns="0" tIns="0" rIns="0" bIns="0" rtlCol="0" anchor="ctr"/>
          <a:lstStyle/>
          <a:p>
            <a:pPr marL="0" indent="0">
              <a:lnSpc>
                <a:spcPct val="114000"/>
              </a:lnSpc>
              <a:buNone/>
            </a:pPr>
            <a:r>
              <a:rPr lang="en-US" sz="1300" b="1" dirty="0">
                <a:solidFill>
                  <a:srgbClr val="F8E212"/>
                </a:solidFill>
                <a:latin typeface="Lato" pitchFamily="34" charset="0"/>
                <a:ea typeface="Lato" pitchFamily="34" charset="-122"/>
                <a:cs typeface="Lato" pitchFamily="34" charset="-120"/>
              </a:rPr>
              <a:t>ISO 27001, EBIOS RM, directive NIS 2</a:t>
            </a:r>
            <a:endParaRPr lang="en-US" sz="1300" dirty="0"/>
          </a:p>
        </p:txBody>
      </p:sp>
      <p:sp>
        <p:nvSpPr>
          <p:cNvPr id="6" name="Text 4"/>
          <p:cNvSpPr txBox="1"/>
          <p:nvPr/>
        </p:nvSpPr>
        <p:spPr>
          <a:xfrm>
            <a:off x="932688" y="2651760"/>
            <a:ext cx="4663440" cy="365760"/>
          </a:xfrm>
          <a:prstGeom prst="rect">
            <a:avLst/>
          </a:prstGeom>
          <a:noFill/>
          <a:ln/>
        </p:spPr>
        <p:txBody>
          <a:bodyPr wrap="square" lIns="0" tIns="0" rIns="0" bIns="0" rtlCol="0" anchor="ctr"/>
          <a:lstStyle/>
          <a:p>
            <a:pPr marL="0" indent="0">
              <a:buNone/>
            </a:pPr>
            <a:r>
              <a:rPr lang="en-US" sz="1150" i="1" dirty="0">
                <a:solidFill>
                  <a:srgbClr val="D5CDBB"/>
                </a:solidFill>
                <a:latin typeface="Lato" pitchFamily="34" charset="0"/>
                <a:ea typeface="Lato" pitchFamily="34" charset="-122"/>
                <a:cs typeface="Lato" pitchFamily="34" charset="-120"/>
              </a:rPr>
              <a:t>Acquises en mission auprès de clients, non en formation théorique.</a:t>
            </a:r>
            <a:endParaRPr lang="en-US" sz="1150" dirty="0"/>
          </a:p>
        </p:txBody>
      </p:sp>
      <p:sp>
        <p:nvSpPr>
          <p:cNvPr id="7" name="Shape 5"/>
          <p:cNvSpPr/>
          <p:nvPr/>
        </p:nvSpPr>
        <p:spPr>
          <a:xfrm>
            <a:off x="6190488" y="1426464"/>
            <a:ext cx="5230368" cy="1700784"/>
          </a:xfrm>
          <a:prstGeom prst="rect">
            <a:avLst/>
          </a:prstGeom>
          <a:solidFill>
            <a:srgbClr val="FFFFFF"/>
          </a:solidFill>
          <a:ln/>
        </p:spPr>
        <p:txBody>
          <a:bodyPr/>
          <a:lstStyle/>
          <a:p>
            <a:endParaRPr lang="fr-FR"/>
          </a:p>
        </p:txBody>
      </p:sp>
      <p:sp>
        <p:nvSpPr>
          <p:cNvPr id="8" name="Text 6"/>
          <p:cNvSpPr txBox="1"/>
          <p:nvPr/>
        </p:nvSpPr>
        <p:spPr>
          <a:xfrm>
            <a:off x="6464808" y="1591056"/>
            <a:ext cx="4663440" cy="329184"/>
          </a:xfrm>
          <a:prstGeom prst="rect">
            <a:avLst/>
          </a:prstGeom>
          <a:noFill/>
          <a:ln/>
        </p:spPr>
        <p:txBody>
          <a:bodyPr wrap="square" lIns="0" tIns="0" rIns="0" bIns="0" rtlCol="0" anchor="ctr"/>
          <a:lstStyle/>
          <a:p>
            <a:pPr marL="0" indent="0">
              <a:buNone/>
            </a:pPr>
            <a:r>
              <a:rPr lang="en-US" sz="1600" b="1" dirty="0">
                <a:solidFill>
                  <a:srgbClr val="1A1A1A"/>
                </a:solidFill>
                <a:latin typeface="Lato" pitchFamily="34" charset="0"/>
                <a:ea typeface="Lato" pitchFamily="34" charset="-122"/>
                <a:cs typeface="Lato" pitchFamily="34" charset="-120"/>
              </a:rPr>
              <a:t>Le conseil et l'analyse comme métier</a:t>
            </a:r>
            <a:endParaRPr lang="en-US" sz="1600" dirty="0"/>
          </a:p>
        </p:txBody>
      </p:sp>
      <p:sp>
        <p:nvSpPr>
          <p:cNvPr id="9" name="Text 7"/>
          <p:cNvSpPr txBox="1"/>
          <p:nvPr/>
        </p:nvSpPr>
        <p:spPr>
          <a:xfrm>
            <a:off x="6464808" y="1975104"/>
            <a:ext cx="4663440" cy="603504"/>
          </a:xfrm>
          <a:prstGeom prst="rect">
            <a:avLst/>
          </a:prstGeom>
          <a:noFill/>
          <a:ln/>
        </p:spPr>
        <p:txBody>
          <a:bodyPr wrap="square" lIns="0" tIns="0" rIns="0" bIns="0" rtlCol="0" anchor="ctr"/>
          <a:lstStyle/>
          <a:p>
            <a:pPr marL="0" indent="0">
              <a:lnSpc>
                <a:spcPct val="114000"/>
              </a:lnSpc>
              <a:buNone/>
            </a:pPr>
            <a:r>
              <a:rPr lang="en-US" sz="1300" b="1" dirty="0">
                <a:solidFill>
                  <a:srgbClr val="1A1A1A"/>
                </a:solidFill>
                <a:latin typeface="Lato" pitchFamily="34" charset="0"/>
                <a:ea typeface="Lato" pitchFamily="34" charset="-122"/>
                <a:cs typeface="Lato" pitchFamily="34" charset="-120"/>
              </a:rPr>
              <a:t>Automatisation de processus, accompagnement de structures de 5 à 400 collaborateurs</a:t>
            </a:r>
            <a:endParaRPr lang="en-US" sz="1300" dirty="0"/>
          </a:p>
        </p:txBody>
      </p:sp>
      <p:sp>
        <p:nvSpPr>
          <p:cNvPr id="10" name="Text 8"/>
          <p:cNvSpPr txBox="1"/>
          <p:nvPr/>
        </p:nvSpPr>
        <p:spPr>
          <a:xfrm>
            <a:off x="6464808" y="2651760"/>
            <a:ext cx="4663440" cy="365760"/>
          </a:xfrm>
          <a:prstGeom prst="rect">
            <a:avLst/>
          </a:prstGeom>
          <a:noFill/>
          <a:ln/>
        </p:spPr>
        <p:txBody>
          <a:bodyPr wrap="square" lIns="0" tIns="0" rIns="0" bIns="0" rtlCol="0" anchor="ctr"/>
          <a:lstStyle/>
          <a:p>
            <a:pPr marL="0" indent="0">
              <a:buNone/>
            </a:pPr>
            <a:r>
              <a:rPr lang="en-US" sz="1150" i="1" dirty="0">
                <a:solidFill>
                  <a:srgbClr val="7F7F7F"/>
                </a:solidFill>
                <a:latin typeface="Lato" pitchFamily="34" charset="0"/>
                <a:ea typeface="Lato" pitchFamily="34" charset="-122"/>
                <a:cs typeface="Lato" pitchFamily="34" charset="-120"/>
              </a:rPr>
              <a:t>Animation d'une formation au CESI.</a:t>
            </a:r>
            <a:endParaRPr lang="en-US" sz="11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A5A4FFB3-0F7A-4E0A-A009-2B69C568E634}" type="slidenum">
              <a:rPr lang="fr-FR" sz="900" b="0">
                <a:solidFill>
                  <a:srgbClr val="7F7F7F"/>
                </a:solidFill>
                <a:latin typeface="Lato"/>
              </a:rPr>
              <a:t>60</a:t>
            </a:fld>
            <a:endParaRPr lang="fr-FR">
              <a:solidFill>
                <a:srgbClr val="7F7F7F"/>
              </a:solidFill>
            </a:endParaRPr>
          </a:p>
        </p:txBody>
      </p:sp>
      <p:sp>
        <p:nvSpPr>
          <p:cNvPr id="11" name="Text 4"/>
          <p:cNvSpPr txBox="1"/>
          <p:nvPr/>
        </p:nvSpPr>
        <p:spPr>
          <a:xfrm>
            <a:off x="658368" y="3931920"/>
            <a:ext cx="10872216" cy="1463040"/>
          </a:xfrm>
          <a:prstGeom prst="rect">
            <a:avLst/>
          </a:prstGeom>
          <a:noFill/>
          <a:ln/>
        </p:spPr>
        <p:txBody>
          <a:bodyPr wrap="square" lIns="0" tIns="0" rIns="0" bIns="0" rtlCol="0" anchor="ctr"/>
          <a:lstStyle/>
          <a:p>
            <a:pPr marL="0" indent="0">
              <a:buNone/>
            </a:pPr>
            <a:r>
              <a:rPr lang="en-US" sz="1500" i="1" dirty="0">
                <a:solidFill>
                  <a:srgbClr val="404040"/>
                </a:solidFill>
                <a:latin typeface="Lato" pitchFamily="34" charset="0"/>
                <a:ea typeface="Lato" pitchFamily="34" charset="-122"/>
                <a:cs typeface="Lato" pitchFamily="34" charset="-120"/>
              </a:rPr>
              <a:t>Le PFE que vous venez de voir en est la démonstration : la cybersécurité comme socle, le conseil et l'analyse métier comme finalité. Le profil visé en 2024 n'est plus une projection.</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
    <p:bg>
      <p:bgPr>
        <a:solidFill>
          <a:srgbClr val="121E36"/>
        </a:solidFill>
        <a:effectLst/>
      </p:bgPr>
    </p:bg>
    <p:spTree>
      <p:nvGrpSpPr>
        <p:cNvPr id="1" name=""/>
        <p:cNvGrpSpPr/>
        <p:nvPr/>
      </p:nvGrpSpPr>
      <p:grpSpPr>
        <a:xfrm>
          <a:off x="0" y="0"/>
          <a:ext cx="0" cy="0"/>
          <a:chOff x="0" y="0"/>
          <a:chExt cx="0" cy="0"/>
        </a:xfrm>
      </p:grpSpPr>
      <p:sp>
        <p:nvSpPr>
          <p:cNvPr id="2" name="Text 0"/>
          <p:cNvSpPr txBox="1"/>
          <p:nvPr/>
        </p:nvSpPr>
        <p:spPr>
          <a:xfrm>
            <a:off x="7680960" y="548640"/>
            <a:ext cx="4206240" cy="5760720"/>
          </a:xfrm>
          <a:prstGeom prst="rect">
            <a:avLst/>
          </a:prstGeom>
          <a:noFill/>
          <a:ln/>
        </p:spPr>
        <p:txBody>
          <a:bodyPr wrap="square" lIns="0" tIns="0" rIns="0" bIns="0" rtlCol="0" anchor="ctr"/>
          <a:lstStyle/>
          <a:p>
            <a:pPr marL="0" indent="0" algn="r">
              <a:buNone/>
            </a:pPr>
            <a:endParaRPr lang="en-US" sz="33000" dirty="0"/>
          </a:p>
        </p:txBody>
      </p:sp>
      <p:sp>
        <p:nvSpPr>
          <p:cNvPr id="4" name="Text 2"/>
          <p:cNvSpPr txBox="1"/>
          <p:nvPr/>
        </p:nvSpPr>
        <p:spPr>
          <a:xfrm>
            <a:off x="658368" y="2798064"/>
            <a:ext cx="7132320" cy="914400"/>
          </a:xfrm>
          <a:prstGeom prst="rect">
            <a:avLst/>
          </a:prstGeom>
          <a:noFill/>
          <a:ln/>
        </p:spPr>
        <p:txBody>
          <a:bodyPr wrap="square" lIns="0" tIns="0" rIns="0" bIns="0" rtlCol="0" anchor="ctr"/>
          <a:lstStyle/>
          <a:p>
            <a:pPr marL="0" indent="0">
              <a:buNone/>
            </a:pPr>
            <a:r>
              <a:rPr lang="en-US" sz="4000" b="1" dirty="0">
                <a:solidFill>
                  <a:srgbClr val="FFFFFF"/>
                </a:solidFill>
                <a:latin typeface="Lato" pitchFamily="34" charset="0"/>
                <a:ea typeface="Lato" pitchFamily="34" charset="-122"/>
                <a:cs typeface="Lato" pitchFamily="34" charset="-120"/>
              </a:rPr>
              <a:t>Merci</a:t>
            </a:r>
            <a:endParaRPr lang="en-US" sz="40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279297B6-25F6-4CA6-B7CC-3DFA1000192C}" type="slidenum">
              <a:rPr lang="fr-FR" sz="900" b="0">
                <a:solidFill>
                  <a:srgbClr val="AEB7C6"/>
                </a:solidFill>
                <a:latin typeface="Lato"/>
              </a:rPr>
              <a:t>61</a:t>
            </a:fld>
            <a:endParaRPr lang="fr-FR">
              <a:solidFill>
                <a:srgbClr val="AEB7C6"/>
              </a:solidFill>
            </a:endParaRPr>
          </a:p>
        </p:txBody>
      </p:sp>
      <p:sp>
        <p:nvSpPr>
          <p:cNvPr id="7" name="Text 0">
            <a:extLst>
              <a:ext uri="{FF2B5EF4-FFF2-40B4-BE49-F238E27FC236}">
                <a16:creationId xmlns:a16="http://schemas.microsoft.com/office/drawing/2014/main" id="{8F3EB75A-05C3-76C7-5183-EC33B4868DC6}"/>
              </a:ext>
            </a:extLst>
          </p:cNvPr>
          <p:cNvSpPr txBox="1"/>
          <p:nvPr/>
        </p:nvSpPr>
        <p:spPr>
          <a:xfrm>
            <a:off x="658368" y="3712464"/>
            <a:ext cx="7315200" cy="256032"/>
          </a:xfrm>
          <a:prstGeom prst="rect">
            <a:avLst/>
          </a:prstGeom>
          <a:noFill/>
          <a:ln/>
        </p:spPr>
        <p:txBody>
          <a:bodyPr wrap="square" lIns="0" tIns="0" rIns="0" bIns="0" rtlCol="0" anchor="ctr"/>
          <a:lstStyle/>
          <a:p>
            <a:pPr marL="0" indent="0">
              <a:buNone/>
            </a:pPr>
            <a:r>
              <a:rPr lang="en-US" sz="2000" b="1" kern="0" spc="240" dirty="0">
                <a:solidFill>
                  <a:schemeClr val="bg1"/>
                </a:solidFill>
                <a:latin typeface="Lato" pitchFamily="34" charset="0"/>
                <a:ea typeface="Lato" pitchFamily="34" charset="-122"/>
                <a:cs typeface="Lato" pitchFamily="34" charset="-120"/>
              </a:rPr>
              <a:t>Mattéo Tremisi – LPB Conseil</a:t>
            </a:r>
            <a:endParaRPr lang="en-US" sz="1600" dirty="0">
              <a:solidFill>
                <a:schemeClr val="bg1">
                  <a:lumMod val="95000"/>
                </a:schemeClr>
              </a:solidFill>
            </a:endParaRPr>
          </a:p>
        </p:txBody>
      </p:sp>
      <p:sp>
        <p:nvSpPr>
          <p:cNvPr id="9" name="ZoneTexte 8">
            <a:extLst>
              <a:ext uri="{FF2B5EF4-FFF2-40B4-BE49-F238E27FC236}">
                <a16:creationId xmlns:a16="http://schemas.microsoft.com/office/drawing/2014/main" id="{C9B65CB4-A25B-76C5-1947-CA798B413FFF}"/>
              </a:ext>
            </a:extLst>
          </p:cNvPr>
          <p:cNvSpPr txBox="1"/>
          <p:nvPr/>
        </p:nvSpPr>
        <p:spPr>
          <a:xfrm>
            <a:off x="543697" y="6087646"/>
            <a:ext cx="4111340" cy="338554"/>
          </a:xfrm>
          <a:prstGeom prst="rect">
            <a:avLst/>
          </a:prstGeom>
          <a:noFill/>
        </p:spPr>
        <p:txBody>
          <a:bodyPr wrap="square" rtlCol="0">
            <a:spAutoFit/>
          </a:bodyPr>
          <a:lstStyle/>
          <a:p>
            <a:r>
              <a:rPr lang="en-US" sz="1600" b="1" kern="0" spc="240" dirty="0">
                <a:solidFill>
                  <a:schemeClr val="bg1">
                    <a:lumMod val="85000"/>
                  </a:schemeClr>
                </a:solidFill>
                <a:latin typeface="Lato" pitchFamily="34" charset="0"/>
                <a:ea typeface="Lato" pitchFamily="34" charset="-122"/>
                <a:cs typeface="Lato" pitchFamily="34" charset="-120"/>
              </a:rPr>
              <a:t>CESI STRASBOURG FISA 23/26</a:t>
            </a:r>
            <a:endParaRPr lang="fr-FR" sz="1600" dirty="0">
              <a:solidFill>
                <a:schemeClr val="bg1">
                  <a:lumMod val="85000"/>
                </a:schemeClr>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SÉCURITÉ ET CONFIDENTIALITÉ DES DONNÉES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Un outil qui cartographie les faiblesses est lui-même une cible</a:t>
            </a:r>
            <a:endParaRPr lang="en-US" sz="3000" dirty="0"/>
          </a:p>
        </p:txBody>
      </p:sp>
      <p:sp>
        <p:nvSpPr>
          <p:cNvPr id="4" name="Shape 2"/>
          <p:cNvSpPr/>
          <p:nvPr/>
        </p:nvSpPr>
        <p:spPr>
          <a:xfrm>
            <a:off x="658368" y="1225296"/>
            <a:ext cx="10874959" cy="512064"/>
          </a:xfrm>
          <a:prstGeom prst="rect">
            <a:avLst/>
          </a:prstGeom>
          <a:solidFill>
            <a:srgbClr val="1B2A4A"/>
          </a:solidFill>
          <a:ln/>
        </p:spPr>
        <p:txBody>
          <a:bodyPr/>
          <a:lstStyle/>
          <a:p>
            <a:endParaRPr lang="fr-FR"/>
          </a:p>
        </p:txBody>
      </p:sp>
      <p:sp>
        <p:nvSpPr>
          <p:cNvPr id="5" name="Text 3"/>
          <p:cNvSpPr txBox="1"/>
          <p:nvPr/>
        </p:nvSpPr>
        <p:spPr>
          <a:xfrm>
            <a:off x="914400" y="1225296"/>
            <a:ext cx="10362895" cy="512064"/>
          </a:xfrm>
          <a:prstGeom prst="rect">
            <a:avLst/>
          </a:prstGeom>
          <a:noFill/>
          <a:ln/>
        </p:spPr>
        <p:txBody>
          <a:bodyPr wrap="square" lIns="0" tIns="0" rIns="0" bIns="0" rtlCol="0" anchor="ctr"/>
          <a:lstStyle/>
          <a:p>
            <a:pPr marL="0" indent="0">
              <a:buNone/>
            </a:pPr>
            <a:r>
              <a:rPr lang="en-US" sz="1450" b="1" dirty="0" err="1">
                <a:solidFill>
                  <a:schemeClr val="bg1"/>
                </a:solidFill>
                <a:latin typeface="Lato" pitchFamily="34" charset="0"/>
                <a:ea typeface="Lato" pitchFamily="34" charset="-122"/>
                <a:cs typeface="Lato" pitchFamily="34" charset="-120"/>
              </a:rPr>
              <a:t>Liste</a:t>
            </a:r>
            <a:r>
              <a:rPr lang="en-US" sz="1450" b="1" dirty="0">
                <a:solidFill>
                  <a:schemeClr val="bg1"/>
                </a:solidFill>
                <a:latin typeface="Lato" pitchFamily="34" charset="0"/>
                <a:ea typeface="Lato" pitchFamily="34" charset="-122"/>
                <a:cs typeface="Lato" pitchFamily="34" charset="-120"/>
              </a:rPr>
              <a:t> de </a:t>
            </a:r>
            <a:r>
              <a:rPr lang="en-US" sz="1450" b="1" dirty="0" err="1">
                <a:solidFill>
                  <a:schemeClr val="bg1"/>
                </a:solidFill>
                <a:latin typeface="Lato" pitchFamily="34" charset="0"/>
                <a:ea typeface="Lato" pitchFamily="34" charset="-122"/>
                <a:cs typeface="Lato" pitchFamily="34" charset="-120"/>
              </a:rPr>
              <a:t>vulnérabilités</a:t>
            </a:r>
            <a:r>
              <a:rPr lang="en-US" sz="1450" b="1" dirty="0">
                <a:solidFill>
                  <a:schemeClr val="bg1"/>
                </a:solidFill>
                <a:latin typeface="Lato" pitchFamily="34" charset="0"/>
                <a:ea typeface="Lato" pitchFamily="34" charset="-122"/>
                <a:cs typeface="Lato" pitchFamily="34" charset="-120"/>
              </a:rPr>
              <a:t> et </a:t>
            </a:r>
            <a:r>
              <a:rPr lang="en-US" sz="1450" b="1" dirty="0" err="1">
                <a:solidFill>
                  <a:schemeClr val="bg1"/>
                </a:solidFill>
                <a:latin typeface="Lato" pitchFamily="34" charset="0"/>
                <a:ea typeface="Lato" pitchFamily="34" charset="-122"/>
                <a:cs typeface="Lato" pitchFamily="34" charset="-120"/>
              </a:rPr>
              <a:t>criticité</a:t>
            </a:r>
            <a:r>
              <a:rPr lang="en-US" sz="1450" b="1" dirty="0">
                <a:solidFill>
                  <a:schemeClr val="bg1"/>
                </a:solidFill>
                <a:latin typeface="Lato" pitchFamily="34" charset="0"/>
                <a:ea typeface="Lato" pitchFamily="34" charset="-122"/>
                <a:cs typeface="Lato" pitchFamily="34" charset="-120"/>
              </a:rPr>
              <a:t> métier des </a:t>
            </a:r>
            <a:r>
              <a:rPr lang="en-US" sz="1450" b="1" dirty="0" err="1">
                <a:solidFill>
                  <a:schemeClr val="bg1"/>
                </a:solidFill>
                <a:latin typeface="Lato" pitchFamily="34" charset="0"/>
                <a:ea typeface="Lato" pitchFamily="34" charset="-122"/>
                <a:cs typeface="Lato" pitchFamily="34" charset="-120"/>
              </a:rPr>
              <a:t>actifs</a:t>
            </a:r>
            <a:r>
              <a:rPr lang="en-US" sz="1450" b="1" dirty="0">
                <a:solidFill>
                  <a:schemeClr val="bg1"/>
                </a:solidFill>
                <a:latin typeface="Lato" pitchFamily="34" charset="0"/>
                <a:ea typeface="Lato" pitchFamily="34" charset="-122"/>
                <a:cs typeface="Lato" pitchFamily="34" charset="-120"/>
              </a:rPr>
              <a:t> </a:t>
            </a:r>
          </a:p>
          <a:p>
            <a:pPr marL="0" indent="0">
              <a:buNone/>
            </a:pPr>
            <a:r>
              <a:rPr lang="en-US" sz="1450" b="1" dirty="0">
                <a:solidFill>
                  <a:schemeClr val="bg1"/>
                </a:solidFill>
                <a:latin typeface="Lato" pitchFamily="34" charset="0"/>
                <a:ea typeface="Lato" pitchFamily="34" charset="-122"/>
                <a:cs typeface="Lato" pitchFamily="34" charset="-120"/>
                <a:sym typeface="Wingdings" panose="05000000000000000000" pitchFamily="2" charset="2"/>
              </a:rPr>
              <a:t> </a:t>
            </a:r>
            <a:r>
              <a:rPr lang="en-US" sz="1450" b="1" dirty="0" err="1">
                <a:solidFill>
                  <a:schemeClr val="bg1"/>
                </a:solidFill>
                <a:latin typeface="Lato" pitchFamily="34" charset="0"/>
                <a:ea typeface="Lato" pitchFamily="34" charset="-122"/>
                <a:cs typeface="Lato" pitchFamily="34" charset="-120"/>
              </a:rPr>
              <a:t>compromis</a:t>
            </a:r>
            <a:r>
              <a:rPr lang="en-US" sz="1450" b="1" dirty="0">
                <a:solidFill>
                  <a:schemeClr val="bg1"/>
                </a:solidFill>
                <a:latin typeface="Lato" pitchFamily="34" charset="0"/>
                <a:ea typeface="Lato" pitchFamily="34" charset="-122"/>
                <a:cs typeface="Lato" pitchFamily="34" charset="-120"/>
              </a:rPr>
              <a:t>, il fournit une feuille de route à un attaquant.</a:t>
            </a:r>
            <a:endParaRPr lang="en-US" sz="1450" b="1" dirty="0">
              <a:solidFill>
                <a:schemeClr val="bg1"/>
              </a:solidFill>
            </a:endParaRPr>
          </a:p>
        </p:txBody>
      </p:sp>
      <p:sp>
        <p:nvSpPr>
          <p:cNvPr id="6" name="Text 4"/>
          <p:cNvSpPr txBox="1"/>
          <p:nvPr/>
        </p:nvSpPr>
        <p:spPr>
          <a:xfrm>
            <a:off x="658368" y="1920240"/>
            <a:ext cx="594360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LES MESURES APPLIQUÉES</a:t>
            </a:r>
            <a:endParaRPr lang="en-US" sz="1050" dirty="0"/>
          </a:p>
        </p:txBody>
      </p:sp>
      <p:sp>
        <p:nvSpPr>
          <p:cNvPr id="7" name="Shape 5"/>
          <p:cNvSpPr/>
          <p:nvPr/>
        </p:nvSpPr>
        <p:spPr>
          <a:xfrm>
            <a:off x="658368" y="2249424"/>
            <a:ext cx="2871216" cy="877824"/>
          </a:xfrm>
          <a:prstGeom prst="rect">
            <a:avLst/>
          </a:prstGeom>
          <a:solidFill>
            <a:srgbClr val="F2F4F8"/>
          </a:solidFill>
          <a:ln/>
        </p:spPr>
        <p:txBody>
          <a:bodyPr/>
          <a:lstStyle/>
          <a:p>
            <a:endParaRPr lang="fr-FR"/>
          </a:p>
        </p:txBody>
      </p:sp>
      <p:sp>
        <p:nvSpPr>
          <p:cNvPr id="8" name="Text 6"/>
          <p:cNvSpPr txBox="1"/>
          <p:nvPr/>
        </p:nvSpPr>
        <p:spPr>
          <a:xfrm>
            <a:off x="841248"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01</a:t>
            </a:r>
            <a:endParaRPr lang="en-US" sz="1500" dirty="0"/>
          </a:p>
        </p:txBody>
      </p:sp>
      <p:sp>
        <p:nvSpPr>
          <p:cNvPr id="9" name="Text 7"/>
          <p:cNvSpPr txBox="1"/>
          <p:nvPr/>
        </p:nvSpPr>
        <p:spPr>
          <a:xfrm>
            <a:off x="841248" y="2633472"/>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Overlay ZTNA</a:t>
            </a:r>
            <a:endParaRPr lang="en-US" sz="1350" dirty="0"/>
          </a:p>
        </p:txBody>
      </p:sp>
      <p:sp>
        <p:nvSpPr>
          <p:cNvPr id="10" name="Text 8"/>
          <p:cNvSpPr txBox="1"/>
          <p:nvPr/>
        </p:nvSpPr>
        <p:spPr>
          <a:xfrm>
            <a:off x="841248" y="287121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accès aux sources sans port entrant</a:t>
            </a:r>
            <a:endParaRPr lang="en-US" sz="1100" dirty="0"/>
          </a:p>
        </p:txBody>
      </p:sp>
      <p:sp>
        <p:nvSpPr>
          <p:cNvPr id="11" name="Shape 9"/>
          <p:cNvSpPr/>
          <p:nvPr/>
        </p:nvSpPr>
        <p:spPr>
          <a:xfrm>
            <a:off x="3712464" y="2249424"/>
            <a:ext cx="2871216" cy="877824"/>
          </a:xfrm>
          <a:prstGeom prst="rect">
            <a:avLst/>
          </a:prstGeom>
          <a:solidFill>
            <a:srgbClr val="F2F4F8"/>
          </a:solidFill>
          <a:ln/>
        </p:spPr>
        <p:txBody>
          <a:bodyPr/>
          <a:lstStyle/>
          <a:p>
            <a:endParaRPr lang="fr-FR"/>
          </a:p>
        </p:txBody>
      </p:sp>
      <p:sp>
        <p:nvSpPr>
          <p:cNvPr id="12" name="Text 10"/>
          <p:cNvSpPr txBox="1"/>
          <p:nvPr/>
        </p:nvSpPr>
        <p:spPr>
          <a:xfrm>
            <a:off x="3895344" y="2377440"/>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02</a:t>
            </a:r>
            <a:endParaRPr lang="en-US" sz="1500" dirty="0"/>
          </a:p>
        </p:txBody>
      </p:sp>
      <p:sp>
        <p:nvSpPr>
          <p:cNvPr id="13" name="Text 11"/>
          <p:cNvSpPr txBox="1"/>
          <p:nvPr/>
        </p:nvSpPr>
        <p:spPr>
          <a:xfrm>
            <a:off x="3895344" y="2633472"/>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Poste hors du réseau interne</a:t>
            </a:r>
            <a:endParaRPr lang="en-US" sz="1350" dirty="0"/>
          </a:p>
        </p:txBody>
      </p:sp>
      <p:sp>
        <p:nvSpPr>
          <p:cNvPr id="14" name="Text 12"/>
          <p:cNvSpPr txBox="1"/>
          <p:nvPr/>
        </p:nvSpPr>
        <p:spPr>
          <a:xfrm>
            <a:off x="3895344" y="2871216"/>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cloisonnement du démonstrateur</a:t>
            </a:r>
            <a:endParaRPr lang="en-US" sz="1100" dirty="0"/>
          </a:p>
        </p:txBody>
      </p:sp>
      <p:sp>
        <p:nvSpPr>
          <p:cNvPr id="15" name="Shape 13"/>
          <p:cNvSpPr/>
          <p:nvPr/>
        </p:nvSpPr>
        <p:spPr>
          <a:xfrm>
            <a:off x="658368" y="3273552"/>
            <a:ext cx="2871216" cy="877824"/>
          </a:xfrm>
          <a:prstGeom prst="rect">
            <a:avLst/>
          </a:prstGeom>
          <a:solidFill>
            <a:srgbClr val="F2F4F8"/>
          </a:solidFill>
          <a:ln/>
        </p:spPr>
        <p:txBody>
          <a:bodyPr/>
          <a:lstStyle/>
          <a:p>
            <a:endParaRPr lang="fr-FR"/>
          </a:p>
        </p:txBody>
      </p:sp>
      <p:sp>
        <p:nvSpPr>
          <p:cNvPr id="16" name="Text 14"/>
          <p:cNvSpPr txBox="1"/>
          <p:nvPr/>
        </p:nvSpPr>
        <p:spPr>
          <a:xfrm>
            <a:off x="841248"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03</a:t>
            </a:r>
            <a:endParaRPr lang="en-US" sz="1500" dirty="0"/>
          </a:p>
        </p:txBody>
      </p:sp>
      <p:sp>
        <p:nvSpPr>
          <p:cNvPr id="17" name="Text 15"/>
          <p:cNvSpPr txBox="1"/>
          <p:nvPr/>
        </p:nvSpPr>
        <p:spPr>
          <a:xfrm>
            <a:off x="841248" y="3657600"/>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Aucun identifiant dans le code</a:t>
            </a:r>
            <a:endParaRPr lang="en-US" sz="1350" dirty="0"/>
          </a:p>
        </p:txBody>
      </p:sp>
      <p:sp>
        <p:nvSpPr>
          <p:cNvPr id="18" name="Text 16"/>
          <p:cNvSpPr txBox="1"/>
          <p:nvPr/>
        </p:nvSpPr>
        <p:spPr>
          <a:xfrm>
            <a:off x="841248" y="389534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variables d'environnement</a:t>
            </a:r>
            <a:endParaRPr lang="en-US" sz="1100" dirty="0"/>
          </a:p>
        </p:txBody>
      </p:sp>
      <p:sp>
        <p:nvSpPr>
          <p:cNvPr id="19" name="Shape 17"/>
          <p:cNvSpPr/>
          <p:nvPr/>
        </p:nvSpPr>
        <p:spPr>
          <a:xfrm>
            <a:off x="3712464" y="3273552"/>
            <a:ext cx="2871216" cy="877824"/>
          </a:xfrm>
          <a:prstGeom prst="rect">
            <a:avLst/>
          </a:prstGeom>
          <a:solidFill>
            <a:srgbClr val="F2F4F8"/>
          </a:solidFill>
          <a:ln/>
        </p:spPr>
        <p:txBody>
          <a:bodyPr/>
          <a:lstStyle/>
          <a:p>
            <a:endParaRPr lang="fr-FR"/>
          </a:p>
        </p:txBody>
      </p:sp>
      <p:sp>
        <p:nvSpPr>
          <p:cNvPr id="20" name="Text 18"/>
          <p:cNvSpPr txBox="1"/>
          <p:nvPr/>
        </p:nvSpPr>
        <p:spPr>
          <a:xfrm>
            <a:off x="3895344" y="3401568"/>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04</a:t>
            </a:r>
            <a:endParaRPr lang="en-US" sz="1500" dirty="0"/>
          </a:p>
        </p:txBody>
      </p:sp>
      <p:sp>
        <p:nvSpPr>
          <p:cNvPr id="21" name="Text 19"/>
          <p:cNvSpPr txBox="1"/>
          <p:nvPr/>
        </p:nvSpPr>
        <p:spPr>
          <a:xfrm>
            <a:off x="3895344" y="3657600"/>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Rotation des secrets</a:t>
            </a:r>
            <a:endParaRPr lang="en-US" sz="1350" dirty="0"/>
          </a:p>
        </p:txBody>
      </p:sp>
      <p:sp>
        <p:nvSpPr>
          <p:cNvPr id="22" name="Text 20"/>
          <p:cNvSpPr txBox="1"/>
          <p:nvPr/>
        </p:nvSpPr>
        <p:spPr>
          <a:xfrm>
            <a:off x="3895344" y="3895344"/>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décrite dans le guide d'exploitation</a:t>
            </a:r>
            <a:endParaRPr lang="en-US" sz="1100" dirty="0"/>
          </a:p>
        </p:txBody>
      </p:sp>
      <p:sp>
        <p:nvSpPr>
          <p:cNvPr id="23" name="Shape 21"/>
          <p:cNvSpPr/>
          <p:nvPr/>
        </p:nvSpPr>
        <p:spPr>
          <a:xfrm>
            <a:off x="658368" y="4297680"/>
            <a:ext cx="2871216" cy="877824"/>
          </a:xfrm>
          <a:prstGeom prst="rect">
            <a:avLst/>
          </a:prstGeom>
          <a:solidFill>
            <a:srgbClr val="F2F4F8"/>
          </a:solidFill>
          <a:ln/>
        </p:spPr>
        <p:txBody>
          <a:bodyPr/>
          <a:lstStyle/>
          <a:p>
            <a:endParaRPr lang="fr-FR"/>
          </a:p>
        </p:txBody>
      </p:sp>
      <p:sp>
        <p:nvSpPr>
          <p:cNvPr id="24" name="Text 22"/>
          <p:cNvSpPr txBox="1"/>
          <p:nvPr/>
        </p:nvSpPr>
        <p:spPr>
          <a:xfrm>
            <a:off x="841248"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05</a:t>
            </a:r>
            <a:endParaRPr lang="en-US" sz="1500" dirty="0"/>
          </a:p>
        </p:txBody>
      </p:sp>
      <p:sp>
        <p:nvSpPr>
          <p:cNvPr id="25" name="Text 23"/>
          <p:cNvSpPr txBox="1"/>
          <p:nvPr/>
        </p:nvSpPr>
        <p:spPr>
          <a:xfrm>
            <a:off x="841248" y="4681728"/>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Stockage strictement local</a:t>
            </a:r>
            <a:endParaRPr lang="en-US" sz="1350" dirty="0"/>
          </a:p>
        </p:txBody>
      </p:sp>
      <p:sp>
        <p:nvSpPr>
          <p:cNvPr id="26" name="Text 24"/>
          <p:cNvSpPr txBox="1"/>
          <p:nvPr/>
        </p:nvSpPr>
        <p:spPr>
          <a:xfrm>
            <a:off x="841248" y="4919472"/>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aucune donnée transmise à un tiers</a:t>
            </a:r>
            <a:endParaRPr lang="en-US" sz="1100" dirty="0"/>
          </a:p>
        </p:txBody>
      </p:sp>
      <p:sp>
        <p:nvSpPr>
          <p:cNvPr id="27" name="Shape 25"/>
          <p:cNvSpPr/>
          <p:nvPr/>
        </p:nvSpPr>
        <p:spPr>
          <a:xfrm>
            <a:off x="3712464" y="4297680"/>
            <a:ext cx="2871216" cy="877824"/>
          </a:xfrm>
          <a:prstGeom prst="rect">
            <a:avLst/>
          </a:prstGeom>
          <a:solidFill>
            <a:srgbClr val="F2F4F8"/>
          </a:solidFill>
          <a:ln/>
        </p:spPr>
        <p:txBody>
          <a:bodyPr/>
          <a:lstStyle/>
          <a:p>
            <a:endParaRPr lang="fr-FR"/>
          </a:p>
        </p:txBody>
      </p:sp>
      <p:sp>
        <p:nvSpPr>
          <p:cNvPr id="28" name="Text 26"/>
          <p:cNvSpPr txBox="1"/>
          <p:nvPr/>
        </p:nvSpPr>
        <p:spPr>
          <a:xfrm>
            <a:off x="3895344" y="4425696"/>
            <a:ext cx="402336" cy="274320"/>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06</a:t>
            </a:r>
            <a:endParaRPr lang="en-US" sz="1500" dirty="0"/>
          </a:p>
        </p:txBody>
      </p:sp>
      <p:sp>
        <p:nvSpPr>
          <p:cNvPr id="29" name="Text 27"/>
          <p:cNvSpPr txBox="1"/>
          <p:nvPr/>
        </p:nvSpPr>
        <p:spPr>
          <a:xfrm>
            <a:off x="3895344" y="4681728"/>
            <a:ext cx="2542032" cy="256032"/>
          </a:xfrm>
          <a:prstGeom prst="rect">
            <a:avLst/>
          </a:prstGeom>
          <a:noFill/>
          <a:ln/>
        </p:spPr>
        <p:txBody>
          <a:bodyPr wrap="square" lIns="0" tIns="0" rIns="0" bIns="0" rtlCol="0" anchor="ctr"/>
          <a:lstStyle/>
          <a:p>
            <a:pPr marL="0" indent="0">
              <a:buNone/>
            </a:pPr>
            <a:r>
              <a:rPr lang="en-US" sz="1350" b="1" dirty="0">
                <a:solidFill>
                  <a:srgbClr val="1B2A4A"/>
                </a:solidFill>
                <a:latin typeface="Lato" pitchFamily="34" charset="0"/>
                <a:ea typeface="Lato" pitchFamily="34" charset="-122"/>
                <a:cs typeface="Lato" pitchFamily="34" charset="-120"/>
              </a:rPr>
              <a:t>Infrastructure du cabinet</a:t>
            </a:r>
            <a:endParaRPr lang="en-US" sz="1350" dirty="0"/>
          </a:p>
        </p:txBody>
      </p:sp>
      <p:sp>
        <p:nvSpPr>
          <p:cNvPr id="30" name="Text 28"/>
          <p:cNvSpPr txBox="1"/>
          <p:nvPr/>
        </p:nvSpPr>
        <p:spPr>
          <a:xfrm>
            <a:off x="3895344" y="4919472"/>
            <a:ext cx="2542032" cy="219456"/>
          </a:xfrm>
          <a:prstGeom prst="rect">
            <a:avLst/>
          </a:prstGeom>
          <a:noFill/>
          <a:ln/>
        </p:spPr>
        <p:txBody>
          <a:bodyPr wrap="square" lIns="0" tIns="0" rIns="0" bIns="0" rtlCol="0" anchor="ctr"/>
          <a:lstStyle/>
          <a:p>
            <a:pPr marL="0" indent="0">
              <a:buNone/>
            </a:pPr>
            <a:r>
              <a:rPr lang="en-US" sz="1100" dirty="0">
                <a:solidFill>
                  <a:srgbClr val="4A5568"/>
                </a:solidFill>
                <a:latin typeface="Lato" pitchFamily="34" charset="0"/>
                <a:ea typeface="Lato" pitchFamily="34" charset="-122"/>
                <a:cs typeface="Lato" pitchFamily="34" charset="-120"/>
              </a:rPr>
              <a:t>aucune donnée client dans le périmètre</a:t>
            </a:r>
            <a:endParaRPr lang="en-US" sz="1100" dirty="0"/>
          </a:p>
        </p:txBody>
      </p:sp>
      <p:sp>
        <p:nvSpPr>
          <p:cNvPr id="31" name="Shape 29"/>
          <p:cNvSpPr/>
          <p:nvPr/>
        </p:nvSpPr>
        <p:spPr>
          <a:xfrm>
            <a:off x="6803136" y="1975104"/>
            <a:ext cx="25603" cy="3200400"/>
          </a:xfrm>
          <a:prstGeom prst="rect">
            <a:avLst/>
          </a:prstGeom>
          <a:solidFill>
            <a:srgbClr val="E6EAF1"/>
          </a:solidFill>
          <a:ln/>
        </p:spPr>
        <p:txBody>
          <a:bodyPr/>
          <a:lstStyle/>
          <a:p>
            <a:endParaRPr lang="fr-FR"/>
          </a:p>
        </p:txBody>
      </p:sp>
      <p:sp>
        <p:nvSpPr>
          <p:cNvPr id="32" name="Text 30"/>
          <p:cNvSpPr txBox="1"/>
          <p:nvPr/>
        </p:nvSpPr>
        <p:spPr>
          <a:xfrm>
            <a:off x="7187184" y="1920240"/>
            <a:ext cx="4297680" cy="237744"/>
          </a:xfrm>
          <a:prstGeom prst="rect">
            <a:avLst/>
          </a:prstGeom>
          <a:noFill/>
          <a:ln/>
        </p:spPr>
        <p:txBody>
          <a:bodyPr wrap="square" lIns="0" tIns="0" rIns="0" bIns="0" rtlCol="0" anchor="ctr"/>
          <a:lstStyle/>
          <a:p>
            <a:pPr marL="0" indent="0">
              <a:buNone/>
            </a:pPr>
            <a:r>
              <a:rPr lang="en-US" sz="1050" b="1" kern="0" spc="180" dirty="0">
                <a:solidFill>
                  <a:srgbClr val="C5A55A"/>
                </a:solidFill>
                <a:latin typeface="Lato" pitchFamily="34" charset="0"/>
                <a:ea typeface="Lato" pitchFamily="34" charset="-122"/>
                <a:cs typeface="Lato" pitchFamily="34" charset="-120"/>
              </a:rPr>
              <a:t>CE QUE LA REVUE DE CODE A RELEVÉ</a:t>
            </a:r>
            <a:endParaRPr lang="en-US" sz="1050" dirty="0"/>
          </a:p>
        </p:txBody>
      </p:sp>
      <p:sp>
        <p:nvSpPr>
          <p:cNvPr id="33" name="Text 31"/>
          <p:cNvSpPr txBox="1"/>
          <p:nvPr/>
        </p:nvSpPr>
        <p:spPr>
          <a:xfrm>
            <a:off x="7187184" y="2249424"/>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1</a:t>
            </a:r>
            <a:endParaRPr lang="en-US" sz="4000" dirty="0"/>
          </a:p>
        </p:txBody>
      </p:sp>
      <p:sp>
        <p:nvSpPr>
          <p:cNvPr id="34" name="Text 32"/>
          <p:cNvSpPr txBox="1"/>
          <p:nvPr/>
        </p:nvSpPr>
        <p:spPr>
          <a:xfrm>
            <a:off x="8613648" y="2249424"/>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identifiant en clair détecté dans un script, puis sorti du code</a:t>
            </a:r>
            <a:endParaRPr lang="en-US" sz="1300" dirty="0"/>
          </a:p>
        </p:txBody>
      </p:sp>
      <p:sp>
        <p:nvSpPr>
          <p:cNvPr id="35" name="Text 33"/>
          <p:cNvSpPr txBox="1"/>
          <p:nvPr/>
        </p:nvSpPr>
        <p:spPr>
          <a:xfrm>
            <a:off x="7187184" y="3273552"/>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0</a:t>
            </a:r>
            <a:endParaRPr lang="en-US" sz="4000" dirty="0"/>
          </a:p>
        </p:txBody>
      </p:sp>
      <p:sp>
        <p:nvSpPr>
          <p:cNvPr id="36" name="Text 34"/>
          <p:cNvSpPr txBox="1"/>
          <p:nvPr/>
        </p:nvSpPr>
        <p:spPr>
          <a:xfrm>
            <a:off x="8613648" y="3273552"/>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donnée transmise à un service externe, la base reste sur le poste</a:t>
            </a:r>
            <a:endParaRPr lang="en-US" sz="1300" dirty="0"/>
          </a:p>
        </p:txBody>
      </p:sp>
      <p:sp>
        <p:nvSpPr>
          <p:cNvPr id="37" name="Text 35"/>
          <p:cNvSpPr txBox="1"/>
          <p:nvPr/>
        </p:nvSpPr>
        <p:spPr>
          <a:xfrm>
            <a:off x="7187184" y="4297680"/>
            <a:ext cx="1371600" cy="658368"/>
          </a:xfrm>
          <a:prstGeom prst="rect">
            <a:avLst/>
          </a:prstGeom>
          <a:noFill/>
          <a:ln/>
        </p:spPr>
        <p:txBody>
          <a:bodyPr wrap="square" lIns="0" tIns="0" rIns="0" bIns="0" rtlCol="0" anchor="ctr"/>
          <a:lstStyle/>
          <a:p>
            <a:pPr marL="0" indent="0">
              <a:buNone/>
            </a:pPr>
            <a:r>
              <a:rPr lang="en-US" sz="4000" b="1" dirty="0">
                <a:solidFill>
                  <a:srgbClr val="C5A55A"/>
                </a:solidFill>
                <a:latin typeface="Lato" pitchFamily="34" charset="0"/>
                <a:ea typeface="Lato" pitchFamily="34" charset="-122"/>
                <a:cs typeface="Lato" pitchFamily="34" charset="-120"/>
              </a:rPr>
              <a:t>0</a:t>
            </a:r>
            <a:endParaRPr lang="en-US" sz="4000" dirty="0"/>
          </a:p>
        </p:txBody>
      </p:sp>
      <p:sp>
        <p:nvSpPr>
          <p:cNvPr id="38" name="Text 36"/>
          <p:cNvSpPr txBox="1"/>
          <p:nvPr/>
        </p:nvSpPr>
        <p:spPr>
          <a:xfrm>
            <a:off x="8613648" y="4297680"/>
            <a:ext cx="2907792" cy="731520"/>
          </a:xfrm>
          <a:prstGeom prst="rect">
            <a:avLst/>
          </a:prstGeom>
          <a:noFill/>
          <a:ln/>
        </p:spPr>
        <p:txBody>
          <a:bodyPr wrap="square" lIns="0" tIns="0" rIns="0" bIns="0" rtlCol="0" anchor="ctr"/>
          <a:lstStyle/>
          <a:p>
            <a:pPr marL="0" indent="0">
              <a:lnSpc>
                <a:spcPct val="112000"/>
              </a:lnSpc>
              <a:buNone/>
            </a:pPr>
            <a:r>
              <a:rPr lang="en-US" sz="1300" dirty="0">
                <a:solidFill>
                  <a:srgbClr val="232A3A"/>
                </a:solidFill>
                <a:latin typeface="Lato" pitchFamily="34" charset="0"/>
                <a:ea typeface="Lato" pitchFamily="34" charset="-122"/>
                <a:cs typeface="Lato" pitchFamily="34" charset="-120"/>
              </a:rPr>
              <a:t>ouverture de port entrant nécessaire sur le réseau interne</a:t>
            </a:r>
            <a:endParaRPr lang="en-US" sz="1300" dirty="0"/>
          </a:p>
        </p:txBody>
      </p:sp>
      <p:sp>
        <p:nvSpPr>
          <p:cNvPr id="39" name="Shape 37"/>
          <p:cNvSpPr/>
          <p:nvPr/>
        </p:nvSpPr>
        <p:spPr>
          <a:xfrm>
            <a:off x="658368" y="5486400"/>
            <a:ext cx="10874959" cy="566928"/>
          </a:xfrm>
          <a:prstGeom prst="rect">
            <a:avLst/>
          </a:prstGeom>
          <a:solidFill>
            <a:srgbClr val="1B2A4A"/>
          </a:solidFill>
          <a:ln/>
        </p:spPr>
        <p:txBody>
          <a:bodyPr/>
          <a:lstStyle/>
          <a:p>
            <a:endParaRPr lang="fr-FR"/>
          </a:p>
        </p:txBody>
      </p:sp>
      <p:sp>
        <p:nvSpPr>
          <p:cNvPr id="40" name="Text 38"/>
          <p:cNvSpPr txBox="1"/>
          <p:nvPr/>
        </p:nvSpPr>
        <p:spPr>
          <a:xfrm>
            <a:off x="914400" y="5486400"/>
            <a:ext cx="10362895" cy="566928"/>
          </a:xfrm>
          <a:prstGeom prst="rect">
            <a:avLst/>
          </a:prstGeom>
          <a:noFill/>
          <a:ln/>
        </p:spPr>
        <p:txBody>
          <a:bodyPr wrap="square" lIns="0" tIns="0" rIns="0" bIns="0" rtlCol="0" anchor="ctr"/>
          <a:lstStyle/>
          <a:p>
            <a:pPr marL="0" indent="0">
              <a:lnSpc>
                <a:spcPct val="106000"/>
              </a:lnSpc>
              <a:buNone/>
            </a:pPr>
            <a:r>
              <a:rPr lang="en-US" sz="1250" b="1" dirty="0">
                <a:solidFill>
                  <a:srgbClr val="FFFFFF"/>
                </a:solidFill>
                <a:latin typeface="Lato" pitchFamily="34" charset="0"/>
                <a:ea typeface="Lato" pitchFamily="34" charset="-122"/>
                <a:cs typeface="Lato" pitchFamily="34" charset="-120"/>
              </a:rPr>
              <a:t>La protection de l'outil fait partie du livrable, pas de son exploitation ultérieure.</a:t>
            </a:r>
            <a:endParaRPr lang="en-US" sz="125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9B2F97BD-C6F3-47B7-93EB-9654E60B77D7}" type="slidenum">
              <a:rPr lang="fr-FR" sz="900" b="0">
                <a:solidFill>
                  <a:srgbClr val="4A5568"/>
                </a:solidFill>
                <a:latin typeface="Lato"/>
              </a:rPr>
              <a:t>62</a:t>
            </a:fld>
            <a:endParaRPr lang="fr-FR">
              <a:solidFill>
                <a:srgbClr val="4A5568"/>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ADAPTATION DU DISCOURS</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Deux publics, deux registres</a:t>
            </a:r>
            <a:endParaRPr lang="en-US" sz="3000" dirty="0"/>
          </a:p>
        </p:txBody>
      </p:sp>
      <p:sp>
        <p:nvSpPr>
          <p:cNvPr id="4" name="Text 2"/>
          <p:cNvSpPr txBox="1"/>
          <p:nvPr/>
        </p:nvSpPr>
        <p:spPr>
          <a:xfrm>
            <a:off x="658368" y="1444752"/>
            <a:ext cx="493776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POUR LA DIRECTION</a:t>
            </a:r>
            <a:endParaRPr lang="en-US" sz="1000" dirty="0"/>
          </a:p>
        </p:txBody>
      </p:sp>
      <p:sp>
        <p:nvSpPr>
          <p:cNvPr id="5" name="Text 3"/>
          <p:cNvSpPr txBox="1"/>
          <p:nvPr/>
        </p:nvSpPr>
        <p:spPr>
          <a:xfrm>
            <a:off x="658368" y="1700784"/>
            <a:ext cx="4937760" cy="640080"/>
          </a:xfrm>
          <a:prstGeom prst="rect">
            <a:avLst/>
          </a:prstGeom>
          <a:noFill/>
          <a:ln/>
        </p:spPr>
        <p:txBody>
          <a:bodyPr wrap="square" lIns="0" tIns="0" rIns="0" bIns="0" rtlCol="0" anchor="ctr"/>
          <a:lstStyle/>
          <a:p>
            <a:pPr marL="0" indent="0">
              <a:buNone/>
            </a:pPr>
            <a:r>
              <a:rPr lang="en-US" sz="4400" b="1" dirty="0">
                <a:solidFill>
                  <a:srgbClr val="C5A55A"/>
                </a:solidFill>
                <a:latin typeface="Lato" pitchFamily="34" charset="0"/>
                <a:ea typeface="Lato" pitchFamily="34" charset="-122"/>
                <a:cs typeface="Lato" pitchFamily="34" charset="-120"/>
              </a:rPr>
              <a:t>Décider</a:t>
            </a:r>
            <a:endParaRPr lang="en-US" sz="4400" dirty="0"/>
          </a:p>
        </p:txBody>
      </p:sp>
      <p:sp>
        <p:nvSpPr>
          <p:cNvPr id="6" name="Text 4"/>
          <p:cNvSpPr txBox="1"/>
          <p:nvPr/>
        </p:nvSpPr>
        <p:spPr>
          <a:xfrm>
            <a:off x="658368" y="2450592"/>
            <a:ext cx="4937760" cy="822960"/>
          </a:xfrm>
          <a:prstGeom prst="rect">
            <a:avLst/>
          </a:prstGeom>
          <a:noFill/>
          <a:ln/>
        </p:spPr>
        <p:txBody>
          <a:bodyPr wrap="square" lIns="0" tIns="0" rIns="0" bIns="0" rtlCol="0" anchor="t"/>
          <a:lstStyle/>
          <a:p>
            <a:pPr marL="0" indent="0" algn="l">
              <a:lnSpc>
                <a:spcPct val="118000"/>
              </a:lnSpc>
              <a:buNone/>
            </a:pPr>
            <a:r>
              <a:rPr lang="en-US" sz="1350" dirty="0">
                <a:solidFill>
                  <a:srgbClr val="232A3A"/>
                </a:solidFill>
                <a:latin typeface="Lato" pitchFamily="34" charset="0"/>
                <a:ea typeface="Lato" pitchFamily="34" charset="-122"/>
                <a:cs typeface="Lato" pitchFamily="34" charset="-120"/>
              </a:rPr>
              <a:t>Un dirigeant a besoin de savoir s'il doit s'inquiéter et ce qu'il doit financer.</a:t>
            </a:r>
            <a:endParaRPr lang="en-US" sz="1350" dirty="0"/>
          </a:p>
        </p:txBody>
      </p:sp>
      <p:sp>
        <p:nvSpPr>
          <p:cNvPr id="7" name="Shape 5"/>
          <p:cNvSpPr/>
          <p:nvPr/>
        </p:nvSpPr>
        <p:spPr>
          <a:xfrm>
            <a:off x="658368" y="3310128"/>
            <a:ext cx="5230368" cy="786384"/>
          </a:xfrm>
          <a:prstGeom prst="rect">
            <a:avLst/>
          </a:prstGeom>
          <a:solidFill>
            <a:srgbClr val="F2F4F8"/>
          </a:solidFill>
          <a:ln/>
        </p:spPr>
        <p:txBody>
          <a:bodyPr/>
          <a:lstStyle/>
          <a:p>
            <a:endParaRPr lang="fr-FR"/>
          </a:p>
        </p:txBody>
      </p:sp>
      <p:sp>
        <p:nvSpPr>
          <p:cNvPr id="8" name="Text 6"/>
          <p:cNvSpPr txBox="1"/>
          <p:nvPr/>
        </p:nvSpPr>
        <p:spPr>
          <a:xfrm>
            <a:off x="914400" y="3310128"/>
            <a:ext cx="4718304" cy="786384"/>
          </a:xfrm>
          <a:prstGeom prst="rect">
            <a:avLst/>
          </a:prstGeom>
          <a:noFill/>
          <a:ln/>
        </p:spPr>
        <p:txBody>
          <a:bodyPr wrap="square" lIns="0" tIns="0" rIns="0" bIns="0" rtlCol="0" anchor="ctr"/>
          <a:lstStyle/>
          <a:p>
            <a:pPr marL="0" indent="0">
              <a:lnSpc>
                <a:spcPct val="114000"/>
              </a:lnSpc>
              <a:buNone/>
            </a:pPr>
            <a:r>
              <a:rPr lang="en-US" sz="1250" b="1" dirty="0">
                <a:solidFill>
                  <a:srgbClr val="1B2A4A"/>
                </a:solidFill>
                <a:latin typeface="Lato" pitchFamily="34" charset="0"/>
                <a:ea typeface="Lato" pitchFamily="34" charset="-122"/>
                <a:cs typeface="Lato" pitchFamily="34" charset="-120"/>
              </a:rPr>
              <a:t>La notation est présentée comme une hiérarchie d'actions, sans détail de calcul.</a:t>
            </a:r>
            <a:endParaRPr lang="en-US" sz="1250" dirty="0"/>
          </a:p>
        </p:txBody>
      </p:sp>
      <p:sp>
        <p:nvSpPr>
          <p:cNvPr id="9" name="Text 7"/>
          <p:cNvSpPr txBox="1"/>
          <p:nvPr/>
        </p:nvSpPr>
        <p:spPr>
          <a:xfrm>
            <a:off x="6190488" y="1444752"/>
            <a:ext cx="4937760" cy="237744"/>
          </a:xfrm>
          <a:prstGeom prst="rect">
            <a:avLst/>
          </a:prstGeom>
          <a:noFill/>
          <a:ln/>
        </p:spPr>
        <p:txBody>
          <a:bodyPr wrap="square" lIns="0" tIns="0" rIns="0" bIns="0" rtlCol="0" anchor="ctr"/>
          <a:lstStyle/>
          <a:p>
            <a:pPr marL="0" indent="0">
              <a:buNone/>
            </a:pPr>
            <a:r>
              <a:rPr lang="en-US" sz="1000" b="1" kern="0" spc="160" dirty="0">
                <a:solidFill>
                  <a:srgbClr val="4A5568"/>
                </a:solidFill>
                <a:latin typeface="Lato" pitchFamily="34" charset="0"/>
                <a:ea typeface="Lato" pitchFamily="34" charset="-122"/>
                <a:cs typeface="Lato" pitchFamily="34" charset="-120"/>
              </a:rPr>
              <a:t>POUR LES ÉQUIPES TECHNIQUES</a:t>
            </a:r>
            <a:endParaRPr lang="en-US" sz="1000" dirty="0"/>
          </a:p>
        </p:txBody>
      </p:sp>
      <p:sp>
        <p:nvSpPr>
          <p:cNvPr id="10" name="Text 8"/>
          <p:cNvSpPr txBox="1"/>
          <p:nvPr/>
        </p:nvSpPr>
        <p:spPr>
          <a:xfrm>
            <a:off x="6190488" y="1700784"/>
            <a:ext cx="4937760" cy="640080"/>
          </a:xfrm>
          <a:prstGeom prst="rect">
            <a:avLst/>
          </a:prstGeom>
          <a:noFill/>
          <a:ln/>
        </p:spPr>
        <p:txBody>
          <a:bodyPr wrap="square" lIns="0" tIns="0" rIns="0" bIns="0" rtlCol="0" anchor="ctr"/>
          <a:lstStyle/>
          <a:p>
            <a:pPr marL="0" indent="0">
              <a:buNone/>
            </a:pPr>
            <a:r>
              <a:rPr lang="en-US" sz="4400" b="1" dirty="0">
                <a:solidFill>
                  <a:srgbClr val="1B2A4A"/>
                </a:solidFill>
                <a:latin typeface="Lato" pitchFamily="34" charset="0"/>
                <a:ea typeface="Lato" pitchFamily="34" charset="-122"/>
                <a:cs typeface="Lato" pitchFamily="34" charset="-120"/>
              </a:rPr>
              <a:t>Maintenir</a:t>
            </a:r>
            <a:endParaRPr lang="en-US" sz="4400" dirty="0"/>
          </a:p>
        </p:txBody>
      </p:sp>
      <p:sp>
        <p:nvSpPr>
          <p:cNvPr id="11" name="Text 9"/>
          <p:cNvSpPr txBox="1"/>
          <p:nvPr/>
        </p:nvSpPr>
        <p:spPr>
          <a:xfrm>
            <a:off x="6190488" y="2450592"/>
            <a:ext cx="4937760" cy="822960"/>
          </a:xfrm>
          <a:prstGeom prst="rect">
            <a:avLst/>
          </a:prstGeom>
          <a:noFill/>
          <a:ln/>
        </p:spPr>
        <p:txBody>
          <a:bodyPr wrap="square" lIns="0" tIns="0" rIns="0" bIns="0" rtlCol="0" anchor="t"/>
          <a:lstStyle/>
          <a:p>
            <a:pPr marL="0" indent="0" algn="l">
              <a:lnSpc>
                <a:spcPct val="118000"/>
              </a:lnSpc>
              <a:buNone/>
            </a:pPr>
            <a:r>
              <a:rPr lang="en-US" sz="1350" dirty="0">
                <a:solidFill>
                  <a:srgbClr val="232A3A"/>
                </a:solidFill>
                <a:latin typeface="Lato" pitchFamily="34" charset="0"/>
                <a:ea typeface="Lato" pitchFamily="34" charset="-122"/>
                <a:cs typeface="Lato" pitchFamily="34" charset="-120"/>
              </a:rPr>
              <a:t>Un administrateur a besoin de la configuration exacte, des seuils appliqués et de la raison pour laquelle une ligne remonte.</a:t>
            </a:r>
            <a:endParaRPr lang="en-US" sz="1350" dirty="0"/>
          </a:p>
        </p:txBody>
      </p:sp>
      <p:sp>
        <p:nvSpPr>
          <p:cNvPr id="12" name="Shape 10"/>
          <p:cNvSpPr/>
          <p:nvPr/>
        </p:nvSpPr>
        <p:spPr>
          <a:xfrm>
            <a:off x="6190488" y="3310128"/>
            <a:ext cx="5230368" cy="786384"/>
          </a:xfrm>
          <a:prstGeom prst="rect">
            <a:avLst/>
          </a:prstGeom>
          <a:solidFill>
            <a:srgbClr val="F2F4F8"/>
          </a:solidFill>
          <a:ln/>
        </p:spPr>
        <p:txBody>
          <a:bodyPr/>
          <a:lstStyle/>
          <a:p>
            <a:endParaRPr lang="fr-FR"/>
          </a:p>
        </p:txBody>
      </p:sp>
      <p:sp>
        <p:nvSpPr>
          <p:cNvPr id="13" name="Text 11"/>
          <p:cNvSpPr txBox="1"/>
          <p:nvPr/>
        </p:nvSpPr>
        <p:spPr>
          <a:xfrm>
            <a:off x="6446520" y="3310128"/>
            <a:ext cx="4718304" cy="786384"/>
          </a:xfrm>
          <a:prstGeom prst="rect">
            <a:avLst/>
          </a:prstGeom>
          <a:noFill/>
          <a:ln/>
        </p:spPr>
        <p:txBody>
          <a:bodyPr wrap="square" lIns="0" tIns="0" rIns="0" bIns="0" rtlCol="0" anchor="ctr"/>
          <a:lstStyle/>
          <a:p>
            <a:pPr marL="0" indent="0">
              <a:lnSpc>
                <a:spcPct val="114000"/>
              </a:lnSpc>
              <a:buNone/>
            </a:pPr>
            <a:r>
              <a:rPr lang="en-US" sz="1250" b="1" dirty="0">
                <a:solidFill>
                  <a:srgbClr val="1B2A4A"/>
                </a:solidFill>
                <a:latin typeface="Lato" pitchFamily="34" charset="0"/>
                <a:ea typeface="Lato" pitchFamily="34" charset="-122"/>
                <a:cs typeface="Lato" pitchFamily="34" charset="-120"/>
              </a:rPr>
              <a:t>Le détail du calcul est nécessaire.</a:t>
            </a:r>
            <a:endParaRPr lang="en-US" sz="1250" dirty="0"/>
          </a:p>
        </p:txBody>
      </p:sp>
      <p:sp>
        <p:nvSpPr>
          <p:cNvPr id="14" name="Shape 12"/>
          <p:cNvSpPr/>
          <p:nvPr/>
        </p:nvSpPr>
        <p:spPr>
          <a:xfrm>
            <a:off x="658368" y="4443984"/>
            <a:ext cx="10874959" cy="1316736"/>
          </a:xfrm>
          <a:prstGeom prst="rect">
            <a:avLst/>
          </a:prstGeom>
          <a:solidFill>
            <a:srgbClr val="1B2A4A"/>
          </a:solidFill>
          <a:ln/>
        </p:spPr>
        <p:txBody>
          <a:bodyPr/>
          <a:lstStyle/>
          <a:p>
            <a:endParaRPr lang="fr-FR"/>
          </a:p>
        </p:txBody>
      </p:sp>
      <p:sp>
        <p:nvSpPr>
          <p:cNvPr id="15" name="Text 13"/>
          <p:cNvSpPr txBox="1"/>
          <p:nvPr/>
        </p:nvSpPr>
        <p:spPr>
          <a:xfrm>
            <a:off x="950976" y="4590288"/>
            <a:ext cx="10332720" cy="310896"/>
          </a:xfrm>
          <a:prstGeom prst="rect">
            <a:avLst/>
          </a:prstGeom>
          <a:noFill/>
          <a:ln/>
        </p:spPr>
        <p:txBody>
          <a:bodyPr wrap="square" lIns="0" tIns="0" rIns="0" bIns="0" rtlCol="0" anchor="ctr"/>
          <a:lstStyle/>
          <a:p>
            <a:pPr marL="0" indent="0">
              <a:buNone/>
            </a:pPr>
            <a:r>
              <a:rPr lang="en-US" sz="1500" b="1" dirty="0">
                <a:solidFill>
                  <a:srgbClr val="C5A55A"/>
                </a:solidFill>
                <a:latin typeface="Lato" pitchFamily="34" charset="0"/>
                <a:ea typeface="Lato" pitchFamily="34" charset="-122"/>
                <a:cs typeface="Lato" pitchFamily="34" charset="-120"/>
              </a:rPr>
              <a:t>La compétence identifiée comme la plus utile pour la suite</a:t>
            </a:r>
            <a:endParaRPr lang="en-US" sz="1500" dirty="0"/>
          </a:p>
        </p:txBody>
      </p:sp>
      <p:sp>
        <p:nvSpPr>
          <p:cNvPr id="16" name="Text 14"/>
          <p:cNvSpPr txBox="1"/>
          <p:nvPr/>
        </p:nvSpPr>
        <p:spPr>
          <a:xfrm>
            <a:off x="950976" y="4956048"/>
            <a:ext cx="10332720" cy="694944"/>
          </a:xfrm>
          <a:prstGeom prst="rect">
            <a:avLst/>
          </a:prstGeom>
          <a:noFill/>
          <a:ln/>
        </p:spPr>
        <p:txBody>
          <a:bodyPr wrap="square" lIns="0" tIns="0" rIns="0" bIns="0" rtlCol="0" anchor="ctr"/>
          <a:lstStyle/>
          <a:p>
            <a:pPr marL="0" indent="0">
              <a:lnSpc>
                <a:spcPct val="116000"/>
              </a:lnSpc>
              <a:buNone/>
            </a:pPr>
            <a:r>
              <a:rPr lang="en-US" sz="1300" dirty="0">
                <a:solidFill>
                  <a:srgbClr val="D5DAE4"/>
                </a:solidFill>
                <a:latin typeface="Lato" pitchFamily="34" charset="0"/>
                <a:ea typeface="Lato" pitchFamily="34" charset="-122"/>
                <a:cs typeface="Lato" pitchFamily="34" charset="-120"/>
              </a:rPr>
              <a:t>Ce passage constant entre le langage métier et le vocabulaire technique est ce que j'attendais le moins en début de mission. C'est aujourd'hui ce que je considère comme le plus déterminant pour un poste de conseil ou d'analyse fonctionnelle.</a:t>
            </a:r>
            <a:endParaRPr lang="en-US" sz="1300"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9569B77-2B67-44DC-8F34-B3B3C957C734}" type="slidenum">
              <a:rPr lang="fr-FR" sz="900" b="0">
                <a:solidFill>
                  <a:srgbClr val="4A5568"/>
                </a:solidFill>
                <a:latin typeface="Lato"/>
              </a:rPr>
              <a:t>63</a:t>
            </a:fld>
            <a:endParaRPr lang="fr-FR">
              <a:solidFill>
                <a:srgbClr val="4A5568"/>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Indicateurs de résultat : cible et réalisé</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58368" y="1444752"/>
          <a:ext cx="10881360" cy="3218688"/>
        </p:xfrm>
        <a:graphic>
          <a:graphicData uri="http://schemas.openxmlformats.org/drawingml/2006/table">
            <a:tbl>
              <a:tblPr/>
              <a:tblGrid>
                <a:gridCol w="35661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02336">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Indicateur</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Cible</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Lato" pitchFamily="34" charset="0"/>
                          <a:ea typeface="Lato" pitchFamily="34" charset="-122"/>
                          <a:cs typeface="Lato" pitchFamily="34" charset="-120"/>
                        </a:rPr>
                        <a:t>Réalisé</a:t>
                      </a:r>
                      <a:endParaRPr lang="en-US" sz="115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Respect des jalons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4 sur 4 à date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A2543C"/>
                          </a:solidFill>
                          <a:latin typeface="Lato" pitchFamily="34" charset="0"/>
                          <a:ea typeface="Lato" pitchFamily="34" charset="-122"/>
                          <a:cs typeface="Lato" pitchFamily="34" charset="-120"/>
                        </a:rPr>
                        <a:t>3 sur 4 — jalon J2 décalé de 2 semaines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Écart de charge consommée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moins de 10 %</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A2543C"/>
                          </a:solidFill>
                          <a:latin typeface="Lato" pitchFamily="34" charset="0"/>
                          <a:ea typeface="Lato" pitchFamily="34" charset="-122"/>
                          <a:cs typeface="Lato" pitchFamily="34" charset="-120"/>
                        </a:rPr>
                        <a:t>non tenu — disponibilité réduite par les missions clients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Couverture des actifs instrumentés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100 % avant J2</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100 % du périmètre adopté</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Temps de priorisation</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moins de 2 h</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4E7A5E"/>
                          </a:solidFill>
                          <a:latin typeface="Lato" pitchFamily="34" charset="0"/>
                          <a:ea typeface="Lato" pitchFamily="34" charset="-122"/>
                          <a:cs typeface="Lato" pitchFamily="34" charset="-120"/>
                        </a:rPr>
                        <a:t>objectif dépassé — lecture directe du tableau de bord</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Précision de la notation</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plus de 80 % de concordance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A2543C"/>
                          </a:solidFill>
                          <a:latin typeface="Lato" pitchFamily="34" charset="0"/>
                          <a:ea typeface="Lato" pitchFamily="34" charset="-122"/>
                          <a:cs typeface="Lato" pitchFamily="34" charset="-120"/>
                        </a:rPr>
                        <a:t>validée qualitativement en recette, non chiffrée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5"/>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Variance du plan d'expériences</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moins de 15 %</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6E7788"/>
                          </a:solidFill>
                          <a:latin typeface="Lato" pitchFamily="34" charset="0"/>
                          <a:ea typeface="Lato" pitchFamily="34" charset="-122"/>
                          <a:cs typeface="Lato" pitchFamily="34" charset="-120"/>
                        </a:rPr>
                        <a:t>sans objet — méthode Taguchi abandonnée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lgn="l">
                        <a:buNone/>
                      </a:pPr>
                      <a:r>
                        <a:rPr lang="en-US" sz="1200" dirty="0">
                          <a:solidFill>
                            <a:srgbClr val="232A3A"/>
                          </a:solidFill>
                          <a:latin typeface="Lato" pitchFamily="34" charset="0"/>
                          <a:ea typeface="Lato" pitchFamily="34" charset="-122"/>
                          <a:cs typeface="Lato" pitchFamily="34" charset="-120"/>
                        </a:rPr>
                        <a:t>Satisfaction de la recette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232A3A"/>
                          </a:solidFill>
                          <a:latin typeface="Lato" pitchFamily="34" charset="0"/>
                          <a:ea typeface="Lato" pitchFamily="34" charset="-122"/>
                          <a:cs typeface="Lato" pitchFamily="34" charset="-120"/>
                        </a:rPr>
                        <a:t>au moins 4 sur 5</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dirty="0">
                          <a:solidFill>
                            <a:srgbClr val="4E7A5E"/>
                          </a:solidFill>
                          <a:latin typeface="Lato" pitchFamily="34" charset="0"/>
                          <a:ea typeface="Lato" pitchFamily="34" charset="-122"/>
                          <a:cs typeface="Lato" pitchFamily="34" charset="-120"/>
                        </a:rPr>
                        <a:t>validée par les deux valideurs, formalisée après remise</a:t>
                      </a:r>
                      <a:endParaRPr lang="en-US" sz="1200" dirty="0">
                        <a:latin typeface="Lato" charset="0"/>
                        <a:ea typeface="Lato" charset="0"/>
                        <a:cs typeface="Lato" charset="0"/>
                      </a:endParaRPr>
                    </a:p>
                  </a:txBody>
                  <a:tcPr marL="82296" marR="82296" marT="82296" marB="82296"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722294" y="5095103"/>
            <a:ext cx="4663440" cy="1075038"/>
          </a:xfrm>
          <a:prstGeom prst="rect">
            <a:avLst/>
          </a:prstGeom>
          <a:noFill/>
          <a:ln/>
        </p:spPr>
        <p:txBody>
          <a:bodyPr wrap="square" lIns="0" tIns="0" rIns="0" bIns="0" rtlCol="0" anchor="ctr"/>
          <a:lstStyle/>
          <a:p>
            <a:pPr marL="0" indent="0">
              <a:buNone/>
            </a:pPr>
            <a:r>
              <a:rPr lang="en-US" sz="9600" b="1" dirty="0">
                <a:solidFill>
                  <a:srgbClr val="A2543C"/>
                </a:solidFill>
                <a:latin typeface="Lato" pitchFamily="34" charset="0"/>
                <a:ea typeface="Lato" pitchFamily="34" charset="-122"/>
                <a:cs typeface="Lato" pitchFamily="34" charset="-120"/>
              </a:rPr>
              <a:t>2</a:t>
            </a:r>
            <a:endParaRPr lang="en-US" sz="9600" dirty="0"/>
          </a:p>
        </p:txBody>
      </p:sp>
      <p:sp>
        <p:nvSpPr>
          <p:cNvPr id="6" name="Text 3"/>
          <p:cNvSpPr txBox="1"/>
          <p:nvPr/>
        </p:nvSpPr>
        <p:spPr>
          <a:xfrm>
            <a:off x="1694359" y="5587644"/>
            <a:ext cx="4663440" cy="512064"/>
          </a:xfrm>
          <a:prstGeom prst="rect">
            <a:avLst/>
          </a:prstGeom>
          <a:noFill/>
          <a:ln/>
        </p:spPr>
        <p:txBody>
          <a:bodyPr wrap="square" lIns="0" tIns="0" rIns="0" bIns="0" rtlCol="0" anchor="ctr"/>
          <a:lstStyle/>
          <a:p>
            <a:pPr marL="0" indent="0">
              <a:lnSpc>
                <a:spcPct val="114000"/>
              </a:lnSpc>
              <a:buNone/>
            </a:pPr>
            <a:r>
              <a:rPr lang="en-US" sz="1600" dirty="0">
                <a:solidFill>
                  <a:srgbClr val="232A3A"/>
                </a:solidFill>
                <a:latin typeface="Lato" pitchFamily="34" charset="0"/>
                <a:ea typeface="Lato" pitchFamily="34" charset="-122"/>
                <a:cs typeface="Lato" pitchFamily="34" charset="-120"/>
              </a:rPr>
              <a:t>- De charge</a:t>
            </a:r>
          </a:p>
          <a:p>
            <a:pPr marL="0" indent="0">
              <a:lnSpc>
                <a:spcPct val="114000"/>
              </a:lnSpc>
              <a:buNone/>
            </a:pPr>
            <a:r>
              <a:rPr lang="en-US" sz="1600" dirty="0">
                <a:solidFill>
                  <a:srgbClr val="232A3A"/>
                </a:solidFill>
                <a:latin typeface="Lato" pitchFamily="34" charset="0"/>
                <a:ea typeface="Lato" pitchFamily="34" charset="-122"/>
                <a:cs typeface="Lato" pitchFamily="34" charset="-120"/>
              </a:rPr>
              <a:t>- De </a:t>
            </a:r>
            <a:r>
              <a:rPr lang="en-US" sz="1600" dirty="0" err="1">
                <a:solidFill>
                  <a:srgbClr val="232A3A"/>
                </a:solidFill>
                <a:latin typeface="Lato" pitchFamily="34" charset="0"/>
                <a:ea typeface="Lato" pitchFamily="34" charset="-122"/>
                <a:cs typeface="Lato" pitchFamily="34" charset="-120"/>
              </a:rPr>
              <a:t>précision</a:t>
            </a:r>
            <a:r>
              <a:rPr lang="en-US" sz="1600" dirty="0">
                <a:solidFill>
                  <a:srgbClr val="232A3A"/>
                </a:solidFill>
                <a:latin typeface="Lato" pitchFamily="34" charset="0"/>
                <a:ea typeface="Lato" pitchFamily="34" charset="-122"/>
                <a:cs typeface="Lato" pitchFamily="34" charset="-120"/>
              </a:rPr>
              <a:t> de la notation</a:t>
            </a:r>
            <a:endParaRPr lang="en-US" sz="1600" dirty="0"/>
          </a:p>
        </p:txBody>
      </p:sp>
      <p:sp>
        <p:nvSpPr>
          <p:cNvPr id="9" name="Text 3">
            <a:extLst>
              <a:ext uri="{FF2B5EF4-FFF2-40B4-BE49-F238E27FC236}">
                <a16:creationId xmlns:a16="http://schemas.microsoft.com/office/drawing/2014/main" id="{E04E1A85-23C0-4BCE-A235-515BE8D4146E}"/>
              </a:ext>
            </a:extLst>
          </p:cNvPr>
          <p:cNvSpPr txBox="1"/>
          <p:nvPr/>
        </p:nvSpPr>
        <p:spPr>
          <a:xfrm>
            <a:off x="1752024" y="5077639"/>
            <a:ext cx="4663440" cy="512064"/>
          </a:xfrm>
          <a:prstGeom prst="rect">
            <a:avLst/>
          </a:prstGeom>
          <a:noFill/>
          <a:ln/>
        </p:spPr>
        <p:txBody>
          <a:bodyPr wrap="square" lIns="0" tIns="0" rIns="0" bIns="0" rtlCol="0" anchor="ctr"/>
          <a:lstStyle/>
          <a:p>
            <a:pPr marL="0" indent="0">
              <a:lnSpc>
                <a:spcPct val="114000"/>
              </a:lnSpc>
              <a:buNone/>
            </a:pPr>
            <a:r>
              <a:rPr lang="en-US" sz="2800" b="1" dirty="0">
                <a:solidFill>
                  <a:srgbClr val="A2543C"/>
                </a:solidFill>
                <a:latin typeface="Lato Black" panose="020F0502020204030203" pitchFamily="34" charset="0"/>
                <a:ea typeface="Lato Black" panose="020F0502020204030203" pitchFamily="34" charset="0"/>
                <a:cs typeface="Lato Black" panose="020F0502020204030203" pitchFamily="34" charset="0"/>
              </a:rPr>
              <a:t>ÉCARTS</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AECFBA13-9609-4A2D-896D-4A047EC7FC73}" type="slidenum">
              <a:rPr lang="fr-FR" sz="900" b="0">
                <a:solidFill>
                  <a:srgbClr val="4A5568"/>
                </a:solidFill>
                <a:latin typeface="Lato"/>
              </a:rPr>
              <a:t>64</a:t>
            </a:fld>
            <a:endParaRPr lang="fr-FR">
              <a:solidFill>
                <a:srgbClr val="4A5568"/>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146304"/>
            <a:ext cx="10874959" cy="256032"/>
          </a:xfrm>
          <a:prstGeom prst="rect">
            <a:avLst/>
          </a:prstGeom>
          <a:noFill/>
          <a:ln/>
        </p:spPr>
        <p:txBody>
          <a:bodyPr wrap="square" lIns="0" tIns="0" rIns="0" bIns="0" rtlCol="0" anchor="ctr"/>
          <a:lstStyle/>
          <a:p>
            <a:pPr marL="0" indent="0">
              <a:buNone/>
            </a:pPr>
            <a:r>
              <a:rPr lang="en-US" sz="1100" b="1" kern="0" spc="220" dirty="0">
                <a:solidFill>
                  <a:srgbClr val="C5A55A"/>
                </a:solidFill>
                <a:latin typeface="Lato" pitchFamily="34" charset="0"/>
                <a:ea typeface="Lato" pitchFamily="34" charset="-122"/>
                <a:cs typeface="Lato" pitchFamily="34" charset="-120"/>
              </a:rPr>
              <a:t>CE QUE J'AI ARBITRÉ EN COURS DE PROJET</a:t>
            </a:r>
            <a:endParaRPr lang="en-US" sz="1100" dirty="0"/>
          </a:p>
        </p:txBody>
      </p:sp>
      <p:sp>
        <p:nvSpPr>
          <p:cNvPr id="3" name="Text 1"/>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Aléas rencontrés et décisions prises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279321045"/>
              </p:ext>
            </p:extLst>
          </p:nvPr>
        </p:nvGraphicFramePr>
        <p:xfrm>
          <a:off x="658368" y="1389888"/>
          <a:ext cx="10872216" cy="3840480"/>
        </p:xfrm>
        <a:graphic>
          <a:graphicData uri="http://schemas.openxmlformats.org/drawingml/2006/table">
            <a:tbl>
              <a:tblPr/>
              <a:tblGrid>
                <a:gridCol w="324612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3282696">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L'aléa</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Ma décision</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Lato" pitchFamily="34" charset="0"/>
                          <a:ea typeface="Lato" pitchFamily="34" charset="-122"/>
                          <a:cs typeface="Lato" pitchFamily="34" charset="-120"/>
                        </a:rPr>
                        <a:t>L'effet</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48640">
                <a:tc>
                  <a:txBody>
                    <a:bodyPr/>
                    <a:lstStyle/>
                    <a:p>
                      <a:pPr marL="0" indent="0" algn="l">
                        <a:buNone/>
                      </a:pPr>
                      <a:r>
                        <a:rPr lang="en-US" sz="1200" b="0" dirty="0">
                          <a:solidFill>
                            <a:srgbClr val="C5A55A"/>
                          </a:solidFill>
                          <a:latin typeface="Lato" pitchFamily="34" charset="0"/>
                          <a:ea typeface="Lato" pitchFamily="34" charset="-122"/>
                          <a:cs typeface="Lato" pitchFamily="34" charset="-120"/>
                        </a:rPr>
                        <a:t>Référentiels non alimentés au démarrage, malgré les engagements de l'audit préalable</a:t>
                      </a:r>
                      <a:endParaRPr lang="en-US" sz="1200" b="0" dirty="0">
                        <a:solidFill>
                          <a:srgbClr val="C5A55A"/>
                        </a:solidFill>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J'ai resserré le périmètre de 20 à 4 machines, arbitrage validé avec le maître d'apprentissage</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100 % du périmètre révisé couvert</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1"/>
                  </a:ext>
                </a:extLst>
              </a:tr>
              <a:tr h="548640">
                <a:tc>
                  <a:txBody>
                    <a:bodyPr/>
                    <a:lstStyle/>
                    <a:p>
                      <a:pPr marL="0" indent="0" algn="l">
                        <a:buNone/>
                      </a:pPr>
                      <a:r>
                        <a:rPr lang="en-US" sz="1200" b="0" dirty="0">
                          <a:solidFill>
                            <a:srgbClr val="C5A55A"/>
                          </a:solidFill>
                          <a:latin typeface="Lato" pitchFamily="34" charset="0"/>
                          <a:ea typeface="Lato" pitchFamily="34" charset="-122"/>
                          <a:cs typeface="Lato" pitchFamily="34" charset="-120"/>
                        </a:rPr>
                        <a:t>Outil de supervision indisponible</a:t>
                      </a:r>
                      <a:endParaRPr lang="en-US" sz="1200" b="0" dirty="0">
                        <a:solidFill>
                          <a:srgbClr val="C5A55A"/>
                        </a:solidFill>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J'ai rétabli l'accès moi-même avant de reprendre la collecte</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jalon J2 décalé de 2 semaines, date de fin préservée</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200" b="0" dirty="0">
                          <a:solidFill>
                            <a:srgbClr val="C5A55A"/>
                          </a:solidFill>
                          <a:latin typeface="Lato" pitchFamily="34" charset="0"/>
                          <a:ea typeface="Lato" pitchFamily="34" charset="-122"/>
                          <a:cs typeface="Lato" pitchFamily="34" charset="-120"/>
                        </a:rPr>
                        <a:t>Missions clients devenues prioritaires : 42 puis 21 jours-homme</a:t>
                      </a:r>
                      <a:endParaRPr lang="en-US" sz="1200" b="0" dirty="0">
                        <a:solidFill>
                          <a:srgbClr val="C5A55A"/>
                        </a:solidFill>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J'ai réduit le périmètre plutôt que la qualité, et protégé la date de fin</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3 jalons sur 4 tenus</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3"/>
                  </a:ext>
                </a:extLst>
              </a:tr>
              <a:tr h="548640">
                <a:tc>
                  <a:txBody>
                    <a:bodyPr/>
                    <a:lstStyle/>
                    <a:p>
                      <a:pPr marL="0" indent="0" algn="l">
                        <a:buNone/>
                      </a:pPr>
                      <a:r>
                        <a:rPr lang="en-US" sz="1200" dirty="0">
                          <a:solidFill>
                            <a:srgbClr val="232A3A"/>
                          </a:solidFill>
                          <a:latin typeface="Lato" pitchFamily="34" charset="0"/>
                          <a:ea typeface="Lato" pitchFamily="34" charset="-122"/>
                          <a:cs typeface="Lato" pitchFamily="34" charset="-120"/>
                        </a:rPr>
                        <a:t>Plan d'expériences Taguchi inadapté à un projet mené seul</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Je l'ai remplacé par une recette métier conduite avec deux valideurs</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recette validée, chiffrage reporté et assumé</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200" dirty="0">
                          <a:solidFill>
                            <a:srgbClr val="232A3A"/>
                          </a:solidFill>
                          <a:latin typeface="Lato" pitchFamily="34" charset="0"/>
                          <a:ea typeface="Lato" pitchFamily="34" charset="-122"/>
                          <a:cs typeface="Lato" pitchFamily="34" charset="-120"/>
                        </a:rPr>
                        <a:t>Valeur métier sans information, découverte en août</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J'ai mesuré l'effet, tracé la cause dans la cotation, documenté la correction</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constat étendu à la cartographie des risques</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2F4F8"/>
                    </a:solidFill>
                  </a:tcPr>
                </a:tc>
                <a:extLst>
                  <a:ext uri="{0D108BD9-81ED-4DB2-BD59-A6C34878D82A}">
                    <a16:rowId xmlns:a16="http://schemas.microsoft.com/office/drawing/2014/main" val="10005"/>
                  </a:ext>
                </a:extLst>
              </a:tr>
              <a:tr h="548640">
                <a:tc>
                  <a:txBody>
                    <a:bodyPr/>
                    <a:lstStyle/>
                    <a:p>
                      <a:pPr marL="0" indent="0" algn="l">
                        <a:buNone/>
                      </a:pPr>
                      <a:r>
                        <a:rPr lang="en-US" sz="1200" dirty="0">
                          <a:solidFill>
                            <a:srgbClr val="232A3A"/>
                          </a:solidFill>
                          <a:latin typeface="Lato" pitchFamily="34" charset="0"/>
                          <a:ea typeface="Lato" pitchFamily="34" charset="-122"/>
                          <a:cs typeface="Lato" pitchFamily="34" charset="-120"/>
                        </a:rPr>
                        <a:t>Modélisation par les dépendances hors d'atteinte</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A4A"/>
                          </a:solidFill>
                          <a:latin typeface="Lato" pitchFamily="34" charset="0"/>
                          <a:ea typeface="Lato" pitchFamily="34" charset="-122"/>
                          <a:cs typeface="Lato" pitchFamily="34" charset="-120"/>
                        </a:rPr>
                        <a:t>J'ai réorienté vers la cartographie des risques, recadrage validé</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E6EAF1"/>
                    </a:solidFill>
                  </a:tcPr>
                </a:tc>
                <a:tc>
                  <a:txBody>
                    <a:bodyPr/>
                    <a:lstStyle/>
                    <a:p>
                      <a:pPr marL="0" indent="0" algn="l">
                        <a:buNone/>
                      </a:pPr>
                      <a:r>
                        <a:rPr lang="en-US" sz="1200" b="1" dirty="0">
                          <a:solidFill>
                            <a:srgbClr val="93783C"/>
                          </a:solidFill>
                          <a:latin typeface="Lato" pitchFamily="34" charset="0"/>
                          <a:ea typeface="Lato" pitchFamily="34" charset="-122"/>
                          <a:cs typeface="Lato" pitchFamily="34" charset="-120"/>
                        </a:rPr>
                        <a:t>preuve de concept livrée</a:t>
                      </a:r>
                      <a:endParaRPr lang="en-US" sz="1200" dirty="0">
                        <a:latin typeface="Lato" charset="0"/>
                        <a:ea typeface="Lato" charset="0"/>
                        <a:cs typeface="Lato" charset="0"/>
                      </a:endParaRPr>
                    </a:p>
                  </a:txBody>
                  <a:tcPr marT="91440" marB="91440" anchor="ctr">
                    <a:lnL w="9525" cap="flat" cmpd="sng" algn="ctr">
                      <a:solidFill>
                        <a:srgbClr val="E6EAF1"/>
                      </a:solidFill>
                      <a:prstDash val="solid"/>
                      <a:round/>
                      <a:headEnd type="none" w="med" len="med"/>
                      <a:tailEnd type="none" w="med" len="med"/>
                    </a:lnL>
                    <a:lnR w="9525" cap="flat" cmpd="sng" algn="ctr">
                      <a:solidFill>
                        <a:srgbClr val="E6EAF1"/>
                      </a:solidFill>
                      <a:prstDash val="solid"/>
                      <a:round/>
                      <a:headEnd type="none" w="med" len="med"/>
                      <a:tailEnd type="none" w="med" len="med"/>
                    </a:lnR>
                    <a:lnT w="9525" cap="flat" cmpd="sng" algn="ctr">
                      <a:solidFill>
                        <a:srgbClr val="E6EAF1"/>
                      </a:solidFill>
                      <a:prstDash val="solid"/>
                      <a:round/>
                      <a:headEnd type="none" w="med" len="med"/>
                      <a:tailEnd type="none" w="med" len="med"/>
                    </a:lnT>
                    <a:lnB w="9525" cap="flat" cmpd="sng" algn="ctr">
                      <a:solidFill>
                        <a:srgbClr val="E6EA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658368" y="5504688"/>
            <a:ext cx="10874959" cy="566928"/>
          </a:xfrm>
          <a:prstGeom prst="rect">
            <a:avLst/>
          </a:prstGeom>
          <a:solidFill>
            <a:srgbClr val="1B2A4A"/>
          </a:solidFill>
          <a:ln/>
        </p:spPr>
        <p:txBody>
          <a:bodyPr/>
          <a:lstStyle/>
          <a:p>
            <a:endParaRPr lang="fr-FR"/>
          </a:p>
        </p:txBody>
      </p:sp>
      <p:sp>
        <p:nvSpPr>
          <p:cNvPr id="6" name="Text 3"/>
          <p:cNvSpPr txBox="1"/>
          <p:nvPr/>
        </p:nvSpPr>
        <p:spPr>
          <a:xfrm>
            <a:off x="1436914" y="5504688"/>
            <a:ext cx="9840381" cy="566928"/>
          </a:xfrm>
          <a:prstGeom prst="rect">
            <a:avLst/>
          </a:prstGeom>
          <a:noFill/>
          <a:ln/>
        </p:spPr>
        <p:txBody>
          <a:bodyPr wrap="square" lIns="0" tIns="0" rIns="0" bIns="0" rtlCol="0" anchor="ctr"/>
          <a:lstStyle/>
          <a:p>
            <a:pPr marL="0" indent="0">
              <a:lnSpc>
                <a:spcPct val="106000"/>
              </a:lnSpc>
              <a:buNone/>
            </a:pPr>
            <a:r>
              <a:rPr lang="en-US" sz="1250" b="1" dirty="0">
                <a:solidFill>
                  <a:srgbClr val="FFFFFF"/>
                </a:solidFill>
                <a:latin typeface="Lato" pitchFamily="34" charset="0"/>
                <a:ea typeface="Lato" pitchFamily="34" charset="-122"/>
                <a:cs typeface="Lato" pitchFamily="34" charset="-120"/>
              </a:rPr>
              <a:t>Aucun de ces aléas n'a été subi sans arbitrage : chaque décision a été prise avec le maître d'apprentissage et consignée le jour même dans le journal de projet.</a:t>
            </a:r>
            <a:endParaRPr lang="en-US" sz="1250" dirty="0"/>
          </a:p>
        </p:txBody>
      </p:sp>
      <p:pic>
        <p:nvPicPr>
          <p:cNvPr id="8" name="Graphique 7" descr="Informations contour">
            <a:extLst>
              <a:ext uri="{FF2B5EF4-FFF2-40B4-BE49-F238E27FC236}">
                <a16:creationId xmlns:a16="http://schemas.microsoft.com/office/drawing/2014/main" id="{56175BA1-0B47-D71E-A6EA-2948A87C73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1464" y="5504688"/>
            <a:ext cx="532354" cy="532354"/>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D30E344A-C4BD-4886-8468-DEB377E3EB33}" type="slidenum">
              <a:rPr lang="fr-FR" sz="900" b="0">
                <a:solidFill>
                  <a:srgbClr val="4A5568"/>
                </a:solidFill>
                <a:latin typeface="Lato"/>
              </a:rPr>
              <a:t>65</a:t>
            </a:fld>
            <a:endParaRPr lang="fr-FR">
              <a:solidFill>
                <a:srgbClr val="4A5568"/>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TextBox 910"/>
          <p:cNvSpPr txBox="1"/>
          <p:nvPr/>
        </p:nvSpPr>
        <p:spPr>
          <a:xfrm>
            <a:off x="658368" y="146304"/>
            <a:ext cx="10874959" cy="256032"/>
          </a:xfrm>
          <a:prstGeom prst="rect">
            <a:avLst/>
          </a:prstGeom>
          <a:noFill/>
        </p:spPr>
        <p:txBody>
          <a:bodyPr wrap="square" lIns="0" tIns="0" rIns="0" bIns="0" anchor="ctr">
            <a:spAutoFit/>
          </a:bodyPr>
          <a:lstStyle/>
          <a:p>
            <a:pPr algn="l">
              <a:buNone/>
            </a:pPr>
            <a:r>
              <a:rPr lang="fr-FR" sz="1100" b="1" spc="220" dirty="0">
                <a:solidFill>
                  <a:srgbClr val="C5A55A"/>
                </a:solidFill>
                <a:latin typeface="Lato" pitchFamily="34" charset="0"/>
              </a:rPr>
              <a:t>ANNEXE · CATALOGUE DE VEILLE</a:t>
            </a:r>
          </a:p>
        </p:txBody>
      </p:sp>
      <p:sp>
        <p:nvSpPr>
          <p:cNvPr id="911" name="TextBox 911"/>
          <p:cNvSpPr txBox="1"/>
          <p:nvPr/>
        </p:nvSpPr>
        <p:spPr>
          <a:xfrm>
            <a:off x="658368" y="420624"/>
            <a:ext cx="10874959" cy="470000"/>
          </a:xfrm>
          <a:prstGeom prst="rect">
            <a:avLst/>
          </a:prstGeom>
          <a:noFill/>
        </p:spPr>
        <p:txBody>
          <a:bodyPr wrap="square" lIns="0" tIns="0" rIns="0" bIns="0" anchor="t">
            <a:spAutoFit/>
          </a:bodyPr>
          <a:lstStyle/>
          <a:p>
            <a:pPr algn="l">
              <a:buNone/>
            </a:pPr>
            <a:r>
              <a:rPr lang="fr-FR" sz="2400" b="1" dirty="0">
                <a:solidFill>
                  <a:srgbClr val="1B2A4A"/>
                </a:solidFill>
                <a:latin typeface="Lato" pitchFamily="34" charset="0"/>
              </a:rPr>
              <a:t>Les 16 actifs surveillés et leurs requêtes NVD</a:t>
            </a:r>
          </a:p>
        </p:txBody>
      </p:sp>
      <p:sp>
        <p:nvSpPr>
          <p:cNvPr id="912" name="TextBox 912"/>
          <p:cNvSpPr txBox="1"/>
          <p:nvPr/>
        </p:nvSpPr>
        <p:spPr>
          <a:xfrm>
            <a:off x="658368" y="910000"/>
            <a:ext cx="10874959" cy="260000"/>
          </a:xfrm>
          <a:prstGeom prst="rect">
            <a:avLst/>
          </a:prstGeom>
          <a:noFill/>
        </p:spPr>
        <p:txBody>
          <a:bodyPr wrap="square" lIns="0" tIns="0" rIns="0" bIns="0" anchor="t">
            <a:spAutoFit/>
          </a:bodyPr>
          <a:lstStyle/>
          <a:p>
            <a:pPr algn="l">
              <a:buNone/>
            </a:pPr>
            <a:r>
              <a:rPr lang="fr-FR" sz="1100" b="0" dirty="0">
                <a:solidFill>
                  <a:srgbClr val="4A5568"/>
                </a:solidFill>
                <a:latin typeface="Lato" pitchFamily="34" charset="0"/>
              </a:rPr>
              <a:t>Ajouter un service au périmètre de veille, c'est une ligne de configuration — aucun code à écrire.</a:t>
            </a:r>
          </a:p>
        </p:txBody>
      </p:sp>
      <p:pic>
        <p:nvPicPr>
          <p:cNvPr id="913" name="Capture 913"/>
          <p:cNvPicPr>
            <a:picLocks noChangeAspect="1"/>
          </p:cNvPicPr>
          <p:nvPr/>
        </p:nvPicPr>
        <p:blipFill>
          <a:blip r:embed="rId3"/>
          <a:stretch>
            <a:fillRect/>
          </a:stretch>
        </p:blipFill>
        <p:spPr>
          <a:xfrm>
            <a:off x="1446000" y="1260000"/>
            <a:ext cx="9300000" cy="5182812"/>
          </a:xfrm>
          <a:prstGeom prst="rect">
            <a:avLst/>
          </a:prstGeom>
          <a:ln w="9525">
            <a:solidFill>
              <a:srgbClr val="D6DBE5"/>
            </a:solidFill>
          </a:ln>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F9145987-56E7-421D-8635-C9B66FFF722A}" type="slidenum">
              <a:rPr lang="fr-FR" sz="900" b="0">
                <a:solidFill>
                  <a:srgbClr val="4A5568"/>
                </a:solidFill>
                <a:latin typeface="Lato"/>
              </a:rPr>
              <a:t>66</a:t>
            </a:fld>
            <a:endParaRPr lang="fr-FR">
              <a:solidFill>
                <a:srgbClr val="4A5568"/>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EF95525-991E-D851-A901-30F1BFF2F5FD}"/>
              </a:ext>
            </a:extLst>
          </p:cNvPr>
          <p:cNvSpPr txBox="1"/>
          <p:nvPr/>
        </p:nvSpPr>
        <p:spPr>
          <a:xfrm>
            <a:off x="0" y="165973"/>
            <a:ext cx="12352434" cy="2585323"/>
          </a:xfrm>
          <a:prstGeom prst="rect">
            <a:avLst/>
          </a:prstGeom>
          <a:noFill/>
        </p:spPr>
        <p:txBody>
          <a:bodyPr wrap="square" rtlCol="0">
            <a:spAutoFit/>
          </a:bodyPr>
          <a:lstStyle/>
          <a:p>
            <a:r>
              <a:rPr lang="fr-FR" dirty="0"/>
              <a:t>Le </a:t>
            </a:r>
            <a:r>
              <a:rPr lang="fr-FR" b="1" dirty="0"/>
              <a:t>score de base (0–10)</a:t>
            </a:r>
            <a:r>
              <a:rPr lang="fr-FR" dirty="0"/>
              <a:t> combine deux sous-groupes :</a:t>
            </a:r>
          </a:p>
          <a:p>
            <a:pPr lvl="0"/>
            <a:r>
              <a:rPr lang="fr-FR" b="1" dirty="0"/>
              <a:t>Exploitabilité</a:t>
            </a:r>
            <a:r>
              <a:rPr lang="fr-FR" dirty="0"/>
              <a:t> : </a:t>
            </a:r>
            <a:r>
              <a:rPr lang="fr-FR" i="1" dirty="0"/>
              <a:t>Attack </a:t>
            </a:r>
            <a:r>
              <a:rPr lang="fr-FR" i="1" dirty="0" err="1"/>
              <a:t>Vector</a:t>
            </a:r>
            <a:r>
              <a:rPr lang="fr-FR" dirty="0"/>
              <a:t> (réseau / adjacent / local / physique), </a:t>
            </a:r>
            <a:r>
              <a:rPr lang="fr-FR" i="1" dirty="0"/>
              <a:t>Attack </a:t>
            </a:r>
            <a:r>
              <a:rPr lang="fr-FR" i="1" dirty="0" err="1"/>
              <a:t>Complexity</a:t>
            </a:r>
            <a:r>
              <a:rPr lang="fr-FR" dirty="0"/>
              <a:t> (faible / élevée), </a:t>
            </a:r>
            <a:r>
              <a:rPr lang="fr-FR" i="1" dirty="0" err="1"/>
              <a:t>Privileges</a:t>
            </a:r>
            <a:r>
              <a:rPr lang="fr-FR" i="1" dirty="0"/>
              <a:t> </a:t>
            </a:r>
            <a:r>
              <a:rPr lang="fr-FR" i="1" dirty="0" err="1"/>
              <a:t>Required</a:t>
            </a:r>
            <a:r>
              <a:rPr lang="fr-FR" dirty="0"/>
              <a:t> (aucun / faible / élevé), </a:t>
            </a:r>
            <a:r>
              <a:rPr lang="fr-FR" i="1" dirty="0"/>
              <a:t>User Interaction</a:t>
            </a:r>
            <a:r>
              <a:rPr lang="fr-FR" dirty="0"/>
              <a:t> (aucune / requise).</a:t>
            </a:r>
          </a:p>
          <a:p>
            <a:pPr lvl="0"/>
            <a:r>
              <a:rPr lang="fr-FR" b="1" dirty="0"/>
              <a:t>Impact</a:t>
            </a:r>
            <a:r>
              <a:rPr lang="fr-FR" dirty="0"/>
              <a:t> sur la triade : </a:t>
            </a:r>
            <a:r>
              <a:rPr lang="fr-FR" i="1" dirty="0"/>
              <a:t>Confidentialité, Intégrité, Disponibilité</a:t>
            </a:r>
            <a:r>
              <a:rPr lang="fr-FR" dirty="0"/>
              <a:t> (aucun / faible / élevé), modulé par le </a:t>
            </a:r>
            <a:r>
              <a:rPr lang="fr-FR" i="1" dirty="0"/>
              <a:t>Scope</a:t>
            </a:r>
            <a:r>
              <a:rPr lang="fr-FR" dirty="0"/>
              <a:t> (périmètre franchi ou non).</a:t>
            </a:r>
          </a:p>
          <a:p>
            <a:r>
              <a:rPr lang="fr-FR" dirty="0"/>
              <a:t>Chaque métrique a un poids numérique ; une formule agrège le sous-score d'exploitabilité et le sous-score d'impact (avec l'ajustement de scope), arrondi vers le haut sur 0–10. Puis les </a:t>
            </a:r>
            <a:r>
              <a:rPr lang="fr-FR" b="1" dirty="0"/>
              <a:t>bandes de sévérité</a:t>
            </a:r>
            <a:r>
              <a:rPr lang="fr-FR" dirty="0"/>
              <a:t> : 0 = aucune, 0,1–3,9 faible, 4,0–6,9 moyenne, 7,0–8,9 élevée, </a:t>
            </a:r>
            <a:r>
              <a:rPr lang="fr-FR" b="1" dirty="0"/>
              <a:t>9,0–10 critique</a:t>
            </a:r>
            <a:r>
              <a:rPr lang="fr-FR" dirty="0"/>
              <a:t>.</a:t>
            </a:r>
          </a:p>
          <a:p>
            <a:endParaRPr lang="fr-FR" dirty="0"/>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1237AD1-A146-4A77-9B18-BFF526059FE7}" type="slidenum">
              <a:rPr lang="fr-FR" sz="900" b="0">
                <a:solidFill>
                  <a:srgbClr val="4A5568"/>
                </a:solidFill>
                <a:latin typeface="Lato"/>
              </a:rPr>
              <a:t>67</a:t>
            </a:fld>
            <a:endParaRPr lang="fr-FR">
              <a:solidFill>
                <a:srgbClr val="4A5568"/>
              </a:solidFill>
            </a:endParaRPr>
          </a:p>
        </p:txBody>
      </p:sp>
    </p:spTree>
    <p:extLst>
      <p:ext uri="{BB962C8B-B14F-4D97-AF65-F5344CB8AC3E}">
        <p14:creationId xmlns:p14="http://schemas.microsoft.com/office/powerpoint/2010/main" val="32222697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1D09909-8097-378A-721B-8C94F7AE72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FED72A-0AEB-C952-B334-FF73D2B432C1}"/>
              </a:ext>
            </a:extLst>
          </p:cNvPr>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Formule de notation </a:t>
            </a:r>
            <a:r>
              <a:rPr lang="en-US" sz="3000" b="1" dirty="0" err="1">
                <a:solidFill>
                  <a:srgbClr val="1B2A4A"/>
                </a:solidFill>
                <a:latin typeface="Lato" pitchFamily="34" charset="0"/>
                <a:ea typeface="Lato" pitchFamily="34" charset="-122"/>
                <a:cs typeface="Lato" pitchFamily="34" charset="-120"/>
              </a:rPr>
              <a:t>revisitée</a:t>
            </a:r>
            <a:endParaRPr lang="en-US" sz="3000" dirty="0"/>
          </a:p>
        </p:txBody>
      </p:sp>
      <p:sp>
        <p:nvSpPr>
          <p:cNvPr id="3" name="Shape 1">
            <a:extLst>
              <a:ext uri="{FF2B5EF4-FFF2-40B4-BE49-F238E27FC236}">
                <a16:creationId xmlns:a16="http://schemas.microsoft.com/office/drawing/2014/main" id="{BC9B2671-FD51-9EA5-7346-6F7838FD6757}"/>
              </a:ext>
            </a:extLst>
          </p:cNvPr>
          <p:cNvSpPr/>
          <p:nvPr/>
        </p:nvSpPr>
        <p:spPr>
          <a:xfrm>
            <a:off x="658368" y="1426464"/>
            <a:ext cx="10874959" cy="1133856"/>
          </a:xfrm>
          <a:prstGeom prst="rect">
            <a:avLst/>
          </a:prstGeom>
          <a:solidFill>
            <a:srgbClr val="1B2A4A"/>
          </a:solidFill>
          <a:ln/>
        </p:spPr>
        <p:txBody>
          <a:bodyPr/>
          <a:lstStyle/>
          <a:p>
            <a:endParaRPr lang="fr-FR"/>
          </a:p>
        </p:txBody>
      </p:sp>
      <p:sp>
        <p:nvSpPr>
          <p:cNvPr id="4" name="Text 2">
            <a:extLst>
              <a:ext uri="{FF2B5EF4-FFF2-40B4-BE49-F238E27FC236}">
                <a16:creationId xmlns:a16="http://schemas.microsoft.com/office/drawing/2014/main" id="{D721A83B-AE10-4890-0E31-2954EB3B0B20}"/>
              </a:ext>
            </a:extLst>
          </p:cNvPr>
          <p:cNvSpPr txBox="1"/>
          <p:nvPr/>
        </p:nvSpPr>
        <p:spPr>
          <a:xfrm>
            <a:off x="658368" y="1426464"/>
            <a:ext cx="10874959" cy="1133856"/>
          </a:xfrm>
          <a:prstGeom prst="rect">
            <a:avLst/>
          </a:prstGeom>
          <a:noFill/>
          <a:ln/>
        </p:spPr>
        <p:txBody>
          <a:bodyPr wrap="square" lIns="0" tIns="0" rIns="0" bIns="0" rtlCol="0" anchor="ctr"/>
          <a:lstStyle/>
          <a:p>
            <a:pPr marL="0" indent="0" algn="ctr">
              <a:buNone/>
            </a:pPr>
            <a:r>
              <a:rPr lang="en-US" sz="3000" b="1" dirty="0">
                <a:solidFill>
                  <a:srgbClr val="FFFFFF"/>
                </a:solidFill>
                <a:latin typeface="Lato" pitchFamily="34" charset="0"/>
                <a:ea typeface="Lato" pitchFamily="34" charset="-122"/>
                <a:cs typeface="Lato" pitchFamily="34" charset="-120"/>
              </a:rPr>
              <a:t>Score  =  </a:t>
            </a:r>
            <a:r>
              <a:rPr lang="en-US" sz="3000" b="1" dirty="0">
                <a:solidFill>
                  <a:srgbClr val="C5A55A"/>
                </a:solidFill>
                <a:latin typeface="Lato" pitchFamily="34" charset="0"/>
                <a:ea typeface="Lato" pitchFamily="34" charset="-122"/>
                <a:cs typeface="Lato" pitchFamily="34" charset="-120"/>
              </a:rPr>
              <a:t>CVSS</a:t>
            </a:r>
            <a:r>
              <a:rPr lang="en-US" sz="3000" b="1" dirty="0">
                <a:solidFill>
                  <a:srgbClr val="FFFFFF"/>
                </a:solidFill>
                <a:latin typeface="Lato" pitchFamily="34" charset="0"/>
                <a:ea typeface="Lato" pitchFamily="34" charset="-122"/>
                <a:cs typeface="Lato" pitchFamily="34" charset="-120"/>
              </a:rPr>
              <a:t>  ×  ( 0,7 × </a:t>
            </a:r>
            <a:r>
              <a:rPr lang="en-US" sz="3000" b="1" dirty="0">
                <a:solidFill>
                  <a:srgbClr val="C5A55A"/>
                </a:solidFill>
                <a:latin typeface="Lato" pitchFamily="34" charset="0"/>
                <a:ea typeface="Lato" pitchFamily="34" charset="-122"/>
                <a:cs typeface="Lato" pitchFamily="34" charset="-120"/>
              </a:rPr>
              <a:t>(C + D + I)</a:t>
            </a:r>
            <a:r>
              <a:rPr lang="en-US" sz="3000" b="1" dirty="0">
                <a:solidFill>
                  <a:srgbClr val="FFFFFF"/>
                </a:solidFill>
                <a:latin typeface="Lato" pitchFamily="34" charset="0"/>
                <a:ea typeface="Lato" pitchFamily="34" charset="-122"/>
                <a:cs typeface="Lato" pitchFamily="34" charset="-120"/>
              </a:rPr>
              <a:t>  +  0,9 × </a:t>
            </a:r>
            <a:r>
              <a:rPr lang="en-US" sz="3000" b="1" dirty="0">
                <a:solidFill>
                  <a:srgbClr val="C5A55A"/>
                </a:solidFill>
                <a:latin typeface="Lato" pitchFamily="34" charset="0"/>
                <a:ea typeface="Lato" pitchFamily="34" charset="-122"/>
                <a:cs typeface="Lato" pitchFamily="34" charset="-120"/>
              </a:rPr>
              <a:t>VM</a:t>
            </a:r>
            <a:r>
              <a:rPr lang="en-US" sz="3000" b="1" dirty="0">
                <a:solidFill>
                  <a:srgbClr val="FFFFFF"/>
                </a:solidFill>
                <a:latin typeface="Lato" pitchFamily="34" charset="0"/>
                <a:ea typeface="Lato" pitchFamily="34" charset="-122"/>
                <a:cs typeface="Lato" pitchFamily="34" charset="-120"/>
              </a:rPr>
              <a:t> ) × </a:t>
            </a:r>
            <a:r>
              <a:rPr lang="en-US" sz="3000" b="1" dirty="0">
                <a:solidFill>
                  <a:srgbClr val="C5A55A"/>
                </a:solidFill>
                <a:latin typeface="Lato" pitchFamily="34" charset="0"/>
                <a:ea typeface="Lato" pitchFamily="34" charset="-122"/>
                <a:cs typeface="Lato" pitchFamily="34" charset="-120"/>
              </a:rPr>
              <a:t>E</a:t>
            </a:r>
            <a:r>
              <a:rPr lang="en-US" sz="3000" b="1" dirty="0">
                <a:solidFill>
                  <a:srgbClr val="FFFFFF"/>
                </a:solidFill>
                <a:latin typeface="Lato" pitchFamily="34" charset="0"/>
                <a:ea typeface="Lato" pitchFamily="34" charset="-122"/>
                <a:cs typeface="Lato" pitchFamily="34" charset="-120"/>
              </a:rPr>
              <a:t> </a:t>
            </a:r>
            <a:endParaRPr lang="en-US" sz="3000" dirty="0"/>
          </a:p>
        </p:txBody>
      </p:sp>
      <p:sp>
        <p:nvSpPr>
          <p:cNvPr id="5" name="Shape 3">
            <a:extLst>
              <a:ext uri="{FF2B5EF4-FFF2-40B4-BE49-F238E27FC236}">
                <a16:creationId xmlns:a16="http://schemas.microsoft.com/office/drawing/2014/main" id="{8C97B624-5EBD-0297-BDEC-CF63BF3ECF65}"/>
              </a:ext>
            </a:extLst>
          </p:cNvPr>
          <p:cNvSpPr/>
          <p:nvPr/>
        </p:nvSpPr>
        <p:spPr>
          <a:xfrm>
            <a:off x="2286000" y="2560320"/>
            <a:ext cx="0" cy="310896"/>
          </a:xfrm>
          <a:prstGeom prst="line">
            <a:avLst/>
          </a:prstGeom>
          <a:noFill/>
          <a:ln w="20320">
            <a:solidFill>
              <a:srgbClr val="C5A55A"/>
            </a:solidFill>
            <a:prstDash val="solid"/>
          </a:ln>
        </p:spPr>
        <p:txBody>
          <a:bodyPr/>
          <a:lstStyle/>
          <a:p>
            <a:endParaRPr lang="fr-FR"/>
          </a:p>
        </p:txBody>
      </p:sp>
      <p:sp>
        <p:nvSpPr>
          <p:cNvPr id="6" name="Text 4">
            <a:extLst>
              <a:ext uri="{FF2B5EF4-FFF2-40B4-BE49-F238E27FC236}">
                <a16:creationId xmlns:a16="http://schemas.microsoft.com/office/drawing/2014/main" id="{3410F269-EB15-5652-5D27-E0FD5ECB783F}"/>
              </a:ext>
            </a:extLst>
          </p:cNvPr>
          <p:cNvSpPr txBox="1"/>
          <p:nvPr/>
        </p:nvSpPr>
        <p:spPr>
          <a:xfrm>
            <a:off x="65836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CVSS</a:t>
            </a:r>
            <a:endParaRPr lang="en-US" sz="2100" dirty="0"/>
          </a:p>
        </p:txBody>
      </p:sp>
      <p:sp>
        <p:nvSpPr>
          <p:cNvPr id="7" name="Text 5">
            <a:extLst>
              <a:ext uri="{FF2B5EF4-FFF2-40B4-BE49-F238E27FC236}">
                <a16:creationId xmlns:a16="http://schemas.microsoft.com/office/drawing/2014/main" id="{82691056-3FC4-644C-C5B4-44FD8595F10B}"/>
              </a:ext>
            </a:extLst>
          </p:cNvPr>
          <p:cNvSpPr txBox="1"/>
          <p:nvPr/>
        </p:nvSpPr>
        <p:spPr>
          <a:xfrm>
            <a:off x="65836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Gravité intrinsèque</a:t>
            </a:r>
            <a:endParaRPr lang="en-US" sz="1400" dirty="0"/>
          </a:p>
        </p:txBody>
      </p:sp>
      <p:sp>
        <p:nvSpPr>
          <p:cNvPr id="8" name="Text 6">
            <a:extLst>
              <a:ext uri="{FF2B5EF4-FFF2-40B4-BE49-F238E27FC236}">
                <a16:creationId xmlns:a16="http://schemas.microsoft.com/office/drawing/2014/main" id="{6016243C-0382-C29A-3F56-C1537A6FA9D3}"/>
              </a:ext>
            </a:extLst>
          </p:cNvPr>
          <p:cNvSpPr txBox="1"/>
          <p:nvPr/>
        </p:nvSpPr>
        <p:spPr>
          <a:xfrm>
            <a:off x="82296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Note de la vulnérabilité, de 0 à 10, fournie par l'outil de détection.</a:t>
            </a:r>
            <a:endParaRPr lang="en-US" sz="1250" dirty="0"/>
          </a:p>
        </p:txBody>
      </p:sp>
      <p:sp>
        <p:nvSpPr>
          <p:cNvPr id="9" name="Shape 7">
            <a:extLst>
              <a:ext uri="{FF2B5EF4-FFF2-40B4-BE49-F238E27FC236}">
                <a16:creationId xmlns:a16="http://schemas.microsoft.com/office/drawing/2014/main" id="{1FC61BF6-640E-1C0C-617C-CD50A5C078C2}"/>
              </a:ext>
            </a:extLst>
          </p:cNvPr>
          <p:cNvSpPr/>
          <p:nvPr/>
        </p:nvSpPr>
        <p:spPr>
          <a:xfrm>
            <a:off x="5989320" y="2560320"/>
            <a:ext cx="0" cy="310896"/>
          </a:xfrm>
          <a:prstGeom prst="line">
            <a:avLst/>
          </a:prstGeom>
          <a:noFill/>
          <a:ln w="20320">
            <a:solidFill>
              <a:srgbClr val="C5A55A"/>
            </a:solidFill>
            <a:prstDash val="solid"/>
          </a:ln>
        </p:spPr>
        <p:txBody>
          <a:bodyPr/>
          <a:lstStyle/>
          <a:p>
            <a:endParaRPr lang="fr-FR"/>
          </a:p>
        </p:txBody>
      </p:sp>
      <p:sp>
        <p:nvSpPr>
          <p:cNvPr id="10" name="Text 8">
            <a:extLst>
              <a:ext uri="{FF2B5EF4-FFF2-40B4-BE49-F238E27FC236}">
                <a16:creationId xmlns:a16="http://schemas.microsoft.com/office/drawing/2014/main" id="{62087757-2829-E85A-BFB8-DE5A5F4C8A4C}"/>
              </a:ext>
            </a:extLst>
          </p:cNvPr>
          <p:cNvSpPr txBox="1"/>
          <p:nvPr/>
        </p:nvSpPr>
        <p:spPr>
          <a:xfrm>
            <a:off x="436168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C + D + I</a:t>
            </a:r>
            <a:endParaRPr lang="en-US" sz="2100" dirty="0"/>
          </a:p>
        </p:txBody>
      </p:sp>
      <p:sp>
        <p:nvSpPr>
          <p:cNvPr id="11" name="Text 9">
            <a:extLst>
              <a:ext uri="{FF2B5EF4-FFF2-40B4-BE49-F238E27FC236}">
                <a16:creationId xmlns:a16="http://schemas.microsoft.com/office/drawing/2014/main" id="{798466CF-0751-5B58-F0BB-6DC527DC2680}"/>
              </a:ext>
            </a:extLst>
          </p:cNvPr>
          <p:cNvSpPr txBox="1"/>
          <p:nvPr/>
        </p:nvSpPr>
        <p:spPr>
          <a:xfrm>
            <a:off x="436168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Criticité de l'actif support</a:t>
            </a:r>
            <a:endParaRPr lang="en-US" sz="1400" dirty="0"/>
          </a:p>
        </p:txBody>
      </p:sp>
      <p:sp>
        <p:nvSpPr>
          <p:cNvPr id="12" name="Text 10">
            <a:extLst>
              <a:ext uri="{FF2B5EF4-FFF2-40B4-BE49-F238E27FC236}">
                <a16:creationId xmlns:a16="http://schemas.microsoft.com/office/drawing/2014/main" id="{8E6D4491-C4AF-EECE-39C1-41540EEA7E69}"/>
              </a:ext>
            </a:extLst>
          </p:cNvPr>
          <p:cNvSpPr txBox="1"/>
          <p:nvPr/>
        </p:nvSpPr>
        <p:spPr>
          <a:xfrm>
            <a:off x="452628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Confidentialité, disponibilité, intégrité de la machine, notées de 0 à 4 dans l'outil de gouvernance.</a:t>
            </a:r>
            <a:endParaRPr lang="en-US" sz="1250" dirty="0"/>
          </a:p>
        </p:txBody>
      </p:sp>
      <p:sp>
        <p:nvSpPr>
          <p:cNvPr id="13" name="Shape 11">
            <a:extLst>
              <a:ext uri="{FF2B5EF4-FFF2-40B4-BE49-F238E27FC236}">
                <a16:creationId xmlns:a16="http://schemas.microsoft.com/office/drawing/2014/main" id="{8DFF3A3C-6BD9-EFC0-F535-690997303FFE}"/>
              </a:ext>
            </a:extLst>
          </p:cNvPr>
          <p:cNvSpPr/>
          <p:nvPr/>
        </p:nvSpPr>
        <p:spPr>
          <a:xfrm>
            <a:off x="9692640" y="2560320"/>
            <a:ext cx="0" cy="310896"/>
          </a:xfrm>
          <a:prstGeom prst="line">
            <a:avLst/>
          </a:prstGeom>
          <a:noFill/>
          <a:ln w="20320">
            <a:solidFill>
              <a:srgbClr val="C5A55A"/>
            </a:solidFill>
            <a:prstDash val="solid"/>
          </a:ln>
        </p:spPr>
        <p:txBody>
          <a:bodyPr/>
          <a:lstStyle/>
          <a:p>
            <a:endParaRPr lang="fr-FR"/>
          </a:p>
        </p:txBody>
      </p:sp>
      <p:sp>
        <p:nvSpPr>
          <p:cNvPr id="14" name="Text 12">
            <a:extLst>
              <a:ext uri="{FF2B5EF4-FFF2-40B4-BE49-F238E27FC236}">
                <a16:creationId xmlns:a16="http://schemas.microsoft.com/office/drawing/2014/main" id="{14160B6B-307E-86FE-C165-8E8C8CF73F94}"/>
              </a:ext>
            </a:extLst>
          </p:cNvPr>
          <p:cNvSpPr txBox="1"/>
          <p:nvPr/>
        </p:nvSpPr>
        <p:spPr>
          <a:xfrm>
            <a:off x="8065008" y="2944368"/>
            <a:ext cx="3291840" cy="384048"/>
          </a:xfrm>
          <a:prstGeom prst="rect">
            <a:avLst/>
          </a:prstGeom>
          <a:noFill/>
          <a:ln/>
        </p:spPr>
        <p:txBody>
          <a:bodyPr wrap="square" lIns="0" tIns="0" rIns="0" bIns="0" rtlCol="0" anchor="ctr"/>
          <a:lstStyle/>
          <a:p>
            <a:pPr marL="0" indent="0" algn="ctr">
              <a:buNone/>
            </a:pPr>
            <a:r>
              <a:rPr lang="en-US" sz="2100" b="1" dirty="0">
                <a:solidFill>
                  <a:srgbClr val="C5A55A"/>
                </a:solidFill>
                <a:latin typeface="Lato" pitchFamily="34" charset="0"/>
                <a:ea typeface="Lato" pitchFamily="34" charset="-122"/>
                <a:cs typeface="Lato" pitchFamily="34" charset="-120"/>
              </a:rPr>
              <a:t>VM</a:t>
            </a:r>
            <a:endParaRPr lang="en-US" sz="2100" dirty="0"/>
          </a:p>
        </p:txBody>
      </p:sp>
      <p:sp>
        <p:nvSpPr>
          <p:cNvPr id="15" name="Text 13">
            <a:extLst>
              <a:ext uri="{FF2B5EF4-FFF2-40B4-BE49-F238E27FC236}">
                <a16:creationId xmlns:a16="http://schemas.microsoft.com/office/drawing/2014/main" id="{A92198E9-D903-2FFF-B2EA-3E55DF7E3ECE}"/>
              </a:ext>
            </a:extLst>
          </p:cNvPr>
          <p:cNvSpPr txBox="1"/>
          <p:nvPr/>
        </p:nvSpPr>
        <p:spPr>
          <a:xfrm>
            <a:off x="8065008" y="3364992"/>
            <a:ext cx="3291840" cy="365760"/>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Valeur métier portée</a:t>
            </a:r>
            <a:endParaRPr lang="en-US" sz="1400" dirty="0"/>
          </a:p>
        </p:txBody>
      </p:sp>
      <p:sp>
        <p:nvSpPr>
          <p:cNvPr id="16" name="Text 14">
            <a:extLst>
              <a:ext uri="{FF2B5EF4-FFF2-40B4-BE49-F238E27FC236}">
                <a16:creationId xmlns:a16="http://schemas.microsoft.com/office/drawing/2014/main" id="{A22836C1-DBCA-635C-AB9C-6F3D797DCA38}"/>
              </a:ext>
            </a:extLst>
          </p:cNvPr>
          <p:cNvSpPr txBox="1"/>
          <p:nvPr/>
        </p:nvSpPr>
        <p:spPr>
          <a:xfrm>
            <a:off x="8229600" y="3803904"/>
            <a:ext cx="2962656" cy="1005840"/>
          </a:xfrm>
          <a:prstGeom prst="rect">
            <a:avLst/>
          </a:prstGeom>
          <a:noFill/>
          <a:ln/>
        </p:spPr>
        <p:txBody>
          <a:bodyPr wrap="square" lIns="0" tIns="0" rIns="0" bIns="0" rtlCol="0" anchor="t"/>
          <a:lstStyle/>
          <a:p>
            <a:pPr marL="0" indent="0" algn="ctr">
              <a:lnSpc>
                <a:spcPct val="118000"/>
              </a:lnSpc>
              <a:buNone/>
            </a:pPr>
            <a:r>
              <a:rPr lang="en-US" sz="1250" dirty="0">
                <a:solidFill>
                  <a:srgbClr val="4A5568"/>
                </a:solidFill>
                <a:latin typeface="Lato" pitchFamily="34" charset="0"/>
                <a:ea typeface="Lato" pitchFamily="34" charset="-122"/>
                <a:cs typeface="Lato" pitchFamily="34" charset="-120"/>
              </a:rPr>
              <a:t>Criticité de l'activité que la machine sert. C'est l'apport de cette version par rapport à celle de 2023.</a:t>
            </a:r>
            <a:endParaRPr lang="en-US" sz="1250" dirty="0"/>
          </a:p>
        </p:txBody>
      </p:sp>
      <p:sp>
        <p:nvSpPr>
          <p:cNvPr id="17" name="Shape 15">
            <a:extLst>
              <a:ext uri="{FF2B5EF4-FFF2-40B4-BE49-F238E27FC236}">
                <a16:creationId xmlns:a16="http://schemas.microsoft.com/office/drawing/2014/main" id="{103CCE17-EAED-2407-A7FF-55D5ECC2E68F}"/>
              </a:ext>
            </a:extLst>
          </p:cNvPr>
          <p:cNvSpPr/>
          <p:nvPr/>
        </p:nvSpPr>
        <p:spPr>
          <a:xfrm>
            <a:off x="658368" y="4956048"/>
            <a:ext cx="10874959" cy="841248"/>
          </a:xfrm>
          <a:prstGeom prst="rect">
            <a:avLst/>
          </a:prstGeom>
          <a:solidFill>
            <a:srgbClr val="F2F4F8"/>
          </a:solidFill>
          <a:ln/>
        </p:spPr>
        <p:txBody>
          <a:bodyPr/>
          <a:lstStyle/>
          <a:p>
            <a:endParaRPr lang="fr-FR"/>
          </a:p>
        </p:txBody>
      </p:sp>
      <p:sp>
        <p:nvSpPr>
          <p:cNvPr id="18" name="Text 16">
            <a:extLst>
              <a:ext uri="{FF2B5EF4-FFF2-40B4-BE49-F238E27FC236}">
                <a16:creationId xmlns:a16="http://schemas.microsoft.com/office/drawing/2014/main" id="{AE5A6049-F77D-0D26-C5C7-39C13DF37ACF}"/>
              </a:ext>
            </a:extLst>
          </p:cNvPr>
          <p:cNvSpPr txBox="1"/>
          <p:nvPr/>
        </p:nvSpPr>
        <p:spPr>
          <a:xfrm>
            <a:off x="932688" y="4956048"/>
            <a:ext cx="10326319" cy="841248"/>
          </a:xfrm>
          <a:prstGeom prst="rect">
            <a:avLst/>
          </a:prstGeom>
          <a:noFill/>
          <a:ln/>
        </p:spPr>
        <p:txBody>
          <a:bodyPr wrap="square" lIns="0" tIns="0" rIns="0" bIns="0" rtlCol="0" anchor="ctr"/>
          <a:lstStyle/>
          <a:p>
            <a:pPr marL="0" indent="0">
              <a:lnSpc>
                <a:spcPct val="114000"/>
              </a:lnSpc>
              <a:buNone/>
            </a:pPr>
            <a:r>
              <a:rPr lang="en-US" sz="1300" b="1" dirty="0">
                <a:solidFill>
                  <a:srgbClr val="C5A55A"/>
                </a:solidFill>
                <a:latin typeface="Lato" pitchFamily="34" charset="0"/>
                <a:ea typeface="Lato" pitchFamily="34" charset="-122"/>
                <a:cs typeface="Lato" pitchFamily="34" charset="-120"/>
              </a:rPr>
              <a:t>Donnée </a:t>
            </a:r>
            <a:r>
              <a:rPr lang="en-US" sz="1300" b="1" dirty="0" err="1">
                <a:solidFill>
                  <a:srgbClr val="C5A55A"/>
                </a:solidFill>
                <a:latin typeface="Lato" pitchFamily="34" charset="0"/>
                <a:ea typeface="Lato" pitchFamily="34" charset="-122"/>
                <a:cs typeface="Lato" pitchFamily="34" charset="-120"/>
              </a:rPr>
              <a:t>manquante</a:t>
            </a:r>
            <a:r>
              <a:rPr lang="en-US" sz="1300" b="1" dirty="0">
                <a:solidFill>
                  <a:srgbClr val="C5A55A"/>
                </a:solidFill>
                <a:latin typeface="Lato" pitchFamily="34" charset="0"/>
                <a:ea typeface="Lato" pitchFamily="34" charset="-122"/>
                <a:cs typeface="Lato" pitchFamily="34" charset="-120"/>
              </a:rPr>
              <a:t> : </a:t>
            </a:r>
            <a:r>
              <a:rPr lang="en-US" sz="1300" dirty="0">
                <a:solidFill>
                  <a:srgbClr val="232A3A"/>
                </a:solidFill>
                <a:latin typeface="Lato" pitchFamily="34" charset="0"/>
                <a:ea typeface="Lato" pitchFamily="34" charset="-122"/>
                <a:cs typeface="Lato" pitchFamily="34" charset="-120"/>
              </a:rPr>
              <a:t>lorsque la valeur métier n'est pas renseignée, le terme prend une valeur neutre et la formule redonne le résultat de la version antérieure. Une donnée absente n'est jamais remplacée par une hypothèse implicite.</a:t>
            </a:r>
            <a:endParaRPr lang="en-US" sz="1300" dirty="0"/>
          </a:p>
        </p:txBody>
      </p:sp>
      <p:sp>
        <p:nvSpPr>
          <p:cNvPr id="20" name="Shape 11">
            <a:extLst>
              <a:ext uri="{FF2B5EF4-FFF2-40B4-BE49-F238E27FC236}">
                <a16:creationId xmlns:a16="http://schemas.microsoft.com/office/drawing/2014/main" id="{29E90B35-4570-5458-0916-9AEC87BE7C3C}"/>
              </a:ext>
            </a:extLst>
          </p:cNvPr>
          <p:cNvSpPr/>
          <p:nvPr/>
        </p:nvSpPr>
        <p:spPr>
          <a:xfrm>
            <a:off x="10384536" y="1115568"/>
            <a:ext cx="0" cy="310896"/>
          </a:xfrm>
          <a:prstGeom prst="line">
            <a:avLst/>
          </a:prstGeom>
          <a:noFill/>
          <a:ln w="20320">
            <a:solidFill>
              <a:srgbClr val="C5A55A"/>
            </a:solidFill>
            <a:prstDash val="solid"/>
          </a:ln>
        </p:spPr>
        <p:txBody>
          <a:bodyPr/>
          <a:lstStyle/>
          <a:p>
            <a:endParaRPr lang="fr-FR"/>
          </a:p>
        </p:txBody>
      </p:sp>
      <p:sp>
        <p:nvSpPr>
          <p:cNvPr id="24" name="Text 13">
            <a:extLst>
              <a:ext uri="{FF2B5EF4-FFF2-40B4-BE49-F238E27FC236}">
                <a16:creationId xmlns:a16="http://schemas.microsoft.com/office/drawing/2014/main" id="{87DF3865-2F20-A059-6C32-DDFAAE27C77D}"/>
              </a:ext>
            </a:extLst>
          </p:cNvPr>
          <p:cNvSpPr txBox="1"/>
          <p:nvPr/>
        </p:nvSpPr>
        <p:spPr>
          <a:xfrm>
            <a:off x="8738616" y="138840"/>
            <a:ext cx="3291840" cy="259357"/>
          </a:xfrm>
          <a:prstGeom prst="rect">
            <a:avLst/>
          </a:prstGeom>
          <a:noFill/>
          <a:ln/>
        </p:spPr>
        <p:txBody>
          <a:bodyPr wrap="square" lIns="0" tIns="0" rIns="0" bIns="0" rtlCol="0" anchor="ctr"/>
          <a:lstStyle/>
          <a:p>
            <a:pPr marL="0" indent="0" algn="ctr">
              <a:lnSpc>
                <a:spcPct val="110000"/>
              </a:lnSpc>
              <a:buNone/>
            </a:pPr>
            <a:r>
              <a:rPr lang="en-US" sz="1400" b="1" dirty="0">
                <a:solidFill>
                  <a:srgbClr val="1B2A4A"/>
                </a:solidFill>
                <a:latin typeface="Lato" pitchFamily="34" charset="0"/>
                <a:ea typeface="Lato" pitchFamily="34" charset="-122"/>
                <a:cs typeface="Lato" pitchFamily="34" charset="-120"/>
              </a:rPr>
              <a:t>Exposition réseau</a:t>
            </a:r>
            <a:endParaRPr lang="en-US" sz="1400" dirty="0"/>
          </a:p>
        </p:txBody>
      </p:sp>
      <p:sp>
        <p:nvSpPr>
          <p:cNvPr id="26" name="Text 14">
            <a:extLst>
              <a:ext uri="{FF2B5EF4-FFF2-40B4-BE49-F238E27FC236}">
                <a16:creationId xmlns:a16="http://schemas.microsoft.com/office/drawing/2014/main" id="{E7CC3CF0-390F-A18A-026A-7189F0C7490D}"/>
              </a:ext>
            </a:extLst>
          </p:cNvPr>
          <p:cNvSpPr txBox="1"/>
          <p:nvPr/>
        </p:nvSpPr>
        <p:spPr>
          <a:xfrm>
            <a:off x="8903208" y="577752"/>
            <a:ext cx="2962656" cy="438912"/>
          </a:xfrm>
          <a:prstGeom prst="rect">
            <a:avLst/>
          </a:prstGeom>
          <a:noFill/>
          <a:ln/>
        </p:spPr>
        <p:txBody>
          <a:bodyPr wrap="square" lIns="0" tIns="0" rIns="0" bIns="0" rtlCol="0" anchor="t"/>
          <a:lstStyle/>
          <a:p>
            <a:pPr marL="0" indent="0" algn="ctr">
              <a:lnSpc>
                <a:spcPct val="118000"/>
              </a:lnSpc>
              <a:buNone/>
            </a:pPr>
            <a:r>
              <a:rPr lang="fr-FR" sz="1250" noProof="0" dirty="0">
                <a:solidFill>
                  <a:srgbClr val="4A5568"/>
                </a:solidFill>
                <a:latin typeface="Lato" pitchFamily="34" charset="0"/>
                <a:ea typeface="Lato" pitchFamily="34" charset="-122"/>
                <a:cs typeface="Lato" pitchFamily="34" charset="-120"/>
              </a:rPr>
              <a:t>Accessibilité de l’actif pour un attaquant extérieur.</a:t>
            </a:r>
            <a:endParaRPr lang="fr-FR" sz="1250" noProof="0" dirty="0"/>
          </a:p>
        </p:txBody>
      </p:sp>
      <p:sp>
        <p:nvSpPr>
          <p:cNvPr id="900" name="Numero de page"/>
          <p:cNvSpPr>
            <a:spLocks noGrp="1"/>
          </p:cNvSpPr>
          <p:nvPr>
            <p:ph type="sldNum" sz="quarter" idx="4294967295"/>
          </p:nvPr>
        </p:nvSpPr>
        <p:spPr>
          <a:xfrm>
            <a:off x="11150600" y="6426200"/>
            <a:ext cx="698500" cy="254000"/>
          </a:xfrm>
          <a:prstGeom prst="rect">
            <a:avLst/>
          </a:prstGeom>
        </p:spPr>
        <p:txBody>
          <a:bodyPr lIns="0" tIns="0" rIns="0" bIns="0" anchor="ctr"/>
          <a:lstStyle/>
          <a:p>
            <a:pPr algn="r"/>
            <a:fld id="{606DB02D-3046-438B-98AE-6A1C1225B021}" type="slidenum">
              <a:rPr lang="fr-FR" sz="900" b="0">
                <a:solidFill>
                  <a:srgbClr val="4A5568"/>
                </a:solidFill>
                <a:latin typeface="Lato"/>
              </a:rPr>
              <a:t>68</a:t>
            </a:fld>
            <a:endParaRPr lang="fr-FR">
              <a:solidFill>
                <a:srgbClr val="4A5568"/>
              </a:solidFill>
            </a:endParaRPr>
          </a:p>
        </p:txBody>
      </p:sp>
    </p:spTree>
    <p:extLst>
      <p:ext uri="{BB962C8B-B14F-4D97-AF65-F5344CB8AC3E}">
        <p14:creationId xmlns:p14="http://schemas.microsoft.com/office/powerpoint/2010/main" val="2675985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État de fonctionnement du démonstrateur</a:t>
            </a:r>
            <a:endParaRPr lang="en-US" sz="3000" dirty="0"/>
          </a:p>
        </p:txBody>
      </p:sp>
      <p:sp>
        <p:nvSpPr>
          <p:cNvPr id="3" name="Text 1"/>
          <p:cNvSpPr txBox="1"/>
          <p:nvPr/>
        </p:nvSpPr>
        <p:spPr>
          <a:xfrm>
            <a:off x="6583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75</a:t>
            </a:r>
            <a:endParaRPr lang="en-US" sz="4200" dirty="0"/>
          </a:p>
        </p:txBody>
      </p:sp>
      <p:sp>
        <p:nvSpPr>
          <p:cNvPr id="4" name="Text 2"/>
          <p:cNvSpPr txBox="1"/>
          <p:nvPr/>
        </p:nvSpPr>
        <p:spPr>
          <a:xfrm>
            <a:off x="6583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cycles de collecte aboutis</a:t>
            </a:r>
            <a:endParaRPr lang="en-US" sz="1150" dirty="0"/>
          </a:p>
        </p:txBody>
      </p:sp>
      <p:sp>
        <p:nvSpPr>
          <p:cNvPr id="5" name="Text 3"/>
          <p:cNvSpPr txBox="1"/>
          <p:nvPr/>
        </p:nvSpPr>
        <p:spPr>
          <a:xfrm>
            <a:off x="34015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106 207</a:t>
            </a:r>
            <a:endParaRPr lang="en-US" sz="4200" dirty="0"/>
          </a:p>
        </p:txBody>
      </p:sp>
      <p:sp>
        <p:nvSpPr>
          <p:cNvPr id="6" name="Text 4"/>
          <p:cNvSpPr txBox="1"/>
          <p:nvPr/>
        </p:nvSpPr>
        <p:spPr>
          <a:xfrm>
            <a:off x="34015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vulnérabilités enregistrées</a:t>
            </a:r>
            <a:endParaRPr lang="en-US" sz="1150" dirty="0"/>
          </a:p>
        </p:txBody>
      </p:sp>
      <p:sp>
        <p:nvSpPr>
          <p:cNvPr id="7" name="Text 5"/>
          <p:cNvSpPr txBox="1"/>
          <p:nvPr/>
        </p:nvSpPr>
        <p:spPr>
          <a:xfrm>
            <a:off x="61447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4</a:t>
            </a:r>
            <a:endParaRPr lang="en-US" sz="4200" dirty="0"/>
          </a:p>
        </p:txBody>
      </p:sp>
      <p:sp>
        <p:nvSpPr>
          <p:cNvPr id="8" name="Text 6"/>
          <p:cNvSpPr txBox="1"/>
          <p:nvPr/>
        </p:nvSpPr>
        <p:spPr>
          <a:xfrm>
            <a:off x="61447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machines instrumentées</a:t>
            </a:r>
            <a:endParaRPr lang="en-US" sz="1150" dirty="0"/>
          </a:p>
        </p:txBody>
      </p:sp>
      <p:sp>
        <p:nvSpPr>
          <p:cNvPr id="9" name="Text 7"/>
          <p:cNvSpPr txBox="1"/>
          <p:nvPr/>
        </p:nvSpPr>
        <p:spPr>
          <a:xfrm>
            <a:off x="8887968" y="1426464"/>
            <a:ext cx="2560320" cy="676656"/>
          </a:xfrm>
          <a:prstGeom prst="rect">
            <a:avLst/>
          </a:prstGeom>
          <a:noFill/>
          <a:ln/>
        </p:spPr>
        <p:txBody>
          <a:bodyPr wrap="square" lIns="0" tIns="0" rIns="0" bIns="0" rtlCol="0" anchor="ctr"/>
          <a:lstStyle/>
          <a:p>
            <a:pPr marL="0" indent="0" algn="l">
              <a:buNone/>
            </a:pPr>
            <a:r>
              <a:rPr lang="en-US" sz="4200" b="1" dirty="0">
                <a:solidFill>
                  <a:srgbClr val="C5A55A"/>
                </a:solidFill>
                <a:latin typeface="Lato" pitchFamily="34" charset="0"/>
                <a:ea typeface="Lato" pitchFamily="34" charset="-122"/>
                <a:cs typeface="Lato" pitchFamily="34" charset="-120"/>
              </a:rPr>
              <a:t>100 %</a:t>
            </a:r>
            <a:endParaRPr lang="en-US" sz="4200" dirty="0"/>
          </a:p>
        </p:txBody>
      </p:sp>
      <p:sp>
        <p:nvSpPr>
          <p:cNvPr id="10" name="Text 8"/>
          <p:cNvSpPr txBox="1"/>
          <p:nvPr/>
        </p:nvSpPr>
        <p:spPr>
          <a:xfrm>
            <a:off x="8887968" y="2084832"/>
            <a:ext cx="2560320" cy="566928"/>
          </a:xfrm>
          <a:prstGeom prst="rect">
            <a:avLst/>
          </a:prstGeom>
          <a:noFill/>
          <a:ln/>
        </p:spPr>
        <p:txBody>
          <a:bodyPr wrap="square" lIns="0" tIns="0" rIns="0" bIns="0" rtlCol="0" anchor="t"/>
          <a:lstStyle/>
          <a:p>
            <a:pPr marL="0" indent="0" algn="l">
              <a:lnSpc>
                <a:spcPct val="112000"/>
              </a:lnSpc>
              <a:buNone/>
            </a:pPr>
            <a:r>
              <a:rPr lang="en-US" sz="1150" dirty="0">
                <a:solidFill>
                  <a:srgbClr val="4A5568"/>
                </a:solidFill>
                <a:latin typeface="Lato" pitchFamily="34" charset="0"/>
                <a:ea typeface="Lato" pitchFamily="34" charset="-122"/>
                <a:cs typeface="Lato" pitchFamily="34" charset="-120"/>
              </a:rPr>
              <a:t>du périmètre révisé couvert</a:t>
            </a:r>
            <a:endParaRPr lang="en-US" sz="1150" dirty="0"/>
          </a:p>
        </p:txBody>
      </p:sp>
      <p:sp>
        <p:nvSpPr>
          <p:cNvPr id="14" name="Shape 12"/>
          <p:cNvSpPr/>
          <p:nvPr/>
        </p:nvSpPr>
        <p:spPr>
          <a:xfrm>
            <a:off x="7699248" y="2706624"/>
            <a:ext cx="3840480" cy="2834640"/>
          </a:xfrm>
          <a:prstGeom prst="rect">
            <a:avLst/>
          </a:prstGeom>
          <a:solidFill>
            <a:srgbClr val="1B2A4A"/>
          </a:solidFill>
          <a:ln/>
        </p:spPr>
        <p:txBody>
          <a:bodyPr/>
          <a:lstStyle/>
          <a:p>
            <a:endParaRPr lang="fr-FR"/>
          </a:p>
        </p:txBody>
      </p:sp>
      <p:sp>
        <p:nvSpPr>
          <p:cNvPr id="15" name="Text 13"/>
          <p:cNvSpPr txBox="1"/>
          <p:nvPr/>
        </p:nvSpPr>
        <p:spPr>
          <a:xfrm>
            <a:off x="7955280" y="2944368"/>
            <a:ext cx="3383280" cy="603504"/>
          </a:xfrm>
          <a:prstGeom prst="rect">
            <a:avLst/>
          </a:prstGeom>
          <a:noFill/>
          <a:ln/>
        </p:spPr>
        <p:txBody>
          <a:bodyPr wrap="square" lIns="0" tIns="0" rIns="0" bIns="0" rtlCol="0" anchor="ctr"/>
          <a:lstStyle/>
          <a:p>
            <a:pPr marL="0" indent="0">
              <a:lnSpc>
                <a:spcPct val="110000"/>
              </a:lnSpc>
              <a:buNone/>
            </a:pPr>
            <a:r>
              <a:rPr lang="en-US" sz="1600" b="1" dirty="0">
                <a:solidFill>
                  <a:srgbClr val="C5A55A"/>
                </a:solidFill>
                <a:latin typeface="Lato" pitchFamily="34" charset="0"/>
                <a:ea typeface="Lato" pitchFamily="34" charset="-122"/>
                <a:cs typeface="Lato" pitchFamily="34" charset="-120"/>
              </a:rPr>
              <a:t>Pourquoi 4 machines et non 20</a:t>
            </a:r>
            <a:endParaRPr lang="en-US" sz="1600" dirty="0"/>
          </a:p>
        </p:txBody>
      </p:sp>
      <p:sp>
        <p:nvSpPr>
          <p:cNvPr id="16" name="Text 14"/>
          <p:cNvSpPr txBox="1"/>
          <p:nvPr/>
        </p:nvSpPr>
        <p:spPr>
          <a:xfrm>
            <a:off x="7955280" y="3657600"/>
            <a:ext cx="3383280" cy="822960"/>
          </a:xfrm>
          <a:prstGeom prst="rect">
            <a:avLst/>
          </a:prstGeom>
          <a:noFill/>
          <a:ln/>
        </p:spPr>
        <p:txBody>
          <a:bodyPr wrap="square" lIns="0" tIns="0" rIns="0" bIns="0" rtlCol="0" anchor="t"/>
          <a:lstStyle/>
          <a:p>
            <a:pPr marL="0" indent="0" algn="l">
              <a:lnSpc>
                <a:spcPct val="118000"/>
              </a:lnSpc>
              <a:buNone/>
            </a:pPr>
            <a:r>
              <a:rPr lang="en-US" sz="1300" dirty="0">
                <a:solidFill>
                  <a:srgbClr val="D5DAE4"/>
                </a:solidFill>
                <a:latin typeface="Lato" pitchFamily="34" charset="0"/>
                <a:ea typeface="Lato" pitchFamily="34" charset="-122"/>
                <a:cs typeface="Lato" pitchFamily="34" charset="-120"/>
              </a:rPr>
              <a:t>Périmètre resserré après constat que les référentiels n'étaient pas alimentés au niveau attendu.</a:t>
            </a:r>
            <a:endParaRPr lang="en-US" sz="1300" dirty="0"/>
          </a:p>
        </p:txBody>
      </p:sp>
      <p:sp>
        <p:nvSpPr>
          <p:cNvPr id="17" name="Shape 15"/>
          <p:cNvSpPr/>
          <p:nvPr/>
        </p:nvSpPr>
        <p:spPr>
          <a:xfrm>
            <a:off x="7955280" y="4517136"/>
            <a:ext cx="3383280" cy="25603"/>
          </a:xfrm>
          <a:prstGeom prst="rect">
            <a:avLst/>
          </a:prstGeom>
          <a:solidFill>
            <a:srgbClr val="34456B"/>
          </a:solidFill>
          <a:ln/>
        </p:spPr>
        <p:txBody>
          <a:bodyPr/>
          <a:lstStyle/>
          <a:p>
            <a:endParaRPr lang="fr-FR"/>
          </a:p>
        </p:txBody>
      </p:sp>
      <p:sp>
        <p:nvSpPr>
          <p:cNvPr id="18" name="Text 16"/>
          <p:cNvSpPr txBox="1"/>
          <p:nvPr/>
        </p:nvSpPr>
        <p:spPr>
          <a:xfrm>
            <a:off x="7955280" y="4700016"/>
            <a:ext cx="3383280" cy="640080"/>
          </a:xfrm>
          <a:prstGeom prst="rect">
            <a:avLst/>
          </a:prstGeom>
          <a:noFill/>
          <a:ln/>
        </p:spPr>
        <p:txBody>
          <a:bodyPr wrap="square" lIns="0" tIns="0" rIns="0" bIns="0" rtlCol="0" anchor="ctr"/>
          <a:lstStyle/>
          <a:p>
            <a:pPr marL="0" indent="0">
              <a:lnSpc>
                <a:spcPct val="116000"/>
              </a:lnSpc>
              <a:buNone/>
            </a:pPr>
            <a:r>
              <a:rPr lang="en-US" sz="1300" b="1" dirty="0">
                <a:solidFill>
                  <a:srgbClr val="FFFFFF"/>
                </a:solidFill>
                <a:latin typeface="Lato" pitchFamily="34" charset="0"/>
                <a:ea typeface="Lato" pitchFamily="34" charset="-122"/>
                <a:cs typeface="Lato" pitchFamily="34" charset="-120"/>
              </a:rPr>
              <a:t>Chaîne complète opérationnelle sur ce périmètre. Les données de la démonstration sont des données de test.</a:t>
            </a:r>
            <a:endParaRPr lang="en-US" sz="1300" dirty="0"/>
          </a:p>
        </p:txBody>
      </p:sp>
      <p:pic>
        <p:nvPicPr>
          <p:cNvPr id="11" name="Scoring de vulnérabilités — LPB Conseil - Google Chrome 2026-08-28 13-52-57">
            <a:hlinkClick r:id="" action="ppaction://media"/>
            <a:extLst>
              <a:ext uri="{FF2B5EF4-FFF2-40B4-BE49-F238E27FC236}">
                <a16:creationId xmlns:a16="http://schemas.microsoft.com/office/drawing/2014/main" id="{58B5A685-3B3B-52D5-7967-FCC64AD978DF}"/>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2139"/>
          <a:stretch>
            <a:fillRect/>
          </a:stretch>
        </p:blipFill>
        <p:spPr>
          <a:xfrm>
            <a:off x="178308" y="2651760"/>
            <a:ext cx="7338060" cy="4096512"/>
          </a:xfrm>
          <a:prstGeom prst="rect">
            <a:avLst/>
          </a:prstGeom>
        </p:spPr>
      </p:pic>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4C2368F2-3A92-472A-A321-34ECBBFC6A74}" type="slidenum">
              <a:rPr lang="fr-FR" sz="900" b="0">
                <a:solidFill>
                  <a:srgbClr val="4A5568"/>
                </a:solidFill>
                <a:latin typeface="Lato"/>
              </a:rPr>
              <a:t>69</a:t>
            </a:fld>
            <a:endParaRPr lang="fr-FR">
              <a:solidFill>
                <a:srgbClr val="4A5568"/>
              </a:solidFill>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24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fullScrn="1">
              <p:cMediaNode vol="80000">
                <p:cTn id="12" fill="hold" display="0">
                  <p:stCondLst>
                    <p:cond delay="indefinite"/>
                  </p:stCondLst>
                </p:cTn>
                <p:tgtEl>
                  <p:spTgt spid="11"/>
                </p:tgtEl>
              </p:cMediaNode>
            </p:video>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58368" y="420624"/>
            <a:ext cx="10874959" cy="658368"/>
          </a:xfrm>
          <a:prstGeom prst="rect">
            <a:avLst/>
          </a:prstGeom>
          <a:noFill/>
          <a:ln/>
        </p:spPr>
        <p:txBody>
          <a:bodyPr wrap="square" lIns="0" tIns="0" rIns="0" bIns="0" rtlCol="0" anchor="t"/>
          <a:lstStyle/>
          <a:p>
            <a:pPr marL="0" indent="0">
              <a:buNone/>
            </a:pPr>
            <a:r>
              <a:rPr lang="en-US" sz="3000" b="1" dirty="0">
                <a:solidFill>
                  <a:srgbClr val="1B2A4A"/>
                </a:solidFill>
                <a:latin typeface="Lato" pitchFamily="34" charset="0"/>
                <a:ea typeface="Lato" pitchFamily="34" charset="-122"/>
                <a:cs typeface="Lato" pitchFamily="34" charset="-120"/>
              </a:rPr>
              <a:t>EBIOS RM</a:t>
            </a:r>
            <a:endParaRPr lang="en-US" sz="3000" dirty="0"/>
          </a:p>
        </p:txBody>
      </p:sp>
      <p:sp>
        <p:nvSpPr>
          <p:cNvPr id="3" name="Shape 1"/>
          <p:cNvSpPr/>
          <p:nvPr/>
        </p:nvSpPr>
        <p:spPr>
          <a:xfrm>
            <a:off x="1234440" y="1444752"/>
            <a:ext cx="2962656" cy="1572768"/>
          </a:xfrm>
          <a:prstGeom prst="roundRect">
            <a:avLst>
              <a:gd name="adj" fmla="val 3488"/>
            </a:avLst>
          </a:prstGeom>
          <a:solidFill>
            <a:schemeClr val="bg1">
              <a:lumMod val="85000"/>
            </a:schemeClr>
          </a:solidFill>
          <a:ln/>
        </p:spPr>
        <p:txBody>
          <a:bodyPr/>
          <a:lstStyle/>
          <a:p>
            <a:endParaRPr lang="fr-FR"/>
          </a:p>
        </p:txBody>
      </p:sp>
      <p:sp>
        <p:nvSpPr>
          <p:cNvPr id="4" name="Text 2"/>
          <p:cNvSpPr txBox="1"/>
          <p:nvPr/>
        </p:nvSpPr>
        <p:spPr>
          <a:xfrm>
            <a:off x="1490472"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La méthode</a:t>
            </a:r>
          </a:p>
        </p:txBody>
      </p:sp>
      <p:sp>
        <p:nvSpPr>
          <p:cNvPr id="5" name="Text 3"/>
          <p:cNvSpPr txBox="1"/>
          <p:nvPr/>
        </p:nvSpPr>
        <p:spPr>
          <a:xfrm>
            <a:off x="1490472"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QUE C'EST</a:t>
            </a:r>
          </a:p>
        </p:txBody>
      </p:sp>
      <p:sp>
        <p:nvSpPr>
          <p:cNvPr id="6" name="Text 4"/>
          <p:cNvSpPr txBox="1"/>
          <p:nvPr/>
        </p:nvSpPr>
        <p:spPr>
          <a:xfrm>
            <a:off x="1490472"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Une méthode d'analyse de risque par scénarios, qui relie les sources de risque aux valeurs métier de l'entreprise.</a:t>
            </a:r>
            <a:endParaRPr lang="en-US" sz="1150" dirty="0"/>
          </a:p>
        </p:txBody>
      </p:sp>
      <p:sp>
        <p:nvSpPr>
          <p:cNvPr id="7" name="Shape 5"/>
          <p:cNvSpPr/>
          <p:nvPr/>
        </p:nvSpPr>
        <p:spPr>
          <a:xfrm>
            <a:off x="4590288" y="1444752"/>
            <a:ext cx="2962656" cy="1572768"/>
          </a:xfrm>
          <a:prstGeom prst="roundRect">
            <a:avLst>
              <a:gd name="adj" fmla="val 3488"/>
            </a:avLst>
          </a:prstGeom>
          <a:solidFill>
            <a:schemeClr val="bg1">
              <a:lumMod val="85000"/>
            </a:schemeClr>
          </a:solidFill>
          <a:ln/>
        </p:spPr>
        <p:txBody>
          <a:bodyPr/>
          <a:lstStyle/>
          <a:p>
            <a:endParaRPr lang="fr-FR"/>
          </a:p>
        </p:txBody>
      </p:sp>
      <p:sp>
        <p:nvSpPr>
          <p:cNvPr id="8" name="Text 6"/>
          <p:cNvSpPr txBox="1"/>
          <p:nvPr/>
        </p:nvSpPr>
        <p:spPr>
          <a:xfrm>
            <a:off x="4846320"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L'autorité</a:t>
            </a:r>
          </a:p>
        </p:txBody>
      </p:sp>
      <p:sp>
        <p:nvSpPr>
          <p:cNvPr id="9" name="Text 7"/>
          <p:cNvSpPr txBox="1"/>
          <p:nvPr/>
        </p:nvSpPr>
        <p:spPr>
          <a:xfrm>
            <a:off x="4846320"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POURQUOI CETTE MÉTHODE</a:t>
            </a:r>
          </a:p>
        </p:txBody>
      </p:sp>
      <p:sp>
        <p:nvSpPr>
          <p:cNvPr id="10" name="Text 8"/>
          <p:cNvSpPr txBox="1"/>
          <p:nvPr/>
        </p:nvSpPr>
        <p:spPr>
          <a:xfrm>
            <a:off x="4846320"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Publiée par l'ANSSI, méthode de référence pour l'analyse de risque cyber en France, utilisée par le cabinet.</a:t>
            </a:r>
            <a:endParaRPr lang="en-US" sz="1150" dirty="0"/>
          </a:p>
        </p:txBody>
      </p:sp>
      <p:sp>
        <p:nvSpPr>
          <p:cNvPr id="11" name="Shape 9"/>
          <p:cNvSpPr/>
          <p:nvPr/>
        </p:nvSpPr>
        <p:spPr>
          <a:xfrm>
            <a:off x="7946136" y="1444752"/>
            <a:ext cx="2962656" cy="1572768"/>
          </a:xfrm>
          <a:prstGeom prst="roundRect">
            <a:avLst>
              <a:gd name="adj" fmla="val 3488"/>
            </a:avLst>
          </a:prstGeom>
          <a:solidFill>
            <a:schemeClr val="bg1">
              <a:lumMod val="85000"/>
            </a:schemeClr>
          </a:solidFill>
          <a:ln/>
        </p:spPr>
        <p:txBody>
          <a:bodyPr/>
          <a:lstStyle/>
          <a:p>
            <a:endParaRPr lang="fr-FR"/>
          </a:p>
        </p:txBody>
      </p:sp>
      <p:sp>
        <p:nvSpPr>
          <p:cNvPr id="12" name="Text 10"/>
          <p:cNvSpPr txBox="1"/>
          <p:nvPr/>
        </p:nvSpPr>
        <p:spPr>
          <a:xfrm>
            <a:off x="8202168" y="1609344"/>
            <a:ext cx="2468880" cy="329184"/>
          </a:xfrm>
          <a:prstGeom prst="rect">
            <a:avLst/>
          </a:prstGeom>
          <a:noFill/>
          <a:ln/>
        </p:spPr>
        <p:txBody>
          <a:bodyPr wrap="square" lIns="0" tIns="0" rIns="0" bIns="0" rtlCol="0" anchor="ctr"/>
          <a:lstStyle/>
          <a:p>
            <a:pPr marL="0" indent="0">
              <a:buNone/>
            </a:pPr>
            <a:r>
              <a:rPr lang="en-US" sz="1800" b="1" dirty="0">
                <a:solidFill>
                  <a:srgbClr val="1B2A4A"/>
                </a:solidFill>
                <a:latin typeface="Lato" pitchFamily="34" charset="0"/>
                <a:ea typeface="Lato" pitchFamily="34" charset="-122"/>
                <a:cs typeface="Lato" pitchFamily="34" charset="-120"/>
              </a:rPr>
              <a:t>Dans ce projet</a:t>
            </a:r>
          </a:p>
        </p:txBody>
      </p:sp>
      <p:sp>
        <p:nvSpPr>
          <p:cNvPr id="13" name="Text 11"/>
          <p:cNvSpPr txBox="1"/>
          <p:nvPr/>
        </p:nvSpPr>
        <p:spPr>
          <a:xfrm>
            <a:off x="8202168" y="1938528"/>
            <a:ext cx="2468880" cy="237744"/>
          </a:xfrm>
          <a:prstGeom prst="rect">
            <a:avLst/>
          </a:prstGeom>
          <a:noFill/>
          <a:ln/>
        </p:spPr>
        <p:txBody>
          <a:bodyPr wrap="square" lIns="0" tIns="0" rIns="0" bIns="0" rtlCol="0" anchor="ctr"/>
          <a:lstStyle/>
          <a:p>
            <a:pPr marL="0" indent="0">
              <a:buNone/>
            </a:pPr>
            <a:r>
              <a:rPr lang="en-US" sz="1000" b="1" kern="0" spc="160" dirty="0">
                <a:solidFill>
                  <a:srgbClr val="C5A55A"/>
                </a:solidFill>
                <a:latin typeface="Lato" pitchFamily="34" charset="0"/>
                <a:ea typeface="Lato" pitchFamily="34" charset="-122"/>
                <a:cs typeface="Lato" pitchFamily="34" charset="-120"/>
              </a:rPr>
              <a:t>CE QU'ELLE PRODUIT ICI</a:t>
            </a:r>
          </a:p>
        </p:txBody>
      </p:sp>
      <p:sp>
        <p:nvSpPr>
          <p:cNvPr id="14" name="Text 12"/>
          <p:cNvSpPr txBox="1"/>
          <p:nvPr/>
        </p:nvSpPr>
        <p:spPr>
          <a:xfrm>
            <a:off x="8202168" y="2231136"/>
            <a:ext cx="2468880" cy="731520"/>
          </a:xfrm>
          <a:prstGeom prst="rect">
            <a:avLst/>
          </a:prstGeom>
          <a:noFill/>
          <a:ln/>
        </p:spPr>
        <p:txBody>
          <a:bodyPr wrap="square" lIns="0" tIns="0" rIns="0" bIns="0" rtlCol="0" anchor="t"/>
          <a:lstStyle/>
          <a:p>
            <a:pPr marL="0" indent="0" algn="l">
              <a:lnSpc>
                <a:spcPct val="118000"/>
              </a:lnSpc>
              <a:buNone/>
            </a:pPr>
            <a:r>
              <a:rPr lang="en-US" sz="1150" dirty="0">
                <a:solidFill>
                  <a:srgbClr val="232A3A"/>
                </a:solidFill>
                <a:latin typeface="Lato" pitchFamily="34" charset="0"/>
                <a:ea typeface="Lato" pitchFamily="34" charset="-122"/>
                <a:cs typeface="Lato" pitchFamily="34" charset="-120"/>
              </a:rPr>
              <a:t>Les scénarios de la matrice (chapitre 5) et la criticité des activités viennent des ateliers déjà conduits au cabinet.</a:t>
            </a:r>
            <a:endParaRPr lang="en-US" sz="1150" dirty="0"/>
          </a:p>
        </p:txBody>
      </p:sp>
      <p:sp>
        <p:nvSpPr>
          <p:cNvPr id="45" name="Panneau GRC"/>
          <p:cNvSpPr/>
          <p:nvPr/>
        </p:nvSpPr>
        <p:spPr>
          <a:xfrm>
            <a:off x="2032000" y="3383280"/>
            <a:ext cx="8128000" cy="1650000"/>
          </a:xfrm>
          <a:prstGeom prst="roundRect">
            <a:avLst>
              <a:gd name="adj" fmla="val 6000"/>
            </a:avLst>
          </a:prstGeom>
          <a:solidFill>
            <a:srgbClr val="D9D9D9"/>
          </a:solidFill>
          <a:ln>
            <a:noFill/>
          </a:ln>
        </p:spPr>
        <p:txBody>
          <a:bodyPr rtlCol="0" anchor="ctr"/>
          <a:lstStyle/>
          <a:p>
            <a:pPr algn="ctr">
              <a:buNone/>
            </a:pPr>
            <a:endParaRPr lang="fr-FR"/>
          </a:p>
        </p:txBody>
      </p:sp>
      <p:sp>
        <p:nvSpPr>
          <p:cNvPr id="20" name="Text 18"/>
          <p:cNvSpPr txBox="1"/>
          <p:nvPr/>
        </p:nvSpPr>
        <p:spPr>
          <a:xfrm>
            <a:off x="2286000" y="3483736"/>
            <a:ext cx="7620000" cy="301244"/>
          </a:xfrm>
          <a:prstGeom prst="rect">
            <a:avLst/>
          </a:prstGeom>
          <a:noFill/>
          <a:ln/>
        </p:spPr>
        <p:txBody>
          <a:bodyPr wrap="square" lIns="0" tIns="0" rIns="0" bIns="0" rtlCol="0" anchor="ctr"/>
          <a:lstStyle/>
          <a:p>
            <a:pPr marL="0" indent="0" algn="ctr">
              <a:buNone/>
            </a:pPr>
            <a:r>
              <a:rPr lang="fr-FR" sz="1800" b="1" dirty="0">
                <a:solidFill>
                  <a:srgbClr val="1B2A4A"/>
                </a:solidFill>
                <a:latin typeface="Lato" pitchFamily="34" charset="0"/>
                <a:ea typeface="Lato" pitchFamily="34" charset="-122"/>
                <a:cs typeface="Lato" pitchFamily="34" charset="-120"/>
              </a:rPr>
              <a:t>LES CINQ ATELIERS</a:t>
            </a:r>
          </a:p>
          <a:p>
            <a:pPr marL="0" indent="0" algn="ctr">
              <a:spcBef>
                <a:spcPts val="200"/>
              </a:spcBef>
              <a:buNone/>
            </a:pPr>
            <a:r>
              <a:rPr lang="fr-FR" sz="1000" b="1" kern="0" spc="160" dirty="0">
                <a:solidFill>
                  <a:srgbClr val="C5A55A"/>
                </a:solidFill>
                <a:latin typeface="Lato" pitchFamily="34" charset="0"/>
                <a:ea typeface="Lato" pitchFamily="34" charset="-122"/>
                <a:cs typeface="Lato" pitchFamily="34" charset="-120"/>
              </a:rPr>
              <a:t>MÉTHODE SOUTENUE PAR L’ANSSI</a:t>
            </a:r>
          </a:p>
        </p:txBody>
      </p:sp>
      <p:sp>
        <p:nvSpPr>
          <p:cNvPr id="21" name="Text 19"/>
          <p:cNvSpPr txBox="1"/>
          <p:nvPr/>
        </p:nvSpPr>
        <p:spPr>
          <a:xfrm>
            <a:off x="2286000" y="3810000"/>
            <a:ext cx="7620000" cy="1050000"/>
          </a:xfrm>
          <a:prstGeom prst="rect">
            <a:avLst/>
          </a:prstGeom>
          <a:noFill/>
          <a:ln/>
        </p:spPr>
        <p:txBody>
          <a:bodyPr wrap="square" lIns="0" tIns="0" rIns="0" bIns="0" rtlCol="0" anchor="t"/>
          <a:lstStyle/>
          <a:p>
            <a:pPr marL="0" indent="0" algn="ctr">
              <a:lnSpc>
                <a:spcPct val="130000"/>
              </a:lnSpc>
              <a:buNone/>
            </a:pPr>
            <a:r>
              <a:rPr lang="fr-FR" sz="1150" b="1" dirty="0">
                <a:solidFill>
                  <a:srgbClr val="1B2A4A"/>
                </a:solidFill>
                <a:latin typeface="Lato" pitchFamily="34" charset="0"/>
                <a:ea typeface="Lato" pitchFamily="34" charset="-122"/>
                <a:cs typeface="Lato" pitchFamily="34" charset="-120"/>
              </a:rPr>
              <a:t>Cinq ateliers, du cadrage au traitement du risque :</a:t>
            </a:r>
          </a:p>
          <a:p>
            <a:pPr marL="0" indent="0" algn="ctr">
              <a:spcBef>
                <a:spcPts val="800"/>
              </a:spcBef>
              <a:lnSpc>
                <a:spcPct val="130000"/>
              </a:lnSpc>
              <a:buNone/>
            </a:pPr>
            <a:r>
              <a:rPr lang="fr-FR" sz="1150" dirty="0">
                <a:solidFill>
                  <a:srgbClr val="232A3A"/>
                </a:solidFill>
                <a:latin typeface="Lato" pitchFamily="34" charset="0"/>
                <a:ea typeface="Lato" pitchFamily="34" charset="-122"/>
                <a:cs typeface="Lato" pitchFamily="34" charset="-120"/>
              </a:rPr>
              <a:t>1. Cadrage et valeurs métier · 2. Sources de risque · 3. Scénarios stratégiques · 4. Scénarios opérationnels · 5. Traitement du risque.</a:t>
            </a:r>
          </a:p>
          <a:p>
            <a:pPr marL="0" indent="0" algn="ctr">
              <a:spcBef>
                <a:spcPts val="1200"/>
              </a:spcBef>
              <a:lnSpc>
                <a:spcPct val="130000"/>
              </a:lnSpc>
              <a:buNone/>
            </a:pPr>
            <a:r>
              <a:rPr lang="fr-FR" sz="1150" b="1" i="1" dirty="0">
                <a:solidFill>
                  <a:srgbClr val="1B2A4A"/>
                </a:solidFill>
                <a:latin typeface="Lato" pitchFamily="34" charset="0"/>
                <a:ea typeface="Lato" pitchFamily="34" charset="-122"/>
                <a:cs typeface="Lato" pitchFamily="34" charset="-120"/>
              </a:rPr>
              <a:t>La valeur métier utilisée par ce projet est fixée dès l'atelier 1 : cadrage et valeurs métier.</a:t>
            </a:r>
          </a:p>
        </p:txBody>
      </p:sp>
      <p:sp>
        <p:nvSpPr>
          <p:cNvPr id="900" name="Numero de page"/>
          <p:cNvSpPr>
            <a:spLocks noGrp="1"/>
          </p:cNvSpPr>
          <p:nvPr>
            <p:ph type="sldNum" sz="quarter" idx="4"/>
          </p:nvPr>
        </p:nvSpPr>
        <p:spPr>
          <a:xfrm>
            <a:off x="11150600" y="6426200"/>
            <a:ext cx="698500" cy="254000"/>
          </a:xfrm>
          <a:prstGeom prst="rect">
            <a:avLst/>
          </a:prstGeom>
        </p:spPr>
        <p:txBody>
          <a:bodyPr lIns="0" tIns="0" rIns="0" bIns="0" anchor="ctr"/>
          <a:lstStyle/>
          <a:p>
            <a:pPr algn="r"/>
            <a:fld id="{3555226A-7EA3-4730-9DCE-A90B74B7CC29}" type="slidenum">
              <a:rPr lang="fr-FR" sz="900" b="0">
                <a:solidFill>
                  <a:srgbClr val="4A5568"/>
                </a:solidFill>
                <a:latin typeface="Lato"/>
              </a:rPr>
              <a:t>11</a:t>
            </a:fld>
            <a:endParaRPr lang="fr-FR">
              <a:solidFill>
                <a:srgbClr val="4A5568"/>
              </a:solidFill>
            </a:endParaRPr>
          </a:p>
        </p:txBody>
      </p:sp>
    </p:spTree>
    <p:extLst>
      <p:ext uri="{BB962C8B-B14F-4D97-AF65-F5344CB8AC3E}">
        <p14:creationId xmlns:p14="http://schemas.microsoft.com/office/powerpoint/2010/main" val="1646539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701"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B097E42-236B-43DE-9EC4-16D2F38F7291}">
  <we:reference id="WA200010725" version="1.0.0.1" store="Omex" storeType="OMEX"/>
  <we:alternateReferences>
    <we:reference id="WA200010725" version="1.0.0.1" store="WA200010725" storeType="OMEX"/>
  </we:alternateReferences>
  <we:properties>
    <we:property name="claude.fileId" value="&quot;397eaf98-20ba-4f13-9a15-50d029283c2f&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32B14F2-8165-465D-88C5-9171683FBEC4}">
  <we:reference id="f5f369e5-aa35-49d7-ad7b-638152ddb008" version="1.0.0.1" store="EXCatalog" storeType="EXCatalog"/>
  <we:alternateReferences>
    <we:reference id="WA200010001" version="1.0.0.1" store="fr-FR" storeType="OMEX"/>
  </we:alternateReferences>
  <we:properties>
    <we:property name="claude.fileId" value="&quot;17f5d4ab-96cc-475f-87a7-e79f437ff4e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3968</TotalTime>
  <Words>12554</Words>
  <Application>Microsoft Office PowerPoint</Application>
  <PresentationFormat>Grand écran</PresentationFormat>
  <Paragraphs>1381</Paragraphs>
  <Slides>69</Slides>
  <Notes>63</Notes>
  <HiddenSlides>2</HiddenSlides>
  <MMClips>1</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69</vt:i4>
      </vt:variant>
    </vt:vector>
  </HeadingPairs>
  <TitlesOfParts>
    <vt:vector size="76" baseType="lpstr">
      <vt:lpstr>Aptos</vt:lpstr>
      <vt:lpstr>Arial</vt:lpstr>
      <vt:lpstr>Calibri</vt:lpstr>
      <vt:lpstr>Lato</vt:lpstr>
      <vt:lpstr>Lato Black</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LPB 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Cartographie dynamique des impacts métiers des vulnérabilités</dc:title>
  <dc:subject>PptxGenJS Presentation</dc:subject>
  <dc:creator>Mattéo TREMISI</dc:creator>
  <cp:lastModifiedBy>Mattéo TREMISI</cp:lastModifiedBy>
  <cp:revision>7</cp:revision>
  <dcterms:created xsi:type="dcterms:W3CDTF">2026-08-26T07:52:48Z</dcterms:created>
  <dcterms:modified xsi:type="dcterms:W3CDTF">2026-09-07T15:10:21Z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90e499a-6c0b-4939-8372-bd2130f26c5c_Enabled">
    <vt:lpwstr>true</vt:lpwstr>
  </property>
  <property fmtid="{D5CDD505-2E9C-101B-9397-08002B2CF9AE}" pid="3" name="MSIP_Label_390e499a-6c0b-4939-8372-bd2130f26c5c_SetDate">
    <vt:lpwstr>2026-08-26T12:36:22Z</vt:lpwstr>
  </property>
  <property fmtid="{D5CDD505-2E9C-101B-9397-08002B2CF9AE}" pid="4" name="MSIP_Label_390e499a-6c0b-4939-8372-bd2130f26c5c_Method">
    <vt:lpwstr>Standard</vt:lpwstr>
  </property>
  <property fmtid="{D5CDD505-2E9C-101B-9397-08002B2CF9AE}" pid="5" name="MSIP_Label_390e499a-6c0b-4939-8372-bd2130f26c5c_Name">
    <vt:lpwstr>Public_defaut</vt:lpwstr>
  </property>
  <property fmtid="{D5CDD505-2E9C-101B-9397-08002B2CF9AE}" pid="6" name="MSIP_Label_390e499a-6c0b-4939-8372-bd2130f26c5c_SiteId">
    <vt:lpwstr>41f8fe31-7155-41f8-b200-594961decd0e</vt:lpwstr>
  </property>
  <property fmtid="{D5CDD505-2E9C-101B-9397-08002B2CF9AE}" pid="7" name="MSIP_Label_390e499a-6c0b-4939-8372-bd2130f26c5c_ActionId">
    <vt:lpwstr>d79c7ac8-e1bc-4b5b-ae51-08a479f60c53</vt:lpwstr>
  </property>
  <property fmtid="{D5CDD505-2E9C-101B-9397-08002B2CF9AE}" pid="8" name="MSIP_Label_390e499a-6c0b-4939-8372-bd2130f26c5c_ContentBits">
    <vt:lpwstr>0</vt:lpwstr>
  </property>
  <property fmtid="{D5CDD505-2E9C-101B-9397-08002B2CF9AE}" pid="9" name="MSIP_Label_390e499a-6c0b-4939-8372-bd2130f26c5c_Tag">
    <vt:lpwstr>10, 3, 0, 1</vt:lpwstr>
  </property>
</Properties>
</file>